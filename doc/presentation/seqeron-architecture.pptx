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01487D8-67F9-4267-81F6-D9744609119D}">
          <p14:sldIdLst>
            <p14:sldId id="256"/>
            <p14:sldId id="257"/>
            <p14:sldId id="258"/>
            <p14:sldId id="259"/>
          </p14:sldIdLst>
        </p14:section>
        <p14:section name="Aeron and Aeron Cluster" id="{984C927D-571F-476E-BBF3-C9BB85F010B2}">
          <p14:sldIdLst>
            <p14:sldId id="260"/>
            <p14:sldId id="261"/>
          </p14:sldIdLst>
        </p14:section>
        <p14:section name="seqeron overview" id="{5AE5AD0B-5549-4658-B27F-EE6EED9E74A5}">
          <p14:sldIdLst>
            <p14:sldId id="262"/>
            <p14:sldId id="263"/>
          </p14:sldIdLst>
        </p14:section>
        <p14:section name="Decisions and limits" id="{13C575D3-9DD0-49A6-90B0-F00F5CB2B576}">
          <p14:sldIdLst>
            <p14:sldId id="264"/>
            <p14:sldId id="265"/>
            <p14:sldId id="266"/>
            <p14:sldId id="267"/>
            <p14:sldId id="268"/>
            <p14:sldId id="269"/>
            <p14:sldId id="270"/>
          </p14:sldIdLst>
        </p14:section>
        <p14:section name="Sequencer and replayer" id="{4C39B01C-5BB5-4498-8649-71A2B0BCDE03}">
          <p14:sldIdLst>
            <p14:sldId id="271"/>
            <p14:sldId id="272"/>
          </p14:sldIdLst>
        </p14:section>
        <p14:section name="Gateways and applications" id="{7A03A99D-A6C4-419C-BE97-0C932CE4F8AB}">
          <p14:sldIdLst>
            <p14:sldId id="273"/>
            <p14:sldId id="274"/>
            <p14:sldId id="275"/>
            <p14:sldId id="276"/>
          </p14:sldIdLst>
        </p14:section>
        <p14:section name="Failures and verification" id="{72E86F64-B34C-4FFD-B26D-18EECC436911}">
          <p14:sldIdLst>
            <p14:sldId id="277"/>
            <p14:sldId id="278"/>
            <p14:sldId id="279"/>
            <p14:sldId id="280"/>
          </p14:sldIdLst>
        </p14:section>
        <p14:section name="Appendix" id="{00EF84FF-B48E-4058-A866-C5DAF8170041}">
          <p14:sldIdLst>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seqeron is the sequencing tier: an Aeron Cluster replicated state machine that gives messages from any number of producers one global, gap-free total order, plus the replay service and client library that deliver that order to every consumer. The row of cells is the deck's motif: the log, numbered by globalSeqNo.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one-minute version. seqeron gives every producer's messages one global, gap-free order and every consumer the same complete history on its own host. Its correctness properties are built in and tested against a live cluster; its production properties are not yet established: no performance figures, an archive that grows with uptime, no wire security, history lost on a framing protocol upgrade, and no disaster-recovery design. It can be evaluated hands-on: a release runs a one-member cluster, the examples cover each kind of client in Java, C++ and C# and measure a round trip on your own hardware, and the failure harnesses run against a live cluster.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sequencer architecture: services never coordinate with each other. Two replicas that apply the same stream hold the same state; a hot standby is a replica that does not publish; an audit is a replay; a restart is a replay from a known point. The sequencer then becomes the component everything depends on, so seqeron makes it a Raft-replicated state machine that survives the loss of a minority of nodes and continues under a new leader with no gap and no renumbering. Payloads are opaque: the cluster copies them through unopened.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alternatives are compared on properties, not numbers, because seqeron's own latency and throughput are not yet measured. Kafka on one partition gives a total order and mature tooling, at 5 ms p99 in Confluent's benchmark (1 KB messages at 200 MB/s, acks=all, three replicas, fsync off, i3en.2xlarge, August 2020), and has no clock that advances while producers are silent and no active/standby producer election. Aeron without clustering gives reliable UDP and IPC transport with recording and replay, but no replication: the sequencer is one process and a single point of failure. Aeron Cluster used directly gives the same consensus and log, but each cluster then rebuilds the tap, replay, the election, confirmed ingress and the fences. A database sequence is familiar and transactional, but sequences skip values on rollback, so the order is not gap-free, and every message is a database write: its latency is one transaction commit, for which no comparable figure is published. Kafka's figure is one way, producer to consumer; the Aeron figures are round trips. The Aeron figures are Aeron's published round trips for open-source Aeron with the Java media driver at 100,000 messages a second: transport 21 µs p50 and 32 µs p99; Aeron Cluster, three nodes in one availability zone on EBS, 95 µs p50 and 136 µs p99 (AWS for Industries, Aeron on AWS: 2025 performance benchmark results, 12 February 2026, c6in.16xlarge in a cluster placement group). At 1,000,000 messages a second the same open-source cluster's p99 rises to about 8.5 ms. On physical hardware Adaptive quotes 18 µs for Aeron transport, without a percentile or setup; no comparable figure is published for the cluster. They bound what Aeron costs; seqeron adds sequencing, the tap and the producer's confirmation on top, and its own latency is not measured.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member runs a consensus module, an archive and a clustered service container. A client opens a session and sends on ingress to the leader; responses come back on egress. The leader appends each message to the Raft log, a stream every member's archive records; followers report append positions and an entry commits at a majority. Every cluster member's service consumes committed entries in the same order. Session events, timers and the leader's timestamp travel in the log, so time is deterministic too. A restarting member normally loads a snapshot and replays the log after it; seqeron disables snapshots, as the Decisions slide covers. Aeron's transport model, media driver and archive are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land: everything in the rest of the talk is built from these three. Explicit back-pressure lets the tap be reliable but bounded. Local recording with replay by position makes every member a complete history server. A replicated log with deterministic time makes the order, the clock and the gateway election the same on every node. Aeron, Agrona and SBE are open source under Apache 2.0.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member is one JVM: consensus module, sequencer, embedded media driver, archive and Replayer. Live data reaches a client straight off the tap, untethered. History comes from the member's own recording through the Replayer on stream 201, with requests on 202 and control replies on 203. Ingress is IPC when this member leads and UDP otherwise. Other members run the same pipeline and produce a byte-identical tap. The client tier is Java, C++ and C#, with C# deployed on Windows too; the member is Java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IngressPublisher wraps the producer's own encoding in an Unsequenced frame and offers it. 2. The leader appends it to the Raft log; it commits at a majority. 3. Every cluster member's sequencer validates it and assigns the next globalSeqNo and consensus timestamp. 4. Every archive records it. 5. Each client reads it off its local tap, checks continuity, dispatches. 6. The producer sees its own frame on its tap; only then is the message known to be sequenced. A cold start runs steps 5 and 6 against a replay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the discussion here. The most consequential is no cluster snapshots: it buys complete local history on every member and costs member recovery time and archive size that grow with uptime; the 1 Hz heartbeat alone is about 86,400 frames a day. The single stream is the other: one order for everything with no coordination, at the price of one sequencer's throughput for all producers.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members is bounded by the 70-port cluster block. Payloads above 8,884 bytes are split by the application, which keeps a frame within one IPC MTU. Four concurrent replays per member, one while the recording trails the tap; more queue. Nothing on the wire is authenticated or encrypted: the network is the access control, so the port block belongs inside a trusted network. No latency, throughput or sizing figures have been measured on production hardware yet. A change to seqeron's own protocol moves every member, gateway host and client together on purged archives; applications upgrade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what the design and the harnesses establish. Latency and throughput have never been measured on production hardware; a deployment benchmarks on its own, at its peak rather than its daily volume. A full day of Nasdaq's US ITCH feed peaks at 988,711 messages in the closing second, about 65 times its 15,162 a second over regular hours; at the same ratio, the Nordic cash-equity market's estimated average of 800 a second (the sizing slide) peaks near 50,000 a second. That is an estimate, not a requirement anyone has set. Failover starts after 200 ms without a leader heartbeat by default (sequencer.leaderHeartbeatTimeoutMs); how long the election and the producers' resend take is not measured. Data loss is nil for any minority's crash, and for every member process crashing, because the page cache survives a process; a power loss across a majority of hosts before write-back can lose committed messages, since nothing is fsynced.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message, every member writes the Raft log entry and the tap frame, each in a 32-byte-aligned Aeron frame with a 32-byte header. The log entry carries Aeron Cluster's 32-byte session header and seqeron's 28-byte ingress envelope; the tap frame carries the 44-byte sequenced envelope. The illustration is an estimate of Nasdaq's Nordic cash-equity market on INET, and arithmetic, not a measurement. Nasdaq's May 2024 statistics report 611,613 share trades a trading day across the Nordic and Baltic exchanges. Order messages per trade (entries, amends, cancels) were measured at 11 to 16 on the 50 most-traded Nordic stocks in 2010 to 2012; assuming 40 today gives about 25 million messages a day, some 800 a second averaged over the trading day, with the open and the close far above that. The payload is 32 bytes: a full day of Nasdaq's US ITCH 5.0 feed averages 28.5 bytes a message, and Nordic OUCH 5's order entry messages, weighted by that day's mix, 28 to 37 (Enter Order 41 bytes before optional fields, Replace 25, Cancel 15). That is 128 plus 128 bytes a message: 6.4 GB a day on each member, 1.6 TB over 250 trading days. At these sizes the 32-byte alignment dominates: a 64-byte payload would make it 8 GB. Derivatives, ETFs and warrants are not included. Every start of a member replays the log from globalSeqNo 1 into a new tap recording, and the earlier recordings stay on disk unread, so restarts add a full copy each. A member's restart time is its Raft log divided by the replay rate, which is not measured. Cluster snapshots and truncation (snapshot.md, section 10) would bound both, and are designed, not built.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member host runs one JVM and needs local disk for the archive and the Raft log, and on Linux a tmpfs Aeron directory. Placement follows from Raft: a member per failure domain, so no single rack, power feed or zone holds a majority. That is also the mitigation for the no-fsync durability model, which loses committed messages only when a majority of hosts lose power together. Spreading members further apart adds the round trip between them to every message, since a commit waits for a majority. Archives are copied off site with Aeron Cluster Backup. The rest of disaster recovery is not designed: whether a second site is a stretched cluster or a standby, how a restore is verified, and the RTO and RPO for losing a site, are all open.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threat model is crash faults. The cluster checks that a message is well formed, not who sent it, and authentication belongs at the system's external edges. The one identity check is the gateway rule S-6: once designated, an instance is held to the cluster session it announced itself on. Everything else follows from the network: whoever reaches the port block can submit, including the operator's events, read and delete recordings, and send Raft traffic. Payloads are stored unencrypted on every member and never deleted short of a purge, so personal data in a payload cannot be erased individually.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three matter most for a production deployment: unmeasured performance, an archive that grows without bound, and history lost on a framing protocol upgrade. A site loss is covered by copying the archives off site, with Aeron Cluster Backup. Several clusters can scale out throughput, but nothing orders messages across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members apply the same committed log in the same order with the same state, so their taps are byte-identical frame for frame. Each archive therefore holds complete history: no cross-node replication of recordings and no leader-only archive. The tap is created once at start and never re-created on a leadership change, so a recording is one continuous run across every leader tenure. The offer is reliable because a dropped frame is a permanent hole, and bounded because only the archive, the one tethered subscriber, can hold it back. A member whose archive cannot keep up exits with code 70 rather than throw: a throwing cluster callback has already had its log position advanced.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Consumers read the tap directly and untethered: one that falls a window behind is dropped by its driver within about 0.2 s and heals by replay. History for a cold start or a gap is served by the co-located ReplayerService; nothing reads the archive except through it. It serves only the active recording, which holds the whole log because every member start replays from globalSeqNo 1. Before reporting ready it checks that the first frame is globalSeqNo 1; otherwise every request gets ReplayUnavailable for its lifetime. Four replays at once, a slot idle 5 s is reclaimed, so the worst pending wait is 20 s, below the client's 60 s recovery-stall fence. While the tap's recording trails the tap by more than a quarter of the publication window, a new replay starts only when none is running: replays compete with the recorder for the disk, and the recorder is what holds the sequencer back. seqeron_replayer_throttled_requests_total counts the requests held for that reason, and a member warns at start on Linux when its Aeron directory is not on tmpfs. Control replies are retried briefly and dropped, never blocked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gateway is an edge producer deployed as an active/hot-standby pair named in the topology; the cluster designates the active instance. An application runs one instance on every member, and a member can host several applications; LeadershipChanged already picks one instance of each, so only the one on the leader's host publishes. Or it runs remote, as the one instance on its own host: its gate opens once caught up, whoever leads, and it submits over UDP. Nothing elects between two remote instances, so a remote service that needs a standby is a gateway. Both façades run one single-threaded duty cycle on the caller's thread: doWork() returns a work count for the caller's idle strategy. The client tier starts no threads, and dispatch and confirmed publish allocate nothing once warm. The deployment is declared in one XML topology document that clusterctl load-topology puts on the log.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tape left to right. The topology rows arrive; the last one has remaining 0, which is the completeness edge, and the sequencer synthesizes GatewayActive for each rank-0 instance. GW-A announces itself with GatewayStarted, which binds its cluster session, and opens connections. When A's session closes, through a crash, network loss or shutdown, the sequencer designates B. B's GatewayStarted carries a first connection id above the highest it saw, and makes the sequencer release every connection still open under the pair, since a crashed instance never closes them. B rebuilt A's connections from the log while it was a hot standby.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send returns once the frame is on the leader's ingress publication; the cluster confirms nothing. Frames the old leader had not committed are lost, and the session survives, so neither side sees a fault: about 5,500 frames at 100 µs pacing in the failover harness. PendingSends holds each placed frame until the producer's own tap shows it, matched by cluster session. A LeadershipChanged with a newer term identifies exactly which were lost: the newest frames stamped with the old term that have not appeared. Nothing new is placed until they are resent, oldest first. Each frame is then sequenced exactly once, in order. The limit: this is in memory, so a restarted producer or a promoted standby starts with nothing pending, and a replaced session or a superseded gateway instance drops what was pending.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sequencer sequences SnapshotStarted as a round's cut, on an operator request or the policy interval. Every instance of a participating source serializes its state at that cut into its own local file. The instance that may publish submits SnapshotEnd with record count, length and CRC32C. Every instance compares its own file with the sequenced end and fences on a difference, which also makes each round a divergence check across instances. A restarting instance asks its Replayer whether its newest file's round is on the log and matches, restores it, and replays only what follows the cut; with no confirmed file it replays from 1. This shortens an application's restart, not a member's.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table top to bottom. Note what is absent: there is no recovery procedure that is not a replay. globalSeqNo, the gateway list, the active instance and the open connections are all functions of the log. The timings are the defaults. A follower starts an election after 200 ms without a leader heartbeat; how long the election takes is not measured. A member exits after 1 s of back-pressure with no recording progress, and a stopped recording is caught by the 1 Hz heartbeat's liveness check. A slow consumer's driver drops it within about 0.2 s. A missed frame shows at the next frame, which the heartbeat bounds at about a second. The cluster closes a silent client's session after the 1 s session timeout, which is what promotes a crashed gateway's standby. A fence on a mismatch is immediate; the stall fences wait 20 s on the tap and 60 s in recovery, and only on an instance that acts. A gateway host's relay moves after 3 s, three heartbeats, with no frame.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failure in the table has an end-to-end harness against a live cluster. chaos-runner injects randomized faults from a printed seed and ends by checking every member's recording is gap-free and at the same high mark; every member kill also kills the media driver its clients share, and they must exit. Network faults are injected with eBPF against the containerized cluster. The harnesses drive the Java client, and the C# client in two of its own. Beneath them, the Java, C++ and C# unit suites test the same decisions case for case, and their property tests draw the same fault sequence from a seed. The C++ client is covered by its unit suite alone: no harness runs it against a live cluster. Killing a standalone aeronmd is not exercised either.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exporter runs beside each member, sharing its Aeron directory, and serves the member's counters over HTTP in Prometheus text format, read live from the CnC file; it needs no cluster session. Prometheus pulls every exporter from a static target list, and its own up metric is the member's reachability. Grafana is provisioned from files with one dashboard: a panel per metric family plus node apply lag, now minus the last ClusterHeartbeat, which is the one place a member publishing a contiguous but stale tap shows up. Clients publish counters too: recovery stalled, and an application's own in type ids 5201 to 5299, labelled by member and client. Not provided: alert rules, service discovery, authentication on the metrics endpoint.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slide presented; the appendix is backup, for questions or a meeting that runs long. Open the floor. The decisions slide is the natural place to return to.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for the whole deck. Rule ids cite seqeron-protocol-spec.md, whose letters are F frame, T transport, S sequencer, P payload, C registration, R replay, V versioning, E encoding and A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publication writes into a log buffer: a memory-mapped file of three rotating terms. Offering is a copy into the current term plus an ordered write, with no lock and no system call. Position is the byte offset into the stream; flow control, loss detection, recording and replay all speak in positions. When the slowest subscriber the publication must wait for is a full window behind, offer returns back-pressured and the publisher decides what to do. Tethered versus untethered matters to seqeron: its archive is the tap's one tethered subscriber; every client is untethered.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Embedded in a process or standalone (aeronmd). Clients reach it through the command-and-control file in a shared Aeron directory. Conductor: client commands, log buffer lifecycle, counters, timeouts. Sender: reads publication terms, sends data frames, retransmits on NAK, respects the receivers' window. Receiver: reassembles frames into an image per remote publisher, NAKs gaps, sends status messages that advertise the window. Over IPC there is no sender or receiver: the subscriber reads the publisher's log buffer directly. Each seqeron member embeds its driver; clients on the host attach to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archive records any stream to segment files and keeps a catalog of recordings with ids and start and stop positions. A replay starts from any position onto any channel and stream as a new session, and a replay of a recording that is still being written follows it live. The RecordingPos counter shows how far a recording has got: seqeron's tap publisher watches exactly that counter to decide whether its archive is slow, stalled or gone.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Sequencer owns globalSeqNo, the gateway list and session bindings, the open-connection set, promotion deadlines and the snapshot policy; it validates and encodes every frame. SequencerService is the ClusteredService adapter and holds no replicated state. TapPublisher is the reliable-offer discipline for the tap. The rule underneath all of it is spec S-3: every reject decision and every byte of every synthesized frame is a function of the committed log alone.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Schema 210, two types. The application type carries an opaque payload named by payloadId: Unsequenced on ingress, Sequenced on the tap. The system type is seqeron's own vocabulary, named by systemEventType at the same offset 16. Every field is at the same offset in all eight templates, so a consumer tracks continuity without branching on message type. sessionId is overwritten by the sequencer. Consumers split by type first, then dispatch on (payloadId, templateId), never templateId alone.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carry sourceId, connectionId and sessionId of −1 and the consensus timestamp. ClusterHeartbeat is driven by a cluster timer, so it is the same on every member and advances while every producer is silent, which is exactly when a watchdog needs a clock. LeadershipChanged is emitted per term even when the same member wins again. GatewayActive is the election's decision. SnapshotStarted is the cut of an application snapshot round.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live frame ahead of the next expected number clears isCaughtUp and requests a resume at the position where the last delivered frame ended. The resumed replay's first frame must be the expected number; if not, the member restarted and its recording changed, so the client walks the recording from its start. Live frames past the gap go into a bounded FIFO, 65,536 frames or 16 MiB, and drain when the replay reaches them, so recovery ends without a second gap. A replay with no progress for 5 s is requested again. A cold start is the same walk from the start. All of it is ReplayerRecovery, a pure state machine with case-for-case tests and seeded property tests in Java, C++ and C#.</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rule: the lowest preference rank among siblings, excluding the instance that lost the role, so a pair whose instances were all down converges on whichever starts first. The activation timeout arms at the GatewayActive's timestamp plus 5 s on the consensus clock and is evaluated on each heartbeat, at most one promotion per heartbeat, so repeated failures move down the list. Being superseded is not a failure: the instance closes its edge, keeps its session and keeps following the tap so it can be designated again. From the GatewayActive that superseded it the sequencer sequences nothing from its session (rule S-6), so it drops what it still had unconfirmed, and its session closing later promotes nothing. A fence is different: the instance no longer trusts its own view, reports once, and its façade releases its session and does nothing more, which promotes the standby at the fence. The application decides when to exit.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application runs one instance on every member, attached to that member's media driver, and a member can host several applications, each with its own sourceId and Replayer client id. Every instance follows its own member's tap and so holds the same state. LeadershipChanged picks the instance that acts: only the one on the leader's member publishes, over IPC ingress to its own consensus module, and every leadership change closes its gate, so a reply lost in the election is dispatched again. Remote, the application is the one instance on its own host, with no member there. Like a remote gateway's host, that host runs a local ReplayerService whose TapRelay copies a member's tap onto the host's own tap and archive. The application's gate opens once caught up, whoever leads, and it submits over UDP. Nothing elects between two remote instances, so a remote service that needs a standby is a gateway.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application instance records a request as outstanding from its sequenced request until its sequenced reply. Only the leader's instance dispatches; it replies under the requester's sourceId and connectionId so the originating gateway can route it. The request is discharged when the reply is sequenced, not when it is sent. Every LeadershipChanged closes the gate, including one naming the same member, because a reply sent during the election may have been lost with the old leader's uncommitted log. A newly opened gate dispatches every outstanding request in globalSeqNo order. Delivery is at least once across a failover; a reply that is a pure function of its request is byte-identical on re-emission and deduplicated by key.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gateway or application host, with clients but no member, runs its own ReplayerServer with a media driver and archive. One archive replay over UDP follows a member's active recording live and republishes it on the host's own tap. TapRelay republishes only the frame after the last one it published, so the host's tap is the log frame for frame whichever member it came from. After 3 s with no frame (three heartbeats), or a failed read, it fails over to the next member archive in replayer.archiveEndpoints, round robin; any member serves, leader or not. It resumes at the same recording position, valid because every member's active recording starts at globalSeqNo 1 and positions follow from the frames; if the frame there is not the next one it replays that recording from its start and skips what it has. A restarted relay relays from 1 into a new local recording.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cluster closes a client's session when its keep-alives stop: a paused process, a lost quorum. Closing the session a designated instance's GatewayStarted bound is what promotes its sibling, and the tap carries no frame for that close, so a new session could act before the instance knew whether it had been superseded. That instance fences. Every other client, an application, a standby, or an instance designated after its session was lost, opens a new session the way it opened the first: an attempt at most once a second, advanced a step per doWork(), so the duty cycle never waits on an unreachable cluster. It fences only if no session opens within 20 s and the attempt then under way fails. What was unconfirmed on the old session is dropped, not resent. session-replace-test.sh drives it through a paused client, a lost quorum and a paused gateway pair, in Java.</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topology turns rounds on: SnapshotPolicyRegistered sets the interval, 0 meaning operator requests only, and each source's row says whether it takes part, which its façades read and the sequencer does not. The sequencer decodes the policy alone and answers a SnapshotRequested with SnapshotStarted at the next globalSeqNo, as a GatewayActive follows a GatewayActivationRequested. SnapshotEnd belongs to the frame's sourceId, one per application or logical gateway per round; the sequencer checks only its format, since rejecting a late or superseded end would fence its producer. Each Replayer indexes every source's ends by round, and a restoring instance asks it about its newest file before trusting it. The records themselves never enter the log.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Startup: before it reports ready, the Replayer replays the first frame of its active recording on stream 204 and checks it is globalSeqNo 1. A client's cold start asks for the active recording FROM_START; the Replayer starts a replay bounded at the recording's end as it is now and answers Replaying with the replay session and catchUpPosition, echoing the requestId. The client subscribes to stream 201 for that session only, so it never holds up another client's replay. Live tap frames past the end arrive meanwhile and go into the retained FIFO. A heartbeat every 500 ms keeps the slot from the 5 s idle reclaim. Completion is by position, not by the image closing: a bounded replay of a recording still being written does not close at its bound. ReplayComplete frees the slot at once; the FIFO drains, de-duplicated on globalSeqNo, and the client is caught up. An empty recording answers NO_REPLAY_NEEDED and the client follows the tap at once.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slow consumer is dropped by its driver and misses 105. Frame 106 arrives ahead of the next expected number: isCaughtUp() clears, 106 is retained, and the client asks to resume at the position where 104 ended, the last frame it delivered. The resumed replay's first frame must be 105, the anchor. If it is any other frame, or the Replayer answers NO_REPLAY_NEEDED while the hole is open, the member restarted and its active recording is a new one, so the client walks it from the start, or from its restored snapshot's cut. Live frames keep arriving into the FIFO, bounded at 65,536 frames or 16 MiB; past either bound the client drops them and walks again when the replay ends. On reaching catchUpPosition the FIFO drains 106 onward and the client is caught up, with no second gap.</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reply echoes the requestId; a client ignores any reply that is not for its current request. ReplayPending means the request is queued or the Replayer cannot start it yet: four replays at most, one while the tap's recording trails the tap by more than a quarter of the publication window, not ready before the integrity check passes, or the archive stalled and probed once a second. A queued request starts the moment a slot frees. ReplayUnavailable means the integrity check failed and is the answer for the process's life; the client holds and keeps resending until an operator repairs the archive and restarts the member. ReplayClientIdInUse goes to both processes sharing an id, detected from requestId stepping backwards. A replay that stops under the client, no progress for 5 s or an image closed short of catchUpPosition, is requested again; a resume re-anchors. Nothing dispatched for 30 s raises the recoveryStalled gauge; a façade fences RECOVERY_STALLED after 60 s on a designated instance or the leader's replica, above the Replayer's 20 s worst-case wait.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client whose façade has a SnapshotListener restores before it dispatches anything. It takes the newest round in its snapshot directory and asks its member's Replayer for that round's sequenced SnapshotEnd, which the Replayer's SnapshotIndex holds. The file must match it: record count, length and CRC. A round the index lacks, or a file missing, torn or not the one sequenced, gives way to the next older round; with none left the client walks from globalSeqNo 1. The records are read from the local file, at most 1,024 per poll, so nothing is replayed during a restore. A format or header version the build does not read, or records that fail the trailer, halt recovery: restoreFailure, and the façade fences SNAPSHOT_UNRESTORABLE. The resume after it is an ordinary one, anchored on the cut, which is dropped as already delivered.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round starts on an operator's SnapshotRequested or when the policy interval elapses at a heartbeat; either way the sequencer synthesizes SnapshotStarted, and its globalSeqNo is the cut. Every instance of a participating source serializes its state there into its own directory, standby and follower replicas included. Only the instance whose gate is open, the designated gateway instance or the leader's replica, submits SnapshotEnd, and the sequencer checks only its format. Every instance then compares its own serialization with the sequenced end; one that differs no longer holds the state the log implies and fences. Each Replayer indexes the cut and the source's first end of the round, which is what a later restore asks it for. A new round supersedes this one: an end not yet placed is abandoned.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Requests on stream 202, replies on 203, replay data on 201. Every request carries a requestId the client increments on every send, including an unchanged resend, and the replayer echoes; a client ignores any reply that is not for its current request. The client detects completion by reaching catchUpPosition, not by the replay image closing, because a bounded replay of an active recording does not close at the bound. Two processes sharing a clientId are detected from requestId stepping backwards and both are told to stop.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seqeron's vocabulary, not any edge protocol's. clusterctl load-topology puts the list on the log, one GatewayRegistered per instance; an instance finds its own row by name and publishes nothing before it has. GatewayActive is never submitted: the sequencer synthesizes it, and an operator's activate is a request it validates first. The designated instance answers with GatewayStarted, which binds its cluster session and carries the first connection id it will allocate, above any it saw, so ids never repeat across a restart. Connection frames are the generic half: ConnectionOpened carries the producer's own connection data, opaque to the cluster, so a standby can map an id to its session before that connection's first message. S-6 is condition 10 of validation, and every input to it comes from the log.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application brings its own protocol in the application family. payloadId names one schema or encoding, allocated by the deployment from 2 up; 0 is invalid and 1 is retired. The producer encodes the payload once and nothing re-encodes it, so any encoding works and its versioning is the application's own. The table is what Application does on the application's behalf, in every language. It submits application frames only while its leader gate is open; a reply goes out under the requester's sourceId and connectionId so the gateway that took the request can route it. Every frame on the tap also passes confirmed ingress, which matches the replica's own frames by cluster session. LeadershipChanged reaches the gate and confirmed ingress, never the application directly; the listener sees only the gate's edges. The consumer rules keep applications independent: a consumer skips what it does not recognise, and since continuity rests on globalSeqNo, skipping can neither create nor hide a gap. A PayloadIdRegistered row in the topology is a label for SbeLogPrinter, not permission; a per-node allowlist would let nodes diverge. The snapshot frames it reads and submits are on the snapshot protocol slide.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fence is reported once through onFenced, after the façade has released its cluster session, so a designated instance's standby is promoted at the fence; exiting is the application's decision. The tap-stall timer runs on local monotonic time because consensus time arrives in the very heartbeats being watched for. A replay is not a stall: the tap-stall check is suspended while not caught up, and the recovery-stall fence covers that time, armed only after the first catch-up because a cold start has no useful bound. 60 s exceeds the Replayer's 20 s worst-case pending wait, so a correct Replayer cannot trip it. A stall fences only an instance that acts, the designated gateway instance or the leader's replica; any other logs it once, keeps following the tap and logs when it clears, since it cannot begin to act while stalled. A lost session fences only a gateway instance that announced itself on it; the slide on lost sessions covers the rest. Losing the media driver is not a fence; it raises from doWork().</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faulteron is the injector behind the network-fault harnesses on the verification slide, in a repository of its own under Apache 2.0. A privileged container joins a member's network namespace and attaches two tc programs to its interface, one at egress and one at ingress, which share one rules map. The CLI writes rules into that map with bpftool. Each UDP packet goes to the most specific rule matching its peer, port, Aeron frame type, retransmission, or SBE schema and template; the rule drops a percentage, duplicates a percentage of the rest, and stamps a delay that the fq qdisc holds it to, so delay applies only on the way out. Process kills and pauses cannot produce these faults. Traffic over aeron:ipc never reaches an interface, so no rule touches it. Linux 5.18 or later, IPv4. seqeron's failover workflow runs its tests at a pinned commit.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731520" y="1828800"/>
            <a:ext cx="10698480" cy="1280160"/>
          </a:xfrm>
        </p:spPr>
        <p:txBody>
          <a:bodyPr/>
          <a:lstStyle/>
          <a:p>
            <a:r>
              <a:rPr lang="en-US" smtClean="0"/>
              <a:t>Click to edit Master title style</a:t>
            </a:r>
            <a:endParaRPr lang="en-US"/>
          </a:p>
        </p:txBody>
      </p:sp>
      <p:sp>
        <p:nvSpPr>
          <p:cNvPr id="3" name="Subtitle 2"/>
          <p:cNvSpPr>
            <a:spLocks noGrp="1"/>
          </p:cNvSpPr>
          <p:nvPr>
            <p:ph type="subTitle" idx="1"/>
          </p:nvPr>
        </p:nvSpPr>
        <p:spPr>
          <a:xfrm>
            <a:off x="731520" y="3154680"/>
            <a:ext cx="10698480" cy="9144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31520" y="2743200"/>
            <a:ext cx="10698480" cy="1005840"/>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31520" y="3794760"/>
            <a:ext cx="10698480" cy="73152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320040"/>
            <a:ext cx="11094415" cy="685800"/>
          </a:xfrm>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
        <p:nvSpPr>
          <p:cNvPr id="901" name="Footer"/>
          <p:cNvSpPr txBox="1"/>
          <p:nvPr userDrawn="1"/>
        </p:nvSpPr>
        <p:spPr>
          <a:xfrm>
            <a:off x="548640" y="6400800"/>
            <a:ext cx="5486400" cy="274320"/>
          </a:xfrm>
          <a:prstGeom prst="rect">
            <a:avLst/>
          </a:prstGeom>
          <a:noFill/>
        </p:spPr>
        <p:txBody>
          <a:bodyPr wrap="none" lIns="0" tIns="0" rIns="0" bIns="0" anchor="ctr"/>
          <a:lstStyle/>
          <a:p>
            <a:r>
              <a:rPr lang="en-US" sz="1000" dirty="0">
                <a:solidFill>
                  <a:schemeClr val="accent5"/>
                </a:solidFill>
              </a:rPr>
              <a:t>seqeron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FredrikJDahlberg/seqeron"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 Id="rId3" Type="http://schemas.openxmlformats.org/officeDocument/2006/relationships/hyperlink" Target="https://github.com/FredrikJDahlberg/faulteron"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lIns="0" rIns="0"/>
          <a:lstStyle/>
          <a:p>
            <a:pPr algn="l"/>
            <a:r>
              <a:rPr sz="6600" b="1" cap="none">
                <a:solidFill>
                  <a:schemeClr val="bg1"/>
                </a:solidFill>
                <a:latin typeface="+mj-lt"/>
              </a:rPr>
              <a:t>seqeron</a:t>
            </a:r>
          </a:p>
        </p:txBody>
      </p:sp>
      <p:sp>
        <p:nvSpPr>
          <p:cNvPr id="3" name="Subtitle 2"/>
          <p:cNvSpPr>
            <a:spLocks noGrp="1"/>
          </p:cNvSpPr>
          <p:nvPr>
            <p:ph type="subTitle" idx="1"/>
          </p:nvPr>
        </p:nvSpPr>
        <p:spPr/>
        <p:txBody>
          <a:bodyPr lIns="0" rIns="0"/>
          <a:lstStyle/>
          <a:p>
            <a:pPr algn="l"/>
            <a:r>
              <a:rPr sz="2600" b="0">
                <a:solidFill>
                  <a:schemeClr val="accent3"/>
                </a:solidFill>
              </a:rPr>
              <a:t>A replicated sequencer on Aeron Cluster</a:t>
            </a:r>
          </a:p>
        </p:txBody>
      </p:sp>
      <p:sp>
        <p:nvSpPr>
          <p:cNvPr id="4" name="Tape cell 1"/>
          <p:cNvSpPr/>
          <p:nvPr/>
        </p:nvSpPr>
        <p:spPr>
          <a:xfrm>
            <a:off x="73152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1</a:t>
            </a:r>
          </a:p>
        </p:txBody>
      </p:sp>
      <p:sp>
        <p:nvSpPr>
          <p:cNvPr id="5" name="Tape cell 2"/>
          <p:cNvSpPr/>
          <p:nvPr/>
        </p:nvSpPr>
        <p:spPr>
          <a:xfrm>
            <a:off x="128016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2</a:t>
            </a:r>
          </a:p>
        </p:txBody>
      </p:sp>
      <p:sp>
        <p:nvSpPr>
          <p:cNvPr id="6" name="Tape cell 3"/>
          <p:cNvSpPr/>
          <p:nvPr/>
        </p:nvSpPr>
        <p:spPr>
          <a:xfrm>
            <a:off x="182880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3</a:t>
            </a:r>
          </a:p>
        </p:txBody>
      </p:sp>
      <p:sp>
        <p:nvSpPr>
          <p:cNvPr id="7" name="Tape cell 4"/>
          <p:cNvSpPr/>
          <p:nvPr/>
        </p:nvSpPr>
        <p:spPr>
          <a:xfrm>
            <a:off x="237744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4</a:t>
            </a:r>
          </a:p>
        </p:txBody>
      </p:sp>
      <p:sp>
        <p:nvSpPr>
          <p:cNvPr id="8" name="Tape cell 5"/>
          <p:cNvSpPr/>
          <p:nvPr/>
        </p:nvSpPr>
        <p:spPr>
          <a:xfrm>
            <a:off x="292608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5</a:t>
            </a:r>
          </a:p>
        </p:txBody>
      </p:sp>
      <p:sp>
        <p:nvSpPr>
          <p:cNvPr id="9" name="Tape cell 6"/>
          <p:cNvSpPr/>
          <p:nvPr/>
        </p:nvSpPr>
        <p:spPr>
          <a:xfrm>
            <a:off x="347472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6</a:t>
            </a:r>
          </a:p>
        </p:txBody>
      </p:sp>
      <p:sp>
        <p:nvSpPr>
          <p:cNvPr id="10" name="Tape cell 7"/>
          <p:cNvSpPr/>
          <p:nvPr/>
        </p:nvSpPr>
        <p:spPr>
          <a:xfrm>
            <a:off x="4023360" y="4754880"/>
            <a:ext cx="475488" cy="47548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chemeClr val="bg1"/>
                </a:solidFill>
              </a:rPr>
              <a:t>7</a:t>
            </a:r>
          </a:p>
        </p:txBody>
      </p:sp>
      <p:sp>
        <p:nvSpPr>
          <p:cNvPr id="11" name="Tape cell 8"/>
          <p:cNvSpPr/>
          <p:nvPr/>
        </p:nvSpPr>
        <p:spPr>
          <a:xfrm>
            <a:off x="457200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8</a:t>
            </a:r>
          </a:p>
        </p:txBody>
      </p:sp>
      <p:sp>
        <p:nvSpPr>
          <p:cNvPr id="12" name="Tape cell 9"/>
          <p:cNvSpPr/>
          <p:nvPr/>
        </p:nvSpPr>
        <p:spPr>
          <a:xfrm>
            <a:off x="512064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9</a:t>
            </a:r>
          </a:p>
        </p:txBody>
      </p:sp>
      <p:sp>
        <p:nvSpPr>
          <p:cNvPr id="13" name="Tape cell 10"/>
          <p:cNvSpPr/>
          <p:nvPr/>
        </p:nvSpPr>
        <p:spPr>
          <a:xfrm>
            <a:off x="566928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10</a:t>
            </a:r>
          </a:p>
        </p:txBody>
      </p:sp>
      <p:sp>
        <p:nvSpPr>
          <p:cNvPr id="14" name="Tape cell 11"/>
          <p:cNvSpPr/>
          <p:nvPr/>
        </p:nvSpPr>
        <p:spPr>
          <a:xfrm>
            <a:off x="621792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11</a:t>
            </a:r>
          </a:p>
        </p:txBody>
      </p:sp>
      <p:sp>
        <p:nvSpPr>
          <p:cNvPr id="15" name="Tape cell 12"/>
          <p:cNvSpPr/>
          <p:nvPr/>
        </p:nvSpPr>
        <p:spPr>
          <a:xfrm>
            <a:off x="6766560" y="4754880"/>
            <a:ext cx="475488" cy="47548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12</a:t>
            </a:r>
          </a:p>
        </p:txBody>
      </p:sp>
      <p:sp>
        <p:nvSpPr>
          <p:cNvPr id="16" name="Text 13"/>
          <p:cNvSpPr txBox="1"/>
          <p:nvPr/>
        </p:nvSpPr>
        <p:spPr>
          <a:xfrm>
            <a:off x="731520" y="5349240"/>
            <a:ext cx="10698480" cy="365760"/>
          </a:xfrm>
          <a:prstGeom prst="rect">
            <a:avLst/>
          </a:prstGeom>
          <a:noFill/>
        </p:spPr>
        <p:txBody>
          <a:bodyPr wrap="square" anchor="t" lIns="0" rIns="0" tIns="0" bIns="0">
            <a:spAutoFit/>
          </a:bodyPr>
          <a:lstStyle/>
          <a:p>
            <a:pPr algn="l"/>
            <a:r>
              <a:rPr sz="1400" b="0">
                <a:solidFill>
                  <a:schemeClr val="accent3"/>
                </a:solidFill>
              </a:rPr>
              <a:t>Architecture briefing  ·  seqeron 0.12.0  ·  Aeron 1.53.2</a:t>
            </a:r>
          </a:p>
        </p:txBody>
      </p:sp>
      <p:sp>
        <p:nvSpPr>
          <p:cNvPr id="17" name="Text 14">
            <a:hlinkClick r:id="rId2"/>
          </p:cNvPr>
          <p:cNvSpPr txBox="1"/>
          <p:nvPr/>
        </p:nvSpPr>
        <p:spPr>
          <a:xfrm>
            <a:off x="731520" y="5715000"/>
            <a:ext cx="10698480" cy="365760"/>
          </a:xfrm>
          <a:prstGeom prst="rect">
            <a:avLst/>
          </a:prstGeom>
          <a:noFill/>
        </p:spPr>
        <p:txBody>
          <a:bodyPr wrap="square" anchor="t" lIns="0" rIns="0" tIns="0" bIns="0">
            <a:spAutoFit/>
          </a:bodyPr>
          <a:lstStyle/>
          <a:p>
            <a:pPr algn="l"/>
            <a:r>
              <a:rPr sz="1400" b="0">
                <a:solidFill>
                  <a:schemeClr val="accent3"/>
                </a:solidFill>
              </a:rPr>
              <a:t>github.com/FredrikJDahlberg/seqeron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Executive summary</a:t>
            </a:r>
          </a:p>
        </p:txBody>
      </p:sp>
      <p:sp>
        <p:nvSpPr>
          <p:cNvPr id="3" name="Text 15"/>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What seqeron is, what is proven, what is open, and how to try it</a:t>
            </a:r>
          </a:p>
        </p:txBody>
      </p:sp>
      <p:sp>
        <p:nvSpPr>
          <p:cNvPr id="9002" name="Slide number"/>
          <p:cNvSpPr txBox="1"/>
          <p:nvPr userDrawn="1"/>
        </p:nvSpPr>
        <p:spPr>
          <a:xfrm>
            <a:off x="10728655" y="6400800"/>
            <a:ext cx="914400" cy="274320"/>
          </a:xfrm>
          <a:prstGeom prst="rect">
            <a:avLst/>
          </a:prstGeom>
          <a:noFill/>
        </p:spPr>
        <p:txBody>
          <a:bodyPr wrap="none" lIns="0" tIns="0" rIns="0" bIns="0" anchor="ctr"/>
          <a:lstStyle/>
          <a:p>
            <a:pPr algn="r"/>
            <a:fld id="{fd2a0758-1fbd-4afe-9581-d5a47b8b3da1}" type="slidenum">
              <a:rPr lang="en-US" sz="1000" dirty="0">
                <a:solidFill>
                  <a:schemeClr val="accent5"/>
                </a:solidFill>
              </a:rPr>
              <a:t>2</a:t>
            </a:fld>
          </a:p>
        </p:txBody>
      </p:sp>
      <p:sp>
        <p:nvSpPr>
          <p:cNvPr id="9003" name="Text 16"/>
          <p:cNvSpPr txBox="1"/>
          <p:nvPr/>
        </p:nvSpPr>
        <p:spPr>
          <a:xfrm>
            <a:off x="548640" y="1600200"/>
            <a:ext cx="11094415" cy="731520"/>
          </a:xfrm>
          <a:prstGeom prst="rect">
            <a:avLst/>
          </a:prstGeom>
          <a:noFill/>
        </p:spPr>
        <p:txBody>
          <a:bodyPr wrap="square" anchor="t" lIns="0" rIns="0" tIns="0" bIns="0">
            <a:spAutoFit/>
          </a:bodyPr>
          <a:lstStyle/>
          <a:p>
            <a:pPr algn="l"/>
            <a:r>
              <a:rPr sz="1700" b="0">
                <a:solidFill>
                  <a:schemeClr val="tx1"/>
                </a:solidFill>
              </a:rPr>
              <a:t>A Raft-replicated sequencer on Aeron Cluster: one global, gap-free order for every producer's messages, and the same complete history on every consumer's host. The cluster is Java; clients are Java, C++ and C#. Open source, Apache 2.0.</a:t>
            </a:r>
          </a:p>
        </p:txBody>
      </p:sp>
      <p:sp>
        <p:nvSpPr>
          <p:cNvPr id="9004" name="Card 17"/>
          <p:cNvSpPr/>
          <p:nvPr/>
        </p:nvSpPr>
        <p:spPr>
          <a:xfrm>
            <a:off x="548640" y="2651760"/>
            <a:ext cx="3511296" cy="3200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800"/>
              </a:spcAft>
            </a:pPr>
            <a:r>
              <a:rPr sz="1800" b="1" cap="none">
                <a:solidFill>
                  <a:schemeClr val="accent1"/>
                </a:solidFill>
                <a:latin typeface="+mj-lt"/>
              </a:rPr>
              <a:t>Proven</a:t>
            </a:r>
          </a:p>
          <a:p>
            <a:pPr algn="l" marL="228600" indent="-228600">
              <a:spcAft>
                <a:spcPts val="600"/>
              </a:spcAft>
              <a:buClr>
                <a:schemeClr val="accent1"/>
              </a:buClr>
              <a:buChar char="•"/>
            </a:pPr>
            <a:r>
              <a:rPr sz="1400" b="0">
                <a:solidFill>
                  <a:schemeClr val="tx1"/>
                </a:solidFill>
              </a:rPr>
              <a:t>Determinism: every decision is a function of the log (S-3)</a:t>
            </a:r>
          </a:p>
          <a:p>
            <a:pPr algn="l" marL="228600" indent="-228600">
              <a:spcAft>
                <a:spcPts val="600"/>
              </a:spcAft>
              <a:buClr>
                <a:schemeClr val="accent1"/>
              </a:buClr>
              <a:buChar char="•"/>
            </a:pPr>
            <a:r>
              <a:rPr sz="1400" b="0">
                <a:solidFill>
                  <a:schemeClr val="tx1"/>
                </a:solidFill>
              </a:rPr>
              <a:t>A minority of members can crash with no gap and no renumbering</a:t>
            </a:r>
          </a:p>
          <a:p>
            <a:pPr algn="l" marL="228600" indent="-228600">
              <a:spcAft>
                <a:spcPts val="600"/>
              </a:spcAft>
              <a:buClr>
                <a:schemeClr val="accent1"/>
              </a:buClr>
              <a:buChar char="•"/>
            </a:pPr>
            <a:r>
              <a:rPr sz="1400" b="0">
                <a:solidFill>
                  <a:schemeClr val="tx1"/>
                </a:solidFill>
              </a:rPr>
              <a:t>Confirmed ingress: each message sequenced exactly once, in order, across failovers</a:t>
            </a:r>
          </a:p>
          <a:p>
            <a:pPr algn="l" marL="228600" indent="-228600">
              <a:spcAft>
                <a:spcPts val="600"/>
              </a:spcAft>
              <a:buClr>
                <a:schemeClr val="accent1"/>
              </a:buClr>
              <a:buChar char="•"/>
            </a:pPr>
            <a:r>
              <a:rPr sz="1400" b="0">
                <a:solidFill>
                  <a:schemeClr val="tx1"/>
                </a:solidFill>
              </a:rPr>
              <a:t>A live-cluster harness for every failure, run in CI</a:t>
            </a:r>
          </a:p>
        </p:txBody>
      </p:sp>
      <p:sp>
        <p:nvSpPr>
          <p:cNvPr id="9005" name="Card 18"/>
          <p:cNvSpPr/>
          <p:nvPr/>
        </p:nvSpPr>
        <p:spPr>
          <a:xfrm>
            <a:off x="4338828" y="2651760"/>
            <a:ext cx="3511296" cy="3200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800"/>
              </a:spcAft>
            </a:pPr>
            <a:r>
              <a:rPr sz="1800" b="1" cap="none">
                <a:solidFill>
                  <a:schemeClr val="accent2"/>
                </a:solidFill>
                <a:latin typeface="+mj-lt"/>
              </a:rPr>
              <a:t>Open before production</a:t>
            </a:r>
          </a:p>
          <a:p>
            <a:pPr algn="l" marL="228600" indent="-228600">
              <a:spcAft>
                <a:spcPts val="600"/>
              </a:spcAft>
              <a:buClr>
                <a:schemeClr val="accent1"/>
              </a:buClr>
              <a:buChar char="•"/>
            </a:pPr>
            <a:r>
              <a:rPr sz="1400" b="0">
                <a:solidFill>
                  <a:schemeClr val="tx1"/>
                </a:solidFill>
              </a:rPr>
              <a:t>Performance: no latency, throughput or sizing figures</a:t>
            </a:r>
          </a:p>
          <a:p>
            <a:pPr algn="l" marL="228600" indent="-228600">
              <a:spcAft>
                <a:spcPts val="600"/>
              </a:spcAft>
              <a:buClr>
                <a:schemeClr val="accent1"/>
              </a:buClr>
              <a:buChar char="•"/>
            </a:pPr>
            <a:r>
              <a:rPr sz="1400" b="0">
                <a:solidFill>
                  <a:schemeClr val="tx1"/>
                </a:solidFill>
              </a:rPr>
              <a:t>The archive grows with uptime; cluster snapshots designed, not built</a:t>
            </a:r>
          </a:p>
          <a:p>
            <a:pPr algn="l" marL="228600" indent="-228600">
              <a:spcAft>
                <a:spcPts val="600"/>
              </a:spcAft>
              <a:buClr>
                <a:schemeClr val="accent1"/>
              </a:buClr>
              <a:buChar char="•"/>
            </a:pPr>
            <a:r>
              <a:rPr sz="1400" b="0">
                <a:solidFill>
                  <a:schemeClr val="tx1"/>
                </a:solidFill>
              </a:rPr>
              <a:t>No authentication or encryption on the wire</a:t>
            </a:r>
          </a:p>
          <a:p>
            <a:pPr algn="l" marL="228600" indent="-228600">
              <a:spcAft>
                <a:spcPts val="600"/>
              </a:spcAft>
              <a:buClr>
                <a:schemeClr val="accent1"/>
              </a:buClr>
              <a:buChar char="•"/>
            </a:pPr>
            <a:r>
              <a:rPr sz="1400" b="0">
                <a:solidFill>
                  <a:schemeClr val="tx1"/>
                </a:solidFill>
              </a:rPr>
              <a:t>A framing protocol upgrade purges history</a:t>
            </a:r>
          </a:p>
          <a:p>
            <a:pPr algn="l" marL="228600" indent="-228600">
              <a:spcAft>
                <a:spcPts val="600"/>
              </a:spcAft>
              <a:buClr>
                <a:schemeClr val="accent1"/>
              </a:buClr>
              <a:buChar char="•"/>
            </a:pPr>
            <a:r>
              <a:rPr sz="1400" b="0">
                <a:solidFill>
                  <a:schemeClr val="tx1"/>
                </a:solidFill>
              </a:rPr>
              <a:t>No disaster-recovery design</a:t>
            </a:r>
          </a:p>
        </p:txBody>
      </p:sp>
      <p:sp>
        <p:nvSpPr>
          <p:cNvPr id="9006" name="Card 19"/>
          <p:cNvSpPr/>
          <p:nvPr/>
        </p:nvSpPr>
        <p:spPr>
          <a:xfrm>
            <a:off x="8129016" y="2651760"/>
            <a:ext cx="3511296" cy="3200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800"/>
              </a:spcAft>
            </a:pPr>
            <a:r>
              <a:rPr sz="1800" b="1" cap="none">
                <a:solidFill>
                  <a:schemeClr val="tx1"/>
                </a:solidFill>
                <a:latin typeface="+mj-lt"/>
              </a:rPr>
              <a:t>How to evaluate it</a:t>
            </a:r>
          </a:p>
          <a:p>
            <a:pPr algn="l" marL="228600" indent="-228600">
              <a:spcAft>
                <a:spcPts val="600"/>
              </a:spcAft>
              <a:buClr>
                <a:schemeClr val="accent1"/>
              </a:buClr>
              <a:buChar char="•"/>
            </a:pPr>
            <a:r>
              <a:rPr sz="1400" b="0">
                <a:solidFill>
                  <a:schemeClr val="tx1"/>
                </a:solidFill>
              </a:rPr>
              <a:t>A release runs a one-member cluster; getting-started.md adds a consumer and a producer</a:t>
            </a:r>
          </a:p>
          <a:p>
            <a:pPr algn="l" marL="228600" indent="-228600">
              <a:spcAft>
                <a:spcPts val="600"/>
              </a:spcAft>
              <a:buClr>
                <a:schemeClr val="accent1"/>
              </a:buClr>
              <a:buChar char="•"/>
            </a:pPr>
            <a:r>
              <a:rPr sz="1400" b="0">
                <a:solidFill>
                  <a:schemeClr val="tx1"/>
                </a:solidFill>
              </a:rPr>
              <a:t>Examples in Java, C++ and C#: a consumer, an application, a gateway pair, a snapshot restore</a:t>
            </a:r>
          </a:p>
          <a:p>
            <a:pPr algn="l" marL="228600" indent="-228600">
              <a:spcAft>
                <a:spcPts val="600"/>
              </a:spcAft>
              <a:buClr>
                <a:schemeClr val="accent1"/>
              </a:buClr>
              <a:buChar char="•"/>
            </a:pPr>
            <a:r>
              <a:rPr sz="1400" b="0">
                <a:solidFill>
                  <a:schemeClr val="tx1"/>
                </a:solidFill>
              </a:rPr>
              <a:t>The examples ping through the cluster: a round trip measured on your own hardware</a:t>
            </a:r>
          </a:p>
          <a:p>
            <a:pPr algn="l" marL="228600" indent="-228600">
              <a:spcAft>
                <a:spcPts val="600"/>
              </a:spcAft>
              <a:buClr>
                <a:schemeClr val="accent1"/>
              </a:buClr>
              <a:buChar char="•"/>
            </a:pPr>
            <a:r>
              <a:rPr sz="1400" b="0">
                <a:solidFill>
                  <a:schemeClr val="tx1"/>
                </a:solidFill>
              </a:rPr>
              <a:t>The failure harnesses: leader kills, chaos, a containerized soak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One replicated order</a:t>
            </a:r>
          </a:p>
        </p:txBody>
      </p:sp>
      <p:sp>
        <p:nvSpPr>
          <p:cNvPr id="3" name="Text 20"/>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Every input is stamped once; every service is a deterministic state machine over the result</a:t>
            </a:r>
          </a:p>
        </p:txBody>
      </p:sp>
      <p:sp>
        <p:nvSpPr>
          <p:cNvPr id="9003" name="Slide number"/>
          <p:cNvSpPr txBox="1"/>
          <p:nvPr userDrawn="1"/>
        </p:nvSpPr>
        <p:spPr>
          <a:xfrm>
            <a:off x="10728655" y="6400800"/>
            <a:ext cx="914400" cy="274320"/>
          </a:xfrm>
          <a:prstGeom prst="rect">
            <a:avLst/>
          </a:prstGeom>
          <a:noFill/>
        </p:spPr>
        <p:txBody>
          <a:bodyPr wrap="none" lIns="0" tIns="0" rIns="0" bIns="0" anchor="ctr"/>
          <a:lstStyle/>
          <a:p>
            <a:pPr algn="r"/>
            <a:fld id="{e2104cce-95dc-4acc-961b-0b173cf26647}" type="slidenum">
              <a:rPr lang="en-US" sz="1000" dirty="0">
                <a:solidFill>
                  <a:schemeClr val="accent5"/>
                </a:solidFill>
              </a:rPr>
              <a:t>3</a:t>
            </a:fld>
          </a:p>
        </p:txBody>
      </p:sp>
      <p:sp>
        <p:nvSpPr>
          <p:cNvPr id="9004" name="Box 21"/>
          <p:cNvSpPr/>
          <p:nvPr/>
        </p:nvSpPr>
        <p:spPr>
          <a:xfrm>
            <a:off x="548640" y="1783080"/>
            <a:ext cx="2286000" cy="5486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Gateway pairs</a:t>
            </a:r>
          </a:p>
        </p:txBody>
      </p:sp>
      <p:cxnSp>
        <p:nvCxnSpPr>
          <p:cNvPr id="9005" name="Arrow 22"/>
          <p:cNvCxnSpPr/>
          <p:nvPr/>
        </p:nvCxnSpPr>
        <p:spPr>
          <a:xfrm>
            <a:off x="2834640" y="2057400"/>
            <a:ext cx="502920" cy="73152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06" name="Box 23"/>
          <p:cNvSpPr/>
          <p:nvPr/>
        </p:nvSpPr>
        <p:spPr>
          <a:xfrm>
            <a:off x="548640" y="2514600"/>
            <a:ext cx="2286000" cy="5486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Applications</a:t>
            </a:r>
          </a:p>
        </p:txBody>
      </p:sp>
      <p:cxnSp>
        <p:nvCxnSpPr>
          <p:cNvPr id="9007" name="Arrow 24"/>
          <p:cNvCxnSpPr/>
          <p:nvPr/>
        </p:nvCxnSpPr>
        <p:spPr>
          <a:xfrm>
            <a:off x="2834640" y="2788920"/>
            <a:ext cx="5029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08" name="Box 25"/>
          <p:cNvSpPr/>
          <p:nvPr/>
        </p:nvSpPr>
        <p:spPr>
          <a:xfrm>
            <a:off x="548640" y="3246120"/>
            <a:ext cx="2286000" cy="5486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Operator (clusterctl)</a:t>
            </a:r>
          </a:p>
        </p:txBody>
      </p:sp>
      <p:cxnSp>
        <p:nvCxnSpPr>
          <p:cNvPr id="9009" name="Arrow 26"/>
          <p:cNvCxnSpPr/>
          <p:nvPr/>
        </p:nvCxnSpPr>
        <p:spPr>
          <a:xfrm flipV="1">
            <a:off x="2834640" y="2788920"/>
            <a:ext cx="502920" cy="73152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10" name="Box 27"/>
          <p:cNvSpPr/>
          <p:nvPr/>
        </p:nvSpPr>
        <p:spPr>
          <a:xfrm>
            <a:off x="3383280" y="1965960"/>
            <a:ext cx="2377440" cy="1645920"/>
          </a:xfrm>
          <a:prstGeom prst="rect">
            <a:avLst/>
          </a:prstGeom>
          <a:solidFill>
            <a:schemeClr val="bg1"/>
          </a:solidFill>
          <a:ln w="317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1">
                <a:solidFill>
                  <a:schemeClr val="tx1"/>
                </a:solidFill>
              </a:rPr>
              <a:t>Sequencer cluster</a:t>
            </a:r>
          </a:p>
          <a:p>
            <a:pPr algn="ctr"/>
            <a:r>
              <a:rPr sz="1200" b="0">
                <a:solidFill>
                  <a:schemeClr val="accent5"/>
                </a:solidFill>
              </a:rPr>
              <a:t>Raft · 3 to 7 cluster members</a:t>
            </a:r>
          </a:p>
        </p:txBody>
      </p:sp>
      <p:cxnSp>
        <p:nvCxnSpPr>
          <p:cNvPr id="9011" name="Arrow 28"/>
          <p:cNvCxnSpPr/>
          <p:nvPr/>
        </p:nvCxnSpPr>
        <p:spPr>
          <a:xfrm>
            <a:off x="5760720" y="2788920"/>
            <a:ext cx="41148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12" name="Box 29"/>
          <p:cNvSpPr/>
          <p:nvPr/>
        </p:nvSpPr>
        <p:spPr>
          <a:xfrm>
            <a:off x="6217920" y="2542032"/>
            <a:ext cx="493776" cy="493776"/>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101</a:t>
            </a:r>
          </a:p>
        </p:txBody>
      </p:sp>
      <p:sp>
        <p:nvSpPr>
          <p:cNvPr id="9013" name="Box 30"/>
          <p:cNvSpPr/>
          <p:nvPr/>
        </p:nvSpPr>
        <p:spPr>
          <a:xfrm>
            <a:off x="6766560" y="2542032"/>
            <a:ext cx="493776" cy="493776"/>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102</a:t>
            </a:r>
          </a:p>
        </p:txBody>
      </p:sp>
      <p:sp>
        <p:nvSpPr>
          <p:cNvPr id="9014" name="Box 31"/>
          <p:cNvSpPr/>
          <p:nvPr/>
        </p:nvSpPr>
        <p:spPr>
          <a:xfrm>
            <a:off x="7315200" y="2542032"/>
            <a:ext cx="493776" cy="493776"/>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103</a:t>
            </a:r>
          </a:p>
        </p:txBody>
      </p:sp>
      <p:sp>
        <p:nvSpPr>
          <p:cNvPr id="9015" name="Box 32"/>
          <p:cNvSpPr/>
          <p:nvPr/>
        </p:nvSpPr>
        <p:spPr>
          <a:xfrm>
            <a:off x="7863840" y="2542032"/>
            <a:ext cx="493776" cy="493776"/>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104</a:t>
            </a:r>
          </a:p>
        </p:txBody>
      </p:sp>
      <p:sp>
        <p:nvSpPr>
          <p:cNvPr id="9016" name="Box 33"/>
          <p:cNvSpPr/>
          <p:nvPr/>
        </p:nvSpPr>
        <p:spPr>
          <a:xfrm>
            <a:off x="8412480" y="2542032"/>
            <a:ext cx="493776" cy="493776"/>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105</a:t>
            </a:r>
          </a:p>
        </p:txBody>
      </p:sp>
      <p:sp>
        <p:nvSpPr>
          <p:cNvPr id="9017" name="Box 34"/>
          <p:cNvSpPr/>
          <p:nvPr/>
        </p:nvSpPr>
        <p:spPr>
          <a:xfrm>
            <a:off x="8961120" y="2542032"/>
            <a:ext cx="493776" cy="493776"/>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106</a:t>
            </a:r>
          </a:p>
        </p:txBody>
      </p:sp>
      <p:sp>
        <p:nvSpPr>
          <p:cNvPr id="9018" name="Text 35"/>
          <p:cNvSpPr txBox="1"/>
          <p:nvPr/>
        </p:nvSpPr>
        <p:spPr>
          <a:xfrm>
            <a:off x="6217920" y="2057400"/>
            <a:ext cx="3291840" cy="365760"/>
          </a:xfrm>
          <a:prstGeom prst="rect">
            <a:avLst/>
          </a:prstGeom>
          <a:noFill/>
        </p:spPr>
        <p:txBody>
          <a:bodyPr wrap="square" anchor="t" lIns="0" rIns="0" tIns="0" bIns="0">
            <a:spAutoFit/>
          </a:bodyPr>
          <a:lstStyle/>
          <a:p>
            <a:pPr algn="l"/>
            <a:r>
              <a:rPr sz="1200" b="0">
                <a:solidFill>
                  <a:schemeClr val="accent5"/>
                </a:solidFill>
              </a:rPr>
              <a:t>globalSeqNo: no gaps, no reuse</a:t>
            </a:r>
          </a:p>
        </p:txBody>
      </p:sp>
      <p:cxnSp>
        <p:nvCxnSpPr>
          <p:cNvPr id="9019" name="Arrow 36"/>
          <p:cNvCxnSpPr/>
          <p:nvPr/>
        </p:nvCxnSpPr>
        <p:spPr>
          <a:xfrm>
            <a:off x="9473184" y="2788920"/>
            <a:ext cx="448056"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0" name="Card 37"/>
          <p:cNvSpPr/>
          <p:nvPr/>
        </p:nvSpPr>
        <p:spPr>
          <a:xfrm>
            <a:off x="9966960" y="1783080"/>
            <a:ext cx="1673352" cy="201168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r>
              <a:rPr sz="1300" b="1">
                <a:solidFill>
                  <a:schemeClr val="tx1"/>
                </a:solidFill>
              </a:rPr>
              <a:t>Every consumer</a:t>
            </a:r>
          </a:p>
          <a:p>
            <a:pPr algn="l" marL="228600" indent="-228600">
              <a:buClr>
                <a:schemeClr val="accent1"/>
              </a:buClr>
              <a:buChar char="•"/>
            </a:pPr>
            <a:r>
              <a:rPr sz="1300" b="0">
                <a:solidFill>
                  <a:schemeClr val="tx1"/>
                </a:solidFill>
              </a:rPr>
              <a:t>applications</a:t>
            </a:r>
          </a:p>
          <a:p>
            <a:pPr algn="l" marL="228600" indent="-228600">
              <a:buClr>
                <a:schemeClr val="accent1"/>
              </a:buClr>
              <a:buChar char="•"/>
            </a:pPr>
            <a:r>
              <a:rPr sz="1300" b="0">
                <a:solidFill>
                  <a:schemeClr val="tx1"/>
                </a:solidFill>
              </a:rPr>
              <a:t>gateways</a:t>
            </a:r>
          </a:p>
          <a:p>
            <a:pPr algn="l" marL="228600" indent="-228600">
              <a:buClr>
                <a:schemeClr val="accent1"/>
              </a:buClr>
              <a:buChar char="•"/>
            </a:pPr>
            <a:r>
              <a:rPr sz="1300" b="0">
                <a:solidFill>
                  <a:schemeClr val="tx1"/>
                </a:solidFill>
              </a:rPr>
              <a:t>audit, risk</a:t>
            </a:r>
          </a:p>
        </p:txBody>
      </p:sp>
      <p:sp>
        <p:nvSpPr>
          <p:cNvPr id="9021" name="Card 38"/>
          <p:cNvSpPr/>
          <p:nvPr/>
        </p:nvSpPr>
        <p:spPr>
          <a:xfrm>
            <a:off x="548640" y="4343400"/>
            <a:ext cx="260604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64592" bIns="164592"/>
          <a:lstStyle/>
          <a:p>
            <a:pPr algn="l"/>
            <a:r>
              <a:rPr sz="3600" b="1" cap="none">
                <a:solidFill>
                  <a:schemeClr val="accent1"/>
                </a:solidFill>
                <a:latin typeface="+mj-lt"/>
              </a:rPr>
              <a:t>1</a:t>
            </a:r>
            <a:r>
              <a:rPr sz="1400" b="1">
                <a:solidFill>
                  <a:schemeClr val="tx1"/>
                </a:solidFill>
              </a:rPr>
              <a:t>  stream</a:t>
            </a:r>
          </a:p>
          <a:p>
            <a:pPr algn="l"/>
            <a:r>
              <a:rPr sz="1300" b="0">
                <a:solidFill>
                  <a:schemeClr val="accent5"/>
                </a:solidFill>
              </a:rPr>
              <a:t>one total order across every producer</a:t>
            </a:r>
          </a:p>
        </p:txBody>
      </p:sp>
      <p:sp>
        <p:nvSpPr>
          <p:cNvPr id="9022" name="Card 39"/>
          <p:cNvSpPr/>
          <p:nvPr/>
        </p:nvSpPr>
        <p:spPr>
          <a:xfrm>
            <a:off x="3376879" y="4343400"/>
            <a:ext cx="260604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64592" bIns="164592"/>
          <a:lstStyle/>
          <a:p>
            <a:pPr algn="l"/>
            <a:r>
              <a:rPr sz="3600" b="1" cap="none">
                <a:solidFill>
                  <a:schemeClr val="accent1"/>
                </a:solidFill>
                <a:latin typeface="+mj-lt"/>
              </a:rPr>
              <a:t>3–7</a:t>
            </a:r>
            <a:r>
              <a:rPr sz="1400" b="1">
                <a:solidFill>
                  <a:schemeClr val="tx1"/>
                </a:solidFill>
              </a:rPr>
              <a:t>  members</a:t>
            </a:r>
          </a:p>
          <a:p>
            <a:pPr algn="l"/>
            <a:r>
              <a:rPr sz="1300" b="0">
                <a:solidFill>
                  <a:schemeClr val="accent5"/>
                </a:solidFill>
              </a:rPr>
              <a:t>a minority can fail with no gap and no renumbering</a:t>
            </a:r>
          </a:p>
        </p:txBody>
      </p:sp>
      <p:sp>
        <p:nvSpPr>
          <p:cNvPr id="9023" name="Card 40"/>
          <p:cNvSpPr/>
          <p:nvPr/>
        </p:nvSpPr>
        <p:spPr>
          <a:xfrm>
            <a:off x="6205118" y="4343400"/>
            <a:ext cx="260604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64592" bIns="164592"/>
          <a:lstStyle/>
          <a:p>
            <a:pPr algn="l"/>
            <a:r>
              <a:rPr sz="3600" b="1" cap="none">
                <a:solidFill>
                  <a:schemeClr val="accent1"/>
                </a:solidFill>
                <a:latin typeface="+mj-lt"/>
              </a:rPr>
              <a:t>44 B</a:t>
            </a:r>
            <a:r>
              <a:rPr sz="1400" b="1">
                <a:solidFill>
                  <a:schemeClr val="tx1"/>
                </a:solidFill>
              </a:rPr>
              <a:t>  envelope</a:t>
            </a:r>
          </a:p>
          <a:p>
            <a:pPr algn="l"/>
            <a:r>
              <a:rPr sz="1300" b="0">
                <a:solidFill>
                  <a:schemeClr val="accent5"/>
                </a:solidFill>
              </a:rPr>
              <a:t>on a sequenced message; payload never decoded</a:t>
            </a:r>
          </a:p>
        </p:txBody>
      </p:sp>
      <p:sp>
        <p:nvSpPr>
          <p:cNvPr id="9024" name="Card 41"/>
          <p:cNvSpPr/>
          <p:nvPr/>
        </p:nvSpPr>
        <p:spPr>
          <a:xfrm>
            <a:off x="9033358" y="4343400"/>
            <a:ext cx="260604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64592" bIns="164592"/>
          <a:lstStyle/>
          <a:p>
            <a:pPr algn="l"/>
            <a:r>
              <a:rPr sz="3600" b="1" cap="none">
                <a:solidFill>
                  <a:schemeClr val="accent1"/>
                </a:solidFill>
                <a:latin typeface="+mj-lt"/>
              </a:rPr>
              <a:t>1 Hz</a:t>
            </a:r>
            <a:r>
              <a:rPr sz="1400" b="1">
                <a:solidFill>
                  <a:schemeClr val="tx1"/>
                </a:solidFill>
              </a:rPr>
              <a:t>  cluster clock</a:t>
            </a:r>
          </a:p>
          <a:p>
            <a:pPr algn="l"/>
            <a:r>
              <a:rPr sz="1300" b="0">
                <a:solidFill>
                  <a:schemeClr val="accent5"/>
                </a:solidFill>
              </a:rPr>
              <a:t>a heartbeat on consensus time every client agrees 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Context and alternatives</a:t>
            </a:r>
          </a:p>
        </p:txBody>
      </p:sp>
      <p:sp>
        <p:nvSpPr>
          <p:cNvPr id="3" name="Text 42"/>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The problem it solves, and the options it is weighed against</a:t>
            </a:r>
          </a:p>
        </p:txBody>
      </p:sp>
      <p:sp>
        <p:nvSpPr>
          <p:cNvPr id="9004" name="Slide number"/>
          <p:cNvSpPr txBox="1"/>
          <p:nvPr userDrawn="1"/>
        </p:nvSpPr>
        <p:spPr>
          <a:xfrm>
            <a:off x="10728655" y="6400800"/>
            <a:ext cx="914400" cy="274320"/>
          </a:xfrm>
          <a:prstGeom prst="rect">
            <a:avLst/>
          </a:prstGeom>
          <a:noFill/>
        </p:spPr>
        <p:txBody>
          <a:bodyPr wrap="none" lIns="0" tIns="0" rIns="0" bIns="0" anchor="ctr"/>
          <a:lstStyle/>
          <a:p>
            <a:pPr algn="r"/>
            <a:fld id="{48023d2a-7974-48a0-af18-09dc2dc36c95}" type="slidenum">
              <a:rPr lang="en-US" sz="1000" dirty="0">
                <a:solidFill>
                  <a:schemeClr val="accent5"/>
                </a:solidFill>
              </a:rPr>
              <a:t>4</a:t>
            </a:fld>
          </a:p>
        </p:txBody>
      </p:sp>
      <p:sp>
        <p:nvSpPr>
          <p:cNvPr id="9005" name="Card 43"/>
          <p:cNvSpPr/>
          <p:nvPr/>
        </p:nvSpPr>
        <p:spPr>
          <a:xfrm>
            <a:off x="548640" y="1600200"/>
            <a:ext cx="11094415"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r>
              <a:rPr sz="1500" b="0">
                <a:solidFill>
                  <a:schemeClr val="tx1"/>
                </a:solidFill>
              </a:rPr>
              <a:t>Services that must agree on what happened, and in what order: a trading venue, an order management system, a risk engine. The sequencer architecture settles the order once, in one place, and every service becomes a deterministic replica of one stream.</a:t>
            </a:r>
          </a:p>
        </p:txBody>
      </p:sp>
      <p:graphicFrame>
        <p:nvGraphicFramePr>
          <p:cNvPr id="9006" name="Table 44"/>
          <p:cNvGraphicFramePr>
            <a:graphicFrameLocks noGrp="1"/>
          </p:cNvGraphicFramePr>
          <p:nvPr/>
        </p:nvGraphicFramePr>
        <p:xfrm>
          <a:off x="548640" y="2834640"/>
          <a:ext cx="11091672" cy="2514600"/>
        </p:xfrm>
        <a:graphic>
          <a:graphicData uri="http://schemas.openxmlformats.org/drawingml/2006/table">
            <a:tbl>
              <a:tblPr firstRow="1">
                <a:tableStyleId>{5C22544A-7EE6-4342-B048-85BDC9FD1C3A}</a:tableStyleId>
              </a:tblPr>
              <a:tblGrid>
                <a:gridCol w="2240280"/>
                <a:gridCol w="3429000"/>
                <a:gridCol w="1874520"/>
                <a:gridCol w="3547872"/>
              </a:tblGrid>
              <a:tr h="502920">
                <a:tc>
                  <a:txBody>
                    <a:bodyPr/>
                    <a:lstStyle/>
                    <a:p>
                      <a:pPr algn="l"/>
                      <a:r>
                        <a:rPr sz="1200" b="1">
                          <a:solidFill>
                            <a:schemeClr val="bg1"/>
                          </a:solidFill>
                        </a:rPr>
                        <a:t>Option</a:t>
                      </a:r>
                    </a:p>
                  </a:txBody>
                  <a:tcPr marL="91440" marR="91440" marT="45720" marB="45720" anchor="ctr">
                    <a:solidFill>
                      <a:schemeClr val="accent1"/>
                    </a:solidFill>
                  </a:tcPr>
                </a:tc>
                <a:tc>
                  <a:txBody>
                    <a:bodyPr/>
                    <a:lstStyle/>
                    <a:p>
                      <a:pPr algn="l"/>
                      <a:r>
                        <a:rPr sz="1200" b="1">
                          <a:solidFill>
                            <a:schemeClr val="bg1"/>
                          </a:solidFill>
                        </a:rPr>
                        <a:t>Gives</a:t>
                      </a:r>
                    </a:p>
                  </a:txBody>
                  <a:tcPr marL="91440" marR="91440" marT="45720" marB="45720" anchor="ctr">
                    <a:solidFill>
                      <a:schemeClr val="accent1"/>
                    </a:solidFill>
                  </a:tcPr>
                </a:tc>
                <a:tc>
                  <a:txBody>
                    <a:bodyPr/>
                    <a:lstStyle/>
                    <a:p>
                      <a:pPr algn="l"/>
                      <a:r>
                        <a:rPr sz="1200" b="1">
                          <a:solidFill>
                            <a:schemeClr val="bg1"/>
                          </a:solidFill>
                        </a:rPr>
                        <a:t>Round trip p50 / p99</a:t>
                      </a:r>
                    </a:p>
                  </a:txBody>
                  <a:tcPr marL="91440" marR="91440" marT="45720" marB="45720" anchor="ctr">
                    <a:solidFill>
                      <a:schemeClr val="accent1"/>
                    </a:solidFill>
                  </a:tcPr>
                </a:tc>
                <a:tc>
                  <a:txBody>
                    <a:bodyPr/>
                    <a:lstStyle/>
                    <a:p>
                      <a:pPr algn="l"/>
                      <a:r>
                        <a:rPr sz="1200" b="1">
                          <a:solidFill>
                            <a:schemeClr val="bg1"/>
                          </a:solidFill>
                        </a:rPr>
                        <a:t>Drawback</a:t>
                      </a:r>
                    </a:p>
                  </a:txBody>
                  <a:tcPr marL="91440" marR="91440" marT="45720" marB="45720" anchor="ctr">
                    <a:solidFill>
                      <a:schemeClr val="accent1"/>
                    </a:solidFill>
                  </a:tcPr>
                </a:tc>
              </a:tr>
              <a:tr h="502920">
                <a:tc>
                  <a:txBody>
                    <a:bodyPr/>
                    <a:lstStyle/>
                    <a:p>
                      <a:pPr algn="l"/>
                      <a:r>
                        <a:rPr sz="1300" b="1">
                          <a:solidFill>
                            <a:schemeClr val="tx1"/>
                          </a:solidFill>
                        </a:rPr>
                        <a:t>Kafka, one partition</a:t>
                      </a:r>
                    </a:p>
                  </a:txBody>
                  <a:tcPr marL="91440" marR="91440" marT="45720" marB="45720" anchor="ctr">
                    <a:solidFill>
                      <a:schemeClr val="bg1"/>
                    </a:solidFill>
                  </a:tcPr>
                </a:tc>
                <a:tc>
                  <a:txBody>
                    <a:bodyPr/>
                    <a:lstStyle/>
                    <a:p>
                      <a:pPr algn="l"/>
                      <a:r>
                        <a:rPr sz="1300" b="0">
                          <a:solidFill>
                            <a:schemeClr val="tx1"/>
                          </a:solidFill>
                        </a:rPr>
                        <a:t>Total order, retention, mature tooling</a:t>
                      </a:r>
                    </a:p>
                  </a:txBody>
                  <a:tcPr marL="91440" marR="91440" marT="45720" marB="45720" anchor="ctr">
                    <a:solidFill>
                      <a:schemeClr val="bg1"/>
                    </a:solidFill>
                  </a:tcPr>
                </a:tc>
                <a:tc>
                  <a:txBody>
                    <a:bodyPr/>
                    <a:lstStyle/>
                    <a:p>
                      <a:pPr algn="l"/>
                      <a:r>
                        <a:rPr sz="1300" b="0">
                          <a:solidFill>
                            <a:schemeClr val="tx1"/>
                          </a:solidFill>
                        </a:rPr>
                        <a:t>— / 5 ms one way</a:t>
                      </a:r>
                    </a:p>
                  </a:txBody>
                  <a:tcPr marL="91440" marR="91440" marT="45720" marB="45720" anchor="ctr">
                    <a:solidFill>
                      <a:schemeClr val="bg1"/>
                    </a:solidFill>
                  </a:tcPr>
                </a:tc>
                <a:tc>
                  <a:txBody>
                    <a:bodyPr/>
                    <a:lstStyle/>
                    <a:p>
                      <a:pPr algn="l"/>
                      <a:r>
                        <a:rPr sz="1300" b="0">
                          <a:solidFill>
                            <a:schemeClr val="tx1"/>
                          </a:solidFill>
                        </a:rPr>
                        <a:t>No cluster clock or producer election</a:t>
                      </a:r>
                    </a:p>
                  </a:txBody>
                  <a:tcPr marL="91440" marR="91440" marT="45720" marB="45720" anchor="ctr">
                    <a:solidFill>
                      <a:schemeClr val="bg1"/>
                    </a:solidFill>
                  </a:tcPr>
                </a:tc>
              </a:tr>
              <a:tr h="502920">
                <a:tc>
                  <a:txBody>
                    <a:bodyPr/>
                    <a:lstStyle/>
                    <a:p>
                      <a:pPr algn="l"/>
                      <a:r>
                        <a:rPr sz="1300" b="1">
                          <a:solidFill>
                            <a:schemeClr val="tx1"/>
                          </a:solidFill>
                        </a:rPr>
                        <a:t>Aeron</a:t>
                      </a:r>
                    </a:p>
                  </a:txBody>
                  <a:tcPr marL="91440" marR="91440" marT="45720" marB="45720" anchor="ctr">
                    <a:solidFill>
                      <a:schemeClr val="bg2"/>
                    </a:solidFill>
                  </a:tcPr>
                </a:tc>
                <a:tc>
                  <a:txBody>
                    <a:bodyPr/>
                    <a:lstStyle/>
                    <a:p>
                      <a:pPr algn="l"/>
                      <a:r>
                        <a:rPr sz="1300" b="0">
                          <a:solidFill>
                            <a:schemeClr val="tx1"/>
                          </a:solidFill>
                        </a:rPr>
                        <a:t>Reliable UDP and IPC; recording, replay</a:t>
                      </a:r>
                    </a:p>
                  </a:txBody>
                  <a:tcPr marL="91440" marR="91440" marT="45720" marB="45720" anchor="ctr">
                    <a:solidFill>
                      <a:schemeClr val="bg2"/>
                    </a:solidFill>
                  </a:tcPr>
                </a:tc>
                <a:tc>
                  <a:txBody>
                    <a:bodyPr/>
                    <a:lstStyle/>
                    <a:p>
                      <a:pPr algn="l"/>
                      <a:r>
                        <a:rPr sz="1300" b="0">
                          <a:solidFill>
                            <a:schemeClr val="tx1"/>
                          </a:solidFill>
                        </a:rPr>
                        <a:t>21 / 32 µs</a:t>
                      </a:r>
                    </a:p>
                  </a:txBody>
                  <a:tcPr marL="91440" marR="91440" marT="45720" marB="45720" anchor="ctr">
                    <a:solidFill>
                      <a:schemeClr val="bg2"/>
                    </a:solidFill>
                  </a:tcPr>
                </a:tc>
                <a:tc>
                  <a:txBody>
                    <a:bodyPr/>
                    <a:lstStyle/>
                    <a:p>
                      <a:pPr algn="l"/>
                      <a:r>
                        <a:rPr sz="1300" b="0">
                          <a:solidFill>
                            <a:schemeClr val="tx1"/>
                          </a:solidFill>
                        </a:rPr>
                        <a:t>No replication: one sequencer, one point of failure</a:t>
                      </a:r>
                    </a:p>
                  </a:txBody>
                  <a:tcPr marL="91440" marR="91440" marT="45720" marB="45720" anchor="ctr">
                    <a:solidFill>
                      <a:schemeClr val="bg2"/>
                    </a:solidFill>
                  </a:tcPr>
                </a:tc>
              </a:tr>
              <a:tr h="502920">
                <a:tc>
                  <a:txBody>
                    <a:bodyPr/>
                    <a:lstStyle/>
                    <a:p>
                      <a:pPr algn="l"/>
                      <a:r>
                        <a:rPr sz="1300" b="1">
                          <a:solidFill>
                            <a:schemeClr val="tx1"/>
                          </a:solidFill>
                        </a:rPr>
                        <a:t>Aeron Cluster alone</a:t>
                      </a:r>
                    </a:p>
                  </a:txBody>
                  <a:tcPr marL="91440" marR="91440" marT="45720" marB="45720" anchor="ctr">
                    <a:solidFill>
                      <a:schemeClr val="bg1"/>
                    </a:solidFill>
                  </a:tcPr>
                </a:tc>
                <a:tc>
                  <a:txBody>
                    <a:bodyPr/>
                    <a:lstStyle/>
                    <a:p>
                      <a:pPr algn="l"/>
                      <a:r>
                        <a:rPr sz="1300" b="0">
                          <a:solidFill>
                            <a:schemeClr val="tx1"/>
                          </a:solidFill>
                        </a:rPr>
                        <a:t>The same consensus and log</a:t>
                      </a:r>
                    </a:p>
                  </a:txBody>
                  <a:tcPr marL="91440" marR="91440" marT="45720" marB="45720" anchor="ctr">
                    <a:solidFill>
                      <a:schemeClr val="bg1"/>
                    </a:solidFill>
                  </a:tcPr>
                </a:tc>
                <a:tc>
                  <a:txBody>
                    <a:bodyPr/>
                    <a:lstStyle/>
                    <a:p>
                      <a:pPr algn="l"/>
                      <a:r>
                        <a:rPr sz="1300" b="0">
                          <a:solidFill>
                            <a:schemeClr val="tx1"/>
                          </a:solidFill>
                        </a:rPr>
                        <a:t>95 / 136 µs</a:t>
                      </a:r>
                    </a:p>
                  </a:txBody>
                  <a:tcPr marL="91440" marR="91440" marT="45720" marB="45720" anchor="ctr">
                    <a:solidFill>
                      <a:schemeClr val="bg1"/>
                    </a:solidFill>
                  </a:tcPr>
                </a:tc>
                <a:tc>
                  <a:txBody>
                    <a:bodyPr/>
                    <a:lstStyle/>
                    <a:p>
                      <a:pPr algn="l"/>
                      <a:r>
                        <a:rPr sz="1300" b="0">
                          <a:solidFill>
                            <a:schemeClr val="tx1"/>
                          </a:solidFill>
                        </a:rPr>
                        <a:t>Replay, election and confirmed ingress rebuilt per cluster</a:t>
                      </a:r>
                    </a:p>
                  </a:txBody>
                  <a:tcPr marL="91440" marR="91440" marT="45720" marB="45720" anchor="ctr">
                    <a:solidFill>
                      <a:schemeClr val="bg1"/>
                    </a:solidFill>
                  </a:tcPr>
                </a:tc>
              </a:tr>
              <a:tr h="502920">
                <a:tc>
                  <a:txBody>
                    <a:bodyPr/>
                    <a:lstStyle/>
                    <a:p>
                      <a:pPr algn="l"/>
                      <a:r>
                        <a:rPr sz="1300" b="1">
                          <a:solidFill>
                            <a:schemeClr val="tx1"/>
                          </a:solidFill>
                        </a:rPr>
                        <a:t>Database sequence</a:t>
                      </a:r>
                    </a:p>
                  </a:txBody>
                  <a:tcPr marL="91440" marR="91440" marT="45720" marB="45720" anchor="ctr">
                    <a:solidFill>
                      <a:schemeClr val="bg2"/>
                    </a:solidFill>
                  </a:tcPr>
                </a:tc>
                <a:tc>
                  <a:txBody>
                    <a:bodyPr/>
                    <a:lstStyle/>
                    <a:p>
                      <a:pPr algn="l"/>
                      <a:r>
                        <a:rPr sz="1300" b="0">
                          <a:solidFill>
                            <a:schemeClr val="tx1"/>
                          </a:solidFill>
                        </a:rPr>
                        <a:t>Familiar and transactional</a:t>
                      </a:r>
                    </a:p>
                  </a:txBody>
                  <a:tcPr marL="91440" marR="91440" marT="45720" marB="45720" anchor="ctr">
                    <a:solidFill>
                      <a:schemeClr val="bg2"/>
                    </a:solidFill>
                  </a:tcPr>
                </a:tc>
                <a:tc>
                  <a:txBody>
                    <a:bodyPr/>
                    <a:lstStyle/>
                    <a:p>
                      <a:pPr algn="l"/>
                      <a:r>
                        <a:rPr sz="1300" b="0">
                          <a:solidFill>
                            <a:schemeClr val="tx1"/>
                          </a:solidFill>
                        </a:rPr>
                        <a:t>One commit</a:t>
                      </a:r>
                    </a:p>
                  </a:txBody>
                  <a:tcPr marL="91440" marR="91440" marT="45720" marB="45720" anchor="ctr">
                    <a:solidFill>
                      <a:schemeClr val="bg2"/>
                    </a:solidFill>
                  </a:tcPr>
                </a:tc>
                <a:tc>
                  <a:txBody>
                    <a:bodyPr/>
                    <a:lstStyle/>
                    <a:p>
                      <a:pPr algn="l"/>
                      <a:r>
                        <a:rPr sz="1300" b="0">
                          <a:solidFill>
                            <a:schemeClr val="tx1"/>
                          </a:solidFill>
                        </a:rPr>
                        <a:t>Skips values on rollback; a write per message</a:t>
                      </a:r>
                    </a:p>
                  </a:txBody>
                  <a:tcPr marL="91440" marR="91440" marT="45720" marB="45720" anchor="ctr">
                    <a:solidFill>
                      <a:schemeClr val="bg2"/>
                    </a:solidFill>
                  </a:tcPr>
                </a:tc>
              </a:tr>
            </a:tbl>
          </a:graphicData>
        </a:graphic>
      </p:graphicFrame>
      <p:sp>
        <p:nvSpPr>
          <p:cNvPr id="9007" name="Text 45"/>
          <p:cNvSpPr txBox="1"/>
          <p:nvPr/>
        </p:nvSpPr>
        <p:spPr>
          <a:xfrm>
            <a:off x="548640" y="5440680"/>
            <a:ext cx="11094415" cy="411480"/>
          </a:xfrm>
          <a:prstGeom prst="rect">
            <a:avLst/>
          </a:prstGeom>
          <a:noFill/>
        </p:spPr>
        <p:txBody>
          <a:bodyPr wrap="square" anchor="t" lIns="0" rIns="0" tIns="0" bIns="0">
            <a:spAutoFit/>
          </a:bodyPr>
          <a:lstStyle/>
          <a:p>
            <a:pPr algn="l"/>
            <a:r>
              <a:rPr sz="1200" b="0">
                <a:solidFill>
                  <a:schemeClr val="accent5"/>
                </a:solidFill>
              </a:rPr>
              <a:t>Aeron: published round trips, open source, 100k msg/s, c6in.16xlarge, one AWS zone (Feb 2026); Adaptive quotes 18 µs on physical hardware.</a:t>
            </a:r>
          </a:p>
          <a:p>
            <a:pPr algn="l"/>
            <a:r>
              <a:rPr sz="1200" b="0">
                <a:solidFill>
                  <a:schemeClr val="accent5"/>
                </a:solidFill>
              </a:rPr>
              <a:t>Kafka: Confluent's benchmark, 1 KB at 200 MB/s, acks=all, three replicas, fsync off (Aug 2020). seqeron is not measured.</a:t>
            </a:r>
          </a:p>
        </p:txBody>
      </p:sp>
      <p:sp>
        <p:nvSpPr>
          <p:cNvPr id="9008" name="Text 46"/>
          <p:cNvSpPr txBox="1"/>
          <p:nvPr/>
        </p:nvSpPr>
        <p:spPr>
          <a:xfrm>
            <a:off x="548640" y="5943600"/>
            <a:ext cx="11094415" cy="365760"/>
          </a:xfrm>
          <a:prstGeom prst="rect">
            <a:avLst/>
          </a:prstGeom>
          <a:noFill/>
        </p:spPr>
        <p:txBody>
          <a:bodyPr wrap="square" anchor="t" lIns="0" rIns="0" tIns="0" bIns="0">
            <a:spAutoFit/>
          </a:bodyPr>
          <a:lstStyle/>
          <a:p>
            <a:pPr algn="l"/>
            <a:r>
              <a:rPr sz="1400" b="1">
                <a:solidFill>
                  <a:schemeClr val="accent5"/>
                </a:solidFill>
              </a:rPr>
              <a:t>A total order is one serialization point </a:t>
            </a:r>
            <a:r>
              <a:rPr sz="1400" b="0">
                <a:solidFill>
                  <a:schemeClr val="accent5"/>
                </a:solidFill>
              </a:rPr>
              <a:t>in every option, seqeron's included: its throughput ceiling is the same in kind.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Aeron Cluster</a:t>
            </a:r>
          </a:p>
        </p:txBody>
      </p:sp>
      <p:sp>
        <p:nvSpPr>
          <p:cNvPr id="3" name="Text 47"/>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Raft over Aeron's transport and archive: replicated log, deterministic services</a:t>
            </a:r>
          </a:p>
        </p:txBody>
      </p:sp>
      <p:sp>
        <p:nvSpPr>
          <p:cNvPr id="9005" name="Slide number"/>
          <p:cNvSpPr txBox="1"/>
          <p:nvPr userDrawn="1"/>
        </p:nvSpPr>
        <p:spPr>
          <a:xfrm>
            <a:off x="10728655" y="6400800"/>
            <a:ext cx="914400" cy="274320"/>
          </a:xfrm>
          <a:prstGeom prst="rect">
            <a:avLst/>
          </a:prstGeom>
          <a:noFill/>
        </p:spPr>
        <p:txBody>
          <a:bodyPr wrap="none" lIns="0" tIns="0" rIns="0" bIns="0" anchor="ctr"/>
          <a:lstStyle/>
          <a:p>
            <a:pPr algn="r"/>
            <a:fld id="{39ca2dce-7d2e-478f-8c9b-ac29817acb0a}" type="slidenum">
              <a:rPr lang="en-US" sz="1000" dirty="0">
                <a:solidFill>
                  <a:schemeClr val="accent5"/>
                </a:solidFill>
              </a:rPr>
              <a:t>5</a:t>
            </a:fld>
          </a:p>
        </p:txBody>
      </p:sp>
      <p:sp>
        <p:nvSpPr>
          <p:cNvPr id="9006" name="Host 48"/>
          <p:cNvSpPr/>
          <p:nvPr/>
        </p:nvSpPr>
        <p:spPr>
          <a:xfrm>
            <a:off x="664207" y="2987002"/>
            <a:ext cx="1964636" cy="1271235"/>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ctr"/>
            <a:r>
              <a:rPr sz="1100" b="1">
                <a:solidFill>
                  <a:schemeClr val="accent5"/>
                </a:solidFill>
              </a:rPr>
              <a:t>CLUSTER CLIENT</a:t>
            </a:r>
          </a:p>
        </p:txBody>
      </p:sp>
      <p:sp>
        <p:nvSpPr>
          <p:cNvPr id="9007" name="Text 49"/>
          <p:cNvSpPr txBox="1"/>
          <p:nvPr/>
        </p:nvSpPr>
        <p:spPr>
          <a:xfrm>
            <a:off x="664207" y="3449269"/>
            <a:ext cx="1964636" cy="277360"/>
          </a:xfrm>
          <a:prstGeom prst="rect">
            <a:avLst/>
          </a:prstGeom>
          <a:noFill/>
        </p:spPr>
        <p:txBody>
          <a:bodyPr wrap="square" anchor="ctr" lIns="0" rIns="0" tIns="0" bIns="0">
            <a:spAutoFit/>
          </a:bodyPr>
          <a:lstStyle/>
          <a:p>
            <a:pPr algn="ctr"/>
            <a:r>
              <a:rPr sz="1200" b="1">
                <a:solidFill>
                  <a:schemeClr val="tx1"/>
                </a:solidFill>
              </a:rPr>
              <a:t>AeronCluster</a:t>
            </a:r>
          </a:p>
        </p:txBody>
      </p:sp>
      <p:sp>
        <p:nvSpPr>
          <p:cNvPr id="9008" name="Text 50"/>
          <p:cNvSpPr txBox="1"/>
          <p:nvPr/>
        </p:nvSpPr>
        <p:spPr>
          <a:xfrm>
            <a:off x="664207" y="3749743"/>
            <a:ext cx="1964636" cy="277360"/>
          </a:xfrm>
          <a:prstGeom prst="rect">
            <a:avLst/>
          </a:prstGeom>
          <a:noFill/>
        </p:spPr>
        <p:txBody>
          <a:bodyPr wrap="square" anchor="ctr" lIns="0" rIns="0" tIns="0" bIns="0">
            <a:spAutoFit/>
          </a:bodyPr>
          <a:lstStyle/>
          <a:p>
            <a:pPr algn="ctr"/>
            <a:r>
              <a:rPr sz="1000" b="0">
                <a:solidFill>
                  <a:schemeClr val="accent5"/>
                </a:solidFill>
              </a:rPr>
              <a:t>one session</a:t>
            </a:r>
          </a:p>
        </p:txBody>
      </p:sp>
      <p:sp>
        <p:nvSpPr>
          <p:cNvPr id="9009" name="Host 51"/>
          <p:cNvSpPr/>
          <p:nvPr/>
        </p:nvSpPr>
        <p:spPr>
          <a:xfrm>
            <a:off x="3322244" y="1831334"/>
            <a:ext cx="3813705" cy="3929272"/>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l"/>
            <a:r>
              <a:rPr sz="1100" b="1">
                <a:solidFill>
                  <a:schemeClr val="accent5"/>
                </a:solidFill>
              </a:rPr>
              <a:t>LEADER</a:t>
            </a:r>
          </a:p>
        </p:txBody>
      </p:sp>
      <p:sp>
        <p:nvSpPr>
          <p:cNvPr id="9010" name="Box 52"/>
          <p:cNvSpPr/>
          <p:nvPr/>
        </p:nvSpPr>
        <p:spPr>
          <a:xfrm>
            <a:off x="3553377" y="2293601"/>
            <a:ext cx="3351438" cy="693401"/>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Consensus module</a:t>
            </a:r>
          </a:p>
          <a:p>
            <a:pPr algn="ctr"/>
            <a:r>
              <a:rPr sz="1000" b="0">
                <a:solidFill>
                  <a:schemeClr val="accent5"/>
                </a:solidFill>
              </a:rPr>
              <a:t>election · append · commit · cluster time</a:t>
            </a:r>
          </a:p>
        </p:txBody>
      </p:sp>
      <p:sp>
        <p:nvSpPr>
          <p:cNvPr id="9011" name="Box 53"/>
          <p:cNvSpPr/>
          <p:nvPr/>
        </p:nvSpPr>
        <p:spPr>
          <a:xfrm>
            <a:off x="3553377" y="3333702"/>
            <a:ext cx="1502369" cy="693401"/>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Archive</a:t>
            </a:r>
          </a:p>
          <a:p>
            <a:pPr algn="ctr"/>
            <a:r>
              <a:rPr sz="1000" b="0">
                <a:solidFill>
                  <a:schemeClr val="accent5"/>
                </a:solidFill>
              </a:rPr>
              <a:t>records the log</a:t>
            </a:r>
          </a:p>
        </p:txBody>
      </p:sp>
      <p:sp>
        <p:nvSpPr>
          <p:cNvPr id="9012" name="Box 54"/>
          <p:cNvSpPr/>
          <p:nvPr/>
        </p:nvSpPr>
        <p:spPr>
          <a:xfrm>
            <a:off x="5286880" y="3333702"/>
            <a:ext cx="1617936" cy="693401"/>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Clustered service</a:t>
            </a:r>
          </a:p>
          <a:p>
            <a:pPr algn="ctr"/>
            <a:r>
              <a:rPr sz="1000" b="0">
                <a:solidFill>
                  <a:schemeClr val="accent5"/>
                </a:solidFill>
              </a:rPr>
              <a:t>applies committed log</a:t>
            </a:r>
          </a:p>
        </p:txBody>
      </p:sp>
      <p:cxnSp>
        <p:nvCxnSpPr>
          <p:cNvPr id="9013" name="Arrow 55"/>
          <p:cNvCxnSpPr/>
          <p:nvPr/>
        </p:nvCxnSpPr>
        <p:spPr>
          <a:xfrm>
            <a:off x="4304562" y="2987002"/>
            <a:ext cx="0" cy="34670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14" name="Arrow 56"/>
          <p:cNvCxnSpPr/>
          <p:nvPr/>
        </p:nvCxnSpPr>
        <p:spPr>
          <a:xfrm>
            <a:off x="6095848" y="2987002"/>
            <a:ext cx="0" cy="34670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15" name="Text 57"/>
          <p:cNvSpPr txBox="1"/>
          <p:nvPr/>
        </p:nvSpPr>
        <p:spPr>
          <a:xfrm>
            <a:off x="3530264" y="4165784"/>
            <a:ext cx="2889171" cy="254247"/>
          </a:xfrm>
          <a:prstGeom prst="rect">
            <a:avLst/>
          </a:prstGeom>
          <a:noFill/>
        </p:spPr>
        <p:txBody>
          <a:bodyPr wrap="square" anchor="ctr" lIns="0" rIns="0" tIns="0" bIns="0">
            <a:spAutoFit/>
          </a:bodyPr>
          <a:lstStyle/>
          <a:p>
            <a:pPr algn="l"/>
            <a:r>
              <a:rPr sz="1000" b="0">
                <a:solidFill>
                  <a:schemeClr val="accent5"/>
                </a:solidFill>
              </a:rPr>
              <a:t>commit = a majority has appended</a:t>
            </a:r>
          </a:p>
        </p:txBody>
      </p:sp>
      <p:sp>
        <p:nvSpPr>
          <p:cNvPr id="9016" name="Text 58"/>
          <p:cNvSpPr txBox="1"/>
          <p:nvPr/>
        </p:nvSpPr>
        <p:spPr>
          <a:xfrm>
            <a:off x="3530264" y="4420031"/>
            <a:ext cx="2889171" cy="392927"/>
          </a:xfrm>
          <a:prstGeom prst="rect">
            <a:avLst/>
          </a:prstGeom>
          <a:noFill/>
        </p:spPr>
        <p:txBody>
          <a:bodyPr wrap="square" anchor="ctr" lIns="0" rIns="0" tIns="0" bIns="0">
            <a:spAutoFit/>
          </a:bodyPr>
          <a:lstStyle/>
          <a:p>
            <a:pPr algn="l"/>
            <a:r>
              <a:rPr sz="1000" b="0">
                <a:solidFill>
                  <a:schemeClr val="accent5"/>
                </a:solidFill>
              </a:rPr>
              <a:t>timers, session events and timestamps ride the log</a:t>
            </a:r>
          </a:p>
        </p:txBody>
      </p:sp>
      <p:cxnSp>
        <p:nvCxnSpPr>
          <p:cNvPr id="9017" name="Arrow 59"/>
          <p:cNvCxnSpPr/>
          <p:nvPr/>
        </p:nvCxnSpPr>
        <p:spPr>
          <a:xfrm flipV="1">
            <a:off x="2628843" y="2698085"/>
            <a:ext cx="924534" cy="751184"/>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18" name="Text 60"/>
          <p:cNvSpPr txBox="1"/>
          <p:nvPr/>
        </p:nvSpPr>
        <p:spPr>
          <a:xfrm>
            <a:off x="2282142" y="2894548"/>
            <a:ext cx="924535" cy="231134"/>
          </a:xfrm>
          <a:prstGeom prst="rect">
            <a:avLst/>
          </a:prstGeom>
          <a:noFill/>
        </p:spPr>
        <p:txBody>
          <a:bodyPr wrap="square" anchor="ctr" lIns="0" rIns="0" tIns="0" bIns="0">
            <a:spAutoFit/>
          </a:bodyPr>
          <a:lstStyle/>
          <a:p>
            <a:pPr algn="ctr"/>
            <a:r>
              <a:rPr sz="1000" b="0">
                <a:solidFill>
                  <a:schemeClr val="accent1"/>
                </a:solidFill>
              </a:rPr>
              <a:t>ingress</a:t>
            </a:r>
          </a:p>
        </p:txBody>
      </p:sp>
      <p:sp>
        <p:nvSpPr>
          <p:cNvPr id="4" name="Path 61"/>
          <p:cNvSpPr/>
          <p:nvPr/>
        </p:nvSpPr>
        <p:spPr>
          <a:xfrm>
            <a:off x="1646525" y="4027103"/>
            <a:ext cx="5027157" cy="1040102"/>
          </a:xfrm>
          <a:custGeom>
            <a:avLst/>
            <a:gdLst/>
            <a:ahLst/>
            <a:cxnLst/>
            <a:rect l="l" t="t" r="r" b="b"/>
            <a:pathLst>
              <a:path w="5027157" h="1040102">
                <a:moveTo>
                  <a:pt x="5027157" y="0"/>
                </a:moveTo>
                <a:lnTo>
                  <a:pt x="5027157" y="1040102"/>
                </a:lnTo>
                <a:lnTo>
                  <a:pt x="0" y="1040102"/>
                </a:lnTo>
                <a:lnTo>
                  <a:pt x="0" y="231134"/>
                </a:lnTo>
              </a:path>
            </a:pathLst>
          </a:custGeom>
          <a:noFill/>
          <a:ln w="15875">
            <a:solidFill>
              <a:schemeClr val="accent5"/>
            </a:solidFill>
            <a:prstDash val="dash"/>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9" name="Text 62"/>
          <p:cNvSpPr txBox="1"/>
          <p:nvPr/>
        </p:nvSpPr>
        <p:spPr>
          <a:xfrm>
            <a:off x="2282142" y="5113431"/>
            <a:ext cx="3467005" cy="254247"/>
          </a:xfrm>
          <a:prstGeom prst="rect">
            <a:avLst/>
          </a:prstGeom>
          <a:noFill/>
        </p:spPr>
        <p:txBody>
          <a:bodyPr wrap="square" anchor="ctr" lIns="0" rIns="0" tIns="0" bIns="0">
            <a:spAutoFit/>
          </a:bodyPr>
          <a:lstStyle/>
          <a:p>
            <a:pPr algn="ctr"/>
            <a:r>
              <a:rPr sz="1000" b="0">
                <a:solidFill>
                  <a:schemeClr val="accent5"/>
                </a:solidFill>
              </a:rPr>
              <a:t>egress: responses and session events</a:t>
            </a:r>
          </a:p>
        </p:txBody>
      </p:sp>
      <p:sp>
        <p:nvSpPr>
          <p:cNvPr id="9020" name="Host 63"/>
          <p:cNvSpPr/>
          <p:nvPr/>
        </p:nvSpPr>
        <p:spPr>
          <a:xfrm>
            <a:off x="7829350" y="1831334"/>
            <a:ext cx="3698138" cy="1849069"/>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l"/>
            <a:r>
              <a:rPr sz="1100" b="1">
                <a:solidFill>
                  <a:schemeClr val="accent5"/>
                </a:solidFill>
              </a:rPr>
              <a:t>FOLLOWER</a:t>
            </a:r>
          </a:p>
        </p:txBody>
      </p:sp>
      <p:sp>
        <p:nvSpPr>
          <p:cNvPr id="9021" name="Box 64"/>
          <p:cNvSpPr/>
          <p:nvPr/>
        </p:nvSpPr>
        <p:spPr>
          <a:xfrm>
            <a:off x="8060484" y="2235818"/>
            <a:ext cx="1502369" cy="531607"/>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Consensus module</a:t>
            </a:r>
          </a:p>
        </p:txBody>
      </p:sp>
      <p:sp>
        <p:nvSpPr>
          <p:cNvPr id="9022" name="Box 65"/>
          <p:cNvSpPr/>
          <p:nvPr/>
        </p:nvSpPr>
        <p:spPr>
          <a:xfrm>
            <a:off x="9793986" y="2235818"/>
            <a:ext cx="1502369" cy="531607"/>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Archive</a:t>
            </a:r>
          </a:p>
        </p:txBody>
      </p:sp>
      <p:sp>
        <p:nvSpPr>
          <p:cNvPr id="9023" name="Box 66"/>
          <p:cNvSpPr/>
          <p:nvPr/>
        </p:nvSpPr>
        <p:spPr>
          <a:xfrm>
            <a:off x="8060484" y="2929218"/>
            <a:ext cx="3235871" cy="531607"/>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Clustered service</a:t>
            </a:r>
          </a:p>
          <a:p>
            <a:pPr algn="ctr"/>
            <a:r>
              <a:rPr sz="1000" b="0">
                <a:solidFill>
                  <a:schemeClr val="accent5"/>
                </a:solidFill>
              </a:rPr>
              <a:t>same input, same state</a:t>
            </a:r>
          </a:p>
        </p:txBody>
      </p:sp>
      <p:sp>
        <p:nvSpPr>
          <p:cNvPr id="9024" name="Host 67"/>
          <p:cNvSpPr/>
          <p:nvPr/>
        </p:nvSpPr>
        <p:spPr>
          <a:xfrm>
            <a:off x="7829350" y="3911536"/>
            <a:ext cx="3698138" cy="1849069"/>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l"/>
            <a:r>
              <a:rPr sz="1100" b="1">
                <a:solidFill>
                  <a:schemeClr val="accent5"/>
                </a:solidFill>
              </a:rPr>
              <a:t>FOLLOWER</a:t>
            </a:r>
          </a:p>
        </p:txBody>
      </p:sp>
      <p:sp>
        <p:nvSpPr>
          <p:cNvPr id="9025" name="Box 68"/>
          <p:cNvSpPr/>
          <p:nvPr/>
        </p:nvSpPr>
        <p:spPr>
          <a:xfrm>
            <a:off x="8060484" y="4316020"/>
            <a:ext cx="1502369" cy="531607"/>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Consensus module</a:t>
            </a:r>
          </a:p>
        </p:txBody>
      </p:sp>
      <p:sp>
        <p:nvSpPr>
          <p:cNvPr id="9026" name="Box 69"/>
          <p:cNvSpPr/>
          <p:nvPr/>
        </p:nvSpPr>
        <p:spPr>
          <a:xfrm>
            <a:off x="9793986" y="4316020"/>
            <a:ext cx="1502369" cy="531607"/>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Archive</a:t>
            </a:r>
          </a:p>
        </p:txBody>
      </p:sp>
      <p:sp>
        <p:nvSpPr>
          <p:cNvPr id="9027" name="Box 70"/>
          <p:cNvSpPr/>
          <p:nvPr/>
        </p:nvSpPr>
        <p:spPr>
          <a:xfrm>
            <a:off x="8060484" y="5009421"/>
            <a:ext cx="3235871" cy="531607"/>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Clustered service</a:t>
            </a:r>
          </a:p>
          <a:p>
            <a:pPr algn="ctr"/>
            <a:r>
              <a:rPr sz="1000" b="0">
                <a:solidFill>
                  <a:schemeClr val="accent5"/>
                </a:solidFill>
              </a:rPr>
              <a:t>same input, same state</a:t>
            </a:r>
          </a:p>
        </p:txBody>
      </p:sp>
      <p:cxnSp>
        <p:nvCxnSpPr>
          <p:cNvPr id="9028" name="Arrow 71"/>
          <p:cNvCxnSpPr/>
          <p:nvPr/>
        </p:nvCxnSpPr>
        <p:spPr>
          <a:xfrm flipV="1">
            <a:off x="6904815" y="2501621"/>
            <a:ext cx="1155669" cy="46227"/>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29" name="Arrow 72"/>
          <p:cNvCxnSpPr/>
          <p:nvPr/>
        </p:nvCxnSpPr>
        <p:spPr>
          <a:xfrm>
            <a:off x="6904815" y="2709642"/>
            <a:ext cx="1155669" cy="1872182"/>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0" name="Text 73"/>
          <p:cNvSpPr txBox="1"/>
          <p:nvPr/>
        </p:nvSpPr>
        <p:spPr>
          <a:xfrm>
            <a:off x="7020382" y="2201147"/>
            <a:ext cx="924535" cy="231134"/>
          </a:xfrm>
          <a:prstGeom prst="rect">
            <a:avLst/>
          </a:prstGeom>
          <a:noFill/>
        </p:spPr>
        <p:txBody>
          <a:bodyPr wrap="square" anchor="ctr" lIns="0" rIns="0" tIns="0" bIns="0">
            <a:spAutoFit/>
          </a:bodyPr>
          <a:lstStyle/>
          <a:p>
            <a:pPr algn="ctr"/>
            <a:r>
              <a:rPr sz="1000" b="0">
                <a:solidFill>
                  <a:schemeClr val="accent1"/>
                </a:solidFill>
              </a:rPr>
              <a:t>log</a:t>
            </a:r>
          </a:p>
        </p:txBody>
      </p:sp>
      <p:sp>
        <p:nvSpPr>
          <p:cNvPr id="9031" name="Text 74"/>
          <p:cNvSpPr txBox="1"/>
          <p:nvPr/>
        </p:nvSpPr>
        <p:spPr>
          <a:xfrm>
            <a:off x="548640" y="5852160"/>
            <a:ext cx="11094415" cy="365760"/>
          </a:xfrm>
          <a:prstGeom prst="rect">
            <a:avLst/>
          </a:prstGeom>
          <a:noFill/>
        </p:spPr>
        <p:txBody>
          <a:bodyPr wrap="square" anchor="t" lIns="0" rIns="0" tIns="0" bIns="0">
            <a:spAutoFit/>
          </a:bodyPr>
          <a:lstStyle/>
          <a:p>
            <a:pPr algn="l"/>
            <a:r>
              <a:rPr sz="1400" b="1">
                <a:solidFill>
                  <a:schemeClr val="tx1"/>
                </a:solidFill>
              </a:rPr>
              <a:t>Member: </a:t>
            </a:r>
            <a:r>
              <a:rPr sz="1400" b="0">
                <a:solidFill>
                  <a:schemeClr val="tx1"/>
                </a:solidFill>
              </a:rPr>
              <a:t>one node of the cluster: consensus module, archive, clustered service. In this deck, always a cluster member.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What seqeron takes from Aeron</a:t>
            </a:r>
          </a:p>
        </p:txBody>
      </p:sp>
      <p:sp>
        <p:nvSpPr>
          <p:cNvPr id="3" name="Text 75"/>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Three properties it builds on rather than reimplements</a:t>
            </a:r>
          </a:p>
        </p:txBody>
      </p:sp>
      <p:sp>
        <p:nvSpPr>
          <p:cNvPr id="9006" name="Slide number"/>
          <p:cNvSpPr txBox="1"/>
          <p:nvPr userDrawn="1"/>
        </p:nvSpPr>
        <p:spPr>
          <a:xfrm>
            <a:off x="10728655" y="6400800"/>
            <a:ext cx="914400" cy="274320"/>
          </a:xfrm>
          <a:prstGeom prst="rect">
            <a:avLst/>
          </a:prstGeom>
          <a:noFill/>
        </p:spPr>
        <p:txBody>
          <a:bodyPr wrap="none" lIns="0" tIns="0" rIns="0" bIns="0" anchor="ctr"/>
          <a:lstStyle/>
          <a:p>
            <a:pPr algn="r"/>
            <a:fld id="{befbebf3-55ff-43e9-b142-7d5d46f31ffa}" type="slidenum">
              <a:rPr lang="en-US" sz="1000" dirty="0">
                <a:solidFill>
                  <a:schemeClr val="accent5"/>
                </a:solidFill>
              </a:rPr>
              <a:t>6</a:t>
            </a:fld>
          </a:p>
        </p:txBody>
      </p:sp>
      <p:sp>
        <p:nvSpPr>
          <p:cNvPr id="9007" name="Column 76"/>
          <p:cNvSpPr/>
          <p:nvPr/>
        </p:nvSpPr>
        <p:spPr>
          <a:xfrm>
            <a:off x="548640" y="1691640"/>
            <a:ext cx="3511296" cy="3977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8" name="Number 77"/>
          <p:cNvSpPr/>
          <p:nvPr/>
        </p:nvSpPr>
        <p:spPr>
          <a:xfrm>
            <a:off x="777240" y="1920240"/>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chemeClr val="bg1"/>
                </a:solidFill>
              </a:rPr>
              <a:t>1</a:t>
            </a:r>
          </a:p>
        </p:txBody>
      </p:sp>
      <p:sp>
        <p:nvSpPr>
          <p:cNvPr id="9009" name="Text 78"/>
          <p:cNvSpPr txBox="1"/>
          <p:nvPr/>
        </p:nvSpPr>
        <p:spPr>
          <a:xfrm>
            <a:off x="777240" y="2560320"/>
            <a:ext cx="3054096" cy="822960"/>
          </a:xfrm>
          <a:prstGeom prst="rect">
            <a:avLst/>
          </a:prstGeom>
          <a:noFill/>
        </p:spPr>
        <p:txBody>
          <a:bodyPr wrap="square" anchor="t" lIns="0" rIns="0" tIns="0" bIns="0">
            <a:spAutoFit/>
          </a:bodyPr>
          <a:lstStyle/>
          <a:p>
            <a:pPr algn="l"/>
            <a:r>
              <a:rPr sz="1800" b="1" cap="none">
                <a:solidFill>
                  <a:schemeClr val="tx1"/>
                </a:solidFill>
                <a:latin typeface="+mj-lt"/>
              </a:rPr>
              <a:t>Explicit back-pressure</a:t>
            </a:r>
          </a:p>
        </p:txBody>
      </p:sp>
      <p:sp>
        <p:nvSpPr>
          <p:cNvPr id="9010" name="Text 79"/>
          <p:cNvSpPr txBox="1"/>
          <p:nvPr/>
        </p:nvSpPr>
        <p:spPr>
          <a:xfrm>
            <a:off x="777240" y="3429000"/>
            <a:ext cx="3054096" cy="274320"/>
          </a:xfrm>
          <a:prstGeom prst="rect">
            <a:avLst/>
          </a:prstGeom>
          <a:noFill/>
        </p:spPr>
        <p:txBody>
          <a:bodyPr wrap="square" anchor="t" lIns="0" rIns="0" tIns="0" bIns="0">
            <a:spAutoFit/>
          </a:bodyPr>
          <a:lstStyle/>
          <a:p>
            <a:pPr algn="l"/>
            <a:r>
              <a:rPr sz="1100" b="1">
                <a:solidFill>
                  <a:schemeClr val="accent5"/>
                </a:solidFill>
              </a:rPr>
              <a:t>AERON GIVES</a:t>
            </a:r>
          </a:p>
        </p:txBody>
      </p:sp>
      <p:sp>
        <p:nvSpPr>
          <p:cNvPr id="9011" name="Text 80"/>
          <p:cNvSpPr txBox="1"/>
          <p:nvPr/>
        </p:nvSpPr>
        <p:spPr>
          <a:xfrm>
            <a:off x="777240" y="3703320"/>
            <a:ext cx="3054096" cy="731520"/>
          </a:xfrm>
          <a:prstGeom prst="rect">
            <a:avLst/>
          </a:prstGeom>
          <a:noFill/>
        </p:spPr>
        <p:txBody>
          <a:bodyPr wrap="square" anchor="t" lIns="0" rIns="0" tIns="0" bIns="0">
            <a:spAutoFit/>
          </a:bodyPr>
          <a:lstStyle/>
          <a:p>
            <a:pPr algn="l"/>
            <a:r>
              <a:rPr sz="1400" b="0">
                <a:solidFill>
                  <a:schemeClr val="tx1"/>
                </a:solidFill>
              </a:rPr>
              <a:t>Offers fail visibly instead of queuing.</a:t>
            </a:r>
          </a:p>
        </p:txBody>
      </p:sp>
      <p:sp>
        <p:nvSpPr>
          <p:cNvPr id="9012" name="Text 81"/>
          <p:cNvSpPr txBox="1"/>
          <p:nvPr/>
        </p:nvSpPr>
        <p:spPr>
          <a:xfrm>
            <a:off x="777240" y="4526280"/>
            <a:ext cx="3054096" cy="274320"/>
          </a:xfrm>
          <a:prstGeom prst="rect">
            <a:avLst/>
          </a:prstGeom>
          <a:noFill/>
        </p:spPr>
        <p:txBody>
          <a:bodyPr wrap="square" anchor="t" lIns="0" rIns="0" tIns="0" bIns="0">
            <a:spAutoFit/>
          </a:bodyPr>
          <a:lstStyle/>
          <a:p>
            <a:pPr algn="l"/>
            <a:r>
              <a:rPr sz="1100" b="1">
                <a:solidFill>
                  <a:schemeClr val="accent1"/>
                </a:solidFill>
              </a:rPr>
              <a:t>SEQERON BUILDS</a:t>
            </a:r>
          </a:p>
        </p:txBody>
      </p:sp>
      <p:sp>
        <p:nvSpPr>
          <p:cNvPr id="9013" name="Text 82"/>
          <p:cNvSpPr txBox="1"/>
          <p:nvPr/>
        </p:nvSpPr>
        <p:spPr>
          <a:xfrm>
            <a:off x="777240" y="4800600"/>
            <a:ext cx="3054096" cy="822960"/>
          </a:xfrm>
          <a:prstGeom prst="rect">
            <a:avLst/>
          </a:prstGeom>
          <a:noFill/>
        </p:spPr>
        <p:txBody>
          <a:bodyPr wrap="square" anchor="t" lIns="0" rIns="0" tIns="0" bIns="0">
            <a:spAutoFit/>
          </a:bodyPr>
          <a:lstStyle/>
          <a:p>
            <a:pPr algn="l"/>
            <a:r>
              <a:rPr sz="1400" b="0">
                <a:solidFill>
                  <a:schemeClr val="tx1"/>
                </a:solidFill>
              </a:rPr>
              <a:t>A reliable tap that is still bounded; untethered consumers that cannot slow the sequencer.</a:t>
            </a:r>
          </a:p>
        </p:txBody>
      </p:sp>
      <p:sp>
        <p:nvSpPr>
          <p:cNvPr id="9014" name="Column 83"/>
          <p:cNvSpPr/>
          <p:nvPr/>
        </p:nvSpPr>
        <p:spPr>
          <a:xfrm>
            <a:off x="4338828" y="1691640"/>
            <a:ext cx="3511296" cy="3977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5" name="Number 84"/>
          <p:cNvSpPr/>
          <p:nvPr/>
        </p:nvSpPr>
        <p:spPr>
          <a:xfrm>
            <a:off x="4567428" y="1920240"/>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chemeClr val="bg1"/>
                </a:solidFill>
              </a:rPr>
              <a:t>2</a:t>
            </a:r>
          </a:p>
        </p:txBody>
      </p:sp>
      <p:sp>
        <p:nvSpPr>
          <p:cNvPr id="9016" name="Text 85"/>
          <p:cNvSpPr txBox="1"/>
          <p:nvPr/>
        </p:nvSpPr>
        <p:spPr>
          <a:xfrm>
            <a:off x="4567428" y="2560320"/>
            <a:ext cx="3054096" cy="822960"/>
          </a:xfrm>
          <a:prstGeom prst="rect">
            <a:avLst/>
          </a:prstGeom>
          <a:noFill/>
        </p:spPr>
        <p:txBody>
          <a:bodyPr wrap="square" anchor="t" lIns="0" rIns="0" tIns="0" bIns="0">
            <a:spAutoFit/>
          </a:bodyPr>
          <a:lstStyle/>
          <a:p>
            <a:pPr algn="l"/>
            <a:r>
              <a:rPr sz="1800" b="1" cap="none">
                <a:solidFill>
                  <a:schemeClr val="tx1"/>
                </a:solidFill>
                <a:latin typeface="+mj-lt"/>
              </a:rPr>
              <a:t>Local recording, replay by position</a:t>
            </a:r>
          </a:p>
        </p:txBody>
      </p:sp>
      <p:sp>
        <p:nvSpPr>
          <p:cNvPr id="9017" name="Text 86"/>
          <p:cNvSpPr txBox="1"/>
          <p:nvPr/>
        </p:nvSpPr>
        <p:spPr>
          <a:xfrm>
            <a:off x="4567428" y="3429000"/>
            <a:ext cx="3054096" cy="274320"/>
          </a:xfrm>
          <a:prstGeom prst="rect">
            <a:avLst/>
          </a:prstGeom>
          <a:noFill/>
        </p:spPr>
        <p:txBody>
          <a:bodyPr wrap="square" anchor="t" lIns="0" rIns="0" tIns="0" bIns="0">
            <a:spAutoFit/>
          </a:bodyPr>
          <a:lstStyle/>
          <a:p>
            <a:pPr algn="l"/>
            <a:r>
              <a:rPr sz="1100" b="1">
                <a:solidFill>
                  <a:schemeClr val="accent5"/>
                </a:solidFill>
              </a:rPr>
              <a:t>AERON GIVES</a:t>
            </a:r>
          </a:p>
        </p:txBody>
      </p:sp>
      <p:sp>
        <p:nvSpPr>
          <p:cNvPr id="9018" name="Text 87"/>
          <p:cNvSpPr txBox="1"/>
          <p:nvPr/>
        </p:nvSpPr>
        <p:spPr>
          <a:xfrm>
            <a:off x="4567428" y="3703320"/>
            <a:ext cx="3054096" cy="731520"/>
          </a:xfrm>
          <a:prstGeom prst="rect">
            <a:avLst/>
          </a:prstGeom>
          <a:noFill/>
        </p:spPr>
        <p:txBody>
          <a:bodyPr wrap="square" anchor="t" lIns="0" rIns="0" tIns="0" bIns="0">
            <a:spAutoFit/>
          </a:bodyPr>
          <a:lstStyle/>
          <a:p>
            <a:pPr algn="l"/>
            <a:r>
              <a:rPr sz="1400" b="0">
                <a:solidFill>
                  <a:schemeClr val="tx1"/>
                </a:solidFill>
              </a:rPr>
              <a:t>Each member's archive records any stream to disk, read back from any byte.</a:t>
            </a:r>
          </a:p>
        </p:txBody>
      </p:sp>
      <p:sp>
        <p:nvSpPr>
          <p:cNvPr id="9019" name="Text 88"/>
          <p:cNvSpPr txBox="1"/>
          <p:nvPr/>
        </p:nvSpPr>
        <p:spPr>
          <a:xfrm>
            <a:off x="4567428" y="4526280"/>
            <a:ext cx="3054096" cy="274320"/>
          </a:xfrm>
          <a:prstGeom prst="rect">
            <a:avLst/>
          </a:prstGeom>
          <a:noFill/>
        </p:spPr>
        <p:txBody>
          <a:bodyPr wrap="square" anchor="t" lIns="0" rIns="0" tIns="0" bIns="0">
            <a:spAutoFit/>
          </a:bodyPr>
          <a:lstStyle/>
          <a:p>
            <a:pPr algn="l"/>
            <a:r>
              <a:rPr sz="1100" b="1">
                <a:solidFill>
                  <a:schemeClr val="accent1"/>
                </a:solidFill>
              </a:rPr>
              <a:t>SEQERON BUILDS</a:t>
            </a:r>
          </a:p>
        </p:txBody>
      </p:sp>
      <p:sp>
        <p:nvSpPr>
          <p:cNvPr id="9020" name="Text 89"/>
          <p:cNvSpPr txBox="1"/>
          <p:nvPr/>
        </p:nvSpPr>
        <p:spPr>
          <a:xfrm>
            <a:off x="4567428" y="4800600"/>
            <a:ext cx="3054096" cy="822960"/>
          </a:xfrm>
          <a:prstGeom prst="rect">
            <a:avLst/>
          </a:prstGeom>
          <a:noFill/>
        </p:spPr>
        <p:txBody>
          <a:bodyPr wrap="square" anchor="t" lIns="0" rIns="0" tIns="0" bIns="0">
            <a:spAutoFit/>
          </a:bodyPr>
          <a:lstStyle/>
          <a:p>
            <a:pPr algn="l"/>
            <a:r>
              <a:rPr sz="1400" b="0">
                <a:solidFill>
                  <a:schemeClr val="tx1"/>
                </a:solidFill>
              </a:rPr>
              <a:t>Every cluster member keeps full history; every client recovers from its own host.</a:t>
            </a:r>
          </a:p>
        </p:txBody>
      </p:sp>
      <p:sp>
        <p:nvSpPr>
          <p:cNvPr id="9021" name="Column 90"/>
          <p:cNvSpPr/>
          <p:nvPr/>
        </p:nvSpPr>
        <p:spPr>
          <a:xfrm>
            <a:off x="8129016" y="1691640"/>
            <a:ext cx="3511296" cy="3977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2" name="Number 91"/>
          <p:cNvSpPr/>
          <p:nvPr/>
        </p:nvSpPr>
        <p:spPr>
          <a:xfrm>
            <a:off x="8357616" y="1920240"/>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chemeClr val="bg1"/>
                </a:solidFill>
              </a:rPr>
              <a:t>3</a:t>
            </a:r>
          </a:p>
        </p:txBody>
      </p:sp>
      <p:sp>
        <p:nvSpPr>
          <p:cNvPr id="9023" name="Text 92"/>
          <p:cNvSpPr txBox="1"/>
          <p:nvPr/>
        </p:nvSpPr>
        <p:spPr>
          <a:xfrm>
            <a:off x="8357616" y="2560320"/>
            <a:ext cx="3054096" cy="822960"/>
          </a:xfrm>
          <a:prstGeom prst="rect">
            <a:avLst/>
          </a:prstGeom>
          <a:noFill/>
        </p:spPr>
        <p:txBody>
          <a:bodyPr wrap="square" anchor="t" lIns="0" rIns="0" tIns="0" bIns="0">
            <a:spAutoFit/>
          </a:bodyPr>
          <a:lstStyle/>
          <a:p>
            <a:pPr algn="l"/>
            <a:r>
              <a:rPr sz="1800" b="1" cap="none">
                <a:solidFill>
                  <a:schemeClr val="tx1"/>
                </a:solidFill>
                <a:latin typeface="+mj-lt"/>
              </a:rPr>
              <a:t>Replicated log, deterministic time</a:t>
            </a:r>
          </a:p>
        </p:txBody>
      </p:sp>
      <p:sp>
        <p:nvSpPr>
          <p:cNvPr id="9024" name="Text 93"/>
          <p:cNvSpPr txBox="1"/>
          <p:nvPr/>
        </p:nvSpPr>
        <p:spPr>
          <a:xfrm>
            <a:off x="8357616" y="3429000"/>
            <a:ext cx="3054096" cy="274320"/>
          </a:xfrm>
          <a:prstGeom prst="rect">
            <a:avLst/>
          </a:prstGeom>
          <a:noFill/>
        </p:spPr>
        <p:txBody>
          <a:bodyPr wrap="square" anchor="t" lIns="0" rIns="0" tIns="0" bIns="0">
            <a:spAutoFit/>
          </a:bodyPr>
          <a:lstStyle/>
          <a:p>
            <a:pPr algn="l"/>
            <a:r>
              <a:rPr sz="1100" b="1">
                <a:solidFill>
                  <a:schemeClr val="accent5"/>
                </a:solidFill>
              </a:rPr>
              <a:t>AERON GIVES</a:t>
            </a:r>
          </a:p>
        </p:txBody>
      </p:sp>
      <p:sp>
        <p:nvSpPr>
          <p:cNvPr id="9025" name="Text 94"/>
          <p:cNvSpPr txBox="1"/>
          <p:nvPr/>
        </p:nvSpPr>
        <p:spPr>
          <a:xfrm>
            <a:off x="8357616" y="3703320"/>
            <a:ext cx="3054096" cy="731520"/>
          </a:xfrm>
          <a:prstGeom prst="rect">
            <a:avLst/>
          </a:prstGeom>
          <a:noFill/>
        </p:spPr>
        <p:txBody>
          <a:bodyPr wrap="square" anchor="t" lIns="0" rIns="0" tIns="0" bIns="0">
            <a:spAutoFit/>
          </a:bodyPr>
          <a:lstStyle/>
          <a:p>
            <a:pPr algn="l"/>
            <a:r>
              <a:rPr sz="1400" b="0">
                <a:solidFill>
                  <a:schemeClr val="tx1"/>
                </a:solidFill>
              </a:rPr>
              <a:t>Raft order plus the leader's timestamp in the log.</a:t>
            </a:r>
          </a:p>
        </p:txBody>
      </p:sp>
      <p:sp>
        <p:nvSpPr>
          <p:cNvPr id="9026" name="Text 95"/>
          <p:cNvSpPr txBox="1"/>
          <p:nvPr/>
        </p:nvSpPr>
        <p:spPr>
          <a:xfrm>
            <a:off x="8357616" y="4526280"/>
            <a:ext cx="3054096" cy="274320"/>
          </a:xfrm>
          <a:prstGeom prst="rect">
            <a:avLst/>
          </a:prstGeom>
          <a:noFill/>
        </p:spPr>
        <p:txBody>
          <a:bodyPr wrap="square" anchor="t" lIns="0" rIns="0" tIns="0" bIns="0">
            <a:spAutoFit/>
          </a:bodyPr>
          <a:lstStyle/>
          <a:p>
            <a:pPr algn="l"/>
            <a:r>
              <a:rPr sz="1100" b="1">
                <a:solidFill>
                  <a:schemeClr val="accent1"/>
                </a:solidFill>
              </a:rPr>
              <a:t>SEQERON BUILDS</a:t>
            </a:r>
          </a:p>
        </p:txBody>
      </p:sp>
      <p:sp>
        <p:nvSpPr>
          <p:cNvPr id="9027" name="Text 96"/>
          <p:cNvSpPr txBox="1"/>
          <p:nvPr/>
        </p:nvSpPr>
        <p:spPr>
          <a:xfrm>
            <a:off x="8357616" y="4800600"/>
            <a:ext cx="3054096" cy="822960"/>
          </a:xfrm>
          <a:prstGeom prst="rect">
            <a:avLst/>
          </a:prstGeom>
          <a:noFill/>
        </p:spPr>
        <p:txBody>
          <a:bodyPr wrap="square" anchor="t" lIns="0" rIns="0" tIns="0" bIns="0">
            <a:spAutoFit/>
          </a:bodyPr>
          <a:lstStyle/>
          <a:p>
            <a:pPr algn="l"/>
            <a:r>
              <a:rPr sz="1400" b="0">
                <a:solidFill>
                  <a:schemeClr val="tx1"/>
                </a:solidFill>
              </a:rPr>
              <a:t>One total order, a cluster clock, and an election every node decides identically.</a:t>
            </a:r>
          </a:p>
        </p:txBody>
      </p:sp>
      <p:sp>
        <p:nvSpPr>
          <p:cNvPr id="9028" name="Text 97"/>
          <p:cNvSpPr txBox="1"/>
          <p:nvPr/>
        </p:nvSpPr>
        <p:spPr>
          <a:xfrm>
            <a:off x="548640" y="5806440"/>
            <a:ext cx="11094415" cy="365760"/>
          </a:xfrm>
          <a:prstGeom prst="rect">
            <a:avLst/>
          </a:prstGeom>
          <a:noFill/>
        </p:spPr>
        <p:txBody>
          <a:bodyPr wrap="square" anchor="t" lIns="0" rIns="0" tIns="0" bIns="0">
            <a:spAutoFit/>
          </a:bodyPr>
          <a:lstStyle/>
          <a:p>
            <a:pPr algn="l"/>
            <a:r>
              <a:rPr sz="1400" b="1">
                <a:solidFill>
                  <a:schemeClr val="accent1"/>
                </a:solidFill>
              </a:rPr>
              <a:t>Open source: </a:t>
            </a:r>
            <a:r>
              <a:rPr sz="1400" b="0">
                <a:solidFill>
                  <a:schemeClr val="tx1"/>
                </a:solidFill>
              </a:rPr>
              <a:t>Aeron, Agrona and SBE, all Apache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A member and a client</a:t>
            </a:r>
          </a:p>
        </p:txBody>
      </p:sp>
      <p:sp>
        <p:nvSpPr>
          <p:cNvPr id="9007" name="Slide number"/>
          <p:cNvSpPr txBox="1"/>
          <p:nvPr userDrawn="1"/>
        </p:nvSpPr>
        <p:spPr>
          <a:xfrm>
            <a:off x="10728655" y="6400800"/>
            <a:ext cx="914400" cy="274320"/>
          </a:xfrm>
          <a:prstGeom prst="rect">
            <a:avLst/>
          </a:prstGeom>
          <a:noFill/>
        </p:spPr>
        <p:txBody>
          <a:bodyPr wrap="none" lIns="0" tIns="0" rIns="0" bIns="0" anchor="ctr"/>
          <a:lstStyle/>
          <a:p>
            <a:pPr algn="r"/>
            <a:fld id="{4147b3c8-cde1-47d0-be43-c616c7b7a099}" type="slidenum">
              <a:rPr lang="en-US" sz="1000" dirty="0">
                <a:solidFill>
                  <a:schemeClr val="accent5"/>
                </a:solidFill>
              </a:rPr>
              <a:t>7</a:t>
            </a:fld>
          </a:p>
        </p:txBody>
      </p:sp>
      <p:sp>
        <p:nvSpPr>
          <p:cNvPr id="9008" name="Host 98"/>
          <p:cNvSpPr/>
          <p:nvPr/>
        </p:nvSpPr>
        <p:spPr>
          <a:xfrm>
            <a:off x="967934" y="2026227"/>
            <a:ext cx="1854777" cy="981941"/>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ctr"/>
            <a:r>
              <a:rPr sz="1100" b="1">
                <a:solidFill>
                  <a:schemeClr val="accent5"/>
                </a:solidFill>
              </a:rPr>
              <a:t>OTHER MEMBERS</a:t>
            </a:r>
          </a:p>
        </p:txBody>
      </p:sp>
      <p:sp>
        <p:nvSpPr>
          <p:cNvPr id="9009" name="Text 99"/>
          <p:cNvSpPr txBox="1"/>
          <p:nvPr/>
        </p:nvSpPr>
        <p:spPr>
          <a:xfrm>
            <a:off x="967934" y="2408093"/>
            <a:ext cx="1854777" cy="436418"/>
          </a:xfrm>
          <a:prstGeom prst="rect">
            <a:avLst/>
          </a:prstGeom>
          <a:noFill/>
        </p:spPr>
        <p:txBody>
          <a:bodyPr wrap="square" anchor="ctr" lIns="0" rIns="0" tIns="0" bIns="0">
            <a:spAutoFit/>
          </a:bodyPr>
          <a:lstStyle/>
          <a:p>
            <a:pPr algn="ctr"/>
            <a:r>
              <a:rPr sz="1100" b="0">
                <a:solidFill>
                  <a:schemeClr val="accent5"/>
                </a:solidFill>
              </a:rPr>
              <a:t>same pipeline, byte-identical tap</a:t>
            </a:r>
          </a:p>
        </p:txBody>
      </p:sp>
      <p:sp>
        <p:nvSpPr>
          <p:cNvPr id="3" name="Path 100"/>
          <p:cNvSpPr/>
          <p:nvPr/>
        </p:nvSpPr>
        <p:spPr>
          <a:xfrm>
            <a:off x="1895323" y="1611630"/>
            <a:ext cx="5400675" cy="632806"/>
          </a:xfrm>
          <a:custGeom>
            <a:avLst/>
            <a:gdLst/>
            <a:ahLst/>
            <a:cxnLst/>
            <a:rect l="l" t="t" r="r" b="b"/>
            <a:pathLst>
              <a:path w="5400675" h="632806">
                <a:moveTo>
                  <a:pt x="0" y="414597"/>
                </a:moveTo>
                <a:lnTo>
                  <a:pt x="0" y="0"/>
                </a:lnTo>
                <a:lnTo>
                  <a:pt x="5400675" y="0"/>
                </a:lnTo>
                <a:lnTo>
                  <a:pt x="5400675" y="632806"/>
                </a:lnTo>
              </a:path>
            </a:pathLst>
          </a:custGeom>
          <a:noFill/>
          <a:ln w="15875">
            <a:solidFill>
              <a:schemeClr val="accent5"/>
            </a:solidFill>
            <a:prstDash val="dash"/>
            <a:headEnd type="triangle" w="med" len="med"/>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0" name="Text 101"/>
          <p:cNvSpPr txBox="1"/>
          <p:nvPr/>
        </p:nvSpPr>
        <p:spPr>
          <a:xfrm>
            <a:off x="3477339" y="1371600"/>
            <a:ext cx="2182091" cy="218209"/>
          </a:xfrm>
          <a:prstGeom prst="rect">
            <a:avLst/>
          </a:prstGeom>
          <a:noFill/>
        </p:spPr>
        <p:txBody>
          <a:bodyPr wrap="square" anchor="ctr" lIns="0" rIns="0" tIns="0" bIns="0">
            <a:spAutoFit/>
          </a:bodyPr>
          <a:lstStyle/>
          <a:p>
            <a:pPr algn="ctr"/>
            <a:r>
              <a:rPr sz="1000" b="0">
                <a:solidFill>
                  <a:schemeClr val="accent5"/>
                </a:solidFill>
              </a:rPr>
              <a:t>Raft log replication</a:t>
            </a:r>
          </a:p>
        </p:txBody>
      </p:sp>
      <p:sp>
        <p:nvSpPr>
          <p:cNvPr id="9011" name="Host 102"/>
          <p:cNvSpPr/>
          <p:nvPr/>
        </p:nvSpPr>
        <p:spPr>
          <a:xfrm>
            <a:off x="3150025" y="1808018"/>
            <a:ext cx="5564332" cy="4145973"/>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l"/>
            <a:r>
              <a:rPr sz="1100" b="1">
                <a:solidFill>
                  <a:schemeClr val="accent5"/>
                </a:solidFill>
              </a:rPr>
              <a:t>CLUSTER MEMBER · ONE JVM</a:t>
            </a:r>
          </a:p>
        </p:txBody>
      </p:sp>
      <p:sp>
        <p:nvSpPr>
          <p:cNvPr id="9012" name="Box 103"/>
          <p:cNvSpPr/>
          <p:nvPr/>
        </p:nvSpPr>
        <p:spPr>
          <a:xfrm>
            <a:off x="3368234" y="2244436"/>
            <a:ext cx="2182091" cy="610985"/>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Sequencer</a:t>
            </a:r>
          </a:p>
          <a:p>
            <a:pPr algn="ctr"/>
            <a:r>
              <a:rPr sz="1000" b="0">
                <a:solidFill>
                  <a:schemeClr val="accent5"/>
                </a:solidFill>
              </a:rPr>
              <a:t>number · validate · synthesize</a:t>
            </a:r>
          </a:p>
        </p:txBody>
      </p:sp>
      <p:sp>
        <p:nvSpPr>
          <p:cNvPr id="9013" name="Box 104"/>
          <p:cNvSpPr/>
          <p:nvPr/>
        </p:nvSpPr>
        <p:spPr>
          <a:xfrm>
            <a:off x="6095848" y="2244436"/>
            <a:ext cx="2400300" cy="610985"/>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Consensus module</a:t>
            </a:r>
          </a:p>
          <a:p>
            <a:pPr algn="ctr"/>
            <a:r>
              <a:rPr sz="1000" b="0">
                <a:solidFill>
                  <a:schemeClr val="accent5"/>
                </a:solidFill>
              </a:rPr>
              <a:t>Raft log · cluster time</a:t>
            </a:r>
          </a:p>
        </p:txBody>
      </p:sp>
      <p:cxnSp>
        <p:nvCxnSpPr>
          <p:cNvPr id="9014" name="Arrow 105"/>
          <p:cNvCxnSpPr/>
          <p:nvPr/>
        </p:nvCxnSpPr>
        <p:spPr>
          <a:xfrm flipH="1">
            <a:off x="5550325" y="2549929"/>
            <a:ext cx="545523"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15" name="Text 106"/>
          <p:cNvSpPr txBox="1"/>
          <p:nvPr/>
        </p:nvSpPr>
        <p:spPr>
          <a:xfrm>
            <a:off x="3368234" y="2877243"/>
            <a:ext cx="1309255" cy="240030"/>
          </a:xfrm>
          <a:prstGeom prst="rect">
            <a:avLst/>
          </a:prstGeom>
          <a:noFill/>
        </p:spPr>
        <p:txBody>
          <a:bodyPr wrap="square" anchor="ctr" lIns="0" rIns="0" tIns="0" bIns="0">
            <a:spAutoFit/>
          </a:bodyPr>
          <a:lstStyle/>
          <a:p>
            <a:pPr algn="l"/>
            <a:r>
              <a:rPr sz="1000" b="1">
                <a:solidFill>
                  <a:schemeClr val="accent1"/>
                </a:solidFill>
              </a:rPr>
              <a:t>Tap · aeron:ipc 205</a:t>
            </a:r>
          </a:p>
        </p:txBody>
      </p:sp>
      <p:sp>
        <p:nvSpPr>
          <p:cNvPr id="9016" name="Tap cell 107"/>
          <p:cNvSpPr/>
          <p:nvPr/>
        </p:nvSpPr>
        <p:spPr>
          <a:xfrm>
            <a:off x="3368234" y="3139094"/>
            <a:ext cx="283672" cy="32731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1</a:t>
            </a:r>
          </a:p>
        </p:txBody>
      </p:sp>
      <p:sp>
        <p:nvSpPr>
          <p:cNvPr id="9017" name="Tap cell 108"/>
          <p:cNvSpPr/>
          <p:nvPr/>
        </p:nvSpPr>
        <p:spPr>
          <a:xfrm>
            <a:off x="3684637" y="3139094"/>
            <a:ext cx="283672" cy="32731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2</a:t>
            </a:r>
          </a:p>
        </p:txBody>
      </p:sp>
      <p:sp>
        <p:nvSpPr>
          <p:cNvPr id="9018" name="Tap cell 109"/>
          <p:cNvSpPr/>
          <p:nvPr/>
        </p:nvSpPr>
        <p:spPr>
          <a:xfrm>
            <a:off x="4001040" y="3139094"/>
            <a:ext cx="283672" cy="32731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3</a:t>
            </a:r>
          </a:p>
        </p:txBody>
      </p:sp>
      <p:sp>
        <p:nvSpPr>
          <p:cNvPr id="9019" name="Tap cell 110"/>
          <p:cNvSpPr/>
          <p:nvPr/>
        </p:nvSpPr>
        <p:spPr>
          <a:xfrm>
            <a:off x="4317444" y="3139094"/>
            <a:ext cx="283672" cy="32731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4</a:t>
            </a:r>
          </a:p>
        </p:txBody>
      </p:sp>
      <p:sp>
        <p:nvSpPr>
          <p:cNvPr id="9020" name="Tap cell 111"/>
          <p:cNvSpPr/>
          <p:nvPr/>
        </p:nvSpPr>
        <p:spPr>
          <a:xfrm>
            <a:off x="4633847" y="3139094"/>
            <a:ext cx="283672" cy="32731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chemeClr val="bg1"/>
                </a:solidFill>
              </a:rPr>
              <a:t>5</a:t>
            </a:r>
          </a:p>
        </p:txBody>
      </p:sp>
      <p:sp>
        <p:nvSpPr>
          <p:cNvPr id="9021" name="Tap cell 112"/>
          <p:cNvSpPr/>
          <p:nvPr/>
        </p:nvSpPr>
        <p:spPr>
          <a:xfrm>
            <a:off x="4950250" y="3139094"/>
            <a:ext cx="283672" cy="32731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022" name="Tap cell 113"/>
          <p:cNvSpPr/>
          <p:nvPr/>
        </p:nvSpPr>
        <p:spPr>
          <a:xfrm>
            <a:off x="5266653" y="3139094"/>
            <a:ext cx="283672" cy="32731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9023" name="Arrow 114"/>
          <p:cNvCxnSpPr/>
          <p:nvPr/>
        </p:nvCxnSpPr>
        <p:spPr>
          <a:xfrm>
            <a:off x="4775683" y="2855422"/>
            <a:ext cx="0" cy="283672"/>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4" name="Box 115"/>
          <p:cNvSpPr/>
          <p:nvPr/>
        </p:nvSpPr>
        <p:spPr>
          <a:xfrm>
            <a:off x="3368234" y="4317423"/>
            <a:ext cx="2182091" cy="610985"/>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Archive</a:t>
            </a:r>
          </a:p>
          <a:p>
            <a:pPr algn="ctr"/>
            <a:r>
              <a:rPr sz="1000" b="0">
                <a:solidFill>
                  <a:schemeClr val="accent5"/>
                </a:solidFill>
              </a:rPr>
              <a:t>records the tap · tethered</a:t>
            </a:r>
          </a:p>
        </p:txBody>
      </p:sp>
      <p:cxnSp>
        <p:nvCxnSpPr>
          <p:cNvPr id="9025" name="Arrow 116"/>
          <p:cNvCxnSpPr/>
          <p:nvPr/>
        </p:nvCxnSpPr>
        <p:spPr>
          <a:xfrm>
            <a:off x="4142876" y="3466407"/>
            <a:ext cx="0" cy="851016"/>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6" name="Box 117"/>
          <p:cNvSpPr/>
          <p:nvPr/>
        </p:nvSpPr>
        <p:spPr>
          <a:xfrm>
            <a:off x="6095848" y="4317423"/>
            <a:ext cx="2400300" cy="610985"/>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ReplayerService</a:t>
            </a:r>
          </a:p>
          <a:p>
            <a:pPr algn="ctr"/>
            <a:r>
              <a:rPr sz="1000" b="0">
                <a:solidFill>
                  <a:schemeClr val="accent5"/>
                </a:solidFill>
              </a:rPr>
              <a:t>history from the recording</a:t>
            </a:r>
          </a:p>
        </p:txBody>
      </p:sp>
      <p:cxnSp>
        <p:nvCxnSpPr>
          <p:cNvPr id="9027" name="Arrow 118"/>
          <p:cNvCxnSpPr/>
          <p:nvPr/>
        </p:nvCxnSpPr>
        <p:spPr>
          <a:xfrm>
            <a:off x="5550325" y="4622915"/>
            <a:ext cx="545523"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8" name="Box 119"/>
          <p:cNvSpPr/>
          <p:nvPr/>
        </p:nvSpPr>
        <p:spPr>
          <a:xfrm>
            <a:off x="3368234" y="5190259"/>
            <a:ext cx="5127914" cy="545523"/>
          </a:xfrm>
          <a:prstGeom prst="rect">
            <a:avLst/>
          </a:prstGeom>
          <a:solidFill>
            <a:schemeClr val="bg2"/>
          </a:solidFill>
          <a:ln w="12700">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Embedded media driver</a:t>
            </a:r>
          </a:p>
          <a:p>
            <a:pPr algn="ctr"/>
            <a:r>
              <a:rPr sz="1000" b="0">
                <a:solidFill>
                  <a:schemeClr val="accent5"/>
                </a:solidFill>
              </a:rPr>
              <a:t>tap 205 · replay 201 · request 202 · control 203</a:t>
            </a:r>
          </a:p>
        </p:txBody>
      </p:sp>
      <p:sp>
        <p:nvSpPr>
          <p:cNvPr id="9029" name="Host 120"/>
          <p:cNvSpPr/>
          <p:nvPr/>
        </p:nvSpPr>
        <p:spPr>
          <a:xfrm>
            <a:off x="9150775" y="2026227"/>
            <a:ext cx="2072986" cy="3164032"/>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ctr"/>
            <a:r>
              <a:rPr sz="1100" b="1">
                <a:solidFill>
                  <a:schemeClr val="accent5"/>
                </a:solidFill>
              </a:rPr>
              <a:t>CLIENT PROCESS</a:t>
            </a:r>
          </a:p>
        </p:txBody>
      </p:sp>
      <p:sp>
        <p:nvSpPr>
          <p:cNvPr id="9030" name="Box 121"/>
          <p:cNvSpPr/>
          <p:nvPr/>
        </p:nvSpPr>
        <p:spPr>
          <a:xfrm>
            <a:off x="9281700" y="2462645"/>
            <a:ext cx="1811135" cy="610985"/>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ClusterStreamSender</a:t>
            </a:r>
          </a:p>
          <a:p>
            <a:pPr algn="ctr"/>
            <a:r>
              <a:rPr sz="1000" b="0">
                <a:solidFill>
                  <a:schemeClr val="accent5"/>
                </a:solidFill>
              </a:rPr>
              <a:t>+ PendingSends</a:t>
            </a:r>
          </a:p>
        </p:txBody>
      </p:sp>
      <p:sp>
        <p:nvSpPr>
          <p:cNvPr id="9031" name="Box 122"/>
          <p:cNvSpPr/>
          <p:nvPr/>
        </p:nvSpPr>
        <p:spPr>
          <a:xfrm>
            <a:off x="9281700" y="3444586"/>
            <a:ext cx="1811135" cy="610985"/>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ReplayerStreamReceiver</a:t>
            </a:r>
          </a:p>
          <a:p>
            <a:pPr algn="ctr"/>
            <a:r>
              <a:rPr sz="1000" b="0">
                <a:solidFill>
                  <a:schemeClr val="accent5"/>
                </a:solidFill>
              </a:rPr>
              <a:t>+ ReplayerRecovery</a:t>
            </a:r>
          </a:p>
        </p:txBody>
      </p:sp>
      <p:sp>
        <p:nvSpPr>
          <p:cNvPr id="9032" name="Text 123"/>
          <p:cNvSpPr txBox="1"/>
          <p:nvPr/>
        </p:nvSpPr>
        <p:spPr>
          <a:xfrm>
            <a:off x="9150775" y="4426527"/>
            <a:ext cx="2072986" cy="501881"/>
          </a:xfrm>
          <a:prstGeom prst="rect">
            <a:avLst/>
          </a:prstGeom>
          <a:noFill/>
        </p:spPr>
        <p:txBody>
          <a:bodyPr wrap="square" anchor="ctr" lIns="0" rIns="0" tIns="0" bIns="0">
            <a:spAutoFit/>
          </a:bodyPr>
          <a:lstStyle/>
          <a:p>
            <a:pPr algn="ctr"/>
            <a:r>
              <a:rPr sz="1000" b="0">
                <a:solidFill>
                  <a:schemeClr val="accent5"/>
                </a:solidFill>
              </a:rPr>
              <a:t>inside the Gateway or Application façade</a:t>
            </a:r>
          </a:p>
        </p:txBody>
      </p:sp>
      <p:sp>
        <p:nvSpPr>
          <p:cNvPr id="9033" name="Text 124"/>
          <p:cNvSpPr txBox="1"/>
          <p:nvPr/>
        </p:nvSpPr>
        <p:spPr>
          <a:xfrm>
            <a:off x="9150775" y="4841125"/>
            <a:ext cx="2072986" cy="261851"/>
          </a:xfrm>
          <a:prstGeom prst="rect">
            <a:avLst/>
          </a:prstGeom>
          <a:noFill/>
        </p:spPr>
        <p:txBody>
          <a:bodyPr wrap="square" anchor="ctr" lIns="0" rIns="0" tIns="0" bIns="0">
            <a:spAutoFit/>
          </a:bodyPr>
          <a:lstStyle/>
          <a:p>
            <a:pPr algn="ctr"/>
            <a:r>
              <a:rPr sz="1000" b="1">
                <a:solidFill>
                  <a:schemeClr val="accent5"/>
                </a:solidFill>
              </a:rPr>
              <a:t>Java · C++ · C#</a:t>
            </a:r>
          </a:p>
        </p:txBody>
      </p:sp>
      <p:cxnSp>
        <p:nvCxnSpPr>
          <p:cNvPr id="9034" name="Arrow 125"/>
          <p:cNvCxnSpPr/>
          <p:nvPr/>
        </p:nvCxnSpPr>
        <p:spPr>
          <a:xfrm flipH="1">
            <a:off x="8496148" y="2680855"/>
            <a:ext cx="785552"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5" name="Text 126"/>
          <p:cNvSpPr txBox="1"/>
          <p:nvPr/>
        </p:nvSpPr>
        <p:spPr>
          <a:xfrm>
            <a:off x="8496148" y="2419004"/>
            <a:ext cx="785553" cy="240030"/>
          </a:xfrm>
          <a:prstGeom prst="rect">
            <a:avLst/>
          </a:prstGeom>
          <a:noFill/>
        </p:spPr>
        <p:txBody>
          <a:bodyPr wrap="square" anchor="ctr" lIns="0" rIns="0" tIns="0" bIns="0">
            <a:spAutoFit/>
          </a:bodyPr>
          <a:lstStyle/>
          <a:p>
            <a:pPr algn="ctr"/>
            <a:r>
              <a:rPr sz="1000" b="0">
                <a:solidFill>
                  <a:schemeClr val="accent5"/>
                </a:solidFill>
              </a:rPr>
              <a:t>ingress</a:t>
            </a:r>
          </a:p>
        </p:txBody>
      </p:sp>
      <p:sp>
        <p:nvSpPr>
          <p:cNvPr id="4" name="Path 127"/>
          <p:cNvSpPr/>
          <p:nvPr/>
        </p:nvSpPr>
        <p:spPr>
          <a:xfrm>
            <a:off x="4459279" y="3466407"/>
            <a:ext cx="4822421" cy="218209"/>
          </a:xfrm>
          <a:custGeom>
            <a:avLst/>
            <a:gdLst/>
            <a:ahLst/>
            <a:cxnLst/>
            <a:rect l="l" t="t" r="r" b="b"/>
            <a:pathLst>
              <a:path w="4822421" h="218209">
                <a:moveTo>
                  <a:pt x="0" y="0"/>
                </a:moveTo>
                <a:lnTo>
                  <a:pt x="0" y="218209"/>
                </a:lnTo>
                <a:lnTo>
                  <a:pt x="4822421" y="218209"/>
                </a:lnTo>
              </a:path>
            </a:pathLst>
          </a:custGeom>
          <a:noFill/>
          <a:ln w="22225">
            <a:solidFill>
              <a:schemeClr val="accent1"/>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6" name="Text 128"/>
          <p:cNvSpPr txBox="1"/>
          <p:nvPr/>
        </p:nvSpPr>
        <p:spPr>
          <a:xfrm>
            <a:off x="6095848" y="3422765"/>
            <a:ext cx="2400300" cy="240030"/>
          </a:xfrm>
          <a:prstGeom prst="rect">
            <a:avLst/>
          </a:prstGeom>
          <a:noFill/>
        </p:spPr>
        <p:txBody>
          <a:bodyPr wrap="square" anchor="ctr" lIns="0" rIns="0" tIns="0" bIns="0">
            <a:spAutoFit/>
          </a:bodyPr>
          <a:lstStyle/>
          <a:p>
            <a:pPr algn="ctr"/>
            <a:r>
              <a:rPr sz="1000" b="0">
                <a:solidFill>
                  <a:schemeClr val="accent1"/>
                </a:solidFill>
              </a:rPr>
              <a:t>live · untethered</a:t>
            </a:r>
          </a:p>
        </p:txBody>
      </p:sp>
      <p:cxnSp>
        <p:nvCxnSpPr>
          <p:cNvPr id="9037" name="Arrow 129"/>
          <p:cNvCxnSpPr/>
          <p:nvPr/>
        </p:nvCxnSpPr>
        <p:spPr>
          <a:xfrm flipV="1">
            <a:off x="8496148" y="3990109"/>
            <a:ext cx="785552" cy="567344"/>
          </a:xfrm>
          <a:prstGeom prst="line">
            <a:avLst/>
          </a:prstGeom>
          <a:ln w="22225">
            <a:solidFill>
              <a:schemeClr val="accent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8" name="Text 130"/>
          <p:cNvSpPr txBox="1"/>
          <p:nvPr/>
        </p:nvSpPr>
        <p:spPr>
          <a:xfrm>
            <a:off x="8627073" y="4601095"/>
            <a:ext cx="654627" cy="240030"/>
          </a:xfrm>
          <a:prstGeom prst="rect">
            <a:avLst/>
          </a:prstGeom>
          <a:noFill/>
        </p:spPr>
        <p:txBody>
          <a:bodyPr wrap="square" anchor="ctr" lIns="0" rIns="0" tIns="0" bIns="0">
            <a:spAutoFit/>
          </a:bodyPr>
          <a:lstStyle/>
          <a:p>
            <a:pPr algn="ctr"/>
            <a:r>
              <a:rPr sz="1000" b="0">
                <a:solidFill>
                  <a:schemeClr val="accent2"/>
                </a:solidFill>
              </a:rPr>
              <a:t>replay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The life of a message</a:t>
            </a:r>
          </a:p>
        </p:txBody>
      </p:sp>
      <p:sp>
        <p:nvSpPr>
          <p:cNvPr id="3" name="Text 131"/>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Six steps from a producer's offer to its own confirmation</a:t>
            </a:r>
          </a:p>
        </p:txBody>
      </p:sp>
      <p:sp>
        <p:nvSpPr>
          <p:cNvPr id="9008" name="Slide number"/>
          <p:cNvSpPr txBox="1"/>
          <p:nvPr userDrawn="1"/>
        </p:nvSpPr>
        <p:spPr>
          <a:xfrm>
            <a:off x="10728655" y="6400800"/>
            <a:ext cx="914400" cy="274320"/>
          </a:xfrm>
          <a:prstGeom prst="rect">
            <a:avLst/>
          </a:prstGeom>
          <a:noFill/>
        </p:spPr>
        <p:txBody>
          <a:bodyPr wrap="none" lIns="0" tIns="0" rIns="0" bIns="0" anchor="ctr"/>
          <a:lstStyle/>
          <a:p>
            <a:pPr algn="r"/>
            <a:fld id="{b3705cb2-7485-41ed-825f-5a1e74bbbabc}" type="slidenum">
              <a:rPr lang="en-US" sz="1000" dirty="0">
                <a:solidFill>
                  <a:schemeClr val="accent5"/>
                </a:solidFill>
              </a:rPr>
              <a:t>8</a:t>
            </a:fld>
          </a:p>
        </p:txBody>
      </p:sp>
      <p:cxnSp>
        <p:nvCxnSpPr>
          <p:cNvPr id="9009" name="Arrow 132"/>
          <p:cNvCxnSpPr/>
          <p:nvPr/>
        </p:nvCxnSpPr>
        <p:spPr>
          <a:xfrm>
            <a:off x="1005840" y="2057400"/>
            <a:ext cx="9390888" cy="0"/>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sp>
        <p:nvSpPr>
          <p:cNvPr id="9010" name="Number 133"/>
          <p:cNvSpPr/>
          <p:nvPr/>
        </p:nvSpPr>
        <p:spPr>
          <a:xfrm>
            <a:off x="777240" y="1828800"/>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chemeClr val="bg1"/>
                </a:solidFill>
              </a:rPr>
              <a:t>1</a:t>
            </a:r>
          </a:p>
        </p:txBody>
      </p:sp>
      <p:sp>
        <p:nvSpPr>
          <p:cNvPr id="9011" name="Text 134"/>
          <p:cNvSpPr txBox="1"/>
          <p:nvPr/>
        </p:nvSpPr>
        <p:spPr>
          <a:xfrm>
            <a:off x="548640" y="2514600"/>
            <a:ext cx="1700784" cy="411480"/>
          </a:xfrm>
          <a:prstGeom prst="rect">
            <a:avLst/>
          </a:prstGeom>
          <a:noFill/>
        </p:spPr>
        <p:txBody>
          <a:bodyPr wrap="square" anchor="t" lIns="0" rIns="0" tIns="0" bIns="0">
            <a:spAutoFit/>
          </a:bodyPr>
          <a:lstStyle/>
          <a:p>
            <a:pPr algn="l"/>
            <a:r>
              <a:rPr sz="1800" b="1" cap="none">
                <a:solidFill>
                  <a:schemeClr val="tx1"/>
                </a:solidFill>
                <a:latin typeface="+mj-lt"/>
              </a:rPr>
              <a:t>Offer</a:t>
            </a:r>
          </a:p>
        </p:txBody>
      </p:sp>
      <p:sp>
        <p:nvSpPr>
          <p:cNvPr id="9012" name="Text 135"/>
          <p:cNvSpPr txBox="1"/>
          <p:nvPr/>
        </p:nvSpPr>
        <p:spPr>
          <a:xfrm>
            <a:off x="548640" y="2971800"/>
            <a:ext cx="1609344" cy="1737360"/>
          </a:xfrm>
          <a:prstGeom prst="rect">
            <a:avLst/>
          </a:prstGeom>
          <a:noFill/>
        </p:spPr>
        <p:txBody>
          <a:bodyPr wrap="square" anchor="t" lIns="0" rIns="0" tIns="0" bIns="0">
            <a:spAutoFit/>
          </a:bodyPr>
          <a:lstStyle/>
          <a:p>
            <a:pPr algn="l"/>
            <a:r>
              <a:rPr sz="1400" b="0">
                <a:solidFill>
                  <a:schemeClr val="tx1"/>
                </a:solidFill>
              </a:rPr>
              <a:t>Producer wraps its payload in a 28-byte-overhead frame.</a:t>
            </a:r>
          </a:p>
        </p:txBody>
      </p:sp>
      <p:sp>
        <p:nvSpPr>
          <p:cNvPr id="9013" name="Number 136"/>
          <p:cNvSpPr/>
          <p:nvPr/>
        </p:nvSpPr>
        <p:spPr>
          <a:xfrm>
            <a:off x="2655418" y="1828800"/>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chemeClr val="bg1"/>
                </a:solidFill>
              </a:rPr>
              <a:t>2</a:t>
            </a:r>
          </a:p>
        </p:txBody>
      </p:sp>
      <p:sp>
        <p:nvSpPr>
          <p:cNvPr id="9014" name="Text 137"/>
          <p:cNvSpPr txBox="1"/>
          <p:nvPr/>
        </p:nvSpPr>
        <p:spPr>
          <a:xfrm>
            <a:off x="2426818" y="2514600"/>
            <a:ext cx="1700784" cy="411480"/>
          </a:xfrm>
          <a:prstGeom prst="rect">
            <a:avLst/>
          </a:prstGeom>
          <a:noFill/>
        </p:spPr>
        <p:txBody>
          <a:bodyPr wrap="square" anchor="t" lIns="0" rIns="0" tIns="0" bIns="0">
            <a:spAutoFit/>
          </a:bodyPr>
          <a:lstStyle/>
          <a:p>
            <a:pPr algn="l"/>
            <a:r>
              <a:rPr sz="1800" b="1" cap="none">
                <a:solidFill>
                  <a:schemeClr val="tx1"/>
                </a:solidFill>
                <a:latin typeface="+mj-lt"/>
              </a:rPr>
              <a:t>Commit</a:t>
            </a:r>
          </a:p>
        </p:txBody>
      </p:sp>
      <p:sp>
        <p:nvSpPr>
          <p:cNvPr id="9015" name="Text 138"/>
          <p:cNvSpPr txBox="1"/>
          <p:nvPr/>
        </p:nvSpPr>
        <p:spPr>
          <a:xfrm>
            <a:off x="2426818" y="2971800"/>
            <a:ext cx="1609344" cy="1737360"/>
          </a:xfrm>
          <a:prstGeom prst="rect">
            <a:avLst/>
          </a:prstGeom>
          <a:noFill/>
        </p:spPr>
        <p:txBody>
          <a:bodyPr wrap="square" anchor="t" lIns="0" rIns="0" tIns="0" bIns="0">
            <a:spAutoFit/>
          </a:bodyPr>
          <a:lstStyle/>
          <a:p>
            <a:pPr algn="l"/>
            <a:r>
              <a:rPr sz="1400" b="0">
                <a:solidFill>
                  <a:schemeClr val="tx1"/>
                </a:solidFill>
              </a:rPr>
              <a:t>Leader appends to the Raft log; a majority holds it.</a:t>
            </a:r>
          </a:p>
        </p:txBody>
      </p:sp>
      <p:sp>
        <p:nvSpPr>
          <p:cNvPr id="9016" name="Number 139"/>
          <p:cNvSpPr/>
          <p:nvPr/>
        </p:nvSpPr>
        <p:spPr>
          <a:xfrm>
            <a:off x="4533595" y="1828800"/>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chemeClr val="bg1"/>
                </a:solidFill>
              </a:rPr>
              <a:t>3</a:t>
            </a:r>
          </a:p>
        </p:txBody>
      </p:sp>
      <p:sp>
        <p:nvSpPr>
          <p:cNvPr id="9017" name="Text 140"/>
          <p:cNvSpPr txBox="1"/>
          <p:nvPr/>
        </p:nvSpPr>
        <p:spPr>
          <a:xfrm>
            <a:off x="4304995" y="2514600"/>
            <a:ext cx="1700784" cy="411480"/>
          </a:xfrm>
          <a:prstGeom prst="rect">
            <a:avLst/>
          </a:prstGeom>
          <a:noFill/>
        </p:spPr>
        <p:txBody>
          <a:bodyPr wrap="square" anchor="t" lIns="0" rIns="0" tIns="0" bIns="0">
            <a:spAutoFit/>
          </a:bodyPr>
          <a:lstStyle/>
          <a:p>
            <a:pPr algn="l"/>
            <a:r>
              <a:rPr sz="1800" b="1" cap="none">
                <a:solidFill>
                  <a:schemeClr val="tx1"/>
                </a:solidFill>
                <a:latin typeface="+mj-lt"/>
              </a:rPr>
              <a:t>Sequence</a:t>
            </a:r>
          </a:p>
        </p:txBody>
      </p:sp>
      <p:sp>
        <p:nvSpPr>
          <p:cNvPr id="9018" name="Text 141"/>
          <p:cNvSpPr txBox="1"/>
          <p:nvPr/>
        </p:nvSpPr>
        <p:spPr>
          <a:xfrm>
            <a:off x="4304995" y="2971800"/>
            <a:ext cx="1609344" cy="1737360"/>
          </a:xfrm>
          <a:prstGeom prst="rect">
            <a:avLst/>
          </a:prstGeom>
          <a:noFill/>
        </p:spPr>
        <p:txBody>
          <a:bodyPr wrap="square" anchor="t" lIns="0" rIns="0" tIns="0" bIns="0">
            <a:spAutoFit/>
          </a:bodyPr>
          <a:lstStyle/>
          <a:p>
            <a:pPr algn="l"/>
            <a:r>
              <a:rPr sz="1400" b="0">
                <a:solidFill>
                  <a:schemeClr val="tx1"/>
                </a:solidFill>
              </a:rPr>
              <a:t>Every cluster member numbers, stamps, publishes on its tap.</a:t>
            </a:r>
          </a:p>
        </p:txBody>
      </p:sp>
      <p:sp>
        <p:nvSpPr>
          <p:cNvPr id="9019" name="Number 142"/>
          <p:cNvSpPr/>
          <p:nvPr/>
        </p:nvSpPr>
        <p:spPr>
          <a:xfrm>
            <a:off x="6411773" y="1828800"/>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chemeClr val="bg1"/>
                </a:solidFill>
              </a:rPr>
              <a:t>4</a:t>
            </a:r>
          </a:p>
        </p:txBody>
      </p:sp>
      <p:sp>
        <p:nvSpPr>
          <p:cNvPr id="9020" name="Text 143"/>
          <p:cNvSpPr txBox="1"/>
          <p:nvPr/>
        </p:nvSpPr>
        <p:spPr>
          <a:xfrm>
            <a:off x="6183173" y="2514600"/>
            <a:ext cx="1700784" cy="411480"/>
          </a:xfrm>
          <a:prstGeom prst="rect">
            <a:avLst/>
          </a:prstGeom>
          <a:noFill/>
        </p:spPr>
        <p:txBody>
          <a:bodyPr wrap="square" anchor="t" lIns="0" rIns="0" tIns="0" bIns="0">
            <a:spAutoFit/>
          </a:bodyPr>
          <a:lstStyle/>
          <a:p>
            <a:pPr algn="l"/>
            <a:r>
              <a:rPr sz="1800" b="1" cap="none">
                <a:solidFill>
                  <a:schemeClr val="tx1"/>
                </a:solidFill>
                <a:latin typeface="+mj-lt"/>
              </a:rPr>
              <a:t>Record</a:t>
            </a:r>
          </a:p>
        </p:txBody>
      </p:sp>
      <p:sp>
        <p:nvSpPr>
          <p:cNvPr id="9021" name="Text 144"/>
          <p:cNvSpPr txBox="1"/>
          <p:nvPr/>
        </p:nvSpPr>
        <p:spPr>
          <a:xfrm>
            <a:off x="6183173" y="2971800"/>
            <a:ext cx="1609344" cy="1737360"/>
          </a:xfrm>
          <a:prstGeom prst="rect">
            <a:avLst/>
          </a:prstGeom>
          <a:noFill/>
        </p:spPr>
        <p:txBody>
          <a:bodyPr wrap="square" anchor="t" lIns="0" rIns="0" tIns="0" bIns="0">
            <a:spAutoFit/>
          </a:bodyPr>
          <a:lstStyle/>
          <a:p>
            <a:pPr algn="l"/>
            <a:r>
              <a:rPr sz="1400" b="0">
                <a:solidFill>
                  <a:schemeClr val="tx1"/>
                </a:solidFill>
              </a:rPr>
              <a:t>Every cluster member's archive records the tap.</a:t>
            </a:r>
          </a:p>
        </p:txBody>
      </p:sp>
      <p:sp>
        <p:nvSpPr>
          <p:cNvPr id="9022" name="Number 145"/>
          <p:cNvSpPr/>
          <p:nvPr/>
        </p:nvSpPr>
        <p:spPr>
          <a:xfrm>
            <a:off x="8289950" y="1828800"/>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chemeClr val="bg1"/>
                </a:solidFill>
              </a:rPr>
              <a:t>5</a:t>
            </a:r>
          </a:p>
        </p:txBody>
      </p:sp>
      <p:sp>
        <p:nvSpPr>
          <p:cNvPr id="9023" name="Text 146"/>
          <p:cNvSpPr txBox="1"/>
          <p:nvPr/>
        </p:nvSpPr>
        <p:spPr>
          <a:xfrm>
            <a:off x="8061350" y="2514600"/>
            <a:ext cx="1700784" cy="411480"/>
          </a:xfrm>
          <a:prstGeom prst="rect">
            <a:avLst/>
          </a:prstGeom>
          <a:noFill/>
        </p:spPr>
        <p:txBody>
          <a:bodyPr wrap="square" anchor="t" lIns="0" rIns="0" tIns="0" bIns="0">
            <a:spAutoFit/>
          </a:bodyPr>
          <a:lstStyle/>
          <a:p>
            <a:pPr algn="l"/>
            <a:r>
              <a:rPr sz="1800" b="1" cap="none">
                <a:solidFill>
                  <a:schemeClr val="tx1"/>
                </a:solidFill>
                <a:latin typeface="+mj-lt"/>
              </a:rPr>
              <a:t>Deliver</a:t>
            </a:r>
          </a:p>
        </p:txBody>
      </p:sp>
      <p:sp>
        <p:nvSpPr>
          <p:cNvPr id="9024" name="Text 147"/>
          <p:cNvSpPr txBox="1"/>
          <p:nvPr/>
        </p:nvSpPr>
        <p:spPr>
          <a:xfrm>
            <a:off x="8061350" y="2971800"/>
            <a:ext cx="1609344" cy="1737360"/>
          </a:xfrm>
          <a:prstGeom prst="rect">
            <a:avLst/>
          </a:prstGeom>
          <a:noFill/>
        </p:spPr>
        <p:txBody>
          <a:bodyPr wrap="square" anchor="t" lIns="0" rIns="0" tIns="0" bIns="0">
            <a:spAutoFit/>
          </a:bodyPr>
          <a:lstStyle/>
          <a:p>
            <a:pPr algn="l"/>
            <a:r>
              <a:rPr sz="1400" b="0">
                <a:solidFill>
                  <a:schemeClr val="tx1"/>
                </a:solidFill>
              </a:rPr>
              <a:t>Each client reads its local tap, checks continuity.</a:t>
            </a:r>
          </a:p>
        </p:txBody>
      </p:sp>
      <p:sp>
        <p:nvSpPr>
          <p:cNvPr id="9025" name="Number 148"/>
          <p:cNvSpPr/>
          <p:nvPr/>
        </p:nvSpPr>
        <p:spPr>
          <a:xfrm>
            <a:off x="10168128" y="1828800"/>
            <a:ext cx="457200" cy="45720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chemeClr val="bg1"/>
                </a:solidFill>
              </a:rPr>
              <a:t>6</a:t>
            </a:r>
          </a:p>
        </p:txBody>
      </p:sp>
      <p:sp>
        <p:nvSpPr>
          <p:cNvPr id="9026" name="Text 149"/>
          <p:cNvSpPr txBox="1"/>
          <p:nvPr/>
        </p:nvSpPr>
        <p:spPr>
          <a:xfrm>
            <a:off x="9939528" y="2514600"/>
            <a:ext cx="1700784" cy="411480"/>
          </a:xfrm>
          <a:prstGeom prst="rect">
            <a:avLst/>
          </a:prstGeom>
          <a:noFill/>
        </p:spPr>
        <p:txBody>
          <a:bodyPr wrap="square" anchor="t" lIns="0" rIns="0" tIns="0" bIns="0">
            <a:spAutoFit/>
          </a:bodyPr>
          <a:lstStyle/>
          <a:p>
            <a:pPr algn="l"/>
            <a:r>
              <a:rPr sz="1800" b="1" cap="none">
                <a:solidFill>
                  <a:schemeClr val="tx1"/>
                </a:solidFill>
                <a:latin typeface="+mj-lt"/>
              </a:rPr>
              <a:t>Confirm</a:t>
            </a:r>
          </a:p>
        </p:txBody>
      </p:sp>
      <p:sp>
        <p:nvSpPr>
          <p:cNvPr id="9027" name="Text 150"/>
          <p:cNvSpPr txBox="1"/>
          <p:nvPr/>
        </p:nvSpPr>
        <p:spPr>
          <a:xfrm>
            <a:off x="9939528" y="2971800"/>
            <a:ext cx="1609344" cy="1737360"/>
          </a:xfrm>
          <a:prstGeom prst="rect">
            <a:avLst/>
          </a:prstGeom>
          <a:noFill/>
        </p:spPr>
        <p:txBody>
          <a:bodyPr wrap="square" anchor="t" lIns="0" rIns="0" tIns="0" bIns="0">
            <a:spAutoFit/>
          </a:bodyPr>
          <a:lstStyle/>
          <a:p>
            <a:pPr algn="l"/>
            <a:r>
              <a:rPr sz="1400" b="0">
                <a:solidFill>
                  <a:schemeClr val="tx1"/>
                </a:solidFill>
              </a:rPr>
              <a:t>The producer sees its own frame. Now it is sequenced.</a:t>
            </a:r>
          </a:p>
        </p:txBody>
      </p:sp>
      <p:sp>
        <p:nvSpPr>
          <p:cNvPr id="9028" name="Card 151"/>
          <p:cNvSpPr/>
          <p:nvPr/>
        </p:nvSpPr>
        <p:spPr>
          <a:xfrm>
            <a:off x="548640" y="4892040"/>
            <a:ext cx="11094415"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l"/>
            <a:r>
              <a:rPr sz="1600" b="1">
                <a:solidFill>
                  <a:schemeClr val="tx1"/>
                </a:solidFill>
              </a:rPr>
              <a:t>A send that succeeds is not a message sequenced. </a:t>
            </a:r>
            <a:r>
              <a:rPr sz="1600" b="0">
                <a:solidFill>
                  <a:schemeClr val="tx1"/>
                </a:solidFill>
              </a:rPr>
              <a:t>The cluster confirms nothing on egress; step 6 is the producer's own confirmation, on its own tap.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Decisions and what they cost</a:t>
            </a:r>
          </a:p>
        </p:txBody>
      </p:sp>
      <p:sp>
        <p:nvSpPr>
          <p:cNvPr id="3" name="Text 152"/>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The choices worth challenging</a:t>
            </a:r>
          </a:p>
        </p:txBody>
      </p:sp>
      <p:sp>
        <p:nvSpPr>
          <p:cNvPr id="9009" name="Slide number"/>
          <p:cNvSpPr txBox="1"/>
          <p:nvPr userDrawn="1"/>
        </p:nvSpPr>
        <p:spPr>
          <a:xfrm>
            <a:off x="10728655" y="6400800"/>
            <a:ext cx="914400" cy="274320"/>
          </a:xfrm>
          <a:prstGeom prst="rect">
            <a:avLst/>
          </a:prstGeom>
          <a:noFill/>
        </p:spPr>
        <p:txBody>
          <a:bodyPr wrap="none" lIns="0" tIns="0" rIns="0" bIns="0" anchor="ctr"/>
          <a:lstStyle/>
          <a:p>
            <a:pPr algn="r"/>
            <a:fld id="{0ded14cb-9cf7-4b60-a476-86050feccd0f}" type="slidenum">
              <a:rPr lang="en-US" sz="1000" dirty="0">
                <a:solidFill>
                  <a:schemeClr val="accent5"/>
                </a:solidFill>
              </a:rPr>
              <a:t>9</a:t>
            </a:fld>
          </a:p>
        </p:txBody>
      </p:sp>
      <p:graphicFrame>
        <p:nvGraphicFramePr>
          <p:cNvPr id="9010" name="Table 153"/>
          <p:cNvGraphicFramePr>
            <a:graphicFrameLocks noGrp="1"/>
          </p:cNvGraphicFramePr>
          <p:nvPr/>
        </p:nvGraphicFramePr>
        <p:xfrm>
          <a:off x="548640" y="1645920"/>
          <a:ext cx="11091672" cy="4096512"/>
        </p:xfrm>
        <a:graphic>
          <a:graphicData uri="http://schemas.openxmlformats.org/drawingml/2006/table">
            <a:tbl>
              <a:tblPr firstRow="1">
                <a:tableStyleId>{5C22544A-7EE6-4342-B048-85BDC9FD1C3A}</a:tableStyleId>
              </a:tblPr>
              <a:tblGrid>
                <a:gridCol w="3429000"/>
                <a:gridCol w="3886200"/>
                <a:gridCol w="3776472"/>
              </a:tblGrid>
              <a:tr h="512064">
                <a:tc>
                  <a:txBody>
                    <a:bodyPr/>
                    <a:lstStyle/>
                    <a:p>
                      <a:pPr algn="l"/>
                      <a:r>
                        <a:rPr sz="1300" b="1">
                          <a:solidFill>
                            <a:schemeClr val="bg1"/>
                          </a:solidFill>
                        </a:rPr>
                        <a:t>Decision</a:t>
                      </a:r>
                    </a:p>
                  </a:txBody>
                  <a:tcPr marL="91440" marR="91440" marT="45720" marB="45720" anchor="ctr">
                    <a:solidFill>
                      <a:schemeClr val="accent1"/>
                    </a:solidFill>
                  </a:tcPr>
                </a:tc>
                <a:tc>
                  <a:txBody>
                    <a:bodyPr/>
                    <a:lstStyle/>
                    <a:p>
                      <a:pPr algn="l"/>
                      <a:r>
                        <a:rPr sz="1300" b="1">
                          <a:solidFill>
                            <a:schemeClr val="bg1"/>
                          </a:solidFill>
                        </a:rPr>
                        <a:t>Buys</a:t>
                      </a:r>
                    </a:p>
                  </a:txBody>
                  <a:tcPr marL="91440" marR="91440" marT="45720" marB="45720" anchor="ctr">
                    <a:solidFill>
                      <a:schemeClr val="accent1"/>
                    </a:solidFill>
                  </a:tcPr>
                </a:tc>
                <a:tc>
                  <a:txBody>
                    <a:bodyPr/>
                    <a:lstStyle/>
                    <a:p>
                      <a:pPr algn="l"/>
                      <a:r>
                        <a:rPr sz="1300" b="1">
                          <a:solidFill>
                            <a:schemeClr val="bg1"/>
                          </a:solidFill>
                        </a:rPr>
                        <a:t>Costs</a:t>
                      </a:r>
                    </a:p>
                  </a:txBody>
                  <a:tcPr marL="91440" marR="91440" marT="45720" marB="45720" anchor="ctr">
                    <a:solidFill>
                      <a:schemeClr val="accent1"/>
                    </a:solidFill>
                  </a:tcPr>
                </a:tc>
              </a:tr>
              <a:tr h="512064">
                <a:tc>
                  <a:txBody>
                    <a:bodyPr/>
                    <a:lstStyle/>
                    <a:p>
                      <a:pPr algn="l"/>
                      <a:r>
                        <a:rPr sz="1400" b="1">
                          <a:solidFill>
                            <a:schemeClr val="tx1"/>
                          </a:solidFill>
                        </a:rPr>
                        <a:t>No cluster snapshots</a:t>
                      </a:r>
                    </a:p>
                  </a:txBody>
                  <a:tcPr marL="91440" marR="91440" marT="45720" marB="45720" anchor="ctr">
                    <a:solidFill>
                      <a:schemeClr val="bg1"/>
                    </a:solidFill>
                  </a:tcPr>
                </a:tc>
                <a:tc>
                  <a:txBody>
                    <a:bodyPr/>
                    <a:lstStyle/>
                    <a:p>
                      <a:pPr algn="l"/>
                      <a:r>
                        <a:rPr sz="1400" b="0">
                          <a:solidFill>
                            <a:schemeClr val="tx1"/>
                          </a:solidFill>
                        </a:rPr>
                        <a:t>Complete history on every member</a:t>
                      </a:r>
                    </a:p>
                  </a:txBody>
                  <a:tcPr marL="91440" marR="91440" marT="45720" marB="45720" anchor="ctr">
                    <a:solidFill>
                      <a:schemeClr val="bg1"/>
                    </a:solidFill>
                  </a:tcPr>
                </a:tc>
                <a:tc>
                  <a:txBody>
                    <a:bodyPr/>
                    <a:lstStyle/>
                    <a:p>
                      <a:pPr algn="l"/>
                      <a:r>
                        <a:rPr sz="1400" b="0">
                          <a:solidFill>
                            <a:schemeClr val="tx1"/>
                          </a:solidFill>
                        </a:rPr>
                        <a:t>Recovery and archive grow with uptime</a:t>
                      </a:r>
                    </a:p>
                  </a:txBody>
                  <a:tcPr marL="91440" marR="91440" marT="45720" marB="45720" anchor="ctr">
                    <a:solidFill>
                      <a:schemeClr val="bg1"/>
                    </a:solidFill>
                  </a:tcPr>
                </a:tc>
              </a:tr>
              <a:tr h="512064">
                <a:tc>
                  <a:txBody>
                    <a:bodyPr/>
                    <a:lstStyle/>
                    <a:p>
                      <a:pPr algn="l"/>
                      <a:r>
                        <a:rPr sz="1400" b="1">
                          <a:solidFill>
                            <a:schemeClr val="tx1"/>
                          </a:solidFill>
                        </a:rPr>
                        <a:t>Each member records its tap</a:t>
                      </a:r>
                    </a:p>
                  </a:txBody>
                  <a:tcPr marL="91440" marR="91440" marT="45720" marB="45720" anchor="ctr">
                    <a:solidFill>
                      <a:schemeClr val="bg2"/>
                    </a:solidFill>
                  </a:tcPr>
                </a:tc>
                <a:tc>
                  <a:txBody>
                    <a:bodyPr/>
                    <a:lstStyle/>
                    <a:p>
                      <a:pPr algn="l"/>
                      <a:r>
                        <a:rPr sz="1400" b="0">
                          <a:solidFill>
                            <a:schemeClr val="tx1"/>
                          </a:solidFill>
                        </a:rPr>
                        <a:t>Local recovery for every client</a:t>
                      </a:r>
                    </a:p>
                  </a:txBody>
                  <a:tcPr marL="91440" marR="91440" marT="45720" marB="45720" anchor="ctr">
                    <a:solidFill>
                      <a:schemeClr val="bg2"/>
                    </a:solidFill>
                  </a:tcPr>
                </a:tc>
                <a:tc>
                  <a:txBody>
                    <a:bodyPr/>
                    <a:lstStyle/>
                    <a:p>
                      <a:pPr algn="l"/>
                      <a:r>
                        <a:rPr sz="1400" b="0">
                          <a:solidFill>
                            <a:schemeClr val="tx1"/>
                          </a:solidFill>
                        </a:rPr>
                        <a:t>Each member stores everything</a:t>
                      </a:r>
                    </a:p>
                  </a:txBody>
                  <a:tcPr marL="91440" marR="91440" marT="45720" marB="45720" anchor="ctr">
                    <a:solidFill>
                      <a:schemeClr val="bg2"/>
                    </a:solidFill>
                  </a:tcPr>
                </a:tc>
              </a:tr>
              <a:tr h="512064">
                <a:tc>
                  <a:txBody>
                    <a:bodyPr/>
                    <a:lstStyle/>
                    <a:p>
                      <a:pPr algn="l"/>
                      <a:r>
                        <a:rPr sz="1400" b="1">
                          <a:solidFill>
                            <a:schemeClr val="tx1"/>
                          </a:solidFill>
                        </a:rPr>
                        <a:t>Untethered consumers</a:t>
                      </a:r>
                    </a:p>
                  </a:txBody>
                  <a:tcPr marL="91440" marR="91440" marT="45720" marB="45720" anchor="ctr">
                    <a:solidFill>
                      <a:schemeClr val="bg1"/>
                    </a:solidFill>
                  </a:tcPr>
                </a:tc>
                <a:tc>
                  <a:txBody>
                    <a:bodyPr/>
                    <a:lstStyle/>
                    <a:p>
                      <a:pPr algn="l"/>
                      <a:r>
                        <a:rPr sz="1400" b="0">
                          <a:solidFill>
                            <a:schemeClr val="tx1"/>
                          </a:solidFill>
                        </a:rPr>
                        <a:t>Nobody slows the sequencer</a:t>
                      </a:r>
                    </a:p>
                  </a:txBody>
                  <a:tcPr marL="91440" marR="91440" marT="45720" marB="45720" anchor="ctr">
                    <a:solidFill>
                      <a:schemeClr val="bg1"/>
                    </a:solidFill>
                  </a:tcPr>
                </a:tc>
                <a:tc>
                  <a:txBody>
                    <a:bodyPr/>
                    <a:lstStyle/>
                    <a:p>
                      <a:pPr algn="l"/>
                      <a:r>
                        <a:rPr sz="1400" b="0">
                          <a:solidFill>
                            <a:schemeClr val="tx1"/>
                          </a:solidFill>
                        </a:rPr>
                        <a:t>A slow consumer pays a replay</a:t>
                      </a:r>
                    </a:p>
                  </a:txBody>
                  <a:tcPr marL="91440" marR="91440" marT="45720" marB="45720" anchor="ctr">
                    <a:solidFill>
                      <a:schemeClr val="bg1"/>
                    </a:solidFill>
                  </a:tcPr>
                </a:tc>
              </a:tr>
              <a:tr h="512064">
                <a:tc>
                  <a:txBody>
                    <a:bodyPr/>
                    <a:lstStyle/>
                    <a:p>
                      <a:pPr algn="l"/>
                      <a:r>
                        <a:rPr sz="1400" b="1">
                          <a:solidFill>
                            <a:schemeClr val="tx1"/>
                          </a:solidFill>
                        </a:rPr>
                        <a:t>Stop on recording failure</a:t>
                      </a:r>
                    </a:p>
                  </a:txBody>
                  <a:tcPr marL="91440" marR="91440" marT="45720" marB="45720" anchor="ctr">
                    <a:solidFill>
                      <a:schemeClr val="bg2"/>
                    </a:solidFill>
                  </a:tcPr>
                </a:tc>
                <a:tc>
                  <a:txBody>
                    <a:bodyPr/>
                    <a:lstStyle/>
                    <a:p>
                      <a:pPr algn="l"/>
                      <a:r>
                        <a:rPr sz="1400" b="0">
                          <a:solidFill>
                            <a:schemeClr val="tx1"/>
                          </a:solidFill>
                        </a:rPr>
                        <a:t>Never serves history it lacks</a:t>
                      </a:r>
                    </a:p>
                  </a:txBody>
                  <a:tcPr marL="91440" marR="91440" marT="45720" marB="45720" anchor="ctr">
                    <a:solidFill>
                      <a:schemeClr val="bg2"/>
                    </a:solidFill>
                  </a:tcPr>
                </a:tc>
                <a:tc>
                  <a:txBody>
                    <a:bodyPr/>
                    <a:lstStyle/>
                    <a:p>
                      <a:pPr algn="l"/>
                      <a:r>
                        <a:rPr sz="1400" b="0">
                          <a:solidFill>
                            <a:schemeClr val="tx1"/>
                          </a:solidFill>
                        </a:rPr>
                        <a:t>Costs a member, not a frame</a:t>
                      </a:r>
                    </a:p>
                  </a:txBody>
                  <a:tcPr marL="91440" marR="91440" marT="45720" marB="45720" anchor="ctr">
                    <a:solidFill>
                      <a:schemeClr val="bg2"/>
                    </a:solidFill>
                  </a:tcPr>
                </a:tc>
              </a:tr>
              <a:tr h="512064">
                <a:tc>
                  <a:txBody>
                    <a:bodyPr/>
                    <a:lstStyle/>
                    <a:p>
                      <a:pPr algn="l"/>
                      <a:r>
                        <a:rPr sz="1400" b="1">
                          <a:solidFill>
                            <a:schemeClr val="tx1"/>
                          </a:solidFill>
                        </a:rPr>
                        <a:t>Opaque payloads</a:t>
                      </a:r>
                    </a:p>
                  </a:txBody>
                  <a:tcPr marL="91440" marR="91440" marT="45720" marB="45720" anchor="ctr">
                    <a:solidFill>
                      <a:schemeClr val="bg1"/>
                    </a:solidFill>
                  </a:tcPr>
                </a:tc>
                <a:tc>
                  <a:txBody>
                    <a:bodyPr/>
                    <a:lstStyle/>
                    <a:p>
                      <a:pPr algn="l"/>
                      <a:r>
                        <a:rPr sz="1400" b="0">
                          <a:solidFill>
                            <a:schemeClr val="tx1"/>
                          </a:solidFill>
                        </a:rPr>
                        <a:t>Applications version alone</a:t>
                      </a:r>
                    </a:p>
                  </a:txBody>
                  <a:tcPr marL="91440" marR="91440" marT="45720" marB="45720" anchor="ctr">
                    <a:solidFill>
                      <a:schemeClr val="bg1"/>
                    </a:solidFill>
                  </a:tcPr>
                </a:tc>
                <a:tc>
                  <a:txBody>
                    <a:bodyPr/>
                    <a:lstStyle/>
                    <a:p>
                      <a:pPr algn="l"/>
                      <a:r>
                        <a:rPr sz="1400" b="0">
                          <a:solidFill>
                            <a:schemeClr val="tx1"/>
                          </a:solidFill>
                        </a:rPr>
                        <a:t>No content routing or checks</a:t>
                      </a:r>
                    </a:p>
                  </a:txBody>
                  <a:tcPr marL="91440" marR="91440" marT="45720" marB="45720" anchor="ctr">
                    <a:solidFill>
                      <a:schemeClr val="bg1"/>
                    </a:solidFill>
                  </a:tcPr>
                </a:tc>
              </a:tr>
              <a:tr h="512064">
                <a:tc>
                  <a:txBody>
                    <a:bodyPr/>
                    <a:lstStyle/>
                    <a:p>
                      <a:pPr algn="l"/>
                      <a:r>
                        <a:rPr sz="1400" b="1">
                          <a:solidFill>
                            <a:schemeClr val="tx1"/>
                          </a:solidFill>
                        </a:rPr>
                        <a:t>One ordered stream</a:t>
                      </a:r>
                    </a:p>
                  </a:txBody>
                  <a:tcPr marL="91440" marR="91440" marT="45720" marB="45720" anchor="ctr">
                    <a:solidFill>
                      <a:schemeClr val="bg2"/>
                    </a:solidFill>
                  </a:tcPr>
                </a:tc>
                <a:tc>
                  <a:txBody>
                    <a:bodyPr/>
                    <a:lstStyle/>
                    <a:p>
                      <a:pPr algn="l"/>
                      <a:r>
                        <a:rPr sz="1400" b="0">
                          <a:solidFill>
                            <a:schemeClr val="tx1"/>
                          </a:solidFill>
                        </a:rPr>
                        <a:t>No coordination anywhere</a:t>
                      </a:r>
                    </a:p>
                  </a:txBody>
                  <a:tcPr marL="91440" marR="91440" marT="45720" marB="45720" anchor="ctr">
                    <a:solidFill>
                      <a:schemeClr val="bg2"/>
                    </a:solidFill>
                  </a:tcPr>
                </a:tc>
                <a:tc>
                  <a:txBody>
                    <a:bodyPr/>
                    <a:lstStyle/>
                    <a:p>
                      <a:pPr algn="l"/>
                      <a:r>
                        <a:rPr sz="1400" b="0">
                          <a:solidFill>
                            <a:schemeClr val="tx1"/>
                          </a:solidFill>
                        </a:rPr>
                        <a:t>One sequencer's throughput</a:t>
                      </a:r>
                    </a:p>
                  </a:txBody>
                  <a:tcPr marL="91440" marR="91440" marT="45720" marB="45720" anchor="ctr">
                    <a:solidFill>
                      <a:schemeClr val="bg2"/>
                    </a:solidFill>
                  </a:tcPr>
                </a:tc>
              </a:tr>
              <a:tr h="512064">
                <a:tc>
                  <a:txBody>
                    <a:bodyPr/>
                    <a:lstStyle/>
                    <a:p>
                      <a:pPr algn="l"/>
                      <a:r>
                        <a:rPr sz="1400" b="1">
                          <a:solidFill>
                            <a:schemeClr val="tx1"/>
                          </a:solidFill>
                        </a:rPr>
                        <a:t>Majority, no fsync</a:t>
                      </a:r>
                    </a:p>
                  </a:txBody>
                  <a:tcPr marL="91440" marR="91440" marT="45720" marB="45720" anchor="ctr">
                    <a:solidFill>
                      <a:schemeClr val="bg1"/>
                    </a:solidFill>
                  </a:tcPr>
                </a:tc>
                <a:tc>
                  <a:txBody>
                    <a:bodyPr/>
                    <a:lstStyle/>
                    <a:p>
                      <a:pPr algn="l"/>
                      <a:r>
                        <a:rPr sz="1400" b="0">
                          <a:solidFill>
                            <a:schemeClr val="tx1"/>
                          </a:solidFill>
                        </a:rPr>
                        <a:t>Memory and network latency</a:t>
                      </a:r>
                    </a:p>
                  </a:txBody>
                  <a:tcPr marL="91440" marR="91440" marT="45720" marB="45720" anchor="ctr">
                    <a:solidFill>
                      <a:schemeClr val="bg1"/>
                    </a:solidFill>
                  </a:tcPr>
                </a:tc>
                <a:tc>
                  <a:txBody>
                    <a:bodyPr/>
                    <a:lstStyle/>
                    <a:p>
                      <a:pPr algn="l"/>
                      <a:r>
                        <a:rPr sz="1400" b="0">
                          <a:solidFill>
                            <a:schemeClr val="tx1"/>
                          </a:solidFill>
                        </a:rPr>
                        <a:t>Correlated power loss</a:t>
                      </a:r>
                    </a:p>
                  </a:txBody>
                  <a:tcPr marL="91440" marR="91440" marT="45720" marB="45720" anchor="ctr">
                    <a:solidFill>
                      <a:schemeClr val="bg1"/>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Limits today</a:t>
            </a:r>
          </a:p>
        </p:txBody>
      </p:sp>
      <p:sp>
        <p:nvSpPr>
          <p:cNvPr id="3" name="Text 154"/>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Stated plainly, so nobody discovers them in production</a:t>
            </a:r>
          </a:p>
        </p:txBody>
      </p:sp>
      <p:sp>
        <p:nvSpPr>
          <p:cNvPr id="9010" name="Slide number"/>
          <p:cNvSpPr txBox="1"/>
          <p:nvPr userDrawn="1"/>
        </p:nvSpPr>
        <p:spPr>
          <a:xfrm>
            <a:off x="10728655" y="6400800"/>
            <a:ext cx="914400" cy="274320"/>
          </a:xfrm>
          <a:prstGeom prst="rect">
            <a:avLst/>
          </a:prstGeom>
          <a:noFill/>
        </p:spPr>
        <p:txBody>
          <a:bodyPr wrap="none" lIns="0" tIns="0" rIns="0" bIns="0" anchor="ctr"/>
          <a:lstStyle/>
          <a:p>
            <a:pPr algn="r"/>
            <a:fld id="{ae76f4e5-1aa7-466f-b9d5-b1176caf8a50}" type="slidenum">
              <a:rPr lang="en-US" sz="1000" dirty="0">
                <a:solidFill>
                  <a:schemeClr val="accent5"/>
                </a:solidFill>
              </a:rPr>
              <a:t>10</a:t>
            </a:fld>
          </a:p>
        </p:txBody>
      </p:sp>
      <p:sp>
        <p:nvSpPr>
          <p:cNvPr id="9011" name="Card 155"/>
          <p:cNvSpPr/>
          <p:nvPr/>
        </p:nvSpPr>
        <p:spPr>
          <a:xfrm>
            <a:off x="548640" y="1691640"/>
            <a:ext cx="3511296"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400"/>
              </a:spcAft>
            </a:pPr>
            <a:r>
              <a:rPr sz="2400" b="1" cap="none">
                <a:solidFill>
                  <a:schemeClr val="accent1"/>
                </a:solidFill>
                <a:latin typeface="+mj-lt"/>
              </a:rPr>
              <a:t>7</a:t>
            </a:r>
          </a:p>
          <a:p>
            <a:pPr algn="l">
              <a:spcAft>
                <a:spcPts val="400"/>
              </a:spcAft>
            </a:pPr>
            <a:r>
              <a:rPr sz="1500" b="1">
                <a:solidFill>
                  <a:schemeClr val="tx1"/>
                </a:solidFill>
              </a:rPr>
              <a:t>members at most</a:t>
            </a:r>
          </a:p>
          <a:p>
            <a:pPr algn="l"/>
            <a:r>
              <a:rPr sz="1400" b="0">
                <a:solidFill>
                  <a:schemeClr val="accent5"/>
                </a:solidFill>
              </a:rPr>
              <a:t>bounded by the 70-port cluster block</a:t>
            </a:r>
          </a:p>
        </p:txBody>
      </p:sp>
      <p:sp>
        <p:nvSpPr>
          <p:cNvPr id="9012" name="Card 156"/>
          <p:cNvSpPr/>
          <p:nvPr/>
        </p:nvSpPr>
        <p:spPr>
          <a:xfrm>
            <a:off x="4338828" y="1691640"/>
            <a:ext cx="3511296"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400"/>
              </a:spcAft>
            </a:pPr>
            <a:r>
              <a:rPr sz="2400" b="1" cap="none">
                <a:solidFill>
                  <a:schemeClr val="accent1"/>
                </a:solidFill>
                <a:latin typeface="+mj-lt"/>
              </a:rPr>
              <a:t>8,884 B</a:t>
            </a:r>
          </a:p>
          <a:p>
            <a:pPr algn="l">
              <a:spcAft>
                <a:spcPts val="400"/>
              </a:spcAft>
            </a:pPr>
            <a:r>
              <a:rPr sz="1500" b="1">
                <a:solidFill>
                  <a:schemeClr val="tx1"/>
                </a:solidFill>
              </a:rPr>
              <a:t>payload</a:t>
            </a:r>
          </a:p>
          <a:p>
            <a:pPr algn="l"/>
            <a:r>
              <a:rPr sz="1400" b="0">
                <a:solidFill>
                  <a:schemeClr val="accent5"/>
                </a:solidFill>
              </a:rPr>
              <a:t>larger payloads are split by the application</a:t>
            </a:r>
          </a:p>
        </p:txBody>
      </p:sp>
      <p:sp>
        <p:nvSpPr>
          <p:cNvPr id="9013" name="Card 157"/>
          <p:cNvSpPr/>
          <p:nvPr/>
        </p:nvSpPr>
        <p:spPr>
          <a:xfrm>
            <a:off x="8129016" y="1691640"/>
            <a:ext cx="3511296"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400"/>
              </a:spcAft>
            </a:pPr>
            <a:r>
              <a:rPr sz="2400" b="1" cap="none">
                <a:solidFill>
                  <a:schemeClr val="accent1"/>
                </a:solidFill>
                <a:latin typeface="+mj-lt"/>
              </a:rPr>
              <a:t>4</a:t>
            </a:r>
          </a:p>
          <a:p>
            <a:pPr algn="l">
              <a:spcAft>
                <a:spcPts val="400"/>
              </a:spcAft>
            </a:pPr>
            <a:r>
              <a:rPr sz="1500" b="1">
                <a:solidFill>
                  <a:schemeClr val="tx1"/>
                </a:solidFill>
              </a:rPr>
              <a:t>replays per member concurrently</a:t>
            </a:r>
          </a:p>
          <a:p>
            <a:pPr algn="l"/>
            <a:r>
              <a:rPr sz="1400" b="0">
                <a:solidFill>
                  <a:schemeClr val="accent5"/>
                </a:solidFill>
              </a:rPr>
              <a:t>1 while the recording is behind; more queue</a:t>
            </a:r>
          </a:p>
        </p:txBody>
      </p:sp>
      <p:sp>
        <p:nvSpPr>
          <p:cNvPr id="9014" name="Card 158"/>
          <p:cNvSpPr/>
          <p:nvPr/>
        </p:nvSpPr>
        <p:spPr>
          <a:xfrm>
            <a:off x="548640" y="4023360"/>
            <a:ext cx="3511296"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400"/>
              </a:spcAft>
            </a:pPr>
            <a:r>
              <a:rPr sz="2400" b="1" cap="none">
                <a:solidFill>
                  <a:schemeClr val="accent1"/>
                </a:solidFill>
                <a:latin typeface="+mj-lt"/>
              </a:rPr>
              <a:t>None</a:t>
            </a:r>
          </a:p>
          <a:p>
            <a:pPr algn="l">
              <a:spcAft>
                <a:spcPts val="400"/>
              </a:spcAft>
            </a:pPr>
            <a:r>
              <a:rPr sz="1500" b="1">
                <a:solidFill>
                  <a:schemeClr val="tx1"/>
                </a:solidFill>
              </a:rPr>
              <a:t>wire security</a:t>
            </a:r>
          </a:p>
          <a:p>
            <a:pPr algn="l"/>
            <a:r>
              <a:rPr sz="1400" b="0">
                <a:solidFill>
                  <a:schemeClr val="accent5"/>
                </a:solidFill>
              </a:rPr>
              <a:t>no authentication or encryption on the wire</a:t>
            </a:r>
          </a:p>
        </p:txBody>
      </p:sp>
      <p:sp>
        <p:nvSpPr>
          <p:cNvPr id="9015" name="Card 159"/>
          <p:cNvSpPr/>
          <p:nvPr/>
        </p:nvSpPr>
        <p:spPr>
          <a:xfrm>
            <a:off x="4338828" y="4023360"/>
            <a:ext cx="3511296"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400"/>
              </a:spcAft>
            </a:pPr>
            <a:r>
              <a:rPr sz="2400" b="1" cap="none">
                <a:solidFill>
                  <a:schemeClr val="accent1"/>
                </a:solidFill>
                <a:latin typeface="+mj-lt"/>
              </a:rPr>
              <a:t>Unmeasured</a:t>
            </a:r>
          </a:p>
          <a:p>
            <a:pPr algn="l">
              <a:spcAft>
                <a:spcPts val="400"/>
              </a:spcAft>
            </a:pPr>
            <a:r>
              <a:rPr sz="1500" b="1">
                <a:solidFill>
                  <a:schemeClr val="tx1"/>
                </a:solidFill>
              </a:rPr>
              <a:t>performance</a:t>
            </a:r>
          </a:p>
          <a:p>
            <a:pPr algn="l"/>
            <a:r>
              <a:rPr sz="1400" b="0">
                <a:solidFill>
                  <a:schemeClr val="accent5"/>
                </a:solidFill>
              </a:rPr>
              <a:t>no latency or throughput figures yet</a:t>
            </a:r>
          </a:p>
        </p:txBody>
      </p:sp>
      <p:sp>
        <p:nvSpPr>
          <p:cNvPr id="9016" name="Card 160"/>
          <p:cNvSpPr/>
          <p:nvPr/>
        </p:nvSpPr>
        <p:spPr>
          <a:xfrm>
            <a:off x="8129016" y="4023360"/>
            <a:ext cx="3511296"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400"/>
              </a:spcAft>
            </a:pPr>
            <a:r>
              <a:rPr sz="2400" b="1" cap="none">
                <a:solidFill>
                  <a:schemeClr val="accent1"/>
                </a:solidFill>
                <a:latin typeface="+mj-lt"/>
              </a:rPr>
              <a:t>All at once</a:t>
            </a:r>
          </a:p>
          <a:p>
            <a:pPr algn="l">
              <a:spcAft>
                <a:spcPts val="400"/>
              </a:spcAft>
            </a:pPr>
            <a:r>
              <a:rPr sz="1500" b="1">
                <a:solidFill>
                  <a:schemeClr val="tx1"/>
                </a:solidFill>
              </a:rPr>
              <a:t>framing protocol upgrade</a:t>
            </a:r>
          </a:p>
          <a:p>
            <a:pPr algn="l"/>
            <a:r>
              <a:rPr sz="1400" b="0">
                <a:solidFill>
                  <a:schemeClr val="accent5"/>
                </a:solidFill>
              </a:rPr>
              <a:t>seqeron's own protocol, on purged archives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Non-functional requirements</a:t>
            </a:r>
          </a:p>
        </p:txBody>
      </p:sp>
      <p:sp>
        <p:nvSpPr>
          <p:cNvPr id="3" name="Text 161"/>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What seqeron gives today, attribute by attribute</a:t>
            </a:r>
          </a:p>
        </p:txBody>
      </p:sp>
      <p:sp>
        <p:nvSpPr>
          <p:cNvPr id="9011" name="Slide number"/>
          <p:cNvSpPr txBox="1"/>
          <p:nvPr userDrawn="1"/>
        </p:nvSpPr>
        <p:spPr>
          <a:xfrm>
            <a:off x="10728655" y="6400800"/>
            <a:ext cx="914400" cy="274320"/>
          </a:xfrm>
          <a:prstGeom prst="rect">
            <a:avLst/>
          </a:prstGeom>
          <a:noFill/>
        </p:spPr>
        <p:txBody>
          <a:bodyPr wrap="none" lIns="0" tIns="0" rIns="0" bIns="0" anchor="ctr"/>
          <a:lstStyle/>
          <a:p>
            <a:pPr algn="r"/>
            <a:fld id="{c0058626-2c9c-4859-b290-b78d008ca5c7}" type="slidenum">
              <a:rPr lang="en-US" sz="1000" dirty="0">
                <a:solidFill>
                  <a:schemeClr val="accent5"/>
                </a:solidFill>
              </a:rPr>
              <a:t>11</a:t>
            </a:fld>
          </a:p>
        </p:txBody>
      </p:sp>
      <p:graphicFrame>
        <p:nvGraphicFramePr>
          <p:cNvPr id="9012" name="Table 162"/>
          <p:cNvGraphicFramePr>
            <a:graphicFrameLocks noGrp="1"/>
          </p:cNvGraphicFramePr>
          <p:nvPr/>
        </p:nvGraphicFramePr>
        <p:xfrm>
          <a:off x="548640" y="1645920"/>
          <a:ext cx="11091672" cy="4279392"/>
        </p:xfrm>
        <a:graphic>
          <a:graphicData uri="http://schemas.openxmlformats.org/drawingml/2006/table">
            <a:tbl>
              <a:tblPr firstRow="1">
                <a:tableStyleId>{5C22544A-7EE6-4342-B048-85BDC9FD1C3A}</a:tableStyleId>
              </a:tblPr>
              <a:tblGrid>
                <a:gridCol w="2743200"/>
                <a:gridCol w="8348472"/>
              </a:tblGrid>
              <a:tr h="475488">
                <a:tc>
                  <a:txBody>
                    <a:bodyPr/>
                    <a:lstStyle/>
                    <a:p>
                      <a:pPr algn="l"/>
                      <a:r>
                        <a:rPr sz="1300" b="1">
                          <a:solidFill>
                            <a:schemeClr val="bg1"/>
                          </a:solidFill>
                        </a:rPr>
                        <a:t>Attribute</a:t>
                      </a:r>
                    </a:p>
                  </a:txBody>
                  <a:tcPr marL="91440" marR="91440" marT="45720" marB="45720" anchor="ctr">
                    <a:solidFill>
                      <a:schemeClr val="accent1"/>
                    </a:solidFill>
                  </a:tcPr>
                </a:tc>
                <a:tc>
                  <a:txBody>
                    <a:bodyPr/>
                    <a:lstStyle/>
                    <a:p>
                      <a:pPr algn="l"/>
                      <a:r>
                        <a:rPr sz="1300" b="1">
                          <a:solidFill>
                            <a:schemeClr val="bg1"/>
                          </a:solidFill>
                        </a:rPr>
                        <a:t>Today</a:t>
                      </a:r>
                    </a:p>
                  </a:txBody>
                  <a:tcPr marL="91440" marR="91440" marT="45720" marB="45720" anchor="ctr">
                    <a:solidFill>
                      <a:schemeClr val="accent1"/>
                    </a:solidFill>
                  </a:tcPr>
                </a:tc>
              </a:tr>
              <a:tr h="475488">
                <a:tc>
                  <a:txBody>
                    <a:bodyPr/>
                    <a:lstStyle/>
                    <a:p>
                      <a:pPr algn="l"/>
                      <a:r>
                        <a:rPr sz="1400" b="1">
                          <a:solidFill>
                            <a:schemeClr val="tx1"/>
                          </a:solidFill>
                        </a:rPr>
                        <a:t>Latency</a:t>
                      </a:r>
                    </a:p>
                  </a:txBody>
                  <a:tcPr marL="91440" marR="91440" marT="45720" marB="45720" anchor="ctr">
                    <a:solidFill>
                      <a:schemeClr val="bg1"/>
                    </a:solidFill>
                  </a:tcPr>
                </a:tc>
                <a:tc>
                  <a:txBody>
                    <a:bodyPr/>
                    <a:lstStyle/>
                    <a:p>
                      <a:pPr algn="l"/>
                      <a:r>
                        <a:rPr sz="1400" b="0">
                          <a:solidFill>
                            <a:schemeClr val="tx1"/>
                          </a:solidFill>
                        </a:rPr>
                        <a:t>Ingress to the producer's own tap: not measured</a:t>
                      </a:r>
                    </a:p>
                  </a:txBody>
                  <a:tcPr marL="91440" marR="91440" marT="45720" marB="45720" anchor="ctr">
                    <a:solidFill>
                      <a:schemeClr val="bg1"/>
                    </a:solidFill>
                  </a:tcPr>
                </a:tc>
              </a:tr>
              <a:tr h="475488">
                <a:tc>
                  <a:txBody>
                    <a:bodyPr/>
                    <a:lstStyle/>
                    <a:p>
                      <a:pPr algn="l"/>
                      <a:r>
                        <a:rPr sz="1400" b="1">
                          <a:solidFill>
                            <a:schemeClr val="tx1"/>
                          </a:solidFill>
                        </a:rPr>
                        <a:t>Throughput</a:t>
                      </a:r>
                    </a:p>
                  </a:txBody>
                  <a:tcPr marL="91440" marR="91440" marT="45720" marB="45720" anchor="ctr">
                    <a:solidFill>
                      <a:schemeClr val="bg2"/>
                    </a:solidFill>
                  </a:tcPr>
                </a:tc>
                <a:tc>
                  <a:txBody>
                    <a:bodyPr/>
                    <a:lstStyle/>
                    <a:p>
                      <a:pPr algn="l"/>
                      <a:r>
                        <a:rPr sz="1400" b="0">
                          <a:solidFill>
                            <a:schemeClr val="tx1"/>
                          </a:solidFill>
                        </a:rPr>
                        <a:t>One stream: not measured; the target is the peak, an estimated 50,000/s at a Nordic close</a:t>
                      </a:r>
                    </a:p>
                  </a:txBody>
                  <a:tcPr marL="91440" marR="91440" marT="45720" marB="45720" anchor="ctr">
                    <a:solidFill>
                      <a:schemeClr val="bg2"/>
                    </a:solidFill>
                  </a:tcPr>
                </a:tc>
              </a:tr>
              <a:tr h="475488">
                <a:tc>
                  <a:txBody>
                    <a:bodyPr/>
                    <a:lstStyle/>
                    <a:p>
                      <a:pPr algn="l"/>
                      <a:r>
                        <a:rPr sz="1400" b="1">
                          <a:solidFill>
                            <a:schemeClr val="tx1"/>
                          </a:solidFill>
                        </a:rPr>
                        <a:t>Fault tolerance</a:t>
                      </a:r>
                    </a:p>
                  </a:txBody>
                  <a:tcPr marL="91440" marR="91440" marT="45720" marB="45720" anchor="ctr">
                    <a:solidFill>
                      <a:schemeClr val="bg1"/>
                    </a:solidFill>
                  </a:tcPr>
                </a:tc>
                <a:tc>
                  <a:txBody>
                    <a:bodyPr/>
                    <a:lstStyle/>
                    <a:p>
                      <a:pPr algn="l"/>
                      <a:r>
                        <a:rPr sz="1400" b="0">
                          <a:solidFill>
                            <a:schemeClr val="tx1"/>
                          </a:solidFill>
                        </a:rPr>
                        <a:t>A minority of members: 1 of 3, 2 of 5, 3 of 7</a:t>
                      </a:r>
                    </a:p>
                  </a:txBody>
                  <a:tcPr marL="91440" marR="91440" marT="45720" marB="45720" anchor="ctr">
                    <a:solidFill>
                      <a:schemeClr val="bg1"/>
                    </a:solidFill>
                  </a:tcPr>
                </a:tc>
              </a:tr>
              <a:tr h="475488">
                <a:tc>
                  <a:txBody>
                    <a:bodyPr/>
                    <a:lstStyle/>
                    <a:p>
                      <a:pPr algn="l"/>
                      <a:r>
                        <a:rPr sz="1400" b="1">
                          <a:solidFill>
                            <a:schemeClr val="tx1"/>
                          </a:solidFill>
                        </a:rPr>
                        <a:t>Failover</a:t>
                      </a:r>
                    </a:p>
                  </a:txBody>
                  <a:tcPr marL="91440" marR="91440" marT="45720" marB="45720" anchor="ctr">
                    <a:solidFill>
                      <a:schemeClr val="bg2"/>
                    </a:solidFill>
                  </a:tcPr>
                </a:tc>
                <a:tc>
                  <a:txBody>
                    <a:bodyPr/>
                    <a:lstStyle/>
                    <a:p>
                      <a:pPr algn="l"/>
                      <a:r>
                        <a:rPr sz="1400" b="0">
                          <a:solidFill>
                            <a:schemeClr val="tx1"/>
                          </a:solidFill>
                        </a:rPr>
                        <a:t>Election after 200 ms without a leader heartbeat; duration not measured</a:t>
                      </a:r>
                    </a:p>
                  </a:txBody>
                  <a:tcPr marL="91440" marR="91440" marT="45720" marB="45720" anchor="ctr">
                    <a:solidFill>
                      <a:schemeClr val="bg2"/>
                    </a:solidFill>
                  </a:tcPr>
                </a:tc>
              </a:tr>
              <a:tr h="475488">
                <a:tc>
                  <a:txBody>
                    <a:bodyPr/>
                    <a:lstStyle/>
                    <a:p>
                      <a:pPr algn="l"/>
                      <a:r>
                        <a:rPr sz="1400" b="1">
                          <a:solidFill>
                            <a:schemeClr val="tx1"/>
                          </a:solidFill>
                        </a:rPr>
                        <a:t>Data loss</a:t>
                      </a:r>
                    </a:p>
                  </a:txBody>
                  <a:tcPr marL="91440" marR="91440" marT="45720" marB="45720" anchor="ctr">
                    <a:solidFill>
                      <a:schemeClr val="bg1"/>
                    </a:solidFill>
                  </a:tcPr>
                </a:tc>
                <a:tc>
                  <a:txBody>
                    <a:bodyPr/>
                    <a:lstStyle/>
                    <a:p>
                      <a:pPr algn="l"/>
                      <a:r>
                        <a:rPr sz="1400" b="0">
                          <a:solidFill>
                            <a:schemeClr val="tx1"/>
                          </a:solidFill>
                        </a:rPr>
                        <a:t>None for a minority's crash; a majority's power loss can lose committed messages</a:t>
                      </a:r>
                    </a:p>
                  </a:txBody>
                  <a:tcPr marL="91440" marR="91440" marT="45720" marB="45720" anchor="ctr">
                    <a:solidFill>
                      <a:schemeClr val="bg1"/>
                    </a:solidFill>
                  </a:tcPr>
                </a:tc>
              </a:tr>
              <a:tr h="475488">
                <a:tc>
                  <a:txBody>
                    <a:bodyPr/>
                    <a:lstStyle/>
                    <a:p>
                      <a:pPr algn="l"/>
                      <a:r>
                        <a:rPr sz="1400" b="1">
                          <a:solidFill>
                            <a:schemeClr val="tx1"/>
                          </a:solidFill>
                        </a:rPr>
                        <a:t>Member restart</a:t>
                      </a:r>
                    </a:p>
                  </a:txBody>
                  <a:tcPr marL="91440" marR="91440" marT="45720" marB="45720" anchor="ctr">
                    <a:solidFill>
                      <a:schemeClr val="bg2"/>
                    </a:solidFill>
                  </a:tcPr>
                </a:tc>
                <a:tc>
                  <a:txBody>
                    <a:bodyPr/>
                    <a:lstStyle/>
                    <a:p>
                      <a:pPr algn="l"/>
                      <a:r>
                        <a:rPr sz="1400" b="0">
                          <a:solidFill>
                            <a:schemeClr val="tx1"/>
                          </a:solidFill>
                        </a:rPr>
                        <a:t>Full-log replay: grows with uptime</a:t>
                      </a:r>
                    </a:p>
                  </a:txBody>
                  <a:tcPr marL="91440" marR="91440" marT="45720" marB="45720" anchor="ctr">
                    <a:solidFill>
                      <a:schemeClr val="bg2"/>
                    </a:solidFill>
                  </a:tcPr>
                </a:tc>
              </a:tr>
              <a:tr h="475488">
                <a:tc>
                  <a:txBody>
                    <a:bodyPr/>
                    <a:lstStyle/>
                    <a:p>
                      <a:pPr algn="l"/>
                      <a:r>
                        <a:rPr sz="1400" b="1">
                          <a:solidFill>
                            <a:schemeClr val="tx1"/>
                          </a:solidFill>
                        </a:rPr>
                        <a:t>Client restart</a:t>
                      </a:r>
                    </a:p>
                  </a:txBody>
                  <a:tcPr marL="91440" marR="91440" marT="45720" marB="45720" anchor="ctr">
                    <a:solidFill>
                      <a:schemeClr val="bg1"/>
                    </a:solidFill>
                  </a:tcPr>
                </a:tc>
                <a:tc>
                  <a:txBody>
                    <a:bodyPr/>
                    <a:lstStyle/>
                    <a:p>
                      <a:pPr algn="l"/>
                      <a:r>
                        <a:rPr sz="1400" b="0">
                          <a:solidFill>
                            <a:schemeClr val="tx1"/>
                          </a:solidFill>
                        </a:rPr>
                        <a:t>Newest confirmed snapshot, then the tail; else the full log</a:t>
                      </a:r>
                    </a:p>
                  </a:txBody>
                  <a:tcPr marL="91440" marR="91440" marT="45720" marB="45720" anchor="ctr">
                    <a:solidFill>
                      <a:schemeClr val="bg1"/>
                    </a:solidFill>
                  </a:tcPr>
                </a:tc>
              </a:tr>
              <a:tr h="475488">
                <a:tc>
                  <a:txBody>
                    <a:bodyPr/>
                    <a:lstStyle/>
                    <a:p>
                      <a:pPr algn="l"/>
                      <a:r>
                        <a:rPr sz="1400" b="1">
                          <a:solidFill>
                            <a:schemeClr val="tx1"/>
                          </a:solidFill>
                        </a:rPr>
                        <a:t>Retention</a:t>
                      </a:r>
                    </a:p>
                  </a:txBody>
                  <a:tcPr marL="91440" marR="91440" marT="45720" marB="45720" anchor="ctr">
                    <a:solidFill>
                      <a:schemeClr val="bg2"/>
                    </a:solidFill>
                  </a:tcPr>
                </a:tc>
                <a:tc>
                  <a:txBody>
                    <a:bodyPr/>
                    <a:lstStyle/>
                    <a:p>
                      <a:pPr algn="l"/>
                      <a:r>
                        <a:rPr sz="1400" b="0">
                          <a:solidFill>
                            <a:schemeClr val="tx1"/>
                          </a:solidFill>
                        </a:rPr>
                        <a:t>Everything, on every member; truncation designed, not built</a:t>
                      </a:r>
                    </a:p>
                  </a:txBody>
                  <a:tcPr marL="91440" marR="91440" marT="45720" marB="45720" anchor="ctr">
                    <a:solidFill>
                      <a:schemeClr val="bg2"/>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Sizing the archive</a:t>
            </a:r>
          </a:p>
        </p:txBody>
      </p:sp>
      <p:sp>
        <p:nvSpPr>
          <p:cNvPr id="3" name="Text 163"/>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Every member records the Raft log and the tap, and keeps both</a:t>
            </a:r>
          </a:p>
        </p:txBody>
      </p:sp>
      <p:sp>
        <p:nvSpPr>
          <p:cNvPr id="9012" name="Slide number"/>
          <p:cNvSpPr txBox="1"/>
          <p:nvPr userDrawn="1"/>
        </p:nvSpPr>
        <p:spPr>
          <a:xfrm>
            <a:off x="10728655" y="6400800"/>
            <a:ext cx="914400" cy="274320"/>
          </a:xfrm>
          <a:prstGeom prst="rect">
            <a:avLst/>
          </a:prstGeom>
          <a:noFill/>
        </p:spPr>
        <p:txBody>
          <a:bodyPr wrap="none" lIns="0" tIns="0" rIns="0" bIns="0" anchor="ctr"/>
          <a:lstStyle/>
          <a:p>
            <a:pPr algn="r"/>
            <a:fld id="{517d3795-8dc8-4bfe-91b7-eca5f658c6f4}" type="slidenum">
              <a:rPr lang="en-US" sz="1000" dirty="0">
                <a:solidFill>
                  <a:schemeClr val="accent5"/>
                </a:solidFill>
              </a:rPr>
              <a:t>12</a:t>
            </a:fld>
          </a:p>
        </p:txBody>
      </p:sp>
      <p:sp>
        <p:nvSpPr>
          <p:cNvPr id="9013" name="Card 164"/>
          <p:cNvSpPr/>
          <p:nvPr/>
        </p:nvSpPr>
        <p:spPr>
          <a:xfrm>
            <a:off x="548640" y="1645920"/>
            <a:ext cx="5394960" cy="2286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1000"/>
              </a:spcAft>
            </a:pPr>
            <a:r>
              <a:rPr sz="1800" b="1" cap="none">
                <a:solidFill>
                  <a:schemeClr val="tx1"/>
                </a:solidFill>
                <a:latin typeface="+mj-lt"/>
              </a:rPr>
              <a:t>Per message, on every member</a:t>
            </a:r>
          </a:p>
          <a:p>
            <a:pPr algn="l">
              <a:spcAft>
                <a:spcPts val="600"/>
              </a:spcAft>
            </a:pPr>
            <a:r>
              <a:rPr sz="1600" b="1">
                <a:solidFill>
                  <a:schemeClr val="tx1"/>
                </a:solidFill>
              </a:rPr>
              <a:t>Raft log entry   </a:t>
            </a:r>
            <a:r>
              <a:rPr sz="1600" b="1">
                <a:solidFill>
                  <a:schemeClr val="accent1"/>
                </a:solidFill>
              </a:rPr>
              <a:t>align32(92 + payload)</a:t>
            </a:r>
          </a:p>
          <a:p>
            <a:pPr algn="l">
              <a:spcAft>
                <a:spcPts val="1000"/>
              </a:spcAft>
            </a:pPr>
            <a:r>
              <a:rPr sz="1600" b="1">
                <a:solidFill>
                  <a:schemeClr val="tx1"/>
                </a:solidFill>
              </a:rPr>
              <a:t>Tap frame   </a:t>
            </a:r>
            <a:r>
              <a:rPr sz="1600" b="1">
                <a:solidFill>
                  <a:schemeClr val="accent1"/>
                </a:solidFill>
              </a:rPr>
              <a:t>align32(76 + payload)</a:t>
            </a:r>
          </a:p>
          <a:p>
            <a:pPr algn="l"/>
            <a:r>
              <a:rPr sz="1300" b="0">
                <a:solidFill>
                  <a:schemeClr val="accent5"/>
                </a:solidFill>
              </a:rPr>
              <a:t>Aeron frame header 32 B · cluster session header 32 B · seqeron envelope 28 B in, 44 B out</a:t>
            </a:r>
          </a:p>
        </p:txBody>
      </p:sp>
      <p:sp>
        <p:nvSpPr>
          <p:cNvPr id="9014" name="Card 165"/>
          <p:cNvSpPr/>
          <p:nvPr/>
        </p:nvSpPr>
        <p:spPr>
          <a:xfrm>
            <a:off x="6245352" y="1645920"/>
            <a:ext cx="5394960" cy="2286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1000"/>
              </a:spcAft>
            </a:pPr>
            <a:r>
              <a:rPr sz="1800" b="1" cap="none">
                <a:solidFill>
                  <a:schemeClr val="tx1"/>
                </a:solidFill>
                <a:latin typeface="+mj-lt"/>
              </a:rPr>
              <a:t>Illustration: INET Nordic equities</a:t>
            </a:r>
          </a:p>
          <a:p>
            <a:pPr algn="l">
              <a:spcAft>
                <a:spcPts val="400"/>
              </a:spcAft>
            </a:pPr>
            <a:r>
              <a:rPr sz="2600" b="1" cap="none">
                <a:solidFill>
                  <a:schemeClr val="accent1"/>
                </a:solidFill>
                <a:latin typeface="+mj-lt"/>
              </a:rPr>
              <a:t>25 M</a:t>
            </a:r>
            <a:r>
              <a:rPr sz="1400" b="0">
                <a:solidFill>
                  <a:schemeClr val="tx1"/>
                </a:solidFill>
              </a:rPr>
              <a:t>  messages a day at 32 B: 256 B each</a:t>
            </a:r>
          </a:p>
          <a:p>
            <a:pPr algn="l">
              <a:spcAft>
                <a:spcPts val="400"/>
              </a:spcAft>
            </a:pPr>
            <a:r>
              <a:rPr sz="2600" b="1" cap="none">
                <a:solidFill>
                  <a:schemeClr val="accent1"/>
                </a:solidFill>
                <a:latin typeface="+mj-lt"/>
              </a:rPr>
              <a:t>6.4 GB</a:t>
            </a:r>
            <a:r>
              <a:rPr sz="1400" b="0">
                <a:solidFill>
                  <a:schemeClr val="tx1"/>
                </a:solidFill>
              </a:rPr>
              <a:t>  a day on each member; 1.6 TB a year</a:t>
            </a:r>
          </a:p>
          <a:p>
            <a:pPr algn="l"/>
            <a:r>
              <a:rPr sz="1300" b="0">
                <a:solidFill>
                  <a:schemeClr val="accent5"/>
                </a:solidFill>
              </a:rPr>
              <a:t>600k trades a day × 40 messages; 32 B from ITCH and OUCH</a:t>
            </a:r>
          </a:p>
        </p:txBody>
      </p:sp>
      <p:sp>
        <p:nvSpPr>
          <p:cNvPr id="9015" name="Card 166"/>
          <p:cNvSpPr/>
          <p:nvPr/>
        </p:nvSpPr>
        <p:spPr>
          <a:xfrm>
            <a:off x="548640" y="4160520"/>
            <a:ext cx="3511296" cy="146304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64592" bIns="164592"/>
          <a:lstStyle/>
          <a:p>
            <a:pPr algn="l">
              <a:spcAft>
                <a:spcPts val="400"/>
              </a:spcAft>
            </a:pPr>
            <a:r>
              <a:rPr sz="1500" b="1">
                <a:solidFill>
                  <a:schemeClr val="tx1"/>
                </a:solidFill>
              </a:rPr>
              <a:t>Each restart adds a copy</a:t>
            </a:r>
          </a:p>
          <a:p>
            <a:pPr algn="l"/>
            <a:r>
              <a:rPr sz="1300" b="0">
                <a:solidFill>
                  <a:schemeClr val="tx1"/>
                </a:solidFill>
              </a:rPr>
              <a:t>A member re-records the tap from globalSeqNo 1; earlier recordings stay on disk, unread.</a:t>
            </a:r>
          </a:p>
        </p:txBody>
      </p:sp>
      <p:sp>
        <p:nvSpPr>
          <p:cNvPr id="9016" name="Card 167"/>
          <p:cNvSpPr/>
          <p:nvPr/>
        </p:nvSpPr>
        <p:spPr>
          <a:xfrm>
            <a:off x="4338828" y="4160520"/>
            <a:ext cx="3511296" cy="146304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64592" bIns="164592"/>
          <a:lstStyle/>
          <a:p>
            <a:pPr algn="l">
              <a:spcAft>
                <a:spcPts val="400"/>
              </a:spcAft>
            </a:pPr>
            <a:r>
              <a:rPr sz="1500" b="1">
                <a:solidFill>
                  <a:schemeClr val="tx1"/>
                </a:solidFill>
              </a:rPr>
              <a:t>Restart time</a:t>
            </a:r>
          </a:p>
          <a:p>
            <a:pPr algn="l"/>
            <a:r>
              <a:rPr sz="1300" b="0">
                <a:solidFill>
                  <a:schemeClr val="tx1"/>
                </a:solidFill>
              </a:rPr>
              <a:t>Raft log ÷ replay rate; the replay rate is not yet measured.</a:t>
            </a:r>
          </a:p>
        </p:txBody>
      </p:sp>
      <p:sp>
        <p:nvSpPr>
          <p:cNvPr id="9017" name="Card 168"/>
          <p:cNvSpPr/>
          <p:nvPr/>
        </p:nvSpPr>
        <p:spPr>
          <a:xfrm>
            <a:off x="8129016" y="4160520"/>
            <a:ext cx="3511296" cy="146304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64592" bIns="164592"/>
          <a:lstStyle/>
          <a:p>
            <a:pPr algn="l">
              <a:spcAft>
                <a:spcPts val="400"/>
              </a:spcAft>
            </a:pPr>
            <a:r>
              <a:rPr sz="1500" b="1">
                <a:solidFill>
                  <a:schemeClr val="tx1"/>
                </a:solidFill>
              </a:rPr>
              <a:t>Bounded later</a:t>
            </a:r>
          </a:p>
          <a:p>
            <a:pPr algn="l"/>
            <a:r>
              <a:rPr sz="1300" b="0">
                <a:solidFill>
                  <a:schemeClr val="tx1"/>
                </a:solidFill>
              </a:rPr>
              <a:t>Cluster snapshots and truncation: designed (snapshot.md §10), not built.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Deployment and disaster recovery</a:t>
            </a:r>
          </a:p>
        </p:txBody>
      </p:sp>
      <p:sp>
        <p:nvSpPr>
          <p:cNvPr id="3" name="Text 169"/>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What a host needs, where members go, and what is not yet designed</a:t>
            </a:r>
          </a:p>
        </p:txBody>
      </p:sp>
      <p:sp>
        <p:nvSpPr>
          <p:cNvPr id="9013" name="Slide number"/>
          <p:cNvSpPr txBox="1"/>
          <p:nvPr userDrawn="1"/>
        </p:nvSpPr>
        <p:spPr>
          <a:xfrm>
            <a:off x="10728655" y="6400800"/>
            <a:ext cx="914400" cy="274320"/>
          </a:xfrm>
          <a:prstGeom prst="rect">
            <a:avLst/>
          </a:prstGeom>
          <a:noFill/>
        </p:spPr>
        <p:txBody>
          <a:bodyPr wrap="none" lIns="0" tIns="0" rIns="0" bIns="0" anchor="ctr"/>
          <a:lstStyle/>
          <a:p>
            <a:pPr algn="r"/>
            <a:fld id="{902fe5c8-5353-46bb-86be-702848d0bc87}" type="slidenum">
              <a:rPr lang="en-US" sz="1000" dirty="0">
                <a:solidFill>
                  <a:schemeClr val="accent5"/>
                </a:solidFill>
              </a:rPr>
              <a:t>13</a:t>
            </a:fld>
          </a:p>
        </p:txBody>
      </p:sp>
      <p:sp>
        <p:nvSpPr>
          <p:cNvPr id="9014" name="Card 170"/>
          <p:cNvSpPr/>
          <p:nvPr/>
        </p:nvSpPr>
        <p:spPr>
          <a:xfrm>
            <a:off x="548640" y="1691640"/>
            <a:ext cx="3511296" cy="3291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1000"/>
              </a:spcAft>
            </a:pPr>
            <a:r>
              <a:rPr sz="1800" b="1" cap="none">
                <a:solidFill>
                  <a:schemeClr val="tx1"/>
                </a:solidFill>
                <a:latin typeface="+mj-lt"/>
              </a:rPr>
              <a:t>A member host</a:t>
            </a:r>
          </a:p>
          <a:p>
            <a:pPr algn="l" marL="228600" indent="-228600">
              <a:spcAft>
                <a:spcPts val="800"/>
              </a:spcAft>
              <a:buClr>
                <a:schemeClr val="accent1"/>
              </a:buClr>
              <a:buChar char="•"/>
            </a:pPr>
            <a:r>
              <a:rPr sz="1400" b="0">
                <a:solidFill>
                  <a:schemeClr val="tx1"/>
                </a:solidFill>
              </a:rPr>
              <a:t>One JVM (JDK 21): consensus, sequencer, driver, archive, Replayer</a:t>
            </a:r>
          </a:p>
          <a:p>
            <a:pPr algn="l" marL="228600" indent="-228600">
              <a:spcAft>
                <a:spcPts val="800"/>
              </a:spcAft>
              <a:buClr>
                <a:schemeClr val="accent1"/>
              </a:buClr>
              <a:buChar char="•"/>
            </a:pPr>
            <a:r>
              <a:rPr sz="1400" b="0">
                <a:solidFill>
                  <a:schemeClr val="tx1"/>
                </a:solidFill>
              </a:rPr>
              <a:t>Archive and Raft log on local disk; Aeron directory on tmpfs</a:t>
            </a:r>
          </a:p>
          <a:p>
            <a:pPr algn="l" marL="228600" indent="-228600">
              <a:spcAft>
                <a:spcPts val="800"/>
              </a:spcAft>
              <a:buClr>
                <a:schemeClr val="accent1"/>
              </a:buClr>
              <a:buChar char="•"/>
            </a:pPr>
            <a:r>
              <a:rPr sz="1400" b="0">
                <a:solidFill>
                  <a:schemeClr val="tx1"/>
                </a:solidFill>
              </a:rPr>
              <a:t>A 70-port block from 9300; metrics on 9400 + member id</a:t>
            </a:r>
          </a:p>
          <a:p>
            <a:pPr algn="l" marL="228600" indent="-228600">
              <a:spcAft>
                <a:spcPts val="800"/>
              </a:spcAft>
              <a:buClr>
                <a:schemeClr val="accent1"/>
              </a:buClr>
              <a:buChar char="•"/>
            </a:pPr>
            <a:r>
              <a:rPr sz="1400" b="0">
                <a:solidFill>
                  <a:schemeClr val="tx1"/>
                </a:solidFill>
              </a:rPr>
              <a:t>Clients beside a member, or on a gateway host that relays its tap</a:t>
            </a:r>
          </a:p>
        </p:txBody>
      </p:sp>
      <p:sp>
        <p:nvSpPr>
          <p:cNvPr id="9015" name="Card 171"/>
          <p:cNvSpPr/>
          <p:nvPr/>
        </p:nvSpPr>
        <p:spPr>
          <a:xfrm>
            <a:off x="4338828" y="1691640"/>
            <a:ext cx="3511296" cy="3291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1000"/>
              </a:spcAft>
            </a:pPr>
            <a:r>
              <a:rPr sz="1800" b="1" cap="none">
                <a:solidFill>
                  <a:schemeClr val="tx1"/>
                </a:solidFill>
                <a:latin typeface="+mj-lt"/>
              </a:rPr>
              <a:t>Placement</a:t>
            </a:r>
          </a:p>
          <a:p>
            <a:pPr algn="l" marL="228600" indent="-228600">
              <a:spcAft>
                <a:spcPts val="800"/>
              </a:spcAft>
              <a:buClr>
                <a:schemeClr val="accent1"/>
              </a:buClr>
              <a:buChar char="•"/>
            </a:pPr>
            <a:r>
              <a:rPr sz="1400" b="0">
                <a:solidFill>
                  <a:schemeClr val="tx1"/>
                </a:solidFill>
              </a:rPr>
              <a:t>Each member in its own failure domain: rack, power, zone</a:t>
            </a:r>
          </a:p>
          <a:p>
            <a:pPr algn="l" marL="228600" indent="-228600">
              <a:spcAft>
                <a:spcPts val="800"/>
              </a:spcAft>
              <a:buClr>
                <a:schemeClr val="accent1"/>
              </a:buClr>
              <a:buChar char="•"/>
            </a:pPr>
            <a:r>
              <a:rPr sz="1400" b="0">
                <a:solidFill>
                  <a:schemeClr val="tx1"/>
                </a:solidFill>
              </a:rPr>
              <a:t>A commit waits for a majority: the round trip between members is on every message</a:t>
            </a:r>
          </a:p>
          <a:p>
            <a:pPr algn="l" marL="228600" indent="-228600">
              <a:spcAft>
                <a:spcPts val="800"/>
              </a:spcAft>
              <a:buClr>
                <a:schemeClr val="accent1"/>
              </a:buClr>
              <a:buChar char="•"/>
            </a:pPr>
            <a:r>
              <a:rPr sz="1400" b="0">
                <a:solidFill>
                  <a:schemeClr val="tx1"/>
                </a:solidFill>
              </a:rPr>
              <a:t>Separate power keeps committed messages safe without fsync</a:t>
            </a:r>
          </a:p>
        </p:txBody>
      </p:sp>
      <p:sp>
        <p:nvSpPr>
          <p:cNvPr id="9016" name="Card 172"/>
          <p:cNvSpPr/>
          <p:nvPr/>
        </p:nvSpPr>
        <p:spPr>
          <a:xfrm>
            <a:off x="8129016" y="1691640"/>
            <a:ext cx="3511296" cy="3291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1000"/>
              </a:spcAft>
            </a:pPr>
            <a:r>
              <a:rPr sz="1800" b="1" cap="none">
                <a:solidFill>
                  <a:schemeClr val="accent2"/>
                </a:solidFill>
                <a:latin typeface="+mj-lt"/>
              </a:rPr>
              <a:t>Disaster recovery</a:t>
            </a:r>
          </a:p>
          <a:p>
            <a:pPr algn="l" marL="228600" indent="-228600">
              <a:spcAft>
                <a:spcPts val="800"/>
              </a:spcAft>
              <a:buClr>
                <a:schemeClr val="accent1"/>
              </a:buClr>
              <a:buChar char="•"/>
            </a:pPr>
            <a:r>
              <a:rPr sz="1400" b="0">
                <a:solidFill>
                  <a:schemeClr val="tx1"/>
                </a:solidFill>
              </a:rPr>
              <a:t>Archives copied off site: Aeron Cluster Backup</a:t>
            </a:r>
          </a:p>
          <a:p>
            <a:pPr algn="l" marL="228600" indent="-228600">
              <a:spcAft>
                <a:spcPts val="800"/>
              </a:spcAft>
              <a:buClr>
                <a:schemeClr val="accent1"/>
              </a:buClr>
              <a:buChar char="•"/>
            </a:pPr>
            <a:r>
              <a:rPr sz="1400" b="1">
                <a:solidFill>
                  <a:schemeClr val="tx1"/>
                </a:solidFill>
              </a:rPr>
              <a:t>Open: </a:t>
            </a:r>
            <a:r>
              <a:rPr sz="1400" b="0">
                <a:solidFill>
                  <a:schemeClr val="tx1"/>
                </a:solidFill>
              </a:rPr>
              <a:t>a second site, stretched cluster or standby</a:t>
            </a:r>
          </a:p>
          <a:p>
            <a:pPr algn="l" marL="228600" indent="-228600">
              <a:spcAft>
                <a:spcPts val="800"/>
              </a:spcAft>
              <a:buClr>
                <a:schemeClr val="accent1"/>
              </a:buClr>
              <a:buChar char="•"/>
            </a:pPr>
            <a:r>
              <a:rPr sz="1400" b="1">
                <a:solidFill>
                  <a:schemeClr val="tx1"/>
                </a:solidFill>
              </a:rPr>
              <a:t>Open: </a:t>
            </a:r>
            <a:r>
              <a:rPr sz="1400" b="0">
                <a:solidFill>
                  <a:schemeClr val="tx1"/>
                </a:solidFill>
              </a:rPr>
              <a:t>how a restore is verified</a:t>
            </a:r>
          </a:p>
          <a:p>
            <a:pPr algn="l" marL="228600" indent="-228600">
              <a:spcAft>
                <a:spcPts val="800"/>
              </a:spcAft>
              <a:buClr>
                <a:schemeClr val="accent1"/>
              </a:buClr>
              <a:buChar char="•"/>
            </a:pPr>
            <a:r>
              <a:rPr sz="1400" b="1">
                <a:solidFill>
                  <a:schemeClr val="tx1"/>
                </a:solidFill>
              </a:rPr>
              <a:t>Open: </a:t>
            </a:r>
            <a:r>
              <a:rPr sz="1400" b="0">
                <a:solidFill>
                  <a:schemeClr val="tx1"/>
                </a:solidFill>
              </a:rPr>
              <a:t>recovery time and data loss for a site loss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Security posture</a:t>
            </a:r>
          </a:p>
        </p:txBody>
      </p:sp>
      <p:sp>
        <p:nvSpPr>
          <p:cNvPr id="3" name="Text 173"/>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Crash faults, not malicious ones: the network is the access control</a:t>
            </a:r>
          </a:p>
        </p:txBody>
      </p:sp>
      <p:sp>
        <p:nvSpPr>
          <p:cNvPr id="9014" name="Slide number"/>
          <p:cNvSpPr txBox="1"/>
          <p:nvPr userDrawn="1"/>
        </p:nvSpPr>
        <p:spPr>
          <a:xfrm>
            <a:off x="10728655" y="6400800"/>
            <a:ext cx="914400" cy="274320"/>
          </a:xfrm>
          <a:prstGeom prst="rect">
            <a:avLst/>
          </a:prstGeom>
          <a:noFill/>
        </p:spPr>
        <p:txBody>
          <a:bodyPr wrap="none" lIns="0" tIns="0" rIns="0" bIns="0" anchor="ctr"/>
          <a:lstStyle/>
          <a:p>
            <a:pPr algn="r"/>
            <a:fld id="{49f2bae3-4ca5-4992-8cbf-d060ffa33bf3}" type="slidenum">
              <a:rPr lang="en-US" sz="1000" dirty="0">
                <a:solidFill>
                  <a:schemeClr val="accent5"/>
                </a:solidFill>
              </a:rPr>
              <a:t>14</a:t>
            </a:fld>
          </a:p>
        </p:txBody>
      </p:sp>
      <p:graphicFrame>
        <p:nvGraphicFramePr>
          <p:cNvPr id="9015" name="Table 174"/>
          <p:cNvGraphicFramePr>
            <a:graphicFrameLocks noGrp="1"/>
          </p:cNvGraphicFramePr>
          <p:nvPr/>
        </p:nvGraphicFramePr>
        <p:xfrm>
          <a:off x="548640" y="1645920"/>
          <a:ext cx="11091672" cy="3803904"/>
        </p:xfrm>
        <a:graphic>
          <a:graphicData uri="http://schemas.openxmlformats.org/drawingml/2006/table">
            <a:tbl>
              <a:tblPr firstRow="1">
                <a:tableStyleId>{5C22544A-7EE6-4342-B048-85BDC9FD1C3A}</a:tableStyleId>
              </a:tblPr>
              <a:tblGrid>
                <a:gridCol w="2286000"/>
                <a:gridCol w="4663440"/>
                <a:gridCol w="4142232"/>
              </a:tblGrid>
              <a:tr h="475488">
                <a:tc>
                  <a:txBody>
                    <a:bodyPr/>
                    <a:lstStyle/>
                    <a:p>
                      <a:pPr algn="l"/>
                      <a:r>
                        <a:rPr sz="1200" b="1">
                          <a:solidFill>
                            <a:schemeClr val="bg1"/>
                          </a:solidFill>
                        </a:rPr>
                        <a:t>Surface</a:t>
                      </a:r>
                    </a:p>
                  </a:txBody>
                  <a:tcPr marL="91440" marR="91440" marT="45720" marB="45720" anchor="ctr">
                    <a:solidFill>
                      <a:schemeClr val="accent1"/>
                    </a:solidFill>
                  </a:tcPr>
                </a:tc>
                <a:tc>
                  <a:txBody>
                    <a:bodyPr/>
                    <a:lstStyle/>
                    <a:p>
                      <a:pPr algn="l"/>
                      <a:r>
                        <a:rPr sz="1200" b="1">
                          <a:solidFill>
                            <a:schemeClr val="bg1"/>
                          </a:solidFill>
                        </a:rPr>
                        <a:t>Today</a:t>
                      </a:r>
                    </a:p>
                  </a:txBody>
                  <a:tcPr marL="91440" marR="91440" marT="45720" marB="45720" anchor="ctr">
                    <a:solidFill>
                      <a:schemeClr val="accent1"/>
                    </a:solidFill>
                  </a:tcPr>
                </a:tc>
                <a:tc>
                  <a:txBody>
                    <a:bodyPr/>
                    <a:lstStyle/>
                    <a:p>
                      <a:pPr algn="l"/>
                      <a:r>
                        <a:rPr sz="1200" b="1">
                          <a:solidFill>
                            <a:schemeClr val="bg1"/>
                          </a:solidFill>
                        </a:rPr>
                        <a:t>Required of the deployment</a:t>
                      </a:r>
                    </a:p>
                  </a:txBody>
                  <a:tcPr marL="91440" marR="91440" marT="45720" marB="45720" anchor="ctr">
                    <a:solidFill>
                      <a:schemeClr val="accent1"/>
                    </a:solidFill>
                  </a:tcPr>
                </a:tc>
              </a:tr>
              <a:tr h="475488">
                <a:tc>
                  <a:txBody>
                    <a:bodyPr/>
                    <a:lstStyle/>
                    <a:p>
                      <a:pPr algn="l"/>
                      <a:r>
                        <a:rPr sz="1300" b="1">
                          <a:solidFill>
                            <a:schemeClr val="tx1"/>
                          </a:solidFill>
                        </a:rPr>
                        <a:t>Ingress</a:t>
                      </a:r>
                    </a:p>
                  </a:txBody>
                  <a:tcPr marL="91440" marR="91440" marT="45720" marB="45720" anchor="ctr">
                    <a:solidFill>
                      <a:schemeClr val="bg1"/>
                    </a:solidFill>
                  </a:tcPr>
                </a:tc>
                <a:tc>
                  <a:txBody>
                    <a:bodyPr/>
                    <a:lstStyle/>
                    <a:p>
                      <a:pPr algn="l"/>
                      <a:r>
                        <a:rPr sz="1300" b="0">
                          <a:solidFill>
                            <a:schemeClr val="tx1"/>
                          </a:solidFill>
                        </a:rPr>
                        <a:t>Anyone who reaches it can submit, operator events included</a:t>
                      </a:r>
                    </a:p>
                  </a:txBody>
                  <a:tcPr marL="91440" marR="91440" marT="45720" marB="45720" anchor="ctr">
                    <a:solidFill>
                      <a:schemeClr val="bg1"/>
                    </a:solidFill>
                  </a:tcPr>
                </a:tc>
                <a:tc>
                  <a:txBody>
                    <a:bodyPr/>
                    <a:lstStyle/>
                    <a:p>
                      <a:pPr algn="l"/>
                      <a:r>
                        <a:rPr sz="1300" b="0">
                          <a:solidFill>
                            <a:schemeClr val="tx1"/>
                          </a:solidFill>
                        </a:rPr>
                        <a:t>Only producer hosts reach the ports</a:t>
                      </a:r>
                    </a:p>
                  </a:txBody>
                  <a:tcPr marL="91440" marR="91440" marT="45720" marB="45720" anchor="ctr">
                    <a:solidFill>
                      <a:schemeClr val="bg1"/>
                    </a:solidFill>
                  </a:tcPr>
                </a:tc>
              </a:tr>
              <a:tr h="475488">
                <a:tc>
                  <a:txBody>
                    <a:bodyPr/>
                    <a:lstStyle/>
                    <a:p>
                      <a:pPr algn="l"/>
                      <a:r>
                        <a:rPr sz="1300" b="1">
                          <a:solidFill>
                            <a:schemeClr val="tx1"/>
                          </a:solidFill>
                        </a:rPr>
                        <a:t>Producer identity</a:t>
                      </a:r>
                    </a:p>
                  </a:txBody>
                  <a:tcPr marL="91440" marR="91440" marT="45720" marB="45720" anchor="ctr">
                    <a:solidFill>
                      <a:schemeClr val="bg2"/>
                    </a:solidFill>
                  </a:tcPr>
                </a:tc>
                <a:tc>
                  <a:txBody>
                    <a:bodyPr/>
                    <a:lstStyle/>
                    <a:p>
                      <a:pPr algn="l"/>
                      <a:r>
                        <a:rPr sz="1300" b="0">
                          <a:solidFill>
                            <a:schemeClr val="tx1"/>
                          </a:solidFill>
                        </a:rPr>
                        <a:t>Checked for form, not origin; a gateway is held to its session</a:t>
                      </a:r>
                    </a:p>
                  </a:txBody>
                  <a:tcPr marL="91440" marR="91440" marT="45720" marB="45720" anchor="ctr">
                    <a:solidFill>
                      <a:schemeClr val="bg2"/>
                    </a:solidFill>
                  </a:tcPr>
                </a:tc>
                <a:tc>
                  <a:txBody>
                    <a:bodyPr/>
                    <a:lstStyle/>
                    <a:p>
                      <a:pPr algn="l"/>
                      <a:r>
                        <a:rPr sz="1300" b="0">
                          <a:solidFill>
                            <a:schemeClr val="tx1"/>
                          </a:solidFill>
                        </a:rPr>
                        <a:t>Authenticate at the external edges</a:t>
                      </a:r>
                    </a:p>
                  </a:txBody>
                  <a:tcPr marL="91440" marR="91440" marT="45720" marB="45720" anchor="ctr">
                    <a:solidFill>
                      <a:schemeClr val="bg2"/>
                    </a:solidFill>
                  </a:tcPr>
                </a:tc>
              </a:tr>
              <a:tr h="475488">
                <a:tc>
                  <a:txBody>
                    <a:bodyPr/>
                    <a:lstStyle/>
                    <a:p>
                      <a:pPr algn="l"/>
                      <a:r>
                        <a:rPr sz="1300" b="1">
                          <a:solidFill>
                            <a:schemeClr val="tx1"/>
                          </a:solidFill>
                        </a:rPr>
                        <a:t>Archive control</a:t>
                      </a:r>
                    </a:p>
                  </a:txBody>
                  <a:tcPr marL="91440" marR="91440" marT="45720" marB="45720" anchor="ctr">
                    <a:solidFill>
                      <a:schemeClr val="bg1"/>
                    </a:solidFill>
                  </a:tcPr>
                </a:tc>
                <a:tc>
                  <a:txBody>
                    <a:bodyPr/>
                    <a:lstStyle/>
                    <a:p>
                      <a:pPr algn="l"/>
                      <a:r>
                        <a:rPr sz="1300" b="0">
                          <a:solidFill>
                            <a:schemeClr val="tx1"/>
                          </a:solidFill>
                        </a:rPr>
                        <a:t>Recordings can be read and deleted</a:t>
                      </a:r>
                    </a:p>
                  </a:txBody>
                  <a:tcPr marL="91440" marR="91440" marT="45720" marB="45720" anchor="ctr">
                    <a:solidFill>
                      <a:schemeClr val="bg1"/>
                    </a:solidFill>
                  </a:tcPr>
                </a:tc>
                <a:tc>
                  <a:txBody>
                    <a:bodyPr/>
                    <a:lstStyle/>
                    <a:p>
                      <a:pPr algn="l"/>
                      <a:r>
                        <a:rPr sz="1300" b="0">
                          <a:solidFill>
                            <a:schemeClr val="tx1"/>
                          </a:solidFill>
                        </a:rPr>
                        <a:t>Member ports inside the boundary</a:t>
                      </a:r>
                    </a:p>
                  </a:txBody>
                  <a:tcPr marL="91440" marR="91440" marT="45720" marB="45720" anchor="ctr">
                    <a:solidFill>
                      <a:schemeClr val="bg1"/>
                    </a:solidFill>
                  </a:tcPr>
                </a:tc>
              </a:tr>
              <a:tr h="475488">
                <a:tc>
                  <a:txBody>
                    <a:bodyPr/>
                    <a:lstStyle/>
                    <a:p>
                      <a:pPr algn="l"/>
                      <a:r>
                        <a:rPr sz="1300" b="1">
                          <a:solidFill>
                            <a:schemeClr val="tx1"/>
                          </a:solidFill>
                        </a:rPr>
                        <a:t>On the wire</a:t>
                      </a:r>
                    </a:p>
                  </a:txBody>
                  <a:tcPr marL="91440" marR="91440" marT="45720" marB="45720" anchor="ctr">
                    <a:solidFill>
                      <a:schemeClr val="bg2"/>
                    </a:solidFill>
                  </a:tcPr>
                </a:tc>
                <a:tc>
                  <a:txBody>
                    <a:bodyPr/>
                    <a:lstStyle/>
                    <a:p>
                      <a:pPr algn="l"/>
                      <a:r>
                        <a:rPr sz="1300" b="0">
                          <a:solidFill>
                            <a:schemeClr val="tx1"/>
                          </a:solidFill>
                        </a:rPr>
                        <a:t>No encryption</a:t>
                      </a:r>
                    </a:p>
                  </a:txBody>
                  <a:tcPr marL="91440" marR="91440" marT="45720" marB="45720" anchor="ctr">
                    <a:solidFill>
                      <a:schemeClr val="bg2"/>
                    </a:solidFill>
                  </a:tcPr>
                </a:tc>
                <a:tc>
                  <a:txBody>
                    <a:bodyPr/>
                    <a:lstStyle/>
                    <a:p>
                      <a:pPr algn="l"/>
                      <a:r>
                        <a:rPr sz="1300" b="0">
                          <a:solidFill>
                            <a:schemeClr val="tx1"/>
                          </a:solidFill>
                        </a:rPr>
                        <a:t>An encrypted, authenticated layer beneath</a:t>
                      </a:r>
                    </a:p>
                  </a:txBody>
                  <a:tcPr marL="91440" marR="91440" marT="45720" marB="45720" anchor="ctr">
                    <a:solidFill>
                      <a:schemeClr val="bg2"/>
                    </a:solidFill>
                  </a:tcPr>
                </a:tc>
              </a:tr>
              <a:tr h="475488">
                <a:tc>
                  <a:txBody>
                    <a:bodyPr/>
                    <a:lstStyle/>
                    <a:p>
                      <a:pPr algn="l"/>
                      <a:r>
                        <a:rPr sz="1300" b="1">
                          <a:solidFill>
                            <a:schemeClr val="tx1"/>
                          </a:solidFill>
                        </a:rPr>
                        <a:t>At rest</a:t>
                      </a:r>
                    </a:p>
                  </a:txBody>
                  <a:tcPr marL="91440" marR="91440" marT="45720" marB="45720" anchor="ctr">
                    <a:solidFill>
                      <a:schemeClr val="bg1"/>
                    </a:solidFill>
                  </a:tcPr>
                </a:tc>
                <a:tc>
                  <a:txBody>
                    <a:bodyPr/>
                    <a:lstStyle/>
                    <a:p>
                      <a:pPr algn="l"/>
                      <a:r>
                        <a:rPr sz="1300" b="0">
                          <a:solidFill>
                            <a:schemeClr val="tx1"/>
                          </a:solidFill>
                        </a:rPr>
                        <a:t>Unencrypted payloads on every member, kept indefinitely</a:t>
                      </a:r>
                    </a:p>
                  </a:txBody>
                  <a:tcPr marL="91440" marR="91440" marT="45720" marB="45720" anchor="ctr">
                    <a:solidFill>
                      <a:schemeClr val="bg1"/>
                    </a:solidFill>
                  </a:tcPr>
                </a:tc>
                <a:tc>
                  <a:txBody>
                    <a:bodyPr/>
                    <a:lstStyle/>
                    <a:p>
                      <a:pPr algn="l"/>
                      <a:r>
                        <a:rPr sz="1300" b="0">
                          <a:solidFill>
                            <a:schemeClr val="tx1"/>
                          </a:solidFill>
                        </a:rPr>
                        <a:t>Disk encryption; classify payloads</a:t>
                      </a:r>
                    </a:p>
                  </a:txBody>
                  <a:tcPr marL="91440" marR="91440" marT="45720" marB="45720" anchor="ctr">
                    <a:solidFill>
                      <a:schemeClr val="bg1"/>
                    </a:solidFill>
                  </a:tcPr>
                </a:tc>
              </a:tr>
              <a:tr h="475488">
                <a:tc>
                  <a:txBody>
                    <a:bodyPr/>
                    <a:lstStyle/>
                    <a:p>
                      <a:pPr algn="l"/>
                      <a:r>
                        <a:rPr sz="1300" b="1">
                          <a:solidFill>
                            <a:schemeClr val="tx1"/>
                          </a:solidFill>
                        </a:rPr>
                        <a:t>Erasure</a:t>
                      </a:r>
                    </a:p>
                  </a:txBody>
                  <a:tcPr marL="91440" marR="91440" marT="45720" marB="45720" anchor="ctr">
                    <a:solidFill>
                      <a:schemeClr val="bg2"/>
                    </a:solidFill>
                  </a:tcPr>
                </a:tc>
                <a:tc>
                  <a:txBody>
                    <a:bodyPr/>
                    <a:lstStyle/>
                    <a:p>
                      <a:pPr algn="l"/>
                      <a:r>
                        <a:rPr sz="1300" b="0">
                          <a:solidFill>
                            <a:schemeClr val="tx1"/>
                          </a:solidFill>
                        </a:rPr>
                        <a:t>Not possible short of a purge</a:t>
                      </a:r>
                    </a:p>
                  </a:txBody>
                  <a:tcPr marL="91440" marR="91440" marT="45720" marB="45720" anchor="ctr">
                    <a:solidFill>
                      <a:schemeClr val="bg2"/>
                    </a:solidFill>
                  </a:tcPr>
                </a:tc>
                <a:tc>
                  <a:txBody>
                    <a:bodyPr/>
                    <a:lstStyle/>
                    <a:p>
                      <a:pPr algn="l"/>
                      <a:r>
                        <a:rPr sz="1300" b="0">
                          <a:solidFill>
                            <a:schemeClr val="tx1"/>
                          </a:solidFill>
                        </a:rPr>
                        <a:t>No personal data in payloads</a:t>
                      </a:r>
                    </a:p>
                  </a:txBody>
                  <a:tcPr marL="91440" marR="91440" marT="45720" marB="45720" anchor="ctr">
                    <a:solidFill>
                      <a:schemeClr val="bg2"/>
                    </a:solidFill>
                  </a:tcPr>
                </a:tc>
              </a:tr>
              <a:tr h="475488">
                <a:tc>
                  <a:txBody>
                    <a:bodyPr/>
                    <a:lstStyle/>
                    <a:p>
                      <a:pPr algn="l"/>
                      <a:r>
                        <a:rPr sz="1300" b="1">
                          <a:solidFill>
                            <a:schemeClr val="tx1"/>
                          </a:solidFill>
                        </a:rPr>
                        <a:t>Metrics</a:t>
                      </a:r>
                    </a:p>
                  </a:txBody>
                  <a:tcPr marL="91440" marR="91440" marT="45720" marB="45720" anchor="ctr">
                    <a:solidFill>
                      <a:schemeClr val="bg1"/>
                    </a:solidFill>
                  </a:tcPr>
                </a:tc>
                <a:tc>
                  <a:txBody>
                    <a:bodyPr/>
                    <a:lstStyle/>
                    <a:p>
                      <a:pPr algn="l"/>
                      <a:r>
                        <a:rPr sz="1300" b="0">
                          <a:solidFill>
                            <a:schemeClr val="tx1"/>
                          </a:solidFill>
                        </a:rPr>
                        <a:t>No authentication</a:t>
                      </a:r>
                    </a:p>
                  </a:txBody>
                  <a:tcPr marL="91440" marR="91440" marT="45720" marB="45720" anchor="ctr">
                    <a:solidFill>
                      <a:schemeClr val="bg1"/>
                    </a:solidFill>
                  </a:tcPr>
                </a:tc>
                <a:tc>
                  <a:txBody>
                    <a:bodyPr/>
                    <a:lstStyle/>
                    <a:p>
                      <a:pPr algn="l"/>
                      <a:r>
                        <a:rPr sz="1300" b="0">
                          <a:solidFill>
                            <a:schemeClr val="tx1"/>
                          </a:solidFill>
                        </a:rPr>
                        <a:t>Inside the boundary</a:t>
                      </a:r>
                    </a:p>
                  </a:txBody>
                  <a:tcPr marL="91440" marR="91440" marT="45720" marB="45720" anchor="ctr">
                    <a:solidFill>
                      <a:schemeClr val="bg1"/>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Risks and mitigations</a:t>
            </a:r>
          </a:p>
        </p:txBody>
      </p:sp>
      <p:sp>
        <p:nvSpPr>
          <p:cNvPr id="3" name="Text 175"/>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Each risk, and what reduces it</a:t>
            </a:r>
          </a:p>
        </p:txBody>
      </p:sp>
      <p:sp>
        <p:nvSpPr>
          <p:cNvPr id="9015" name="Slide number"/>
          <p:cNvSpPr txBox="1"/>
          <p:nvPr userDrawn="1"/>
        </p:nvSpPr>
        <p:spPr>
          <a:xfrm>
            <a:off x="10728655" y="6400800"/>
            <a:ext cx="914400" cy="274320"/>
          </a:xfrm>
          <a:prstGeom prst="rect">
            <a:avLst/>
          </a:prstGeom>
          <a:noFill/>
        </p:spPr>
        <p:txBody>
          <a:bodyPr wrap="none" lIns="0" tIns="0" rIns="0" bIns="0" anchor="ctr"/>
          <a:lstStyle/>
          <a:p>
            <a:pPr algn="r"/>
            <a:fld id="{3891f1d7-28ed-47ae-8502-34057e782ef4}" type="slidenum">
              <a:rPr lang="en-US" sz="1000" dirty="0">
                <a:solidFill>
                  <a:schemeClr val="accent5"/>
                </a:solidFill>
              </a:rPr>
              <a:t>15</a:t>
            </a:fld>
          </a:p>
        </p:txBody>
      </p:sp>
      <p:graphicFrame>
        <p:nvGraphicFramePr>
          <p:cNvPr id="9016" name="Table 176"/>
          <p:cNvGraphicFramePr>
            <a:graphicFrameLocks noGrp="1"/>
          </p:cNvGraphicFramePr>
          <p:nvPr/>
        </p:nvGraphicFramePr>
        <p:xfrm>
          <a:off x="548640" y="1645920"/>
          <a:ext cx="11091672" cy="3803904"/>
        </p:xfrm>
        <a:graphic>
          <a:graphicData uri="http://schemas.openxmlformats.org/drawingml/2006/table">
            <a:tbl>
              <a:tblPr firstRow="1">
                <a:tableStyleId>{5C22544A-7EE6-4342-B048-85BDC9FD1C3A}</a:tableStyleId>
              </a:tblPr>
              <a:tblGrid>
                <a:gridCol w="3657600"/>
                <a:gridCol w="7434072"/>
              </a:tblGrid>
              <a:tr h="475488">
                <a:tc>
                  <a:txBody>
                    <a:bodyPr/>
                    <a:lstStyle/>
                    <a:p>
                      <a:pPr algn="l"/>
                      <a:r>
                        <a:rPr sz="1300" b="1">
                          <a:solidFill>
                            <a:schemeClr val="bg1"/>
                          </a:solidFill>
                        </a:rPr>
                        <a:t>Risk</a:t>
                      </a:r>
                    </a:p>
                  </a:txBody>
                  <a:tcPr marL="91440" marR="91440" marT="45720" marB="45720" anchor="ctr">
                    <a:solidFill>
                      <a:schemeClr val="accent1"/>
                    </a:solidFill>
                  </a:tcPr>
                </a:tc>
                <a:tc>
                  <a:txBody>
                    <a:bodyPr/>
                    <a:lstStyle/>
                    <a:p>
                      <a:pPr algn="l"/>
                      <a:r>
                        <a:rPr sz="1300" b="1">
                          <a:solidFill>
                            <a:schemeClr val="bg1"/>
                          </a:solidFill>
                        </a:rPr>
                        <a:t>Mitigation</a:t>
                      </a:r>
                    </a:p>
                  </a:txBody>
                  <a:tcPr marL="91440" marR="91440" marT="45720" marB="45720" anchor="ctr">
                    <a:solidFill>
                      <a:schemeClr val="accent1"/>
                    </a:solidFill>
                  </a:tcPr>
                </a:tc>
              </a:tr>
              <a:tr h="475488">
                <a:tc>
                  <a:txBody>
                    <a:bodyPr/>
                    <a:lstStyle/>
                    <a:p>
                      <a:pPr algn="l"/>
                      <a:r>
                        <a:rPr sz="1400" b="1">
                          <a:solidFill>
                            <a:schemeClr val="tx1"/>
                          </a:solidFill>
                        </a:rPr>
                        <a:t>Performance falls short</a:t>
                      </a:r>
                    </a:p>
                  </a:txBody>
                  <a:tcPr marL="91440" marR="91440" marT="45720" marB="45720" anchor="ctr">
                    <a:solidFill>
                      <a:schemeClr val="bg1"/>
                    </a:solidFill>
                  </a:tcPr>
                </a:tc>
                <a:tc>
                  <a:txBody>
                    <a:bodyPr/>
                    <a:lstStyle/>
                    <a:p>
                      <a:pPr algn="l"/>
                      <a:r>
                        <a:rPr sz="1400" b="0">
                          <a:solidFill>
                            <a:schemeClr val="tx1"/>
                          </a:solidFill>
                        </a:rPr>
                        <a:t>Benchmark the closing peak on the target hardware</a:t>
                      </a:r>
                    </a:p>
                  </a:txBody>
                  <a:tcPr marL="91440" marR="91440" marT="45720" marB="45720" anchor="ctr">
                    <a:solidFill>
                      <a:schemeClr val="bg1"/>
                    </a:solidFill>
                  </a:tcPr>
                </a:tc>
              </a:tr>
              <a:tr h="475488">
                <a:tc>
                  <a:txBody>
                    <a:bodyPr/>
                    <a:lstStyle/>
                    <a:p>
                      <a:pPr algn="l"/>
                      <a:r>
                        <a:rPr sz="1400" b="1">
                          <a:solidFill>
                            <a:schemeClr val="tx1"/>
                          </a:solidFill>
                        </a:rPr>
                        <a:t>Disk fills; restarts grow long</a:t>
                      </a:r>
                    </a:p>
                  </a:txBody>
                  <a:tcPr marL="91440" marR="91440" marT="45720" marB="45720" anchor="ctr">
                    <a:solidFill>
                      <a:schemeClr val="bg2"/>
                    </a:solidFill>
                  </a:tcPr>
                </a:tc>
                <a:tc>
                  <a:txBody>
                    <a:bodyPr/>
                    <a:lstStyle/>
                    <a:p>
                      <a:pPr algn="l"/>
                      <a:r>
                        <a:rPr sz="1400" b="0">
                          <a:solidFill>
                            <a:schemeClr val="tx1"/>
                          </a:solidFill>
                        </a:rPr>
                        <a:t>Size by the formula; alert on disk; cluster snapshots (designed)</a:t>
                      </a:r>
                    </a:p>
                  </a:txBody>
                  <a:tcPr marL="91440" marR="91440" marT="45720" marB="45720" anchor="ctr">
                    <a:solidFill>
                      <a:schemeClr val="bg2"/>
                    </a:solidFill>
                  </a:tcPr>
                </a:tc>
              </a:tr>
              <a:tr h="475488">
                <a:tc>
                  <a:txBody>
                    <a:bodyPr/>
                    <a:lstStyle/>
                    <a:p>
                      <a:pPr algn="l"/>
                      <a:r>
                        <a:rPr sz="1400" b="1">
                          <a:solidFill>
                            <a:schemeClr val="tx1"/>
                          </a:solidFill>
                        </a:rPr>
                        <a:t>Framing protocol upgrade purges history</a:t>
                      </a:r>
                    </a:p>
                  </a:txBody>
                  <a:tcPr marL="91440" marR="91440" marT="45720" marB="45720" anchor="ctr">
                    <a:solidFill>
                      <a:schemeClr val="bg1"/>
                    </a:solidFill>
                  </a:tcPr>
                </a:tc>
                <a:tc>
                  <a:txBody>
                    <a:bodyPr/>
                    <a:lstStyle/>
                    <a:p>
                      <a:pPr algn="l"/>
                      <a:r>
                        <a:rPr sz="1400" b="0">
                          <a:solidFill>
                            <a:schemeClr val="tx1"/>
                          </a:solidFill>
                        </a:rPr>
                        <a:t>Export history to a system of record before each upgrade</a:t>
                      </a:r>
                    </a:p>
                  </a:txBody>
                  <a:tcPr marL="91440" marR="91440" marT="45720" marB="45720" anchor="ctr">
                    <a:solidFill>
                      <a:schemeClr val="bg1"/>
                    </a:solidFill>
                  </a:tcPr>
                </a:tc>
              </a:tr>
              <a:tr h="475488">
                <a:tc>
                  <a:txBody>
                    <a:bodyPr/>
                    <a:lstStyle/>
                    <a:p>
                      <a:pPr algn="l"/>
                      <a:r>
                        <a:rPr sz="1400" b="1">
                          <a:solidFill>
                            <a:schemeClr val="tx1"/>
                          </a:solidFill>
                        </a:rPr>
                        <a:t>Majority power loss</a:t>
                      </a:r>
                    </a:p>
                  </a:txBody>
                  <a:tcPr marL="91440" marR="91440" marT="45720" marB="45720" anchor="ctr">
                    <a:solidFill>
                      <a:schemeClr val="bg2"/>
                    </a:solidFill>
                  </a:tcPr>
                </a:tc>
                <a:tc>
                  <a:txBody>
                    <a:bodyPr/>
                    <a:lstStyle/>
                    <a:p>
                      <a:pPr algn="l"/>
                      <a:r>
                        <a:rPr sz="1400" b="0">
                          <a:solidFill>
                            <a:schemeClr val="tx1"/>
                          </a:solidFill>
                        </a:rPr>
                        <a:t>Members on separate power</a:t>
                      </a:r>
                    </a:p>
                  </a:txBody>
                  <a:tcPr marL="91440" marR="91440" marT="45720" marB="45720" anchor="ctr">
                    <a:solidFill>
                      <a:schemeClr val="bg2"/>
                    </a:solidFill>
                  </a:tcPr>
                </a:tc>
              </a:tr>
              <a:tr h="475488">
                <a:tc>
                  <a:txBody>
                    <a:bodyPr/>
                    <a:lstStyle/>
                    <a:p>
                      <a:pPr algn="l"/>
                      <a:r>
                        <a:rPr sz="1400" b="1">
                          <a:solidFill>
                            <a:schemeClr val="tx1"/>
                          </a:solidFill>
                        </a:rPr>
                        <a:t>Unauthenticated ports</a:t>
                      </a:r>
                    </a:p>
                  </a:txBody>
                  <a:tcPr marL="91440" marR="91440" marT="45720" marB="45720" anchor="ctr">
                    <a:solidFill>
                      <a:schemeClr val="bg1"/>
                    </a:solidFill>
                  </a:tcPr>
                </a:tc>
                <a:tc>
                  <a:txBody>
                    <a:bodyPr/>
                    <a:lstStyle/>
                    <a:p>
                      <a:pPr algn="l"/>
                      <a:r>
                        <a:rPr sz="1400" b="0">
                          <a:solidFill>
                            <a:schemeClr val="tx1"/>
                          </a:solidFill>
                        </a:rPr>
                        <a:t>Segmented network; an encrypted layer beneath</a:t>
                      </a:r>
                    </a:p>
                  </a:txBody>
                  <a:tcPr marL="91440" marR="91440" marT="45720" marB="45720" anchor="ctr">
                    <a:solidFill>
                      <a:schemeClr val="bg1"/>
                    </a:solidFill>
                  </a:tcPr>
                </a:tc>
              </a:tr>
              <a:tr h="475488">
                <a:tc>
                  <a:txBody>
                    <a:bodyPr/>
                    <a:lstStyle/>
                    <a:p>
                      <a:pPr algn="l"/>
                      <a:r>
                        <a:rPr sz="1400" b="1">
                          <a:solidFill>
                            <a:schemeClr val="tx1"/>
                          </a:solidFill>
                        </a:rPr>
                        <a:t>Site loss</a:t>
                      </a:r>
                    </a:p>
                  </a:txBody>
                  <a:tcPr marL="91440" marR="91440" marT="45720" marB="45720" anchor="ctr">
                    <a:solidFill>
                      <a:schemeClr val="bg2"/>
                    </a:solidFill>
                  </a:tcPr>
                </a:tc>
                <a:tc>
                  <a:txBody>
                    <a:bodyPr/>
                    <a:lstStyle/>
                    <a:p>
                      <a:pPr algn="l"/>
                      <a:r>
                        <a:rPr sz="1400" b="0">
                          <a:solidFill>
                            <a:schemeClr val="tx1"/>
                          </a:solidFill>
                        </a:rPr>
                        <a:t>Archives copied off site: Aeron Cluster Backup</a:t>
                      </a:r>
                    </a:p>
                  </a:txBody>
                  <a:tcPr marL="91440" marR="91440" marT="45720" marB="45720" anchor="ctr">
                    <a:solidFill>
                      <a:schemeClr val="bg2"/>
                    </a:solidFill>
                  </a:tcPr>
                </a:tc>
              </a:tr>
              <a:tr h="475488">
                <a:tc>
                  <a:txBody>
                    <a:bodyPr/>
                    <a:lstStyle/>
                    <a:p>
                      <a:pPr algn="l"/>
                      <a:r>
                        <a:rPr sz="1400" b="1">
                          <a:solidFill>
                            <a:schemeClr val="tx1"/>
                          </a:solidFill>
                        </a:rPr>
                        <a:t>One stream's ceiling</a:t>
                      </a:r>
                    </a:p>
                  </a:txBody>
                  <a:tcPr marL="91440" marR="91440" marT="45720" marB="45720" anchor="ctr">
                    <a:solidFill>
                      <a:schemeClr val="bg1"/>
                    </a:solidFill>
                  </a:tcPr>
                </a:tc>
                <a:tc>
                  <a:txBody>
                    <a:bodyPr/>
                    <a:lstStyle/>
                    <a:p>
                      <a:pPr algn="l"/>
                      <a:r>
                        <a:rPr sz="1400" b="0">
                          <a:solidFill>
                            <a:schemeClr val="tx1"/>
                          </a:solidFill>
                        </a:rPr>
                        <a:t>Several clusters scale out</a:t>
                      </a:r>
                    </a:p>
                  </a:txBody>
                  <a:tcPr marL="91440" marR="91440" marT="45720" marB="45720" anchor="ctr">
                    <a:solidFill>
                      <a:schemeClr val="bg1"/>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The tap</a:t>
            </a:r>
          </a:p>
        </p:txBody>
      </p:sp>
      <p:sp>
        <p:nvSpPr>
          <p:cNvPr id="3" name="Text 177"/>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Every cluster member publishes and records its own copy; none is replicated</a:t>
            </a:r>
          </a:p>
        </p:txBody>
      </p:sp>
      <p:sp>
        <p:nvSpPr>
          <p:cNvPr id="9016" name="Slide number"/>
          <p:cNvSpPr txBox="1"/>
          <p:nvPr userDrawn="1"/>
        </p:nvSpPr>
        <p:spPr>
          <a:xfrm>
            <a:off x="10728655" y="6400800"/>
            <a:ext cx="914400" cy="274320"/>
          </a:xfrm>
          <a:prstGeom prst="rect">
            <a:avLst/>
          </a:prstGeom>
          <a:noFill/>
        </p:spPr>
        <p:txBody>
          <a:bodyPr wrap="none" lIns="0" tIns="0" rIns="0" bIns="0" anchor="ctr"/>
          <a:lstStyle/>
          <a:p>
            <a:pPr algn="r"/>
            <a:fld id="{eefb7f6d-c7fe-4d1d-b132-96f15a3e940a}" type="slidenum">
              <a:rPr lang="en-US" sz="1000" dirty="0">
                <a:solidFill>
                  <a:schemeClr val="accent5"/>
                </a:solidFill>
              </a:rPr>
              <a:t>16</a:t>
            </a:fld>
          </a:p>
        </p:txBody>
      </p:sp>
      <p:sp>
        <p:nvSpPr>
          <p:cNvPr id="9017" name="Text 178"/>
          <p:cNvSpPr txBox="1"/>
          <p:nvPr/>
        </p:nvSpPr>
        <p:spPr>
          <a:xfrm>
            <a:off x="548640" y="1691640"/>
            <a:ext cx="1600200" cy="320040"/>
          </a:xfrm>
          <a:prstGeom prst="rect">
            <a:avLst/>
          </a:prstGeom>
          <a:noFill/>
        </p:spPr>
        <p:txBody>
          <a:bodyPr wrap="square" anchor="t" lIns="0" rIns="0" tIns="0" bIns="0">
            <a:spAutoFit/>
          </a:bodyPr>
          <a:lstStyle/>
          <a:p>
            <a:pPr algn="ctr"/>
            <a:r>
              <a:rPr sz="1200" b="1">
                <a:solidFill>
                  <a:schemeClr val="accent5"/>
                </a:solidFill>
              </a:rPr>
              <a:t>member 0</a:t>
            </a:r>
          </a:p>
        </p:txBody>
      </p:sp>
      <p:sp>
        <p:nvSpPr>
          <p:cNvPr id="9018" name="Box 179"/>
          <p:cNvSpPr/>
          <p:nvPr/>
        </p:nvSpPr>
        <p:spPr>
          <a:xfrm>
            <a:off x="548640" y="2057400"/>
            <a:ext cx="1600200" cy="5486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Raft log</a:t>
            </a:r>
          </a:p>
        </p:txBody>
      </p:sp>
      <p:cxnSp>
        <p:nvCxnSpPr>
          <p:cNvPr id="9019" name="Arrow 180"/>
          <p:cNvCxnSpPr/>
          <p:nvPr/>
        </p:nvCxnSpPr>
        <p:spPr>
          <a:xfrm>
            <a:off x="1563624" y="2606040"/>
            <a:ext cx="0" cy="557784"/>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0" name="Text 181"/>
          <p:cNvSpPr txBox="1"/>
          <p:nvPr/>
        </p:nvSpPr>
        <p:spPr>
          <a:xfrm>
            <a:off x="548640" y="2944368"/>
            <a:ext cx="914400" cy="219456"/>
          </a:xfrm>
          <a:prstGeom prst="rect">
            <a:avLst/>
          </a:prstGeom>
          <a:noFill/>
        </p:spPr>
        <p:txBody>
          <a:bodyPr wrap="square" anchor="ctr" lIns="0" rIns="0" tIns="0" bIns="0">
            <a:spAutoFit/>
          </a:bodyPr>
          <a:lstStyle/>
          <a:p>
            <a:pPr algn="l"/>
            <a:r>
              <a:rPr sz="1000" b="1">
                <a:solidFill>
                  <a:schemeClr val="accent1"/>
                </a:solidFill>
              </a:rPr>
              <a:t>Tap 205</a:t>
            </a:r>
          </a:p>
        </p:txBody>
      </p:sp>
      <p:sp>
        <p:nvSpPr>
          <p:cNvPr id="9021" name="Tap cell 182"/>
          <p:cNvSpPr/>
          <p:nvPr/>
        </p:nvSpPr>
        <p:spPr>
          <a:xfrm>
            <a:off x="54864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1</a:t>
            </a:r>
          </a:p>
        </p:txBody>
      </p:sp>
      <p:sp>
        <p:nvSpPr>
          <p:cNvPr id="9022" name="Tap cell 183"/>
          <p:cNvSpPr/>
          <p:nvPr/>
        </p:nvSpPr>
        <p:spPr>
          <a:xfrm>
            <a:off x="77724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2</a:t>
            </a:r>
          </a:p>
        </p:txBody>
      </p:sp>
      <p:sp>
        <p:nvSpPr>
          <p:cNvPr id="9023" name="Tap cell 184"/>
          <p:cNvSpPr/>
          <p:nvPr/>
        </p:nvSpPr>
        <p:spPr>
          <a:xfrm>
            <a:off x="100584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3</a:t>
            </a:r>
          </a:p>
        </p:txBody>
      </p:sp>
      <p:sp>
        <p:nvSpPr>
          <p:cNvPr id="9024" name="Tap cell 185"/>
          <p:cNvSpPr/>
          <p:nvPr/>
        </p:nvSpPr>
        <p:spPr>
          <a:xfrm>
            <a:off x="123444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4</a:t>
            </a:r>
          </a:p>
        </p:txBody>
      </p:sp>
      <p:sp>
        <p:nvSpPr>
          <p:cNvPr id="9025" name="Tap cell 186"/>
          <p:cNvSpPr/>
          <p:nvPr/>
        </p:nvSpPr>
        <p:spPr>
          <a:xfrm>
            <a:off x="1463040" y="3163824"/>
            <a:ext cx="20116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chemeClr val="bg1"/>
                </a:solidFill>
              </a:rPr>
              <a:t>5</a:t>
            </a:r>
          </a:p>
        </p:txBody>
      </p:sp>
      <p:sp>
        <p:nvSpPr>
          <p:cNvPr id="9026" name="Tap cell 187"/>
          <p:cNvSpPr/>
          <p:nvPr/>
        </p:nvSpPr>
        <p:spPr>
          <a:xfrm>
            <a:off x="1691640" y="3163824"/>
            <a:ext cx="201168" cy="27432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027" name="Tap cell 188"/>
          <p:cNvSpPr/>
          <p:nvPr/>
        </p:nvSpPr>
        <p:spPr>
          <a:xfrm>
            <a:off x="1920240" y="3163824"/>
            <a:ext cx="201168" cy="27432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9028" name="Arrow 189"/>
          <p:cNvCxnSpPr/>
          <p:nvPr/>
        </p:nvCxnSpPr>
        <p:spPr>
          <a:xfrm>
            <a:off x="1106424" y="3438144"/>
            <a:ext cx="0" cy="356616"/>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9" name="Box 190"/>
          <p:cNvSpPr/>
          <p:nvPr/>
        </p:nvSpPr>
        <p:spPr>
          <a:xfrm>
            <a:off x="548640" y="3794760"/>
            <a:ext cx="1600200" cy="5486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Archive</a:t>
            </a:r>
          </a:p>
        </p:txBody>
      </p:sp>
      <p:sp>
        <p:nvSpPr>
          <p:cNvPr id="9030" name="Text 191"/>
          <p:cNvSpPr txBox="1"/>
          <p:nvPr/>
        </p:nvSpPr>
        <p:spPr>
          <a:xfrm>
            <a:off x="2331720" y="1691640"/>
            <a:ext cx="1600200" cy="320040"/>
          </a:xfrm>
          <a:prstGeom prst="rect">
            <a:avLst/>
          </a:prstGeom>
          <a:noFill/>
        </p:spPr>
        <p:txBody>
          <a:bodyPr wrap="square" anchor="t" lIns="0" rIns="0" tIns="0" bIns="0">
            <a:spAutoFit/>
          </a:bodyPr>
          <a:lstStyle/>
          <a:p>
            <a:pPr algn="ctr"/>
            <a:r>
              <a:rPr sz="1200" b="1">
                <a:solidFill>
                  <a:schemeClr val="accent5"/>
                </a:solidFill>
              </a:rPr>
              <a:t>member 1</a:t>
            </a:r>
          </a:p>
        </p:txBody>
      </p:sp>
      <p:sp>
        <p:nvSpPr>
          <p:cNvPr id="9031" name="Box 192"/>
          <p:cNvSpPr/>
          <p:nvPr/>
        </p:nvSpPr>
        <p:spPr>
          <a:xfrm>
            <a:off x="2331720" y="2057400"/>
            <a:ext cx="1600200" cy="5486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Raft log</a:t>
            </a:r>
          </a:p>
        </p:txBody>
      </p:sp>
      <p:cxnSp>
        <p:nvCxnSpPr>
          <p:cNvPr id="9032" name="Arrow 193"/>
          <p:cNvCxnSpPr/>
          <p:nvPr/>
        </p:nvCxnSpPr>
        <p:spPr>
          <a:xfrm>
            <a:off x="3346704" y="2606040"/>
            <a:ext cx="0" cy="557784"/>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3" name="Text 194"/>
          <p:cNvSpPr txBox="1"/>
          <p:nvPr/>
        </p:nvSpPr>
        <p:spPr>
          <a:xfrm>
            <a:off x="2331720" y="2944368"/>
            <a:ext cx="914400" cy="219456"/>
          </a:xfrm>
          <a:prstGeom prst="rect">
            <a:avLst/>
          </a:prstGeom>
          <a:noFill/>
        </p:spPr>
        <p:txBody>
          <a:bodyPr wrap="square" anchor="ctr" lIns="0" rIns="0" tIns="0" bIns="0">
            <a:spAutoFit/>
          </a:bodyPr>
          <a:lstStyle/>
          <a:p>
            <a:pPr algn="l"/>
            <a:r>
              <a:rPr sz="1000" b="1">
                <a:solidFill>
                  <a:schemeClr val="accent1"/>
                </a:solidFill>
              </a:rPr>
              <a:t>Tap 205</a:t>
            </a:r>
          </a:p>
        </p:txBody>
      </p:sp>
      <p:sp>
        <p:nvSpPr>
          <p:cNvPr id="9034" name="Tap cell 195"/>
          <p:cNvSpPr/>
          <p:nvPr/>
        </p:nvSpPr>
        <p:spPr>
          <a:xfrm>
            <a:off x="233172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1</a:t>
            </a:r>
          </a:p>
        </p:txBody>
      </p:sp>
      <p:sp>
        <p:nvSpPr>
          <p:cNvPr id="9035" name="Tap cell 196"/>
          <p:cNvSpPr/>
          <p:nvPr/>
        </p:nvSpPr>
        <p:spPr>
          <a:xfrm>
            <a:off x="256032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2</a:t>
            </a:r>
          </a:p>
        </p:txBody>
      </p:sp>
      <p:sp>
        <p:nvSpPr>
          <p:cNvPr id="9036" name="Tap cell 197"/>
          <p:cNvSpPr/>
          <p:nvPr/>
        </p:nvSpPr>
        <p:spPr>
          <a:xfrm>
            <a:off x="278892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3</a:t>
            </a:r>
          </a:p>
        </p:txBody>
      </p:sp>
      <p:sp>
        <p:nvSpPr>
          <p:cNvPr id="9037" name="Tap cell 198"/>
          <p:cNvSpPr/>
          <p:nvPr/>
        </p:nvSpPr>
        <p:spPr>
          <a:xfrm>
            <a:off x="301752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4</a:t>
            </a:r>
          </a:p>
        </p:txBody>
      </p:sp>
      <p:sp>
        <p:nvSpPr>
          <p:cNvPr id="9038" name="Tap cell 199"/>
          <p:cNvSpPr/>
          <p:nvPr/>
        </p:nvSpPr>
        <p:spPr>
          <a:xfrm>
            <a:off x="3246120" y="3163824"/>
            <a:ext cx="20116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chemeClr val="bg1"/>
                </a:solidFill>
              </a:rPr>
              <a:t>5</a:t>
            </a:r>
          </a:p>
        </p:txBody>
      </p:sp>
      <p:sp>
        <p:nvSpPr>
          <p:cNvPr id="9039" name="Tap cell 200"/>
          <p:cNvSpPr/>
          <p:nvPr/>
        </p:nvSpPr>
        <p:spPr>
          <a:xfrm>
            <a:off x="3474720" y="3163824"/>
            <a:ext cx="201168" cy="27432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040" name="Tap cell 201"/>
          <p:cNvSpPr/>
          <p:nvPr/>
        </p:nvSpPr>
        <p:spPr>
          <a:xfrm>
            <a:off x="3703320" y="3163824"/>
            <a:ext cx="201168" cy="27432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9041" name="Arrow 202"/>
          <p:cNvCxnSpPr/>
          <p:nvPr/>
        </p:nvCxnSpPr>
        <p:spPr>
          <a:xfrm>
            <a:off x="2889504" y="3438144"/>
            <a:ext cx="0" cy="356616"/>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42" name="Box 203"/>
          <p:cNvSpPr/>
          <p:nvPr/>
        </p:nvSpPr>
        <p:spPr>
          <a:xfrm>
            <a:off x="2331720" y="3794760"/>
            <a:ext cx="1600200" cy="5486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Archive</a:t>
            </a:r>
          </a:p>
        </p:txBody>
      </p:sp>
      <p:sp>
        <p:nvSpPr>
          <p:cNvPr id="9043" name="Text 204"/>
          <p:cNvSpPr txBox="1"/>
          <p:nvPr/>
        </p:nvSpPr>
        <p:spPr>
          <a:xfrm>
            <a:off x="4114800" y="1691640"/>
            <a:ext cx="1600200" cy="320040"/>
          </a:xfrm>
          <a:prstGeom prst="rect">
            <a:avLst/>
          </a:prstGeom>
          <a:noFill/>
        </p:spPr>
        <p:txBody>
          <a:bodyPr wrap="square" anchor="t" lIns="0" rIns="0" tIns="0" bIns="0">
            <a:spAutoFit/>
          </a:bodyPr>
          <a:lstStyle/>
          <a:p>
            <a:pPr algn="ctr"/>
            <a:r>
              <a:rPr sz="1200" b="1">
                <a:solidFill>
                  <a:schemeClr val="accent5"/>
                </a:solidFill>
              </a:rPr>
              <a:t>member 2</a:t>
            </a:r>
          </a:p>
        </p:txBody>
      </p:sp>
      <p:sp>
        <p:nvSpPr>
          <p:cNvPr id="9044" name="Box 205"/>
          <p:cNvSpPr/>
          <p:nvPr/>
        </p:nvSpPr>
        <p:spPr>
          <a:xfrm>
            <a:off x="4114800" y="2057400"/>
            <a:ext cx="1600200" cy="5486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Raft log</a:t>
            </a:r>
          </a:p>
        </p:txBody>
      </p:sp>
      <p:cxnSp>
        <p:nvCxnSpPr>
          <p:cNvPr id="9045" name="Arrow 206"/>
          <p:cNvCxnSpPr/>
          <p:nvPr/>
        </p:nvCxnSpPr>
        <p:spPr>
          <a:xfrm>
            <a:off x="5129784" y="2606040"/>
            <a:ext cx="0" cy="557784"/>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46" name="Text 207"/>
          <p:cNvSpPr txBox="1"/>
          <p:nvPr/>
        </p:nvSpPr>
        <p:spPr>
          <a:xfrm>
            <a:off x="4114800" y="2944368"/>
            <a:ext cx="914400" cy="219456"/>
          </a:xfrm>
          <a:prstGeom prst="rect">
            <a:avLst/>
          </a:prstGeom>
          <a:noFill/>
        </p:spPr>
        <p:txBody>
          <a:bodyPr wrap="square" anchor="ctr" lIns="0" rIns="0" tIns="0" bIns="0">
            <a:spAutoFit/>
          </a:bodyPr>
          <a:lstStyle/>
          <a:p>
            <a:pPr algn="l"/>
            <a:r>
              <a:rPr sz="1000" b="1">
                <a:solidFill>
                  <a:schemeClr val="accent1"/>
                </a:solidFill>
              </a:rPr>
              <a:t>Tap 205</a:t>
            </a:r>
          </a:p>
        </p:txBody>
      </p:sp>
      <p:sp>
        <p:nvSpPr>
          <p:cNvPr id="9047" name="Tap cell 208"/>
          <p:cNvSpPr/>
          <p:nvPr/>
        </p:nvSpPr>
        <p:spPr>
          <a:xfrm>
            <a:off x="411480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1</a:t>
            </a:r>
          </a:p>
        </p:txBody>
      </p:sp>
      <p:sp>
        <p:nvSpPr>
          <p:cNvPr id="9048" name="Tap cell 209"/>
          <p:cNvSpPr/>
          <p:nvPr/>
        </p:nvSpPr>
        <p:spPr>
          <a:xfrm>
            <a:off x="434340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2</a:t>
            </a:r>
          </a:p>
        </p:txBody>
      </p:sp>
      <p:sp>
        <p:nvSpPr>
          <p:cNvPr id="9049" name="Tap cell 210"/>
          <p:cNvSpPr/>
          <p:nvPr/>
        </p:nvSpPr>
        <p:spPr>
          <a:xfrm>
            <a:off x="457200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3</a:t>
            </a:r>
          </a:p>
        </p:txBody>
      </p:sp>
      <p:sp>
        <p:nvSpPr>
          <p:cNvPr id="9050" name="Tap cell 211"/>
          <p:cNvSpPr/>
          <p:nvPr/>
        </p:nvSpPr>
        <p:spPr>
          <a:xfrm>
            <a:off x="4800600" y="3163824"/>
            <a:ext cx="201168"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4</a:t>
            </a:r>
          </a:p>
        </p:txBody>
      </p:sp>
      <p:sp>
        <p:nvSpPr>
          <p:cNvPr id="9051" name="Tap cell 212"/>
          <p:cNvSpPr/>
          <p:nvPr/>
        </p:nvSpPr>
        <p:spPr>
          <a:xfrm>
            <a:off x="5029200" y="3163824"/>
            <a:ext cx="20116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chemeClr val="bg1"/>
                </a:solidFill>
              </a:rPr>
              <a:t>5</a:t>
            </a:r>
          </a:p>
        </p:txBody>
      </p:sp>
      <p:sp>
        <p:nvSpPr>
          <p:cNvPr id="9052" name="Tap cell 213"/>
          <p:cNvSpPr/>
          <p:nvPr/>
        </p:nvSpPr>
        <p:spPr>
          <a:xfrm>
            <a:off x="5257800" y="3163824"/>
            <a:ext cx="201168" cy="27432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053" name="Tap cell 214"/>
          <p:cNvSpPr/>
          <p:nvPr/>
        </p:nvSpPr>
        <p:spPr>
          <a:xfrm>
            <a:off x="5486400" y="3163824"/>
            <a:ext cx="201168" cy="27432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9054" name="Arrow 215"/>
          <p:cNvCxnSpPr/>
          <p:nvPr/>
        </p:nvCxnSpPr>
        <p:spPr>
          <a:xfrm>
            <a:off x="4672584" y="3438144"/>
            <a:ext cx="0" cy="356616"/>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5" name="Box 216"/>
          <p:cNvSpPr/>
          <p:nvPr/>
        </p:nvSpPr>
        <p:spPr>
          <a:xfrm>
            <a:off x="4114800" y="3794760"/>
            <a:ext cx="1600200" cy="5486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Archive</a:t>
            </a:r>
          </a:p>
        </p:txBody>
      </p:sp>
      <p:sp>
        <p:nvSpPr>
          <p:cNvPr id="9056" name="Text 217"/>
          <p:cNvSpPr txBox="1"/>
          <p:nvPr/>
        </p:nvSpPr>
        <p:spPr>
          <a:xfrm>
            <a:off x="548640" y="4526280"/>
            <a:ext cx="5166360" cy="1463040"/>
          </a:xfrm>
          <a:prstGeom prst="rect">
            <a:avLst/>
          </a:prstGeom>
          <a:noFill/>
        </p:spPr>
        <p:txBody>
          <a:bodyPr wrap="square" anchor="t" lIns="0" rIns="0" tIns="0" bIns="0">
            <a:spAutoFit/>
          </a:bodyPr>
          <a:lstStyle/>
          <a:p>
            <a:pPr algn="l">
              <a:spcAft>
                <a:spcPts val="600"/>
              </a:spcAft>
            </a:pPr>
            <a:r>
              <a:rPr sz="1500" b="1">
                <a:solidFill>
                  <a:schemeClr val="tx1"/>
                </a:solidFill>
              </a:rPr>
              <a:t>Same committed log → byte-identical taps → every archive holds full history.</a:t>
            </a:r>
          </a:p>
          <a:p>
            <a:pPr algn="l"/>
            <a:r>
              <a:rPr sz="1400" b="0">
                <a:solidFill>
                  <a:schemeClr val="accent5"/>
                </a:solidFill>
              </a:rPr>
              <a:t>The tap survives leadership changes: one continuous recording per member.</a:t>
            </a:r>
          </a:p>
        </p:txBody>
      </p:sp>
      <p:sp>
        <p:nvSpPr>
          <p:cNvPr id="9057" name="Text 218"/>
          <p:cNvSpPr txBox="1"/>
          <p:nvPr/>
        </p:nvSpPr>
        <p:spPr>
          <a:xfrm>
            <a:off x="6309360" y="1691640"/>
            <a:ext cx="5303520" cy="320040"/>
          </a:xfrm>
          <a:prstGeom prst="rect">
            <a:avLst/>
          </a:prstGeom>
          <a:noFill/>
        </p:spPr>
        <p:txBody>
          <a:bodyPr wrap="square" anchor="t" lIns="0" rIns="0" tIns="0" bIns="0">
            <a:spAutoFit/>
          </a:bodyPr>
          <a:lstStyle/>
          <a:p>
            <a:pPr algn="l"/>
            <a:r>
              <a:rPr sz="1200" b="1">
                <a:solidFill>
                  <a:schemeClr val="accent1"/>
                </a:solidFill>
              </a:rPr>
              <a:t>RELIABLE, AND BOUNDED</a:t>
            </a:r>
          </a:p>
        </p:txBody>
      </p:sp>
      <p:graphicFrame>
        <p:nvGraphicFramePr>
          <p:cNvPr id="9058" name="Table 219"/>
          <p:cNvGraphicFramePr>
            <a:graphicFrameLocks noGrp="1"/>
          </p:cNvGraphicFramePr>
          <p:nvPr/>
        </p:nvGraphicFramePr>
        <p:xfrm>
          <a:off x="6309360" y="2057400"/>
          <a:ext cx="5330952" cy="2514600"/>
        </p:xfrm>
        <a:graphic>
          <a:graphicData uri="http://schemas.openxmlformats.org/drawingml/2006/table">
            <a:tbl>
              <a:tblPr firstRow="1">
                <a:tableStyleId>{5C22544A-7EE6-4342-B048-85BDC9FD1C3A}</a:tableStyleId>
              </a:tblPr>
              <a:tblGrid>
                <a:gridCol w="2011680"/>
                <a:gridCol w="3319272"/>
              </a:tblGrid>
              <a:tr h="502920">
                <a:tc>
                  <a:txBody>
                    <a:bodyPr/>
                    <a:lstStyle/>
                    <a:p>
                      <a:pPr algn="l"/>
                      <a:r>
                        <a:rPr sz="1300" b="1">
                          <a:solidFill>
                            <a:schemeClr val="bg1"/>
                          </a:solidFill>
                        </a:rPr>
                        <a:t>Archive state</a:t>
                      </a:r>
                    </a:p>
                  </a:txBody>
                  <a:tcPr marL="91440" marR="91440" marT="45720" marB="45720" anchor="ctr">
                    <a:solidFill>
                      <a:schemeClr val="accent1"/>
                    </a:solidFill>
                  </a:tcPr>
                </a:tc>
                <a:tc>
                  <a:txBody>
                    <a:bodyPr/>
                    <a:lstStyle/>
                    <a:p>
                      <a:pPr algn="l"/>
                      <a:r>
                        <a:rPr sz="1300" b="1">
                          <a:solidFill>
                            <a:schemeClr val="bg1"/>
                          </a:solidFill>
                        </a:rPr>
                        <a:t>Response</a:t>
                      </a:r>
                    </a:p>
                  </a:txBody>
                  <a:tcPr marL="91440" marR="91440" marT="45720" marB="45720" anchor="ctr">
                    <a:solidFill>
                      <a:schemeClr val="accent1"/>
                    </a:solidFill>
                  </a:tcPr>
                </a:tc>
              </a:tr>
              <a:tr h="502920">
                <a:tc>
                  <a:txBody>
                    <a:bodyPr/>
                    <a:lstStyle/>
                    <a:p>
                      <a:pPr algn="l"/>
                      <a:r>
                        <a:rPr sz="1400" b="1">
                          <a:solidFill>
                            <a:schemeClr val="tx1"/>
                          </a:solidFill>
                        </a:rPr>
                        <a:t>Slow, advancing</a:t>
                      </a:r>
                    </a:p>
                  </a:txBody>
                  <a:tcPr marL="91440" marR="91440" marT="45720" marB="45720" anchor="ctr">
                    <a:solidFill>
                      <a:schemeClr val="bg1"/>
                    </a:solidFill>
                  </a:tcPr>
                </a:tc>
                <a:tc>
                  <a:txBody>
                    <a:bodyPr/>
                    <a:lstStyle/>
                    <a:p>
                      <a:pPr algn="l"/>
                      <a:r>
                        <a:rPr sz="1400" b="0">
                          <a:solidFill>
                            <a:schemeClr val="tx1"/>
                          </a:solidFill>
                        </a:rPr>
                        <a:t>Keep retrying; alert at 200 ms</a:t>
                      </a:r>
                    </a:p>
                  </a:txBody>
                  <a:tcPr marL="91440" marR="91440" marT="45720" marB="45720" anchor="ctr">
                    <a:solidFill>
                      <a:schemeClr val="bg1"/>
                    </a:solidFill>
                  </a:tcPr>
                </a:tc>
              </a:tr>
              <a:tr h="502920">
                <a:tc>
                  <a:txBody>
                    <a:bodyPr/>
                    <a:lstStyle/>
                    <a:p>
                      <a:pPr algn="l"/>
                      <a:r>
                        <a:rPr sz="1400" b="1">
                          <a:solidFill>
                            <a:schemeClr val="tx1"/>
                          </a:solidFill>
                        </a:rPr>
                        <a:t>No progress 1 s</a:t>
                      </a:r>
                    </a:p>
                  </a:txBody>
                  <a:tcPr marL="91440" marR="91440" marT="45720" marB="45720" anchor="ctr">
                    <a:solidFill>
                      <a:schemeClr val="bg2"/>
                    </a:solidFill>
                  </a:tcPr>
                </a:tc>
                <a:tc>
                  <a:txBody>
                    <a:bodyPr/>
                    <a:lstStyle/>
                    <a:p>
                      <a:pPr algn="l"/>
                      <a:r>
                        <a:rPr sz="1400" b="0">
                          <a:solidFill>
                            <a:schemeClr val="tx1"/>
                          </a:solidFill>
                        </a:rPr>
                        <a:t>Terminate the member (exit 70)</a:t>
                      </a:r>
                    </a:p>
                  </a:txBody>
                  <a:tcPr marL="91440" marR="91440" marT="45720" marB="45720" anchor="ctr">
                    <a:solidFill>
                      <a:schemeClr val="bg2"/>
                    </a:solidFill>
                  </a:tcPr>
                </a:tc>
              </a:tr>
              <a:tr h="502920">
                <a:tc>
                  <a:txBody>
                    <a:bodyPr/>
                    <a:lstStyle/>
                    <a:p>
                      <a:pPr algn="l"/>
                      <a:r>
                        <a:rPr sz="1400" b="1">
                          <a:solidFill>
                            <a:schemeClr val="tx1"/>
                          </a:solidFill>
                        </a:rPr>
                        <a:t>Recording gone</a:t>
                      </a:r>
                    </a:p>
                  </a:txBody>
                  <a:tcPr marL="91440" marR="91440" marT="45720" marB="45720" anchor="ctr">
                    <a:solidFill>
                      <a:schemeClr val="bg1"/>
                    </a:solidFill>
                  </a:tcPr>
                </a:tc>
                <a:tc>
                  <a:txBody>
                    <a:bodyPr/>
                    <a:lstStyle/>
                    <a:p>
                      <a:pPr algn="l"/>
                      <a:r>
                        <a:rPr sz="1400" b="0">
                          <a:solidFill>
                            <a:schemeClr val="tx1"/>
                          </a:solidFill>
                        </a:rPr>
                        <a:t>Terminate at once</a:t>
                      </a:r>
                    </a:p>
                  </a:txBody>
                  <a:tcPr marL="91440" marR="91440" marT="45720" marB="45720" anchor="ctr">
                    <a:solidFill>
                      <a:schemeClr val="bg1"/>
                    </a:solidFill>
                  </a:tcPr>
                </a:tc>
              </a:tr>
              <a:tr h="502920">
                <a:tc>
                  <a:txBody>
                    <a:bodyPr/>
                    <a:lstStyle/>
                    <a:p>
                      <a:pPr algn="l"/>
                      <a:r>
                        <a:rPr sz="1400" b="1">
                          <a:solidFill>
                            <a:schemeClr val="tx1"/>
                          </a:solidFill>
                        </a:rPr>
                        <a:t>Stopped silently</a:t>
                      </a:r>
                    </a:p>
                  </a:txBody>
                  <a:tcPr marL="91440" marR="91440" marT="45720" marB="45720" anchor="ctr">
                    <a:solidFill>
                      <a:schemeClr val="bg2"/>
                    </a:solidFill>
                  </a:tcPr>
                </a:tc>
                <a:tc>
                  <a:txBody>
                    <a:bodyPr/>
                    <a:lstStyle/>
                    <a:p>
                      <a:pPr algn="l"/>
                      <a:r>
                        <a:rPr sz="1400" b="0">
                          <a:solidFill>
                            <a:schemeClr val="tx1"/>
                          </a:solidFill>
                        </a:rPr>
                        <a:t>Caught by the 1 Hz liveness check</a:t>
                      </a:r>
                    </a:p>
                  </a:txBody>
                  <a:tcPr marL="91440" marR="91440" marT="45720" marB="45720" anchor="ctr">
                    <a:solidFill>
                      <a:schemeClr val="bg2"/>
                    </a:solidFill>
                  </a:tcPr>
                </a:tc>
              </a:tr>
            </a:tbl>
          </a:graphicData>
        </a:graphic>
      </p:graphicFrame>
      <p:sp>
        <p:nvSpPr>
          <p:cNvPr id="9059" name="Text 220"/>
          <p:cNvSpPr txBox="1"/>
          <p:nvPr/>
        </p:nvSpPr>
        <p:spPr>
          <a:xfrm>
            <a:off x="6309360" y="4754880"/>
            <a:ext cx="5303520" cy="1280160"/>
          </a:xfrm>
          <a:prstGeom prst="rect">
            <a:avLst/>
          </a:prstGeom>
          <a:noFill/>
        </p:spPr>
        <p:txBody>
          <a:bodyPr wrap="square" anchor="t" lIns="0" rIns="0" tIns="0" bIns="0">
            <a:spAutoFit/>
          </a:bodyPr>
          <a:lstStyle/>
          <a:p>
            <a:pPr algn="l"/>
            <a:r>
              <a:rPr sz="1400" b="0">
                <a:solidFill>
                  <a:schemeClr val="accent5"/>
                </a:solidFill>
              </a:rPr>
              <a:t>A member that cannot keep history stops instead of sequencing history it cannot serve. Peers keep quorum; its restart rebuilds the recording.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Live from tap and history from archive</a:t>
            </a:r>
          </a:p>
        </p:txBody>
      </p:sp>
      <p:sp>
        <p:nvSpPr>
          <p:cNvPr id="3" name="Text 221"/>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The Replayer serves one recording to many clients</a:t>
            </a:r>
          </a:p>
        </p:txBody>
      </p:sp>
      <p:sp>
        <p:nvSpPr>
          <p:cNvPr id="9017" name="Slide number"/>
          <p:cNvSpPr txBox="1"/>
          <p:nvPr userDrawn="1"/>
        </p:nvSpPr>
        <p:spPr>
          <a:xfrm>
            <a:off x="10728655" y="6400800"/>
            <a:ext cx="914400" cy="274320"/>
          </a:xfrm>
          <a:prstGeom prst="rect">
            <a:avLst/>
          </a:prstGeom>
          <a:noFill/>
        </p:spPr>
        <p:txBody>
          <a:bodyPr wrap="none" lIns="0" tIns="0" rIns="0" bIns="0" anchor="ctr"/>
          <a:lstStyle/>
          <a:p>
            <a:pPr algn="r"/>
            <a:fld id="{161eb50c-e7db-4cee-9af3-885da2a907de}" type="slidenum">
              <a:rPr lang="en-US" sz="1000" dirty="0">
                <a:solidFill>
                  <a:schemeClr val="accent5"/>
                </a:solidFill>
              </a:rPr>
              <a:t>17</a:t>
            </a:fld>
          </a:p>
        </p:txBody>
      </p:sp>
      <p:sp>
        <p:nvSpPr>
          <p:cNvPr id="9018" name="Box 222"/>
          <p:cNvSpPr/>
          <p:nvPr/>
        </p:nvSpPr>
        <p:spPr>
          <a:xfrm>
            <a:off x="1499616" y="1463040"/>
            <a:ext cx="914400" cy="292608"/>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Sequencer</a:t>
            </a:r>
          </a:p>
        </p:txBody>
      </p:sp>
      <p:cxnSp>
        <p:nvCxnSpPr>
          <p:cNvPr id="9019" name="Arrow 223"/>
          <p:cNvCxnSpPr/>
          <p:nvPr/>
        </p:nvCxnSpPr>
        <p:spPr>
          <a:xfrm>
            <a:off x="1955902" y="1755648"/>
            <a:ext cx="0" cy="301752"/>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0" name="Text 224"/>
          <p:cNvSpPr txBox="1"/>
          <p:nvPr/>
        </p:nvSpPr>
        <p:spPr>
          <a:xfrm>
            <a:off x="548640" y="1810512"/>
            <a:ext cx="1280160" cy="219456"/>
          </a:xfrm>
          <a:prstGeom prst="rect">
            <a:avLst/>
          </a:prstGeom>
          <a:noFill/>
        </p:spPr>
        <p:txBody>
          <a:bodyPr wrap="square" anchor="ctr" lIns="0" rIns="0" tIns="0" bIns="0">
            <a:spAutoFit/>
          </a:bodyPr>
          <a:lstStyle/>
          <a:p>
            <a:pPr algn="l"/>
            <a:r>
              <a:rPr sz="1000" b="1">
                <a:solidFill>
                  <a:schemeClr val="accent1"/>
                </a:solidFill>
              </a:rPr>
              <a:t>Tap · aeron:ipc 205</a:t>
            </a:r>
          </a:p>
        </p:txBody>
      </p:sp>
      <p:sp>
        <p:nvSpPr>
          <p:cNvPr id="9021" name="Tap cell 225"/>
          <p:cNvSpPr/>
          <p:nvPr/>
        </p:nvSpPr>
        <p:spPr>
          <a:xfrm>
            <a:off x="548640" y="2057400"/>
            <a:ext cx="283464" cy="32918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1</a:t>
            </a:r>
          </a:p>
        </p:txBody>
      </p:sp>
      <p:sp>
        <p:nvSpPr>
          <p:cNvPr id="9022" name="Tap cell 226"/>
          <p:cNvSpPr/>
          <p:nvPr/>
        </p:nvSpPr>
        <p:spPr>
          <a:xfrm>
            <a:off x="865022" y="2057400"/>
            <a:ext cx="283464" cy="32918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2</a:t>
            </a:r>
          </a:p>
        </p:txBody>
      </p:sp>
      <p:sp>
        <p:nvSpPr>
          <p:cNvPr id="9023" name="Tap cell 227"/>
          <p:cNvSpPr/>
          <p:nvPr/>
        </p:nvSpPr>
        <p:spPr>
          <a:xfrm>
            <a:off x="1181405" y="2057400"/>
            <a:ext cx="283464" cy="32918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3</a:t>
            </a:r>
          </a:p>
        </p:txBody>
      </p:sp>
      <p:sp>
        <p:nvSpPr>
          <p:cNvPr id="9024" name="Tap cell 228"/>
          <p:cNvSpPr/>
          <p:nvPr/>
        </p:nvSpPr>
        <p:spPr>
          <a:xfrm>
            <a:off x="1497787" y="2057400"/>
            <a:ext cx="283464" cy="32918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4</a:t>
            </a:r>
          </a:p>
        </p:txBody>
      </p:sp>
      <p:sp>
        <p:nvSpPr>
          <p:cNvPr id="9025" name="Tap cell 229"/>
          <p:cNvSpPr/>
          <p:nvPr/>
        </p:nvSpPr>
        <p:spPr>
          <a:xfrm>
            <a:off x="1814170" y="2057400"/>
            <a:ext cx="283464"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chemeClr val="bg1"/>
                </a:solidFill>
              </a:rPr>
              <a:t>5</a:t>
            </a:r>
          </a:p>
        </p:txBody>
      </p:sp>
      <p:sp>
        <p:nvSpPr>
          <p:cNvPr id="9026" name="Tap cell 230"/>
          <p:cNvSpPr/>
          <p:nvPr/>
        </p:nvSpPr>
        <p:spPr>
          <a:xfrm>
            <a:off x="2130552" y="2057400"/>
            <a:ext cx="283464" cy="32918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027" name="Tap cell 231"/>
          <p:cNvSpPr/>
          <p:nvPr/>
        </p:nvSpPr>
        <p:spPr>
          <a:xfrm>
            <a:off x="2446934" y="2057400"/>
            <a:ext cx="283464" cy="32918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028" name="Box 232"/>
          <p:cNvSpPr/>
          <p:nvPr/>
        </p:nvSpPr>
        <p:spPr>
          <a:xfrm>
            <a:off x="548640" y="3291840"/>
            <a:ext cx="2103120" cy="64008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Archive</a:t>
            </a:r>
          </a:p>
        </p:txBody>
      </p:sp>
      <p:sp>
        <p:nvSpPr>
          <p:cNvPr id="9029" name="Box 233"/>
          <p:cNvSpPr/>
          <p:nvPr/>
        </p:nvSpPr>
        <p:spPr>
          <a:xfrm>
            <a:off x="548640" y="4754880"/>
            <a:ext cx="2103120" cy="64008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ReplayerService</a:t>
            </a:r>
          </a:p>
        </p:txBody>
      </p:sp>
      <p:cxnSp>
        <p:nvCxnSpPr>
          <p:cNvPr id="9030" name="Arrow 234"/>
          <p:cNvCxnSpPr/>
          <p:nvPr/>
        </p:nvCxnSpPr>
        <p:spPr>
          <a:xfrm>
            <a:off x="1006754" y="2386584"/>
            <a:ext cx="0" cy="905256"/>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31" name="Arrow 235"/>
          <p:cNvCxnSpPr/>
          <p:nvPr/>
        </p:nvCxnSpPr>
        <p:spPr>
          <a:xfrm>
            <a:off x="1600200" y="3931920"/>
            <a:ext cx="0" cy="82296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2" name="Box 236"/>
          <p:cNvSpPr/>
          <p:nvPr/>
        </p:nvSpPr>
        <p:spPr>
          <a:xfrm>
            <a:off x="3520440" y="3291840"/>
            <a:ext cx="1737360" cy="64008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Client</a:t>
            </a:r>
          </a:p>
        </p:txBody>
      </p:sp>
      <p:sp>
        <p:nvSpPr>
          <p:cNvPr id="4" name="Path 237"/>
          <p:cNvSpPr/>
          <p:nvPr/>
        </p:nvSpPr>
        <p:spPr>
          <a:xfrm>
            <a:off x="1639519" y="2386584"/>
            <a:ext cx="2749601" cy="905256"/>
          </a:xfrm>
          <a:custGeom>
            <a:avLst/>
            <a:gdLst/>
            <a:ahLst/>
            <a:cxnLst/>
            <a:rect l="l" t="t" r="r" b="b"/>
            <a:pathLst>
              <a:path w="2749601" h="905256">
                <a:moveTo>
                  <a:pt x="0" y="0"/>
                </a:moveTo>
                <a:lnTo>
                  <a:pt x="0" y="265176"/>
                </a:lnTo>
                <a:lnTo>
                  <a:pt x="2749601" y="265176"/>
                </a:lnTo>
                <a:lnTo>
                  <a:pt x="2749601" y="905256"/>
                </a:lnTo>
              </a:path>
            </a:pathLst>
          </a:custGeom>
          <a:noFill/>
          <a:ln w="22225">
            <a:solidFill>
              <a:schemeClr val="accent1"/>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3" name="Text 238"/>
          <p:cNvSpPr txBox="1"/>
          <p:nvPr/>
        </p:nvSpPr>
        <p:spPr>
          <a:xfrm>
            <a:off x="2834640" y="2304288"/>
            <a:ext cx="1828800" cy="320040"/>
          </a:xfrm>
          <a:prstGeom prst="rect">
            <a:avLst/>
          </a:prstGeom>
          <a:noFill/>
        </p:spPr>
        <p:txBody>
          <a:bodyPr wrap="square" anchor="t" lIns="0" rIns="0" tIns="0" bIns="0">
            <a:spAutoFit/>
          </a:bodyPr>
          <a:lstStyle/>
          <a:p>
            <a:pPr algn="l"/>
            <a:r>
              <a:rPr sz="1200" b="0">
                <a:solidFill>
                  <a:schemeClr val="accent1"/>
                </a:solidFill>
              </a:rPr>
              <a:t>live, untethered</a:t>
            </a:r>
          </a:p>
        </p:txBody>
      </p:sp>
      <p:sp>
        <p:nvSpPr>
          <p:cNvPr id="5" name="Path 239"/>
          <p:cNvSpPr/>
          <p:nvPr/>
        </p:nvSpPr>
        <p:spPr>
          <a:xfrm>
            <a:off x="2651760" y="3931920"/>
            <a:ext cx="1737360" cy="1143000"/>
          </a:xfrm>
          <a:custGeom>
            <a:avLst/>
            <a:gdLst/>
            <a:ahLst/>
            <a:cxnLst/>
            <a:rect l="l" t="t" r="r" b="b"/>
            <a:pathLst>
              <a:path w="1737360" h="1143000">
                <a:moveTo>
                  <a:pt x="0" y="1143000"/>
                </a:moveTo>
                <a:lnTo>
                  <a:pt x="1737360" y="1143000"/>
                </a:lnTo>
                <a:lnTo>
                  <a:pt x="1737360" y="0"/>
                </a:lnTo>
              </a:path>
            </a:pathLst>
          </a:custGeom>
          <a:noFill/>
          <a:ln w="22225">
            <a:solidFill>
              <a:schemeClr val="accent2"/>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4" name="Text 240"/>
          <p:cNvSpPr txBox="1"/>
          <p:nvPr/>
        </p:nvSpPr>
        <p:spPr>
          <a:xfrm>
            <a:off x="2743200" y="5120640"/>
            <a:ext cx="1828800" cy="320040"/>
          </a:xfrm>
          <a:prstGeom prst="rect">
            <a:avLst/>
          </a:prstGeom>
          <a:noFill/>
        </p:spPr>
        <p:txBody>
          <a:bodyPr wrap="square" anchor="t" lIns="0" rIns="0" tIns="0" bIns="0">
            <a:spAutoFit/>
          </a:bodyPr>
          <a:lstStyle/>
          <a:p>
            <a:pPr algn="l"/>
            <a:r>
              <a:rPr sz="1200" b="0">
                <a:solidFill>
                  <a:schemeClr val="accent2"/>
                </a:solidFill>
              </a:rPr>
              <a:t>history</a:t>
            </a:r>
          </a:p>
        </p:txBody>
      </p:sp>
      <p:sp>
        <p:nvSpPr>
          <p:cNvPr id="9035" name="Number 241"/>
          <p:cNvSpPr/>
          <p:nvPr/>
        </p:nvSpPr>
        <p:spPr>
          <a:xfrm>
            <a:off x="5852160" y="17830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1</a:t>
            </a:r>
          </a:p>
        </p:txBody>
      </p:sp>
      <p:sp>
        <p:nvSpPr>
          <p:cNvPr id="9036" name="Text 242"/>
          <p:cNvSpPr txBox="1"/>
          <p:nvPr/>
        </p:nvSpPr>
        <p:spPr>
          <a:xfrm>
            <a:off x="6446520" y="1737360"/>
            <a:ext cx="5193792" cy="365760"/>
          </a:xfrm>
          <a:prstGeom prst="rect">
            <a:avLst/>
          </a:prstGeom>
          <a:noFill/>
        </p:spPr>
        <p:txBody>
          <a:bodyPr wrap="square" anchor="t" lIns="0" rIns="0" tIns="0" bIns="0">
            <a:spAutoFit/>
          </a:bodyPr>
          <a:lstStyle/>
          <a:p>
            <a:pPr algn="l"/>
            <a:r>
              <a:rPr sz="1600" b="1">
                <a:solidFill>
                  <a:schemeClr val="tx1"/>
                </a:solidFill>
              </a:rPr>
              <a:t>One recording</a:t>
            </a:r>
          </a:p>
        </p:txBody>
      </p:sp>
      <p:sp>
        <p:nvSpPr>
          <p:cNvPr id="9037" name="Text 243"/>
          <p:cNvSpPr txBox="1"/>
          <p:nvPr/>
        </p:nvSpPr>
        <p:spPr>
          <a:xfrm>
            <a:off x="6446520" y="2121408"/>
            <a:ext cx="5193792" cy="640080"/>
          </a:xfrm>
          <a:prstGeom prst="rect">
            <a:avLst/>
          </a:prstGeom>
          <a:noFill/>
        </p:spPr>
        <p:txBody>
          <a:bodyPr wrap="square" anchor="t" lIns="0" rIns="0" tIns="0" bIns="0">
            <a:spAutoFit/>
          </a:bodyPr>
          <a:lstStyle/>
          <a:p>
            <a:pPr algn="l"/>
            <a:r>
              <a:rPr sz="1400" b="0">
                <a:solidFill>
                  <a:schemeClr val="accent5"/>
                </a:solidFill>
              </a:rPr>
              <a:t>The active one holds the whole log; older ones are prefixes nothing reads.</a:t>
            </a:r>
          </a:p>
        </p:txBody>
      </p:sp>
      <p:sp>
        <p:nvSpPr>
          <p:cNvPr id="9038" name="Number 244"/>
          <p:cNvSpPr/>
          <p:nvPr/>
        </p:nvSpPr>
        <p:spPr>
          <a:xfrm>
            <a:off x="5852160" y="288036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2</a:t>
            </a:r>
          </a:p>
        </p:txBody>
      </p:sp>
      <p:sp>
        <p:nvSpPr>
          <p:cNvPr id="9039" name="Text 245"/>
          <p:cNvSpPr txBox="1"/>
          <p:nvPr/>
        </p:nvSpPr>
        <p:spPr>
          <a:xfrm>
            <a:off x="6446520" y="2834640"/>
            <a:ext cx="5193792" cy="365760"/>
          </a:xfrm>
          <a:prstGeom prst="rect">
            <a:avLst/>
          </a:prstGeom>
          <a:noFill/>
        </p:spPr>
        <p:txBody>
          <a:bodyPr wrap="square" anchor="t" lIns="0" rIns="0" tIns="0" bIns="0">
            <a:spAutoFit/>
          </a:bodyPr>
          <a:lstStyle/>
          <a:p>
            <a:pPr algn="l"/>
            <a:r>
              <a:rPr sz="1600" b="1">
                <a:solidFill>
                  <a:schemeClr val="tx1"/>
                </a:solidFill>
              </a:rPr>
              <a:t>Proves itself first</a:t>
            </a:r>
          </a:p>
        </p:txBody>
      </p:sp>
      <p:sp>
        <p:nvSpPr>
          <p:cNvPr id="9040" name="Text 246"/>
          <p:cNvSpPr txBox="1"/>
          <p:nvPr/>
        </p:nvSpPr>
        <p:spPr>
          <a:xfrm>
            <a:off x="6446520" y="3218688"/>
            <a:ext cx="5193792" cy="640080"/>
          </a:xfrm>
          <a:prstGeom prst="rect">
            <a:avLst/>
          </a:prstGeom>
          <a:noFill/>
        </p:spPr>
        <p:txBody>
          <a:bodyPr wrap="square" anchor="t" lIns="0" rIns="0" tIns="0" bIns="0">
            <a:spAutoFit/>
          </a:bodyPr>
          <a:lstStyle/>
          <a:p>
            <a:pPr algn="l"/>
            <a:r>
              <a:rPr sz="1400" b="0">
                <a:solidFill>
                  <a:schemeClr val="accent5"/>
                </a:solidFill>
              </a:rPr>
              <a:t>First frame must be globalSeqNo 1, or every answer is ReplayUnavailable.</a:t>
            </a:r>
          </a:p>
        </p:txBody>
      </p:sp>
      <p:sp>
        <p:nvSpPr>
          <p:cNvPr id="9041" name="Number 247"/>
          <p:cNvSpPr/>
          <p:nvPr/>
        </p:nvSpPr>
        <p:spPr>
          <a:xfrm>
            <a:off x="5852160" y="397764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3</a:t>
            </a:r>
          </a:p>
        </p:txBody>
      </p:sp>
      <p:sp>
        <p:nvSpPr>
          <p:cNvPr id="9042" name="Text 248"/>
          <p:cNvSpPr txBox="1"/>
          <p:nvPr/>
        </p:nvSpPr>
        <p:spPr>
          <a:xfrm>
            <a:off x="6446520" y="3931920"/>
            <a:ext cx="5193792" cy="365760"/>
          </a:xfrm>
          <a:prstGeom prst="rect">
            <a:avLst/>
          </a:prstGeom>
          <a:noFill/>
        </p:spPr>
        <p:txBody>
          <a:bodyPr wrap="square" anchor="t" lIns="0" rIns="0" tIns="0" bIns="0">
            <a:spAutoFit/>
          </a:bodyPr>
          <a:lstStyle/>
          <a:p>
            <a:pPr algn="l"/>
            <a:r>
              <a:rPr sz="1600" b="1">
                <a:solidFill>
                  <a:schemeClr val="tx1"/>
                </a:solidFill>
              </a:rPr>
              <a:t>Four slots, one while the recorder is behind</a:t>
            </a:r>
          </a:p>
        </p:txBody>
      </p:sp>
      <p:sp>
        <p:nvSpPr>
          <p:cNvPr id="9043" name="Text 249"/>
          <p:cNvSpPr txBox="1"/>
          <p:nvPr/>
        </p:nvSpPr>
        <p:spPr>
          <a:xfrm>
            <a:off x="6446520" y="4315968"/>
            <a:ext cx="5193792" cy="640080"/>
          </a:xfrm>
          <a:prstGeom prst="rect">
            <a:avLst/>
          </a:prstGeom>
          <a:noFill/>
        </p:spPr>
        <p:txBody>
          <a:bodyPr wrap="square" anchor="t" lIns="0" rIns="0" tIns="0" bIns="0">
            <a:spAutoFit/>
          </a:bodyPr>
          <a:lstStyle/>
          <a:p>
            <a:pPr algn="l"/>
            <a:r>
              <a:rPr sz="1400" b="0">
                <a:solidFill>
                  <a:schemeClr val="accent5"/>
                </a:solidFill>
              </a:rPr>
              <a:t>Idle slots reclaimed after 5 s. Worst-case wait 20 s; clients fence at 60 s.</a:t>
            </a:r>
          </a:p>
        </p:txBody>
      </p:sp>
      <p:sp>
        <p:nvSpPr>
          <p:cNvPr id="9044" name="Number 250"/>
          <p:cNvSpPr/>
          <p:nvPr/>
        </p:nvSpPr>
        <p:spPr>
          <a:xfrm>
            <a:off x="5852160" y="507492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4</a:t>
            </a:r>
          </a:p>
        </p:txBody>
      </p:sp>
      <p:sp>
        <p:nvSpPr>
          <p:cNvPr id="9045" name="Text 251"/>
          <p:cNvSpPr txBox="1"/>
          <p:nvPr/>
        </p:nvSpPr>
        <p:spPr>
          <a:xfrm>
            <a:off x="6446520" y="5029200"/>
            <a:ext cx="5193792" cy="365760"/>
          </a:xfrm>
          <a:prstGeom prst="rect">
            <a:avLst/>
          </a:prstGeom>
          <a:noFill/>
        </p:spPr>
        <p:txBody>
          <a:bodyPr wrap="square" anchor="t" lIns="0" rIns="0" tIns="0" bIns="0">
            <a:spAutoFit/>
          </a:bodyPr>
          <a:lstStyle/>
          <a:p>
            <a:pPr algn="l"/>
            <a:r>
              <a:rPr sz="1600" b="1">
                <a:solidFill>
                  <a:schemeClr val="tx1"/>
                </a:solidFill>
              </a:rPr>
              <a:t>Never held by a client</a:t>
            </a:r>
          </a:p>
        </p:txBody>
      </p:sp>
      <p:sp>
        <p:nvSpPr>
          <p:cNvPr id="9046" name="Text 252"/>
          <p:cNvSpPr txBox="1"/>
          <p:nvPr/>
        </p:nvSpPr>
        <p:spPr>
          <a:xfrm>
            <a:off x="6446520" y="5413248"/>
            <a:ext cx="5193792" cy="640080"/>
          </a:xfrm>
          <a:prstGeom prst="rect">
            <a:avLst/>
          </a:prstGeom>
          <a:noFill/>
        </p:spPr>
        <p:txBody>
          <a:bodyPr wrap="square" anchor="t" lIns="0" rIns="0" tIns="0" bIns="0">
            <a:spAutoFit/>
          </a:bodyPr>
          <a:lstStyle/>
          <a:p>
            <a:pPr algn="l"/>
            <a:r>
              <a:rPr sz="1400" b="0">
                <a:solidFill>
                  <a:schemeClr val="accent5"/>
                </a:solidFill>
              </a:rPr>
              <a:t>Control replies get a bounded retry, then drop; clients resend.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Two kinds of producer</a:t>
            </a:r>
          </a:p>
        </p:txBody>
      </p:sp>
      <p:sp>
        <p:nvSpPr>
          <p:cNvPr id="3" name="Text 253"/>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A façade per kind; the application writes its logic and none of seqeron's</a:t>
            </a:r>
          </a:p>
        </p:txBody>
      </p:sp>
      <p:sp>
        <p:nvSpPr>
          <p:cNvPr id="9018" name="Slide number"/>
          <p:cNvSpPr txBox="1"/>
          <p:nvPr userDrawn="1"/>
        </p:nvSpPr>
        <p:spPr>
          <a:xfrm>
            <a:off x="10728655" y="6400800"/>
            <a:ext cx="914400" cy="274320"/>
          </a:xfrm>
          <a:prstGeom prst="rect">
            <a:avLst/>
          </a:prstGeom>
          <a:noFill/>
        </p:spPr>
        <p:txBody>
          <a:bodyPr wrap="none" lIns="0" tIns="0" rIns="0" bIns="0" anchor="ctr"/>
          <a:lstStyle/>
          <a:p>
            <a:pPr algn="r"/>
            <a:fld id="{0b9ae85a-6402-40af-95be-6a04f4335f34}" type="slidenum">
              <a:rPr lang="en-US" sz="1000" dirty="0">
                <a:solidFill>
                  <a:schemeClr val="accent5"/>
                </a:solidFill>
              </a:rPr>
              <a:t>18</a:t>
            </a:fld>
          </a:p>
        </p:txBody>
      </p:sp>
      <p:sp>
        <p:nvSpPr>
          <p:cNvPr id="9019" name="Producer 254"/>
          <p:cNvSpPr/>
          <p:nvPr/>
        </p:nvSpPr>
        <p:spPr>
          <a:xfrm>
            <a:off x="548640" y="1691640"/>
            <a:ext cx="5394960" cy="2743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0" name="Text 255"/>
          <p:cNvSpPr txBox="1"/>
          <p:nvPr/>
        </p:nvSpPr>
        <p:spPr>
          <a:xfrm>
            <a:off x="777240" y="1828800"/>
            <a:ext cx="4937760" cy="457200"/>
          </a:xfrm>
          <a:prstGeom prst="rect">
            <a:avLst/>
          </a:prstGeom>
          <a:noFill/>
        </p:spPr>
        <p:txBody>
          <a:bodyPr wrap="square" anchor="t" lIns="0" rIns="0" tIns="0" bIns="0">
            <a:spAutoFit/>
          </a:bodyPr>
          <a:lstStyle/>
          <a:p>
            <a:pPr algn="l"/>
            <a:r>
              <a:rPr sz="2200" b="1" cap="none">
                <a:solidFill>
                  <a:schemeClr val="tx1"/>
                </a:solidFill>
                <a:latin typeface="+mj-lt"/>
              </a:rPr>
              <a:t>Gateway</a:t>
            </a:r>
          </a:p>
        </p:txBody>
      </p:sp>
      <p:sp>
        <p:nvSpPr>
          <p:cNvPr id="9021" name="Text 256"/>
          <p:cNvSpPr txBox="1"/>
          <p:nvPr/>
        </p:nvSpPr>
        <p:spPr>
          <a:xfrm>
            <a:off x="777240" y="2286000"/>
            <a:ext cx="4937760" cy="320040"/>
          </a:xfrm>
          <a:prstGeom prst="rect">
            <a:avLst/>
          </a:prstGeom>
          <a:noFill/>
        </p:spPr>
        <p:txBody>
          <a:bodyPr wrap="square" anchor="t" lIns="0" rIns="0" tIns="0" bIns="0">
            <a:spAutoFit/>
          </a:bodyPr>
          <a:lstStyle/>
          <a:p>
            <a:pPr algn="l"/>
            <a:r>
              <a:rPr sz="1300" b="1">
                <a:solidFill>
                  <a:schemeClr val="accent1"/>
                </a:solidFill>
              </a:rPr>
              <a:t>active / hot-standby (or passive) pair</a:t>
            </a:r>
          </a:p>
        </p:txBody>
      </p:sp>
      <p:sp>
        <p:nvSpPr>
          <p:cNvPr id="9022" name="Text 257"/>
          <p:cNvSpPr txBox="1"/>
          <p:nvPr/>
        </p:nvSpPr>
        <p:spPr>
          <a:xfrm>
            <a:off x="777240" y="2743200"/>
            <a:ext cx="4937760" cy="1645920"/>
          </a:xfrm>
          <a:prstGeom prst="rect">
            <a:avLst/>
          </a:prstGeom>
          <a:noFill/>
        </p:spPr>
        <p:txBody>
          <a:bodyPr wrap="square" anchor="t" lIns="0" rIns="0" tIns="0" bIns="0">
            <a:spAutoFit/>
          </a:bodyPr>
          <a:lstStyle/>
          <a:p>
            <a:pPr algn="l" marL="228600" indent="-228600">
              <a:spcAft>
                <a:spcPts val="600"/>
              </a:spcAft>
              <a:buClr>
                <a:schemeClr val="accent1"/>
              </a:buClr>
              <a:buChar char="•"/>
            </a:pPr>
            <a:r>
              <a:rPr sz="1400" b="0">
                <a:solidFill>
                  <a:schemeClr val="tx1"/>
                </a:solidFill>
              </a:rPr>
              <a:t>Exchange session, client connection, feed handler</a:t>
            </a:r>
          </a:p>
          <a:p>
            <a:pPr algn="l" marL="228600" indent="-228600">
              <a:spcAft>
                <a:spcPts val="600"/>
              </a:spcAft>
              <a:buClr>
                <a:schemeClr val="accent1"/>
              </a:buClr>
              <a:buChar char="•"/>
            </a:pPr>
            <a:r>
              <a:rPr sz="1400" b="0">
                <a:solidFill>
                  <a:schemeClr val="tx1"/>
                </a:solidFill>
              </a:rPr>
              <a:t>The cluster designates the active instance</a:t>
            </a:r>
          </a:p>
          <a:p>
            <a:pPr algn="l" marL="228600" indent="-228600">
              <a:spcAft>
                <a:spcPts val="600"/>
              </a:spcAft>
              <a:buClr>
                <a:schemeClr val="accent1"/>
              </a:buClr>
              <a:buChar char="•"/>
            </a:pPr>
            <a:r>
              <a:rPr sz="1400" b="0">
                <a:solidFill>
                  <a:schemeClr val="tx1"/>
                </a:solidFill>
              </a:rPr>
              <a:t>Owns its external connections and a connection-id space</a:t>
            </a:r>
          </a:p>
        </p:txBody>
      </p:sp>
      <p:sp>
        <p:nvSpPr>
          <p:cNvPr id="9023" name="Producer 258"/>
          <p:cNvSpPr/>
          <p:nvPr/>
        </p:nvSpPr>
        <p:spPr>
          <a:xfrm>
            <a:off x="6245352" y="1691640"/>
            <a:ext cx="5394960" cy="2743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4" name="Text 259"/>
          <p:cNvSpPr txBox="1"/>
          <p:nvPr/>
        </p:nvSpPr>
        <p:spPr>
          <a:xfrm>
            <a:off x="6473952" y="1828800"/>
            <a:ext cx="4937760" cy="457200"/>
          </a:xfrm>
          <a:prstGeom prst="rect">
            <a:avLst/>
          </a:prstGeom>
          <a:noFill/>
        </p:spPr>
        <p:txBody>
          <a:bodyPr wrap="square" anchor="t" lIns="0" rIns="0" tIns="0" bIns="0">
            <a:spAutoFit/>
          </a:bodyPr>
          <a:lstStyle/>
          <a:p>
            <a:pPr algn="l"/>
            <a:r>
              <a:rPr sz="2200" b="1" cap="none">
                <a:solidFill>
                  <a:schemeClr val="tx1"/>
                </a:solidFill>
                <a:latin typeface="+mj-lt"/>
              </a:rPr>
              <a:t>Application</a:t>
            </a:r>
          </a:p>
        </p:txBody>
      </p:sp>
      <p:sp>
        <p:nvSpPr>
          <p:cNvPr id="9025" name="Text 260"/>
          <p:cNvSpPr txBox="1"/>
          <p:nvPr/>
        </p:nvSpPr>
        <p:spPr>
          <a:xfrm>
            <a:off x="6473952" y="2286000"/>
            <a:ext cx="4937760" cy="320040"/>
          </a:xfrm>
          <a:prstGeom prst="rect">
            <a:avLst/>
          </a:prstGeom>
          <a:noFill/>
        </p:spPr>
        <p:txBody>
          <a:bodyPr wrap="square" anchor="t" lIns="0" rIns="0" tIns="0" bIns="0">
            <a:spAutoFit/>
          </a:bodyPr>
          <a:lstStyle/>
          <a:p>
            <a:pPr algn="l"/>
            <a:r>
              <a:rPr sz="1300" b="1">
                <a:solidFill>
                  <a:schemeClr val="accent1"/>
                </a:solidFill>
              </a:rPr>
              <a:t>one instance on every member, or remote</a:t>
            </a:r>
          </a:p>
        </p:txBody>
      </p:sp>
      <p:sp>
        <p:nvSpPr>
          <p:cNvPr id="9026" name="Text 261"/>
          <p:cNvSpPr txBox="1"/>
          <p:nvPr/>
        </p:nvSpPr>
        <p:spPr>
          <a:xfrm>
            <a:off x="6473952" y="2743200"/>
            <a:ext cx="4937760" cy="1645920"/>
          </a:xfrm>
          <a:prstGeom prst="rect">
            <a:avLst/>
          </a:prstGeom>
          <a:noFill/>
        </p:spPr>
        <p:txBody>
          <a:bodyPr wrap="square" anchor="t" lIns="0" rIns="0" tIns="0" bIns="0">
            <a:spAutoFit/>
          </a:bodyPr>
          <a:lstStyle/>
          <a:p>
            <a:pPr algn="l" marL="228600" indent="-228600">
              <a:spcAft>
                <a:spcPts val="600"/>
              </a:spcAft>
              <a:buClr>
                <a:schemeClr val="accent1"/>
              </a:buClr>
              <a:buChar char="•"/>
            </a:pPr>
            <a:r>
              <a:rPr sz="1400" b="0">
                <a:solidFill>
                  <a:schemeClr val="tx1"/>
                </a:solidFill>
              </a:rPr>
              <a:t>Deterministic service over the stream; several per member</a:t>
            </a:r>
          </a:p>
          <a:p>
            <a:pPr algn="l" marL="228600" indent="-228600">
              <a:spcAft>
                <a:spcPts val="600"/>
              </a:spcAft>
              <a:buClr>
                <a:schemeClr val="accent1"/>
              </a:buClr>
              <a:buChar char="•"/>
            </a:pPr>
            <a:r>
              <a:rPr sz="1400" b="0">
                <a:solidFill>
                  <a:schemeClr val="tx1"/>
                </a:solidFill>
              </a:rPr>
              <a:t>On a member: publishes only while that member leads</a:t>
            </a:r>
          </a:p>
          <a:p>
            <a:pPr algn="l" marL="228600" indent="-228600">
              <a:spcAft>
                <a:spcPts val="600"/>
              </a:spcAft>
              <a:buClr>
                <a:schemeClr val="accent1"/>
              </a:buClr>
              <a:buChar char="•"/>
            </a:pPr>
            <a:r>
              <a:rPr sz="1400" b="0">
                <a:solidFill>
                  <a:schemeClr val="tx1"/>
                </a:solidFill>
              </a:rPr>
              <a:t>Remote: one instance on its own host, ingress over UDP</a:t>
            </a:r>
          </a:p>
          <a:p>
            <a:pPr algn="l" marL="228600" indent="-228600">
              <a:spcAft>
                <a:spcPts val="600"/>
              </a:spcAft>
              <a:buClr>
                <a:schemeClr val="accent1"/>
              </a:buClr>
              <a:buChar char="•"/>
            </a:pPr>
            <a:r>
              <a:rPr sz="1400" b="0">
                <a:solidFill>
                  <a:schemeClr val="tx1"/>
                </a:solidFill>
              </a:rPr>
              <a:t>Owns leader-only work: replies, outbound effects</a:t>
            </a:r>
          </a:p>
        </p:txBody>
      </p:sp>
      <p:sp>
        <p:nvSpPr>
          <p:cNvPr id="9027" name="Text 262"/>
          <p:cNvSpPr txBox="1"/>
          <p:nvPr/>
        </p:nvSpPr>
        <p:spPr>
          <a:xfrm>
            <a:off x="548640" y="4663440"/>
            <a:ext cx="11094415" cy="320040"/>
          </a:xfrm>
          <a:prstGeom prst="rect">
            <a:avLst/>
          </a:prstGeom>
          <a:noFill/>
        </p:spPr>
        <p:txBody>
          <a:bodyPr wrap="square" anchor="t" lIns="0" rIns="0" tIns="0" bIns="0">
            <a:spAutoFit/>
          </a:bodyPr>
          <a:lstStyle/>
          <a:p>
            <a:pPr algn="l"/>
            <a:r>
              <a:rPr sz="1200" b="1">
                <a:solidFill>
                  <a:schemeClr val="accent5"/>
                </a:solidFill>
              </a:rPr>
              <a:t>EACH FAÇADE'S doWork(), ON THE CALLER'S THREAD</a:t>
            </a:r>
          </a:p>
        </p:txBody>
      </p:sp>
      <p:sp>
        <p:nvSpPr>
          <p:cNvPr id="9028" name="Box 263"/>
          <p:cNvSpPr/>
          <p:nvPr/>
        </p:nvSpPr>
        <p:spPr>
          <a:xfrm>
            <a:off x="548640" y="5029200"/>
            <a:ext cx="1999427" cy="640080"/>
          </a:xfrm>
          <a:prstGeom prst="roundRect">
            <a:avLst>
              <a:gd name="adj" fmla="val 8000"/>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Cluster session</a:t>
            </a:r>
          </a:p>
        </p:txBody>
      </p:sp>
      <p:cxnSp>
        <p:nvCxnSpPr>
          <p:cNvPr id="9029" name="Arrow 264"/>
          <p:cNvCxnSpPr/>
          <p:nvPr/>
        </p:nvCxnSpPr>
        <p:spPr>
          <a:xfrm>
            <a:off x="2548067" y="5349240"/>
            <a:ext cx="27432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0" name="Box 265"/>
          <p:cNvSpPr/>
          <p:nvPr/>
        </p:nvSpPr>
        <p:spPr>
          <a:xfrm>
            <a:off x="2822387" y="5029200"/>
            <a:ext cx="1999427" cy="640080"/>
          </a:xfrm>
          <a:prstGeom prst="roundRect">
            <a:avLst>
              <a:gd name="adj" fmla="val 8000"/>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Tap + recovery</a:t>
            </a:r>
          </a:p>
        </p:txBody>
      </p:sp>
      <p:cxnSp>
        <p:nvCxnSpPr>
          <p:cNvPr id="9031" name="Arrow 266"/>
          <p:cNvCxnSpPr/>
          <p:nvPr/>
        </p:nvCxnSpPr>
        <p:spPr>
          <a:xfrm>
            <a:off x="4821814" y="5349240"/>
            <a:ext cx="27432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2" name="Box 267"/>
          <p:cNvSpPr/>
          <p:nvPr/>
        </p:nvSpPr>
        <p:spPr>
          <a:xfrm>
            <a:off x="5096134" y="5029200"/>
            <a:ext cx="1999427" cy="640080"/>
          </a:xfrm>
          <a:prstGeom prst="roundRect">
            <a:avLst>
              <a:gd name="adj" fmla="val 8000"/>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Confirmed ingress</a:t>
            </a:r>
          </a:p>
        </p:txBody>
      </p:sp>
      <p:cxnSp>
        <p:nvCxnSpPr>
          <p:cNvPr id="9033" name="Arrow 268"/>
          <p:cNvCxnSpPr/>
          <p:nvPr/>
        </p:nvCxnSpPr>
        <p:spPr>
          <a:xfrm>
            <a:off x="7095561" y="5349240"/>
            <a:ext cx="27432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4" name="Box 269"/>
          <p:cNvSpPr/>
          <p:nvPr/>
        </p:nvSpPr>
        <p:spPr>
          <a:xfrm>
            <a:off x="7369881" y="5029200"/>
            <a:ext cx="1999427" cy="640080"/>
          </a:xfrm>
          <a:prstGeom prst="roundRect">
            <a:avLst>
              <a:gd name="adj" fmla="val 8000"/>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Election or leader gate</a:t>
            </a:r>
          </a:p>
        </p:txBody>
      </p:sp>
      <p:cxnSp>
        <p:nvCxnSpPr>
          <p:cNvPr id="9035" name="Arrow 270"/>
          <p:cNvCxnSpPr/>
          <p:nvPr/>
        </p:nvCxnSpPr>
        <p:spPr>
          <a:xfrm>
            <a:off x="9369308" y="5349240"/>
            <a:ext cx="27432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6" name="Box 271"/>
          <p:cNvSpPr/>
          <p:nvPr/>
        </p:nvSpPr>
        <p:spPr>
          <a:xfrm>
            <a:off x="9643628" y="5029200"/>
            <a:ext cx="1999427" cy="640080"/>
          </a:xfrm>
          <a:prstGeom prst="roundRect">
            <a:avLst>
              <a:gd name="adj" fmla="val 8000"/>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Fences</a:t>
            </a:r>
          </a:p>
        </p:txBody>
      </p:sp>
      <p:sp>
        <p:nvSpPr>
          <p:cNvPr id="9037" name="Text 272"/>
          <p:cNvSpPr txBox="1"/>
          <p:nvPr/>
        </p:nvSpPr>
        <p:spPr>
          <a:xfrm>
            <a:off x="548640" y="5760720"/>
            <a:ext cx="11094415" cy="594360"/>
          </a:xfrm>
          <a:prstGeom prst="rect">
            <a:avLst/>
          </a:prstGeom>
          <a:noFill/>
        </p:spPr>
        <p:txBody>
          <a:bodyPr wrap="square" anchor="t" lIns="0" rIns="0" tIns="0" bIns="0">
            <a:spAutoFit/>
          </a:bodyPr>
          <a:lstStyle/>
          <a:p>
            <a:pPr algn="l">
              <a:spcAft>
                <a:spcPts val="200"/>
              </a:spcAft>
            </a:pPr>
            <a:r>
              <a:rPr sz="1300" b="1">
                <a:solidFill>
                  <a:schemeClr val="accent5"/>
                </a:solidFill>
              </a:rPr>
              <a:t>Fence: </a:t>
            </a:r>
            <a:r>
              <a:rPr sz="1300" b="0">
                <a:solidFill>
                  <a:schemeClr val="accent5"/>
                </a:solidFill>
              </a:rPr>
              <a:t>an instance that can no longer trust its view of the log reports once, releases its session and stops acting.</a:t>
            </a:r>
          </a:p>
          <a:p>
            <a:pPr algn="l"/>
            <a:r>
              <a:rPr sz="1300" b="1">
                <a:solidFill>
                  <a:schemeClr val="accent5"/>
                </a:solidFill>
              </a:rPr>
              <a:t>Topology: </a:t>
            </a:r>
            <a:r>
              <a:rPr sz="1300" b="0">
                <a:solidFill>
                  <a:schemeClr val="accent5"/>
                </a:solidFill>
              </a:rPr>
              <a:t>one document declares both kinds; clusterctl load-topology puts it on the log.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The gateway election</a:t>
            </a:r>
          </a:p>
        </p:txBody>
      </p:sp>
      <p:sp>
        <p:nvSpPr>
          <p:cNvPr id="3" name="Text 273"/>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Every input comes from the log; the output is a sequenced frame</a:t>
            </a:r>
          </a:p>
        </p:txBody>
      </p:sp>
      <p:sp>
        <p:nvSpPr>
          <p:cNvPr id="9019" name="Slide number"/>
          <p:cNvSpPr txBox="1"/>
          <p:nvPr userDrawn="1"/>
        </p:nvSpPr>
        <p:spPr>
          <a:xfrm>
            <a:off x="10728655" y="6400800"/>
            <a:ext cx="914400" cy="274320"/>
          </a:xfrm>
          <a:prstGeom prst="rect">
            <a:avLst/>
          </a:prstGeom>
          <a:noFill/>
        </p:spPr>
        <p:txBody>
          <a:bodyPr wrap="none" lIns="0" tIns="0" rIns="0" bIns="0" anchor="ctr"/>
          <a:lstStyle/>
          <a:p>
            <a:pPr algn="r"/>
            <a:fld id="{4b735f69-d61c-461d-9b7d-36e6f2a9743d}" type="slidenum">
              <a:rPr lang="en-US" sz="1000" dirty="0">
                <a:solidFill>
                  <a:schemeClr val="accent5"/>
                </a:solidFill>
              </a:rPr>
              <a:t>19</a:t>
            </a:fld>
          </a:p>
        </p:txBody>
      </p:sp>
      <p:sp>
        <p:nvSpPr>
          <p:cNvPr id="9020" name="Text 274"/>
          <p:cNvSpPr txBox="1"/>
          <p:nvPr/>
        </p:nvSpPr>
        <p:spPr>
          <a:xfrm>
            <a:off x="548640" y="1600200"/>
            <a:ext cx="4528333" cy="294342"/>
          </a:xfrm>
          <a:prstGeom prst="rect">
            <a:avLst/>
          </a:prstGeom>
          <a:noFill/>
        </p:spPr>
        <p:txBody>
          <a:bodyPr wrap="square" anchor="ctr" lIns="0" rIns="0" tIns="0" bIns="0">
            <a:spAutoFit/>
          </a:bodyPr>
          <a:lstStyle/>
          <a:p>
            <a:pPr algn="l"/>
            <a:r>
              <a:rPr sz="1200" b="0">
                <a:solidFill>
                  <a:schemeClr val="accent5"/>
                </a:solidFill>
              </a:rPr>
              <a:t>log, in globalSeqNo order →</a:t>
            </a:r>
          </a:p>
        </p:txBody>
      </p:sp>
      <p:sp>
        <p:nvSpPr>
          <p:cNvPr id="9021" name="Box 275"/>
          <p:cNvSpPr/>
          <p:nvPr/>
        </p:nvSpPr>
        <p:spPr>
          <a:xfrm>
            <a:off x="548640" y="1985108"/>
            <a:ext cx="1449066" cy="928308"/>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GatewayRegistered</a:t>
            </a:r>
          </a:p>
          <a:p>
            <a:pPr algn="ctr"/>
            <a:r>
              <a:rPr sz="1000" b="0">
                <a:solidFill>
                  <a:schemeClr val="accent5"/>
                </a:solidFill>
              </a:rPr>
              <a:t>GW-A · rank 0</a:t>
            </a:r>
          </a:p>
        </p:txBody>
      </p:sp>
      <p:sp>
        <p:nvSpPr>
          <p:cNvPr id="9022" name="Box 276"/>
          <p:cNvSpPr/>
          <p:nvPr/>
        </p:nvSpPr>
        <p:spPr>
          <a:xfrm>
            <a:off x="2110915" y="1985108"/>
            <a:ext cx="1449066" cy="928308"/>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GatewayRegistered</a:t>
            </a:r>
          </a:p>
          <a:p>
            <a:pPr algn="ctr"/>
            <a:r>
              <a:rPr sz="1000" b="0">
                <a:solidFill>
                  <a:schemeClr val="accent5"/>
                </a:solidFill>
              </a:rPr>
              <a:t>GW-B · rank 1 · last</a:t>
            </a:r>
          </a:p>
        </p:txBody>
      </p:sp>
      <p:sp>
        <p:nvSpPr>
          <p:cNvPr id="9023" name="Box 277"/>
          <p:cNvSpPr/>
          <p:nvPr/>
        </p:nvSpPr>
        <p:spPr>
          <a:xfrm>
            <a:off x="3673190" y="1985108"/>
            <a:ext cx="1449066" cy="928308"/>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GatewayActive</a:t>
            </a:r>
          </a:p>
          <a:p>
            <a:pPr algn="ctr"/>
            <a:r>
              <a:rPr sz="1000" b="0">
                <a:solidFill>
                  <a:schemeClr val="accent5"/>
                </a:solidFill>
              </a:rPr>
              <a:t>GW-A · bootstrap</a:t>
            </a:r>
          </a:p>
        </p:txBody>
      </p:sp>
      <p:sp>
        <p:nvSpPr>
          <p:cNvPr id="9024" name="Box 278"/>
          <p:cNvSpPr/>
          <p:nvPr/>
        </p:nvSpPr>
        <p:spPr>
          <a:xfrm>
            <a:off x="5235464" y="1985108"/>
            <a:ext cx="1449066" cy="928308"/>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GatewayStarted</a:t>
            </a:r>
          </a:p>
          <a:p>
            <a:pPr algn="ctr"/>
            <a:r>
              <a:rPr sz="1000" b="0">
                <a:solidFill>
                  <a:schemeClr val="accent5"/>
                </a:solidFill>
              </a:rPr>
              <a:t>GW-A · binds session</a:t>
            </a:r>
          </a:p>
        </p:txBody>
      </p:sp>
      <p:sp>
        <p:nvSpPr>
          <p:cNvPr id="9025" name="Box 279"/>
          <p:cNvSpPr/>
          <p:nvPr/>
        </p:nvSpPr>
        <p:spPr>
          <a:xfrm>
            <a:off x="6797739" y="1985108"/>
            <a:ext cx="1449066" cy="928308"/>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ConnectionOpened</a:t>
            </a:r>
          </a:p>
          <a:p>
            <a:pPr algn="ctr"/>
            <a:r>
              <a:rPr sz="1000" b="0">
                <a:solidFill>
                  <a:schemeClr val="accent5"/>
                </a:solidFill>
              </a:rPr>
              <a:t>ids 1 … n, by GW-A</a:t>
            </a:r>
          </a:p>
        </p:txBody>
      </p:sp>
      <p:sp>
        <p:nvSpPr>
          <p:cNvPr id="9026" name="Box 280"/>
          <p:cNvSpPr/>
          <p:nvPr/>
        </p:nvSpPr>
        <p:spPr>
          <a:xfrm>
            <a:off x="8360014" y="1985108"/>
            <a:ext cx="1449066" cy="928308"/>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GatewayActive</a:t>
            </a:r>
          </a:p>
          <a:p>
            <a:pPr algn="ctr"/>
            <a:r>
              <a:rPr sz="1000" b="0">
                <a:solidFill>
                  <a:schemeClr val="accent5"/>
                </a:solidFill>
              </a:rPr>
              <a:t>GW-B · A's session closed</a:t>
            </a:r>
          </a:p>
        </p:txBody>
      </p:sp>
      <p:sp>
        <p:nvSpPr>
          <p:cNvPr id="9027" name="Box 281"/>
          <p:cNvSpPr/>
          <p:nvPr/>
        </p:nvSpPr>
        <p:spPr>
          <a:xfrm>
            <a:off x="9922289" y="1985108"/>
            <a:ext cx="1449066" cy="928308"/>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GatewayStarted</a:t>
            </a:r>
          </a:p>
          <a:p>
            <a:pPr algn="ctr"/>
            <a:r>
              <a:rPr sz="1000" b="0">
                <a:solidFill>
                  <a:schemeClr val="accent5"/>
                </a:solidFill>
              </a:rPr>
              <a:t>GW-B · first id &gt; n</a:t>
            </a:r>
          </a:p>
        </p:txBody>
      </p:sp>
      <p:sp>
        <p:nvSpPr>
          <p:cNvPr id="9028" name="Text 282"/>
          <p:cNvSpPr txBox="1"/>
          <p:nvPr/>
        </p:nvSpPr>
        <p:spPr>
          <a:xfrm>
            <a:off x="548640" y="3185116"/>
            <a:ext cx="679250" cy="339625"/>
          </a:xfrm>
          <a:prstGeom prst="rect">
            <a:avLst/>
          </a:prstGeom>
          <a:noFill/>
        </p:spPr>
        <p:txBody>
          <a:bodyPr wrap="square" anchor="ctr" lIns="0" rIns="0" tIns="0" bIns="0">
            <a:spAutoFit/>
          </a:bodyPr>
          <a:lstStyle/>
          <a:p>
            <a:pPr algn="l"/>
            <a:r>
              <a:rPr sz="1300" b="1">
                <a:solidFill>
                  <a:schemeClr val="tx1"/>
                </a:solidFill>
              </a:rPr>
              <a:t>GW-A</a:t>
            </a:r>
          </a:p>
        </p:txBody>
      </p:sp>
      <p:sp>
        <p:nvSpPr>
          <p:cNvPr id="9029" name="Box 283"/>
          <p:cNvSpPr/>
          <p:nvPr/>
        </p:nvSpPr>
        <p:spPr>
          <a:xfrm>
            <a:off x="5235464" y="3207758"/>
            <a:ext cx="3124550" cy="29434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bg1"/>
                </a:solidFill>
              </a:rPr>
              <a:t>serving</a:t>
            </a:r>
          </a:p>
        </p:txBody>
      </p:sp>
      <p:sp>
        <p:nvSpPr>
          <p:cNvPr id="9030" name="Text 284"/>
          <p:cNvSpPr txBox="1"/>
          <p:nvPr/>
        </p:nvSpPr>
        <p:spPr>
          <a:xfrm>
            <a:off x="8427939" y="3185116"/>
            <a:ext cx="2264166" cy="339625"/>
          </a:xfrm>
          <a:prstGeom prst="rect">
            <a:avLst/>
          </a:prstGeom>
          <a:noFill/>
        </p:spPr>
        <p:txBody>
          <a:bodyPr wrap="square" anchor="ctr" lIns="0" rIns="0" tIns="0" bIns="0">
            <a:spAutoFit/>
          </a:bodyPr>
          <a:lstStyle/>
          <a:p>
            <a:pPr algn="l"/>
            <a:r>
              <a:rPr sz="1100" b="0">
                <a:solidFill>
                  <a:schemeClr val="accent5"/>
                </a:solidFill>
              </a:rPr>
              <a:t>crashed: session closes</a:t>
            </a:r>
          </a:p>
        </p:txBody>
      </p:sp>
      <p:sp>
        <p:nvSpPr>
          <p:cNvPr id="9031" name="Text 285"/>
          <p:cNvSpPr txBox="1"/>
          <p:nvPr/>
        </p:nvSpPr>
        <p:spPr>
          <a:xfrm>
            <a:off x="548640" y="3751158"/>
            <a:ext cx="679250" cy="339625"/>
          </a:xfrm>
          <a:prstGeom prst="rect">
            <a:avLst/>
          </a:prstGeom>
          <a:noFill/>
        </p:spPr>
        <p:txBody>
          <a:bodyPr wrap="square" anchor="ctr" lIns="0" rIns="0" tIns="0" bIns="0">
            <a:spAutoFit/>
          </a:bodyPr>
          <a:lstStyle/>
          <a:p>
            <a:pPr algn="l"/>
            <a:r>
              <a:rPr sz="1300" b="1">
                <a:solidFill>
                  <a:schemeClr val="tx1"/>
                </a:solidFill>
              </a:rPr>
              <a:t>GW-B</a:t>
            </a:r>
          </a:p>
        </p:txBody>
      </p:sp>
      <p:sp>
        <p:nvSpPr>
          <p:cNvPr id="9032" name="Box 286"/>
          <p:cNvSpPr/>
          <p:nvPr/>
        </p:nvSpPr>
        <p:spPr>
          <a:xfrm>
            <a:off x="1227890" y="3773800"/>
            <a:ext cx="7132124" cy="294342"/>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33" name="Text 287"/>
          <p:cNvSpPr txBox="1"/>
          <p:nvPr/>
        </p:nvSpPr>
        <p:spPr>
          <a:xfrm>
            <a:off x="1341098" y="3751158"/>
            <a:ext cx="6792499" cy="339625"/>
          </a:xfrm>
          <a:prstGeom prst="rect">
            <a:avLst/>
          </a:prstGeom>
          <a:noFill/>
        </p:spPr>
        <p:txBody>
          <a:bodyPr wrap="square" anchor="ctr" lIns="0" rIns="0" tIns="0" bIns="0">
            <a:spAutoFit/>
          </a:bodyPr>
          <a:lstStyle/>
          <a:p>
            <a:pPr algn="l"/>
            <a:r>
              <a:rPr sz="1100" b="0">
                <a:solidFill>
                  <a:schemeClr val="tx1"/>
                </a:solidFill>
              </a:rPr>
              <a:t>hot standby: follows the tap, rebuilds A's connections from the log</a:t>
            </a:r>
          </a:p>
        </p:txBody>
      </p:sp>
      <p:sp>
        <p:nvSpPr>
          <p:cNvPr id="9034" name="Box 288"/>
          <p:cNvSpPr/>
          <p:nvPr/>
        </p:nvSpPr>
        <p:spPr>
          <a:xfrm>
            <a:off x="9922289" y="3773800"/>
            <a:ext cx="1449066" cy="29434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bg1"/>
                </a:solidFill>
              </a:rPr>
              <a:t>serving</a:t>
            </a:r>
          </a:p>
        </p:txBody>
      </p:sp>
      <p:sp>
        <p:nvSpPr>
          <p:cNvPr id="9035" name="Legend 289"/>
          <p:cNvSpPr/>
          <p:nvPr/>
        </p:nvSpPr>
        <p:spPr>
          <a:xfrm>
            <a:off x="548640" y="4408640"/>
            <a:ext cx="274320" cy="27432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6" name="Text 290"/>
          <p:cNvSpPr txBox="1"/>
          <p:nvPr/>
        </p:nvSpPr>
        <p:spPr>
          <a:xfrm>
            <a:off x="914400" y="4362920"/>
            <a:ext cx="4572000" cy="365760"/>
          </a:xfrm>
          <a:prstGeom prst="rect">
            <a:avLst/>
          </a:prstGeom>
          <a:noFill/>
        </p:spPr>
        <p:txBody>
          <a:bodyPr wrap="square" anchor="ctr" lIns="0" rIns="0" tIns="0" bIns="0">
            <a:spAutoFit/>
          </a:bodyPr>
          <a:lstStyle/>
          <a:p>
            <a:pPr algn="l"/>
            <a:r>
              <a:rPr sz="1200" b="0">
                <a:solidFill>
                  <a:schemeClr val="accent5"/>
                </a:solidFill>
              </a:rPr>
              <a:t>synthesized by the sequencer</a:t>
            </a:r>
          </a:p>
        </p:txBody>
      </p:sp>
      <p:sp>
        <p:nvSpPr>
          <p:cNvPr id="9037" name="Legend 291"/>
          <p:cNvSpPr/>
          <p:nvPr/>
        </p:nvSpPr>
        <p:spPr>
          <a:xfrm>
            <a:off x="4389120" y="4408640"/>
            <a:ext cx="274320" cy="27432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8" name="Text 292"/>
          <p:cNvSpPr txBox="1"/>
          <p:nvPr/>
        </p:nvSpPr>
        <p:spPr>
          <a:xfrm>
            <a:off x="4754880" y="4362920"/>
            <a:ext cx="5486400" cy="365760"/>
          </a:xfrm>
          <a:prstGeom prst="rect">
            <a:avLst/>
          </a:prstGeom>
          <a:noFill/>
        </p:spPr>
        <p:txBody>
          <a:bodyPr wrap="square" anchor="ctr" lIns="0" rIns="0" tIns="0" bIns="0">
            <a:spAutoFit/>
          </a:bodyPr>
          <a:lstStyle/>
          <a:p>
            <a:pPr algn="l"/>
            <a:r>
              <a:rPr sz="1200" b="0">
                <a:solidFill>
                  <a:schemeClr val="accent5"/>
                </a:solidFill>
              </a:rPr>
              <a:t>submitted by clusterctl or an instance</a:t>
            </a:r>
          </a:p>
        </p:txBody>
      </p:sp>
      <p:sp>
        <p:nvSpPr>
          <p:cNvPr id="9039" name="Card 293"/>
          <p:cNvSpPr/>
          <p:nvPr/>
        </p:nvSpPr>
        <p:spPr>
          <a:xfrm>
            <a:off x="548640" y="4957280"/>
            <a:ext cx="11094415"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201168" bIns="201168"/>
          <a:lstStyle/>
          <a:p>
            <a:pPr algn="l"/>
            <a:r>
              <a:rPr sz="1500" b="1">
                <a:solidFill>
                  <a:schemeClr val="tx1"/>
                </a:solidFill>
              </a:rPr>
              <a:t>Every gateway instance and every application sees the same decision at the same globalSeqNo. </a:t>
            </a:r>
            <a:r>
              <a:rPr sz="1500" b="0">
                <a:solidFill>
                  <a:schemeClr val="tx1"/>
                </a:solidFill>
              </a:rPr>
              <a:t>No two instances can act as active on inconsistent information.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Confirmed ingress</a:t>
            </a:r>
          </a:p>
        </p:txBody>
      </p:sp>
      <p:sp>
        <p:nvSpPr>
          <p:cNvPr id="3" name="Text 294"/>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A failover can lose uncommitted ingress silently; the producer's own tap finds it</a:t>
            </a:r>
          </a:p>
        </p:txBody>
      </p:sp>
      <p:sp>
        <p:nvSpPr>
          <p:cNvPr id="9020" name="Slide number"/>
          <p:cNvSpPr txBox="1"/>
          <p:nvPr userDrawn="1"/>
        </p:nvSpPr>
        <p:spPr>
          <a:xfrm>
            <a:off x="10728655" y="6400800"/>
            <a:ext cx="914400" cy="274320"/>
          </a:xfrm>
          <a:prstGeom prst="rect">
            <a:avLst/>
          </a:prstGeom>
          <a:noFill/>
        </p:spPr>
        <p:txBody>
          <a:bodyPr wrap="none" lIns="0" tIns="0" rIns="0" bIns="0" anchor="ctr"/>
          <a:lstStyle/>
          <a:p>
            <a:pPr algn="r"/>
            <a:fld id="{afcc7631-265b-4bab-ac7c-1ecedee7397b}" type="slidenum">
              <a:rPr lang="en-US" sz="1000" dirty="0">
                <a:solidFill>
                  <a:schemeClr val="accent5"/>
                </a:solidFill>
              </a:rPr>
              <a:t>20</a:t>
            </a:fld>
          </a:p>
        </p:txBody>
      </p:sp>
      <p:sp>
        <p:nvSpPr>
          <p:cNvPr id="9021" name="Text 295"/>
          <p:cNvSpPr txBox="1"/>
          <p:nvPr/>
        </p:nvSpPr>
        <p:spPr>
          <a:xfrm>
            <a:off x="548640" y="2011680"/>
            <a:ext cx="1645920" cy="548640"/>
          </a:xfrm>
          <a:prstGeom prst="rect">
            <a:avLst/>
          </a:prstGeom>
          <a:noFill/>
        </p:spPr>
        <p:txBody>
          <a:bodyPr wrap="square" anchor="ctr" lIns="0" rIns="0" tIns="0" bIns="0">
            <a:spAutoFit/>
          </a:bodyPr>
          <a:lstStyle/>
          <a:p>
            <a:pPr algn="l"/>
            <a:r>
              <a:rPr sz="1400" b="1">
                <a:solidFill>
                  <a:schemeClr val="tx1"/>
                </a:solidFill>
              </a:rPr>
              <a:t>Producer places</a:t>
            </a:r>
          </a:p>
        </p:txBody>
      </p:sp>
      <p:sp>
        <p:nvSpPr>
          <p:cNvPr id="9022" name="Text 296"/>
          <p:cNvSpPr txBox="1"/>
          <p:nvPr/>
        </p:nvSpPr>
        <p:spPr>
          <a:xfrm>
            <a:off x="548640" y="3291840"/>
            <a:ext cx="1645920" cy="548640"/>
          </a:xfrm>
          <a:prstGeom prst="rect">
            <a:avLst/>
          </a:prstGeom>
          <a:noFill/>
        </p:spPr>
        <p:txBody>
          <a:bodyPr wrap="square" anchor="ctr" lIns="0" rIns="0" tIns="0" bIns="0">
            <a:spAutoFit/>
          </a:bodyPr>
          <a:lstStyle/>
          <a:p>
            <a:pPr algn="l"/>
            <a:r>
              <a:rPr sz="1400" b="1">
                <a:solidFill>
                  <a:schemeClr val="tx1"/>
                </a:solidFill>
              </a:rPr>
              <a:t>Own tap shows</a:t>
            </a:r>
          </a:p>
        </p:txBody>
      </p:sp>
      <p:sp>
        <p:nvSpPr>
          <p:cNvPr id="9023" name="Box 297"/>
          <p:cNvSpPr/>
          <p:nvPr/>
        </p:nvSpPr>
        <p:spPr>
          <a:xfrm>
            <a:off x="2286000" y="201168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f1</a:t>
            </a:r>
          </a:p>
        </p:txBody>
      </p:sp>
      <p:sp>
        <p:nvSpPr>
          <p:cNvPr id="9024" name="Box 298"/>
          <p:cNvSpPr/>
          <p:nvPr/>
        </p:nvSpPr>
        <p:spPr>
          <a:xfrm>
            <a:off x="3044952" y="201168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f2</a:t>
            </a:r>
          </a:p>
        </p:txBody>
      </p:sp>
      <p:sp>
        <p:nvSpPr>
          <p:cNvPr id="9025" name="Box 299"/>
          <p:cNvSpPr/>
          <p:nvPr/>
        </p:nvSpPr>
        <p:spPr>
          <a:xfrm>
            <a:off x="3803904" y="201168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f3</a:t>
            </a:r>
          </a:p>
        </p:txBody>
      </p:sp>
      <p:sp>
        <p:nvSpPr>
          <p:cNvPr id="9026" name="Box 300"/>
          <p:cNvSpPr/>
          <p:nvPr/>
        </p:nvSpPr>
        <p:spPr>
          <a:xfrm>
            <a:off x="4562856" y="2011680"/>
            <a:ext cx="685800" cy="548640"/>
          </a:xfrm>
          <a:prstGeom prst="rect">
            <a:avLst/>
          </a:prstGeom>
          <a:noFill/>
          <a:ln w="15875">
            <a:solidFill>
              <a:schemeClr val="accent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accent2"/>
                </a:solidFill>
              </a:rPr>
              <a:t>f4</a:t>
            </a:r>
          </a:p>
        </p:txBody>
      </p:sp>
      <p:sp>
        <p:nvSpPr>
          <p:cNvPr id="9027" name="Box 301"/>
          <p:cNvSpPr/>
          <p:nvPr/>
        </p:nvSpPr>
        <p:spPr>
          <a:xfrm>
            <a:off x="5321808" y="2011680"/>
            <a:ext cx="685800" cy="548640"/>
          </a:xfrm>
          <a:prstGeom prst="rect">
            <a:avLst/>
          </a:prstGeom>
          <a:noFill/>
          <a:ln w="15875">
            <a:solidFill>
              <a:schemeClr val="accent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accent2"/>
                </a:solidFill>
              </a:rPr>
              <a:t>f5</a:t>
            </a:r>
          </a:p>
        </p:txBody>
      </p:sp>
      <p:sp>
        <p:nvSpPr>
          <p:cNvPr id="9028" name="Box 302"/>
          <p:cNvSpPr/>
          <p:nvPr/>
        </p:nvSpPr>
        <p:spPr>
          <a:xfrm>
            <a:off x="6080760" y="2011680"/>
            <a:ext cx="685800" cy="548640"/>
          </a:xfrm>
          <a:prstGeom prst="rect">
            <a:avLst/>
          </a:prstGeom>
          <a:noFill/>
          <a:ln w="15875">
            <a:solidFill>
              <a:schemeClr val="accent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accent2"/>
                </a:solidFill>
              </a:rPr>
              <a:t>f6</a:t>
            </a:r>
          </a:p>
        </p:txBody>
      </p:sp>
      <p:sp>
        <p:nvSpPr>
          <p:cNvPr id="9029" name="Box 303"/>
          <p:cNvSpPr/>
          <p:nvPr/>
        </p:nvSpPr>
        <p:spPr>
          <a:xfrm>
            <a:off x="2286000" y="329184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f1</a:t>
            </a:r>
          </a:p>
        </p:txBody>
      </p:sp>
      <p:sp>
        <p:nvSpPr>
          <p:cNvPr id="9030" name="Box 304"/>
          <p:cNvSpPr/>
          <p:nvPr/>
        </p:nvSpPr>
        <p:spPr>
          <a:xfrm>
            <a:off x="3044952" y="329184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f2</a:t>
            </a:r>
          </a:p>
        </p:txBody>
      </p:sp>
      <p:sp>
        <p:nvSpPr>
          <p:cNvPr id="9031" name="Box 305"/>
          <p:cNvSpPr/>
          <p:nvPr/>
        </p:nvSpPr>
        <p:spPr>
          <a:xfrm>
            <a:off x="3803904" y="329184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f3</a:t>
            </a:r>
          </a:p>
        </p:txBody>
      </p:sp>
      <p:sp>
        <p:nvSpPr>
          <p:cNvPr id="9032" name="Box 306"/>
          <p:cNvSpPr/>
          <p:nvPr/>
        </p:nvSpPr>
        <p:spPr>
          <a:xfrm>
            <a:off x="4562856" y="3291840"/>
            <a:ext cx="1993392" cy="54864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LeadershipChanged</a:t>
            </a:r>
          </a:p>
          <a:p>
            <a:pPr algn="ctr"/>
            <a:r>
              <a:rPr sz="1000" b="0">
                <a:solidFill>
                  <a:schemeClr val="accent5"/>
                </a:solidFill>
              </a:rPr>
              <a:t>term T+1</a:t>
            </a:r>
          </a:p>
        </p:txBody>
      </p:sp>
      <p:sp>
        <p:nvSpPr>
          <p:cNvPr id="9033" name="Box 307"/>
          <p:cNvSpPr/>
          <p:nvPr/>
        </p:nvSpPr>
        <p:spPr>
          <a:xfrm>
            <a:off x="7315200" y="2011680"/>
            <a:ext cx="685800" cy="54864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f4</a:t>
            </a:r>
          </a:p>
        </p:txBody>
      </p:sp>
      <p:sp>
        <p:nvSpPr>
          <p:cNvPr id="9034" name="Box 308"/>
          <p:cNvSpPr/>
          <p:nvPr/>
        </p:nvSpPr>
        <p:spPr>
          <a:xfrm>
            <a:off x="7315200" y="329184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f4</a:t>
            </a:r>
          </a:p>
        </p:txBody>
      </p:sp>
      <p:sp>
        <p:nvSpPr>
          <p:cNvPr id="9035" name="Box 309"/>
          <p:cNvSpPr/>
          <p:nvPr/>
        </p:nvSpPr>
        <p:spPr>
          <a:xfrm>
            <a:off x="8074152" y="2011680"/>
            <a:ext cx="685800" cy="54864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f5</a:t>
            </a:r>
          </a:p>
        </p:txBody>
      </p:sp>
      <p:sp>
        <p:nvSpPr>
          <p:cNvPr id="9036" name="Box 310"/>
          <p:cNvSpPr/>
          <p:nvPr/>
        </p:nvSpPr>
        <p:spPr>
          <a:xfrm>
            <a:off x="8074152" y="329184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f5</a:t>
            </a:r>
          </a:p>
        </p:txBody>
      </p:sp>
      <p:sp>
        <p:nvSpPr>
          <p:cNvPr id="9037" name="Box 311"/>
          <p:cNvSpPr/>
          <p:nvPr/>
        </p:nvSpPr>
        <p:spPr>
          <a:xfrm>
            <a:off x="8833104" y="2011680"/>
            <a:ext cx="685800" cy="54864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f6</a:t>
            </a:r>
          </a:p>
        </p:txBody>
      </p:sp>
      <p:sp>
        <p:nvSpPr>
          <p:cNvPr id="9038" name="Box 312"/>
          <p:cNvSpPr/>
          <p:nvPr/>
        </p:nvSpPr>
        <p:spPr>
          <a:xfrm>
            <a:off x="8833104" y="329184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f6</a:t>
            </a:r>
          </a:p>
        </p:txBody>
      </p:sp>
      <p:sp>
        <p:nvSpPr>
          <p:cNvPr id="9039" name="Box 313"/>
          <p:cNvSpPr/>
          <p:nvPr/>
        </p:nvSpPr>
        <p:spPr>
          <a:xfrm>
            <a:off x="9592056" y="201168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f7</a:t>
            </a:r>
          </a:p>
        </p:txBody>
      </p:sp>
      <p:sp>
        <p:nvSpPr>
          <p:cNvPr id="9040" name="Box 314"/>
          <p:cNvSpPr/>
          <p:nvPr/>
        </p:nvSpPr>
        <p:spPr>
          <a:xfrm>
            <a:off x="9592056" y="3291840"/>
            <a:ext cx="685800" cy="5486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f7</a:t>
            </a:r>
          </a:p>
        </p:txBody>
      </p:sp>
      <p:sp>
        <p:nvSpPr>
          <p:cNvPr id="4" name="Path 315"/>
          <p:cNvSpPr/>
          <p:nvPr/>
        </p:nvSpPr>
        <p:spPr>
          <a:xfrm>
            <a:off x="4562856" y="2670048"/>
            <a:ext cx="2203704" cy="91440"/>
          </a:xfrm>
          <a:custGeom>
            <a:avLst/>
            <a:gdLst/>
            <a:ahLst/>
            <a:cxnLst/>
            <a:rect l="l" t="t" r="r" b="b"/>
            <a:pathLst>
              <a:path w="2203704" h="91440">
                <a:moveTo>
                  <a:pt x="0" y="0"/>
                </a:moveTo>
                <a:lnTo>
                  <a:pt x="0" y="91440"/>
                </a:lnTo>
                <a:lnTo>
                  <a:pt x="2203704" y="91440"/>
                </a:lnTo>
                <a:lnTo>
                  <a:pt x="2203704" y="0"/>
                </a:lnTo>
              </a:path>
            </a:pathLst>
          </a:custGeom>
          <a:noFill/>
          <a:ln w="2222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1" name="Text 316"/>
          <p:cNvSpPr txBox="1"/>
          <p:nvPr/>
        </p:nvSpPr>
        <p:spPr>
          <a:xfrm>
            <a:off x="4562856" y="2788920"/>
            <a:ext cx="2377440" cy="320040"/>
          </a:xfrm>
          <a:prstGeom prst="rect">
            <a:avLst/>
          </a:prstGeom>
          <a:noFill/>
        </p:spPr>
        <p:txBody>
          <a:bodyPr wrap="square" anchor="t" lIns="0" rIns="0" tIns="0" bIns="0">
            <a:spAutoFit/>
          </a:bodyPr>
          <a:lstStyle/>
          <a:p>
            <a:pPr algn="l"/>
            <a:r>
              <a:rPr sz="1100" b="0">
                <a:solidFill>
                  <a:schemeClr val="accent2"/>
                </a:solidFill>
              </a:rPr>
              <a:t>lost with the old leader</a:t>
            </a:r>
          </a:p>
        </p:txBody>
      </p:sp>
      <p:sp>
        <p:nvSpPr>
          <p:cNvPr id="9042" name="Text 317"/>
          <p:cNvSpPr txBox="1"/>
          <p:nvPr/>
        </p:nvSpPr>
        <p:spPr>
          <a:xfrm>
            <a:off x="7315200" y="1600200"/>
            <a:ext cx="4114800" cy="365760"/>
          </a:xfrm>
          <a:prstGeom prst="rect">
            <a:avLst/>
          </a:prstGeom>
          <a:noFill/>
        </p:spPr>
        <p:txBody>
          <a:bodyPr wrap="square" anchor="t" lIns="0" rIns="0" tIns="0" bIns="0">
            <a:spAutoFit/>
          </a:bodyPr>
          <a:lstStyle/>
          <a:p>
            <a:pPr algn="l"/>
            <a:r>
              <a:rPr sz="1200" b="1">
                <a:solidFill>
                  <a:schemeClr val="accent2"/>
                </a:solidFill>
              </a:rPr>
              <a:t>resent oldest first, then new work</a:t>
            </a:r>
          </a:p>
        </p:txBody>
      </p:sp>
      <p:sp>
        <p:nvSpPr>
          <p:cNvPr id="9043" name="Text 318"/>
          <p:cNvSpPr txBox="1"/>
          <p:nvPr/>
        </p:nvSpPr>
        <p:spPr>
          <a:xfrm>
            <a:off x="6784848" y="2011680"/>
            <a:ext cx="502920" cy="548640"/>
          </a:xfrm>
          <a:prstGeom prst="rect">
            <a:avLst/>
          </a:prstGeom>
          <a:noFill/>
        </p:spPr>
        <p:txBody>
          <a:bodyPr wrap="square" anchor="ctr" lIns="0" rIns="0" tIns="0" bIns="0">
            <a:spAutoFit/>
          </a:bodyPr>
          <a:lstStyle/>
          <a:p>
            <a:pPr algn="ctr"/>
            <a:r>
              <a:rPr sz="1200" b="0">
                <a:solidFill>
                  <a:schemeClr val="accent5"/>
                </a:solidFill>
              </a:rPr>
              <a:t>hold</a:t>
            </a:r>
          </a:p>
        </p:txBody>
      </p:sp>
      <p:sp>
        <p:nvSpPr>
          <p:cNvPr id="9044" name="Card 319"/>
          <p:cNvSpPr/>
          <p:nvPr/>
        </p:nvSpPr>
        <p:spPr>
          <a:xfrm>
            <a:off x="548640" y="4343400"/>
            <a:ext cx="3511296"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500" b="1">
                <a:solidFill>
                  <a:schemeClr val="tx1"/>
                </a:solidFill>
              </a:rPr>
              <a:t>Placed is not sequenced</a:t>
            </a:r>
          </a:p>
          <a:p>
            <a:pPr algn="l"/>
            <a:r>
              <a:rPr sz="1400" b="0">
                <a:solidFill>
                  <a:schemeClr val="tx1"/>
                </a:solidFill>
              </a:rPr>
              <a:t>Each frame is held until the producer's own tap shows it.</a:t>
            </a:r>
          </a:p>
        </p:txBody>
      </p:sp>
      <p:sp>
        <p:nvSpPr>
          <p:cNvPr id="9045" name="Card 320"/>
          <p:cNvSpPr/>
          <p:nvPr/>
        </p:nvSpPr>
        <p:spPr>
          <a:xfrm>
            <a:off x="4338828" y="4343400"/>
            <a:ext cx="3511296"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500" b="1">
                <a:solidFill>
                  <a:schemeClr val="tx1"/>
                </a:solidFill>
              </a:rPr>
              <a:t>A term change names the losses</a:t>
            </a:r>
          </a:p>
          <a:p>
            <a:pPr algn="l"/>
            <a:r>
              <a:rPr sz="1400" b="0">
                <a:solidFill>
                  <a:schemeClr val="tx1"/>
                </a:solidFill>
              </a:rPr>
              <a:t>The newest frames of the old term not yet seen.</a:t>
            </a:r>
          </a:p>
        </p:txBody>
      </p:sp>
      <p:sp>
        <p:nvSpPr>
          <p:cNvPr id="9046" name="Card 321"/>
          <p:cNvSpPr/>
          <p:nvPr/>
        </p:nvSpPr>
        <p:spPr>
          <a:xfrm>
            <a:off x="8129016" y="4343400"/>
            <a:ext cx="3511296"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500" b="1">
                <a:solidFill>
                  <a:schemeClr val="accent2"/>
                </a:solidFill>
              </a:rPr>
              <a:t>Limit</a:t>
            </a:r>
          </a:p>
          <a:p>
            <a:pPr algn="l"/>
            <a:r>
              <a:rPr sz="1400" b="0">
                <a:solidFill>
                  <a:schemeClr val="tx1"/>
                </a:solidFill>
              </a:rPr>
              <a:t>In memory: a restarted producer or promoted standby starts empty; a replaced session drops what was pending.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Application snapshots</a:t>
            </a:r>
          </a:p>
        </p:txBody>
      </p:sp>
      <p:sp>
        <p:nvSpPr>
          <p:cNvPr id="3" name="Text 322"/>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Local files the log confirms; the cluster itself takes none</a:t>
            </a:r>
          </a:p>
        </p:txBody>
      </p:sp>
      <p:sp>
        <p:nvSpPr>
          <p:cNvPr id="9021" name="Slide number"/>
          <p:cNvSpPr txBox="1"/>
          <p:nvPr userDrawn="1"/>
        </p:nvSpPr>
        <p:spPr>
          <a:xfrm>
            <a:off x="10728655" y="6400800"/>
            <a:ext cx="914400" cy="274320"/>
          </a:xfrm>
          <a:prstGeom prst="rect">
            <a:avLst/>
          </a:prstGeom>
          <a:noFill/>
        </p:spPr>
        <p:txBody>
          <a:bodyPr wrap="none" lIns="0" tIns="0" rIns="0" bIns="0" anchor="ctr"/>
          <a:lstStyle/>
          <a:p>
            <a:pPr algn="r"/>
            <a:fld id="{39d8c147-d8f9-42c5-bf82-db1422ef5ea7}" type="slidenum">
              <a:rPr lang="en-US" sz="1000" dirty="0">
                <a:solidFill>
                  <a:schemeClr val="accent5"/>
                </a:solidFill>
              </a:rPr>
              <a:t>21</a:t>
            </a:fld>
          </a:p>
        </p:txBody>
      </p:sp>
      <p:sp>
        <p:nvSpPr>
          <p:cNvPr id="9022" name="Step 323"/>
          <p:cNvSpPr/>
          <p:nvPr/>
        </p:nvSpPr>
        <p:spPr>
          <a:xfrm>
            <a:off x="548640" y="1828800"/>
            <a:ext cx="1962851" cy="265176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3" name="Number 324"/>
          <p:cNvSpPr/>
          <p:nvPr/>
        </p:nvSpPr>
        <p:spPr>
          <a:xfrm>
            <a:off x="731520" y="2011680"/>
            <a:ext cx="411480" cy="4114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1</a:t>
            </a:r>
          </a:p>
        </p:txBody>
      </p:sp>
      <p:sp>
        <p:nvSpPr>
          <p:cNvPr id="9024" name="Text 325"/>
          <p:cNvSpPr txBox="1"/>
          <p:nvPr/>
        </p:nvSpPr>
        <p:spPr>
          <a:xfrm>
            <a:off x="731520" y="2560320"/>
            <a:ext cx="1597091" cy="411480"/>
          </a:xfrm>
          <a:prstGeom prst="rect">
            <a:avLst/>
          </a:prstGeom>
          <a:noFill/>
        </p:spPr>
        <p:txBody>
          <a:bodyPr wrap="square" anchor="t" lIns="0" rIns="0" tIns="0" bIns="0">
            <a:spAutoFit/>
          </a:bodyPr>
          <a:lstStyle/>
          <a:p>
            <a:pPr algn="l"/>
            <a:r>
              <a:rPr sz="1800" b="1" cap="none">
                <a:solidFill>
                  <a:schemeClr val="tx1"/>
                </a:solidFill>
                <a:latin typeface="+mj-lt"/>
              </a:rPr>
              <a:t>Begin</a:t>
            </a:r>
          </a:p>
        </p:txBody>
      </p:sp>
      <p:sp>
        <p:nvSpPr>
          <p:cNvPr id="9025" name="Text 326"/>
          <p:cNvSpPr txBox="1"/>
          <p:nvPr/>
        </p:nvSpPr>
        <p:spPr>
          <a:xfrm>
            <a:off x="731520" y="3017520"/>
            <a:ext cx="1597091" cy="1371600"/>
          </a:xfrm>
          <a:prstGeom prst="rect">
            <a:avLst/>
          </a:prstGeom>
          <a:noFill/>
        </p:spPr>
        <p:txBody>
          <a:bodyPr wrap="square" anchor="t" lIns="0" rIns="0" tIns="0" bIns="0">
            <a:spAutoFit/>
          </a:bodyPr>
          <a:lstStyle/>
          <a:p>
            <a:pPr algn="l"/>
            <a:r>
              <a:rPr sz="1400" b="0">
                <a:solidFill>
                  <a:schemeClr val="tx1"/>
                </a:solidFill>
              </a:rPr>
              <a:t>Sequencer sequences SnapshotStarted</a:t>
            </a:r>
          </a:p>
        </p:txBody>
      </p:sp>
      <p:cxnSp>
        <p:nvCxnSpPr>
          <p:cNvPr id="9026" name="Arrow 327"/>
          <p:cNvCxnSpPr/>
          <p:nvPr/>
        </p:nvCxnSpPr>
        <p:spPr>
          <a:xfrm>
            <a:off x="2511491" y="3154680"/>
            <a:ext cx="32004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7" name="Step 328"/>
          <p:cNvSpPr/>
          <p:nvPr/>
        </p:nvSpPr>
        <p:spPr>
          <a:xfrm>
            <a:off x="2831531" y="1828800"/>
            <a:ext cx="1962851"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8" name="Number 329"/>
          <p:cNvSpPr/>
          <p:nvPr/>
        </p:nvSpPr>
        <p:spPr>
          <a:xfrm>
            <a:off x="3014411" y="20116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2</a:t>
            </a:r>
          </a:p>
        </p:txBody>
      </p:sp>
      <p:sp>
        <p:nvSpPr>
          <p:cNvPr id="9029" name="Text 330"/>
          <p:cNvSpPr txBox="1"/>
          <p:nvPr/>
        </p:nvSpPr>
        <p:spPr>
          <a:xfrm>
            <a:off x="3014411" y="2560320"/>
            <a:ext cx="1597091" cy="411480"/>
          </a:xfrm>
          <a:prstGeom prst="rect">
            <a:avLst/>
          </a:prstGeom>
          <a:noFill/>
        </p:spPr>
        <p:txBody>
          <a:bodyPr wrap="square" anchor="t" lIns="0" rIns="0" tIns="0" bIns="0">
            <a:spAutoFit/>
          </a:bodyPr>
          <a:lstStyle/>
          <a:p>
            <a:pPr algn="l"/>
            <a:r>
              <a:rPr sz="1800" b="1" cap="none">
                <a:solidFill>
                  <a:schemeClr val="tx1"/>
                </a:solidFill>
                <a:latin typeface="+mj-lt"/>
              </a:rPr>
              <a:t>Serialize</a:t>
            </a:r>
          </a:p>
        </p:txBody>
      </p:sp>
      <p:sp>
        <p:nvSpPr>
          <p:cNvPr id="9030" name="Text 331"/>
          <p:cNvSpPr txBox="1"/>
          <p:nvPr/>
        </p:nvSpPr>
        <p:spPr>
          <a:xfrm>
            <a:off x="3014411" y="3017520"/>
            <a:ext cx="1597091" cy="1371600"/>
          </a:xfrm>
          <a:prstGeom prst="rect">
            <a:avLst/>
          </a:prstGeom>
          <a:noFill/>
        </p:spPr>
        <p:txBody>
          <a:bodyPr wrap="square" anchor="t" lIns="0" rIns="0" tIns="0" bIns="0">
            <a:spAutoFit/>
          </a:bodyPr>
          <a:lstStyle/>
          <a:p>
            <a:pPr algn="l"/>
            <a:r>
              <a:rPr sz="1400" b="0">
                <a:solidFill>
                  <a:schemeClr val="tx1"/>
                </a:solidFill>
              </a:rPr>
              <a:t>Every instance writes its own local file</a:t>
            </a:r>
          </a:p>
        </p:txBody>
      </p:sp>
      <p:cxnSp>
        <p:nvCxnSpPr>
          <p:cNvPr id="9031" name="Arrow 332"/>
          <p:cNvCxnSpPr/>
          <p:nvPr/>
        </p:nvCxnSpPr>
        <p:spPr>
          <a:xfrm>
            <a:off x="4794382" y="3154680"/>
            <a:ext cx="32004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2" name="Step 333"/>
          <p:cNvSpPr/>
          <p:nvPr/>
        </p:nvSpPr>
        <p:spPr>
          <a:xfrm>
            <a:off x="5114422" y="1828800"/>
            <a:ext cx="1962851"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3" name="Number 334"/>
          <p:cNvSpPr/>
          <p:nvPr/>
        </p:nvSpPr>
        <p:spPr>
          <a:xfrm>
            <a:off x="5297302" y="20116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3</a:t>
            </a:r>
          </a:p>
        </p:txBody>
      </p:sp>
      <p:sp>
        <p:nvSpPr>
          <p:cNvPr id="9034" name="Text 335"/>
          <p:cNvSpPr txBox="1"/>
          <p:nvPr/>
        </p:nvSpPr>
        <p:spPr>
          <a:xfrm>
            <a:off x="5297302" y="2560320"/>
            <a:ext cx="1597091" cy="411480"/>
          </a:xfrm>
          <a:prstGeom prst="rect">
            <a:avLst/>
          </a:prstGeom>
          <a:noFill/>
        </p:spPr>
        <p:txBody>
          <a:bodyPr wrap="square" anchor="t" lIns="0" rIns="0" tIns="0" bIns="0">
            <a:spAutoFit/>
          </a:bodyPr>
          <a:lstStyle/>
          <a:p>
            <a:pPr algn="l"/>
            <a:r>
              <a:rPr sz="1800" b="1" cap="none">
                <a:solidFill>
                  <a:schemeClr val="tx1"/>
                </a:solidFill>
                <a:latin typeface="+mj-lt"/>
              </a:rPr>
              <a:t>End</a:t>
            </a:r>
          </a:p>
        </p:txBody>
      </p:sp>
      <p:sp>
        <p:nvSpPr>
          <p:cNvPr id="9035" name="Text 336"/>
          <p:cNvSpPr txBox="1"/>
          <p:nvPr/>
        </p:nvSpPr>
        <p:spPr>
          <a:xfrm>
            <a:off x="5297302" y="3017520"/>
            <a:ext cx="1597091" cy="1371600"/>
          </a:xfrm>
          <a:prstGeom prst="rect">
            <a:avLst/>
          </a:prstGeom>
          <a:noFill/>
        </p:spPr>
        <p:txBody>
          <a:bodyPr wrap="square" anchor="t" lIns="0" rIns="0" tIns="0" bIns="0">
            <a:spAutoFit/>
          </a:bodyPr>
          <a:lstStyle/>
          <a:p>
            <a:pPr algn="l"/>
            <a:r>
              <a:rPr sz="1400" b="0">
                <a:solidFill>
                  <a:schemeClr val="tx1"/>
                </a:solidFill>
              </a:rPr>
              <a:t>The publishing instance submits SnapshotEnd: count, length, CRC32C</a:t>
            </a:r>
          </a:p>
        </p:txBody>
      </p:sp>
      <p:cxnSp>
        <p:nvCxnSpPr>
          <p:cNvPr id="9036" name="Arrow 337"/>
          <p:cNvCxnSpPr/>
          <p:nvPr/>
        </p:nvCxnSpPr>
        <p:spPr>
          <a:xfrm>
            <a:off x="7077273" y="3154680"/>
            <a:ext cx="32004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7" name="Step 338"/>
          <p:cNvSpPr/>
          <p:nvPr/>
        </p:nvSpPr>
        <p:spPr>
          <a:xfrm>
            <a:off x="7397313" y="1828800"/>
            <a:ext cx="1962851"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8" name="Number 339"/>
          <p:cNvSpPr/>
          <p:nvPr/>
        </p:nvSpPr>
        <p:spPr>
          <a:xfrm>
            <a:off x="7580193" y="20116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4</a:t>
            </a:r>
          </a:p>
        </p:txBody>
      </p:sp>
      <p:sp>
        <p:nvSpPr>
          <p:cNvPr id="9039" name="Text 340"/>
          <p:cNvSpPr txBox="1"/>
          <p:nvPr/>
        </p:nvSpPr>
        <p:spPr>
          <a:xfrm>
            <a:off x="7580193" y="2560320"/>
            <a:ext cx="1597091" cy="411480"/>
          </a:xfrm>
          <a:prstGeom prst="rect">
            <a:avLst/>
          </a:prstGeom>
          <a:noFill/>
        </p:spPr>
        <p:txBody>
          <a:bodyPr wrap="square" anchor="t" lIns="0" rIns="0" tIns="0" bIns="0">
            <a:spAutoFit/>
          </a:bodyPr>
          <a:lstStyle/>
          <a:p>
            <a:pPr algn="l"/>
            <a:r>
              <a:rPr sz="1800" b="1" cap="none">
                <a:solidFill>
                  <a:schemeClr val="tx1"/>
                </a:solidFill>
                <a:latin typeface="+mj-lt"/>
              </a:rPr>
              <a:t>Compare</a:t>
            </a:r>
          </a:p>
        </p:txBody>
      </p:sp>
      <p:sp>
        <p:nvSpPr>
          <p:cNvPr id="9040" name="Text 341"/>
          <p:cNvSpPr txBox="1"/>
          <p:nvPr/>
        </p:nvSpPr>
        <p:spPr>
          <a:xfrm>
            <a:off x="7580193" y="3017520"/>
            <a:ext cx="1597091" cy="1371600"/>
          </a:xfrm>
          <a:prstGeom prst="rect">
            <a:avLst/>
          </a:prstGeom>
          <a:noFill/>
        </p:spPr>
        <p:txBody>
          <a:bodyPr wrap="square" anchor="t" lIns="0" rIns="0" tIns="0" bIns="0">
            <a:spAutoFit/>
          </a:bodyPr>
          <a:lstStyle/>
          <a:p>
            <a:pPr algn="l"/>
            <a:r>
              <a:rPr sz="1400" b="0">
                <a:solidFill>
                  <a:schemeClr val="tx1"/>
                </a:solidFill>
              </a:rPr>
              <a:t>Every instance checks its file; a difference fences</a:t>
            </a:r>
          </a:p>
        </p:txBody>
      </p:sp>
      <p:cxnSp>
        <p:nvCxnSpPr>
          <p:cNvPr id="9041" name="Arrow 342"/>
          <p:cNvCxnSpPr/>
          <p:nvPr/>
        </p:nvCxnSpPr>
        <p:spPr>
          <a:xfrm>
            <a:off x="9360164" y="3154680"/>
            <a:ext cx="32004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42" name="Step 343"/>
          <p:cNvSpPr/>
          <p:nvPr/>
        </p:nvSpPr>
        <p:spPr>
          <a:xfrm>
            <a:off x="9680204" y="1828800"/>
            <a:ext cx="1962851"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3" name="Number 344"/>
          <p:cNvSpPr/>
          <p:nvPr/>
        </p:nvSpPr>
        <p:spPr>
          <a:xfrm>
            <a:off x="9863084" y="20116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5</a:t>
            </a:r>
          </a:p>
        </p:txBody>
      </p:sp>
      <p:sp>
        <p:nvSpPr>
          <p:cNvPr id="9044" name="Text 345"/>
          <p:cNvSpPr txBox="1"/>
          <p:nvPr/>
        </p:nvSpPr>
        <p:spPr>
          <a:xfrm>
            <a:off x="9863084" y="2560320"/>
            <a:ext cx="1597091" cy="411480"/>
          </a:xfrm>
          <a:prstGeom prst="rect">
            <a:avLst/>
          </a:prstGeom>
          <a:noFill/>
        </p:spPr>
        <p:txBody>
          <a:bodyPr wrap="square" anchor="t" lIns="0" rIns="0" tIns="0" bIns="0">
            <a:spAutoFit/>
          </a:bodyPr>
          <a:lstStyle/>
          <a:p>
            <a:pPr algn="l"/>
            <a:r>
              <a:rPr sz="1800" b="1" cap="none">
                <a:solidFill>
                  <a:schemeClr val="tx1"/>
                </a:solidFill>
                <a:latin typeface="+mj-lt"/>
              </a:rPr>
              <a:t>Restore</a:t>
            </a:r>
          </a:p>
        </p:txBody>
      </p:sp>
      <p:sp>
        <p:nvSpPr>
          <p:cNvPr id="9045" name="Text 346"/>
          <p:cNvSpPr txBox="1"/>
          <p:nvPr/>
        </p:nvSpPr>
        <p:spPr>
          <a:xfrm>
            <a:off x="9863084" y="3017520"/>
            <a:ext cx="1597091" cy="1371600"/>
          </a:xfrm>
          <a:prstGeom prst="rect">
            <a:avLst/>
          </a:prstGeom>
          <a:noFill/>
        </p:spPr>
        <p:txBody>
          <a:bodyPr wrap="square" anchor="t" lIns="0" rIns="0" tIns="0" bIns="0">
            <a:spAutoFit/>
          </a:bodyPr>
          <a:lstStyle/>
          <a:p>
            <a:pPr algn="l"/>
            <a:r>
              <a:rPr sz="1400" b="0">
                <a:solidFill>
                  <a:schemeClr val="tx1"/>
                </a:solidFill>
              </a:rPr>
              <a:t>Newest confirmed file, then only what follows the cut</a:t>
            </a:r>
          </a:p>
        </p:txBody>
      </p:sp>
      <p:sp>
        <p:nvSpPr>
          <p:cNvPr id="9046" name="Card 347"/>
          <p:cNvSpPr/>
          <p:nvPr/>
        </p:nvSpPr>
        <p:spPr>
          <a:xfrm>
            <a:off x="548640" y="4846320"/>
            <a:ext cx="11094415"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l"/>
            <a:r>
              <a:rPr sz="1600" b="0">
                <a:solidFill>
                  <a:schemeClr val="tx1"/>
                </a:solidFill>
              </a:rPr>
              <a:t>Application snapshots bound a client's restart to the messages since the last one and are the intended boundary for application version upgrades.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Failure model</a:t>
            </a:r>
          </a:p>
        </p:txBody>
      </p:sp>
      <p:sp>
        <p:nvSpPr>
          <p:cNvPr id="3" name="Text 348"/>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Each failure and its recovery</a:t>
            </a:r>
          </a:p>
        </p:txBody>
      </p:sp>
      <p:sp>
        <p:nvSpPr>
          <p:cNvPr id="9022" name="Slide number"/>
          <p:cNvSpPr txBox="1"/>
          <p:nvPr userDrawn="1"/>
        </p:nvSpPr>
        <p:spPr>
          <a:xfrm>
            <a:off x="10728655" y="6400800"/>
            <a:ext cx="914400" cy="274320"/>
          </a:xfrm>
          <a:prstGeom prst="rect">
            <a:avLst/>
          </a:prstGeom>
          <a:noFill/>
        </p:spPr>
        <p:txBody>
          <a:bodyPr wrap="none" lIns="0" tIns="0" rIns="0" bIns="0" anchor="ctr"/>
          <a:lstStyle/>
          <a:p>
            <a:pPr algn="r"/>
            <a:fld id="{536ae3e4-ce88-4bd8-9d81-0a66ade1f236}" type="slidenum">
              <a:rPr lang="en-US" sz="1000" dirty="0">
                <a:solidFill>
                  <a:schemeClr val="accent5"/>
                </a:solidFill>
              </a:rPr>
              <a:t>22</a:t>
            </a:fld>
          </a:p>
        </p:txBody>
      </p:sp>
      <p:graphicFrame>
        <p:nvGraphicFramePr>
          <p:cNvPr id="9023" name="Table 349"/>
          <p:cNvGraphicFramePr>
            <a:graphicFrameLocks noGrp="1"/>
          </p:cNvGraphicFramePr>
          <p:nvPr/>
        </p:nvGraphicFramePr>
        <p:xfrm>
          <a:off x="548640" y="1645920"/>
          <a:ext cx="11091672" cy="4425696"/>
        </p:xfrm>
        <a:graphic>
          <a:graphicData uri="http://schemas.openxmlformats.org/drawingml/2006/table">
            <a:tbl>
              <a:tblPr firstRow="1">
                <a:tableStyleId>{5C22544A-7EE6-4342-B048-85BDC9FD1C3A}</a:tableStyleId>
              </a:tblPr>
              <a:tblGrid>
                <a:gridCol w="2514600"/>
                <a:gridCol w="2697480"/>
                <a:gridCol w="2450592"/>
                <a:gridCol w="3429000"/>
              </a:tblGrid>
              <a:tr h="402336">
                <a:tc>
                  <a:txBody>
                    <a:bodyPr/>
                    <a:lstStyle/>
                    <a:p>
                      <a:pPr algn="l"/>
                      <a:r>
                        <a:rPr sz="1200" b="1">
                          <a:solidFill>
                            <a:schemeClr val="bg1"/>
                          </a:solidFill>
                        </a:rPr>
                        <a:t>Failure</a:t>
                      </a:r>
                    </a:p>
                  </a:txBody>
                  <a:tcPr marL="91440" marR="91440" marT="45720" marB="45720" anchor="ctr">
                    <a:solidFill>
                      <a:schemeClr val="accent1"/>
                    </a:solidFill>
                  </a:tcPr>
                </a:tc>
                <a:tc>
                  <a:txBody>
                    <a:bodyPr/>
                    <a:lstStyle/>
                    <a:p>
                      <a:pPr algn="l"/>
                      <a:r>
                        <a:rPr sz="1200" b="1">
                          <a:solidFill>
                            <a:schemeClr val="bg1"/>
                          </a:solidFill>
                        </a:rPr>
                        <a:t>What happens</a:t>
                      </a:r>
                    </a:p>
                  </a:txBody>
                  <a:tcPr marL="91440" marR="91440" marT="45720" marB="45720" anchor="ctr">
                    <a:solidFill>
                      <a:schemeClr val="accent1"/>
                    </a:solidFill>
                  </a:tcPr>
                </a:tc>
                <a:tc>
                  <a:txBody>
                    <a:bodyPr/>
                    <a:lstStyle/>
                    <a:p>
                      <a:pPr algn="l"/>
                      <a:r>
                        <a:rPr sz="1200" b="1">
                          <a:solidFill>
                            <a:schemeClr val="bg1"/>
                          </a:solidFill>
                        </a:rPr>
                        <a:t>Detected in (defaults)</a:t>
                      </a:r>
                    </a:p>
                  </a:txBody>
                  <a:tcPr marL="91440" marR="91440" marT="45720" marB="45720" anchor="ctr">
                    <a:solidFill>
                      <a:schemeClr val="accent1"/>
                    </a:solidFill>
                  </a:tcPr>
                </a:tc>
                <a:tc>
                  <a:txBody>
                    <a:bodyPr/>
                    <a:lstStyle/>
                    <a:p>
                      <a:pPr algn="l"/>
                      <a:r>
                        <a:rPr sz="1200" b="1">
                          <a:solidFill>
                            <a:schemeClr val="bg1"/>
                          </a:solidFill>
                        </a:rPr>
                        <a:t>Recovery</a:t>
                      </a:r>
                    </a:p>
                  </a:txBody>
                  <a:tcPr marL="91440" marR="91440" marT="45720" marB="45720" anchor="ctr">
                    <a:solidFill>
                      <a:schemeClr val="accent1"/>
                    </a:solidFill>
                  </a:tcPr>
                </a:tc>
              </a:tr>
              <a:tr h="402336">
                <a:tc>
                  <a:txBody>
                    <a:bodyPr/>
                    <a:lstStyle/>
                    <a:p>
                      <a:pPr algn="l"/>
                      <a:r>
                        <a:rPr sz="1300" b="1">
                          <a:solidFill>
                            <a:schemeClr val="tx1"/>
                          </a:solidFill>
                        </a:rPr>
                        <a:t>Leader lost</a:t>
                      </a:r>
                    </a:p>
                  </a:txBody>
                  <a:tcPr marL="91440" marR="91440" marT="45720" marB="45720" anchor="ctr">
                    <a:solidFill>
                      <a:schemeClr val="bg1"/>
                    </a:solidFill>
                  </a:tcPr>
                </a:tc>
                <a:tc>
                  <a:txBody>
                    <a:bodyPr/>
                    <a:lstStyle/>
                    <a:p>
                      <a:pPr algn="l"/>
                      <a:r>
                        <a:rPr sz="1300" b="0">
                          <a:solidFill>
                            <a:schemeClr val="tx1"/>
                          </a:solidFill>
                        </a:rPr>
                        <a:t>Election; LeadershipChanged</a:t>
                      </a:r>
                    </a:p>
                  </a:txBody>
                  <a:tcPr marL="91440" marR="91440" marT="45720" marB="45720" anchor="ctr">
                    <a:solidFill>
                      <a:schemeClr val="bg1"/>
                    </a:solidFill>
                  </a:tcPr>
                </a:tc>
                <a:tc>
                  <a:txBody>
                    <a:bodyPr/>
                    <a:lstStyle/>
                    <a:p>
                      <a:pPr algn="l"/>
                      <a:r>
                        <a:rPr sz="1300" b="0">
                          <a:solidFill>
                            <a:schemeClr val="tx1"/>
                          </a:solidFill>
                        </a:rPr>
                        <a:t>200 ms heartbeat timeout</a:t>
                      </a:r>
                    </a:p>
                  </a:txBody>
                  <a:tcPr marL="91440" marR="91440" marT="45720" marB="45720" anchor="ctr">
                    <a:solidFill>
                      <a:schemeClr val="bg1"/>
                    </a:solidFill>
                  </a:tcPr>
                </a:tc>
                <a:tc>
                  <a:txBody>
                    <a:bodyPr/>
                    <a:lstStyle/>
                    <a:p>
                      <a:pPr algn="l"/>
                      <a:r>
                        <a:rPr sz="1300" b="0">
                          <a:solidFill>
                            <a:schemeClr val="tx1"/>
                          </a:solidFill>
                        </a:rPr>
                        <a:t>Next globalSeqNo; producers resend</a:t>
                      </a:r>
                    </a:p>
                  </a:txBody>
                  <a:tcPr marL="91440" marR="91440" marT="45720" marB="45720" anchor="ctr">
                    <a:solidFill>
                      <a:schemeClr val="bg1"/>
                    </a:solidFill>
                  </a:tcPr>
                </a:tc>
              </a:tr>
              <a:tr h="402336">
                <a:tc>
                  <a:txBody>
                    <a:bodyPr/>
                    <a:lstStyle/>
                    <a:p>
                      <a:pPr algn="l"/>
                      <a:r>
                        <a:rPr sz="1300" b="1">
                          <a:solidFill>
                            <a:schemeClr val="tx1"/>
                          </a:solidFill>
                        </a:rPr>
                        <a:t>Member lost</a:t>
                      </a:r>
                    </a:p>
                  </a:txBody>
                  <a:tcPr marL="91440" marR="91440" marT="45720" marB="45720" anchor="ctr">
                    <a:solidFill>
                      <a:schemeClr val="bg2"/>
                    </a:solidFill>
                  </a:tcPr>
                </a:tc>
                <a:tc>
                  <a:txBody>
                    <a:bodyPr/>
                    <a:lstStyle/>
                    <a:p>
                      <a:pPr algn="l"/>
                      <a:r>
                        <a:rPr sz="1300" b="0">
                          <a:solidFill>
                            <a:schemeClr val="tx1"/>
                          </a:solidFill>
                        </a:rPr>
                        <a:t>Others keep quorum</a:t>
                      </a:r>
                    </a:p>
                  </a:txBody>
                  <a:tcPr marL="91440" marR="91440" marT="45720" marB="45720" anchor="ctr">
                    <a:solidFill>
                      <a:schemeClr val="bg2"/>
                    </a:solidFill>
                  </a:tcPr>
                </a:tc>
                <a:tc>
                  <a:txBody>
                    <a:bodyPr/>
                    <a:lstStyle/>
                    <a:p>
                      <a:pPr algn="l"/>
                      <a:r>
                        <a:rPr sz="1300" b="0">
                          <a:solidFill>
                            <a:schemeClr val="tx1"/>
                          </a:solidFill>
                        </a:rPr>
                        <a:t>No pause unless it led</a:t>
                      </a:r>
                    </a:p>
                  </a:txBody>
                  <a:tcPr marL="91440" marR="91440" marT="45720" marB="45720" anchor="ctr">
                    <a:solidFill>
                      <a:schemeClr val="bg2"/>
                    </a:solidFill>
                  </a:tcPr>
                </a:tc>
                <a:tc>
                  <a:txBody>
                    <a:bodyPr/>
                    <a:lstStyle/>
                    <a:p>
                      <a:pPr algn="l"/>
                      <a:r>
                        <a:rPr sz="1300" b="0">
                          <a:solidFill>
                            <a:schemeClr val="tx1"/>
                          </a:solidFill>
                        </a:rPr>
                        <a:t>Restart replays the full log</a:t>
                      </a:r>
                    </a:p>
                  </a:txBody>
                  <a:tcPr marL="91440" marR="91440" marT="45720" marB="45720" anchor="ctr">
                    <a:solidFill>
                      <a:schemeClr val="bg2"/>
                    </a:solidFill>
                  </a:tcPr>
                </a:tc>
              </a:tr>
              <a:tr h="402336">
                <a:tc>
                  <a:txBody>
                    <a:bodyPr/>
                    <a:lstStyle/>
                    <a:p>
                      <a:pPr algn="l"/>
                      <a:r>
                        <a:rPr sz="1300" b="1">
                          <a:solidFill>
                            <a:schemeClr val="tx1"/>
                          </a:solidFill>
                        </a:rPr>
                        <a:t>Archive stops</a:t>
                      </a:r>
                    </a:p>
                  </a:txBody>
                  <a:tcPr marL="91440" marR="91440" marT="45720" marB="45720" anchor="ctr">
                    <a:solidFill>
                      <a:schemeClr val="bg1"/>
                    </a:solidFill>
                  </a:tcPr>
                </a:tc>
                <a:tc>
                  <a:txBody>
                    <a:bodyPr/>
                    <a:lstStyle/>
                    <a:p>
                      <a:pPr algn="l"/>
                      <a:r>
                        <a:rPr sz="1300" b="0">
                          <a:solidFill>
                            <a:schemeClr val="tx1"/>
                          </a:solidFill>
                        </a:rPr>
                        <a:t>Member exits with code 70</a:t>
                      </a:r>
                    </a:p>
                  </a:txBody>
                  <a:tcPr marL="91440" marR="91440" marT="45720" marB="45720" anchor="ctr">
                    <a:solidFill>
                      <a:schemeClr val="bg1"/>
                    </a:solidFill>
                  </a:tcPr>
                </a:tc>
                <a:tc>
                  <a:txBody>
                    <a:bodyPr/>
                    <a:lstStyle/>
                    <a:p>
                      <a:pPr algn="l"/>
                      <a:r>
                        <a:rPr sz="1300" b="0">
                          <a:solidFill>
                            <a:schemeClr val="tx1"/>
                          </a:solidFill>
                        </a:rPr>
                        <a:t>1 s without progress</a:t>
                      </a:r>
                    </a:p>
                  </a:txBody>
                  <a:tcPr marL="91440" marR="91440" marT="45720" marB="45720" anchor="ctr">
                    <a:solidFill>
                      <a:schemeClr val="bg1"/>
                    </a:solidFill>
                  </a:tcPr>
                </a:tc>
                <a:tc>
                  <a:txBody>
                    <a:bodyPr/>
                    <a:lstStyle/>
                    <a:p>
                      <a:pPr algn="l"/>
                      <a:r>
                        <a:rPr sz="1300" b="0">
                          <a:solidFill>
                            <a:schemeClr val="tx1"/>
                          </a:solidFill>
                        </a:rPr>
                        <a:t>As for a lost member</a:t>
                      </a:r>
                    </a:p>
                  </a:txBody>
                  <a:tcPr marL="91440" marR="91440" marT="45720" marB="45720" anchor="ctr">
                    <a:solidFill>
                      <a:schemeClr val="bg1"/>
                    </a:solidFill>
                  </a:tcPr>
                </a:tc>
              </a:tr>
              <a:tr h="402336">
                <a:tc>
                  <a:txBody>
                    <a:bodyPr/>
                    <a:lstStyle/>
                    <a:p>
                      <a:pPr algn="l"/>
                      <a:r>
                        <a:rPr sz="1300" b="1">
                          <a:solidFill>
                            <a:schemeClr val="tx1"/>
                          </a:solidFill>
                        </a:rPr>
                        <a:t>Slow consumer</a:t>
                      </a:r>
                    </a:p>
                  </a:txBody>
                  <a:tcPr marL="91440" marR="91440" marT="45720" marB="45720" anchor="ctr">
                    <a:solidFill>
                      <a:schemeClr val="bg2"/>
                    </a:solidFill>
                  </a:tcPr>
                </a:tc>
                <a:tc>
                  <a:txBody>
                    <a:bodyPr/>
                    <a:lstStyle/>
                    <a:p>
                      <a:pPr algn="l"/>
                      <a:r>
                        <a:rPr sz="1300" b="0">
                          <a:solidFill>
                            <a:schemeClr val="tx1"/>
                          </a:solidFill>
                        </a:rPr>
                        <a:t>Dropped; tap unaffected</a:t>
                      </a:r>
                    </a:p>
                  </a:txBody>
                  <a:tcPr marL="91440" marR="91440" marT="45720" marB="45720" anchor="ctr">
                    <a:solidFill>
                      <a:schemeClr val="bg2"/>
                    </a:solidFill>
                  </a:tcPr>
                </a:tc>
                <a:tc>
                  <a:txBody>
                    <a:bodyPr/>
                    <a:lstStyle/>
                    <a:p>
                      <a:pPr algn="l"/>
                      <a:r>
                        <a:rPr sz="1300" b="0">
                          <a:solidFill>
                            <a:schemeClr val="tx1"/>
                          </a:solidFill>
                        </a:rPr>
                        <a:t>About 0.2 s</a:t>
                      </a:r>
                    </a:p>
                  </a:txBody>
                  <a:tcPr marL="91440" marR="91440" marT="45720" marB="45720" anchor="ctr">
                    <a:solidFill>
                      <a:schemeClr val="bg2"/>
                    </a:solidFill>
                  </a:tcPr>
                </a:tc>
                <a:tc>
                  <a:txBody>
                    <a:bodyPr/>
                    <a:lstStyle/>
                    <a:p>
                      <a:pPr algn="l"/>
                      <a:r>
                        <a:rPr sz="1300" b="0">
                          <a:solidFill>
                            <a:schemeClr val="tx1"/>
                          </a:solidFill>
                        </a:rPr>
                        <a:t>Resumes over the gap</a:t>
                      </a:r>
                    </a:p>
                  </a:txBody>
                  <a:tcPr marL="91440" marR="91440" marT="45720" marB="45720" anchor="ctr">
                    <a:solidFill>
                      <a:schemeClr val="bg2"/>
                    </a:solidFill>
                  </a:tcPr>
                </a:tc>
              </a:tr>
              <a:tr h="402336">
                <a:tc>
                  <a:txBody>
                    <a:bodyPr/>
                    <a:lstStyle/>
                    <a:p>
                      <a:pPr algn="l"/>
                      <a:r>
                        <a:rPr sz="1300" b="1">
                          <a:solidFill>
                            <a:schemeClr val="tx1"/>
                          </a:solidFill>
                        </a:rPr>
                        <a:t>Frame missed on tap</a:t>
                      </a:r>
                    </a:p>
                  </a:txBody>
                  <a:tcPr marL="91440" marR="91440" marT="45720" marB="45720" anchor="ctr">
                    <a:solidFill>
                      <a:schemeClr val="bg1"/>
                    </a:solidFill>
                  </a:tcPr>
                </a:tc>
                <a:tc>
                  <a:txBody>
                    <a:bodyPr/>
                    <a:lstStyle/>
                    <a:p>
                      <a:pPr algn="l"/>
                      <a:r>
                        <a:rPr sz="1300" b="0">
                          <a:solidFill>
                            <a:schemeClr val="tx1"/>
                          </a:solidFill>
                        </a:rPr>
                        <a:t>Next frame reveals the gap</a:t>
                      </a:r>
                    </a:p>
                  </a:txBody>
                  <a:tcPr marL="91440" marR="91440" marT="45720" marB="45720" anchor="ctr">
                    <a:solidFill>
                      <a:schemeClr val="bg1"/>
                    </a:solidFill>
                  </a:tcPr>
                </a:tc>
                <a:tc>
                  <a:txBody>
                    <a:bodyPr/>
                    <a:lstStyle/>
                    <a:p>
                      <a:pPr algn="l"/>
                      <a:r>
                        <a:rPr sz="1300" b="0">
                          <a:solidFill>
                            <a:schemeClr val="tx1"/>
                          </a:solidFill>
                        </a:rPr>
                        <a:t>Next frame, about 1 s</a:t>
                      </a:r>
                    </a:p>
                  </a:txBody>
                  <a:tcPr marL="91440" marR="91440" marT="45720" marB="45720" anchor="ctr">
                    <a:solidFill>
                      <a:schemeClr val="bg1"/>
                    </a:solidFill>
                  </a:tcPr>
                </a:tc>
                <a:tc>
                  <a:txBody>
                    <a:bodyPr/>
                    <a:lstStyle/>
                    <a:p>
                      <a:pPr algn="l"/>
                      <a:r>
                        <a:rPr sz="1300" b="0">
                          <a:solidFill>
                            <a:schemeClr val="tx1"/>
                          </a:solidFill>
                        </a:rPr>
                        <a:t>Resume, holding live frames</a:t>
                      </a:r>
                    </a:p>
                  </a:txBody>
                  <a:tcPr marL="91440" marR="91440" marT="45720" marB="45720" anchor="ctr">
                    <a:solidFill>
                      <a:schemeClr val="bg1"/>
                    </a:solidFill>
                  </a:tcPr>
                </a:tc>
              </a:tr>
              <a:tr h="402336">
                <a:tc>
                  <a:txBody>
                    <a:bodyPr/>
                    <a:lstStyle/>
                    <a:p>
                      <a:pPr algn="l"/>
                      <a:r>
                        <a:rPr sz="1300" b="1">
                          <a:solidFill>
                            <a:schemeClr val="tx1"/>
                          </a:solidFill>
                        </a:rPr>
                        <a:t>Gateway instance fails</a:t>
                      </a:r>
                    </a:p>
                  </a:txBody>
                  <a:tcPr marL="91440" marR="91440" marT="45720" marB="45720" anchor="ctr">
                    <a:solidFill>
                      <a:schemeClr val="bg2"/>
                    </a:solidFill>
                  </a:tcPr>
                </a:tc>
                <a:tc>
                  <a:txBody>
                    <a:bodyPr/>
                    <a:lstStyle/>
                    <a:p>
                      <a:pPr algn="l"/>
                      <a:r>
                        <a:rPr sz="1300" b="0">
                          <a:solidFill>
                            <a:schemeClr val="tx1"/>
                          </a:solidFill>
                        </a:rPr>
                        <a:t>Its session closes</a:t>
                      </a:r>
                    </a:p>
                  </a:txBody>
                  <a:tcPr marL="91440" marR="91440" marT="45720" marB="45720" anchor="ctr">
                    <a:solidFill>
                      <a:schemeClr val="bg2"/>
                    </a:solidFill>
                  </a:tcPr>
                </a:tc>
                <a:tc>
                  <a:txBody>
                    <a:bodyPr/>
                    <a:lstStyle/>
                    <a:p>
                      <a:pPr algn="l"/>
                      <a:r>
                        <a:rPr sz="1300" b="0">
                          <a:solidFill>
                            <a:schemeClr val="tx1"/>
                          </a:solidFill>
                        </a:rPr>
                        <a:t>1 s session timeout</a:t>
                      </a:r>
                    </a:p>
                  </a:txBody>
                  <a:tcPr marL="91440" marR="91440" marT="45720" marB="45720" anchor="ctr">
                    <a:solidFill>
                      <a:schemeClr val="bg2"/>
                    </a:solidFill>
                  </a:tcPr>
                </a:tc>
                <a:tc>
                  <a:txBody>
                    <a:bodyPr/>
                    <a:lstStyle/>
                    <a:p>
                      <a:pPr algn="l"/>
                      <a:r>
                        <a:rPr sz="1300" b="0">
                          <a:solidFill>
                            <a:schemeClr val="tx1"/>
                          </a:solidFill>
                        </a:rPr>
                        <a:t>Standby designated</a:t>
                      </a:r>
                    </a:p>
                  </a:txBody>
                  <a:tcPr marL="91440" marR="91440" marT="45720" marB="45720" anchor="ctr">
                    <a:solidFill>
                      <a:schemeClr val="bg2"/>
                    </a:solidFill>
                  </a:tcPr>
                </a:tc>
              </a:tr>
              <a:tr h="402336">
                <a:tc>
                  <a:txBody>
                    <a:bodyPr/>
                    <a:lstStyle/>
                    <a:p>
                      <a:pPr algn="l"/>
                      <a:r>
                        <a:rPr sz="1300" b="1">
                          <a:solidFill>
                            <a:schemeClr val="tx1"/>
                          </a:solidFill>
                        </a:rPr>
                        <a:t>Client loses its session</a:t>
                      </a:r>
                    </a:p>
                  </a:txBody>
                  <a:tcPr marL="91440" marR="91440" marT="45720" marB="45720" anchor="ctr">
                    <a:solidFill>
                      <a:schemeClr val="bg1"/>
                    </a:solidFill>
                  </a:tcPr>
                </a:tc>
                <a:tc>
                  <a:txBody>
                    <a:bodyPr/>
                    <a:lstStyle/>
                    <a:p>
                      <a:pPr algn="l"/>
                      <a:r>
                        <a:rPr sz="1300" b="0">
                          <a:solidFill>
                            <a:schemeClr val="tx1"/>
                          </a:solidFill>
                        </a:rPr>
                        <a:t>The cluster closes it</a:t>
                      </a:r>
                    </a:p>
                  </a:txBody>
                  <a:tcPr marL="91440" marR="91440" marT="45720" marB="45720" anchor="ctr">
                    <a:solidFill>
                      <a:schemeClr val="bg1"/>
                    </a:solidFill>
                  </a:tcPr>
                </a:tc>
                <a:tc>
                  <a:txBody>
                    <a:bodyPr/>
                    <a:lstStyle/>
                    <a:p>
                      <a:pPr algn="l"/>
                      <a:r>
                        <a:rPr sz="1300" b="0">
                          <a:solidFill>
                            <a:schemeClr val="tx1"/>
                          </a:solidFill>
                        </a:rPr>
                        <a:t>1 s session timeout</a:t>
                      </a:r>
                    </a:p>
                  </a:txBody>
                  <a:tcPr marL="91440" marR="91440" marT="45720" marB="45720" anchor="ctr">
                    <a:solidFill>
                      <a:schemeClr val="bg1"/>
                    </a:solidFill>
                  </a:tcPr>
                </a:tc>
                <a:tc>
                  <a:txBody>
                    <a:bodyPr/>
                    <a:lstStyle/>
                    <a:p>
                      <a:pPr algn="l"/>
                      <a:r>
                        <a:rPr sz="1300" b="0">
                          <a:solidFill>
                            <a:schemeClr val="tx1"/>
                          </a:solidFill>
                        </a:rPr>
                        <a:t>New session; announced gateway fences</a:t>
                      </a:r>
                    </a:p>
                  </a:txBody>
                  <a:tcPr marL="91440" marR="91440" marT="45720" marB="45720" anchor="ctr">
                    <a:solidFill>
                      <a:schemeClr val="bg1"/>
                    </a:solidFill>
                  </a:tcPr>
                </a:tc>
              </a:tr>
              <a:tr h="402336">
                <a:tc>
                  <a:txBody>
                    <a:bodyPr/>
                    <a:lstStyle/>
                    <a:p>
                      <a:pPr algn="l"/>
                      <a:r>
                        <a:rPr sz="1300" b="1">
                          <a:solidFill>
                            <a:schemeClr val="tx1"/>
                          </a:solidFill>
                        </a:rPr>
                        <a:t>Gateway distrusts its view</a:t>
                      </a:r>
                    </a:p>
                  </a:txBody>
                  <a:tcPr marL="91440" marR="91440" marT="45720" marB="45720" anchor="ctr">
                    <a:solidFill>
                      <a:schemeClr val="bg2"/>
                    </a:solidFill>
                  </a:tcPr>
                </a:tc>
                <a:tc>
                  <a:txBody>
                    <a:bodyPr/>
                    <a:lstStyle/>
                    <a:p>
                      <a:pPr algn="l"/>
                      <a:r>
                        <a:rPr sz="1300" b="0">
                          <a:solidFill>
                            <a:schemeClr val="tx1"/>
                          </a:solidFill>
                        </a:rPr>
                        <a:t>A fence; session released</a:t>
                      </a:r>
                    </a:p>
                  </a:txBody>
                  <a:tcPr marL="91440" marR="91440" marT="45720" marB="45720" anchor="ctr">
                    <a:solidFill>
                      <a:schemeClr val="bg2"/>
                    </a:solidFill>
                  </a:tcPr>
                </a:tc>
                <a:tc>
                  <a:txBody>
                    <a:bodyPr/>
                    <a:lstStyle/>
                    <a:p>
                      <a:pPr algn="l"/>
                      <a:r>
                        <a:rPr sz="1300" b="0">
                          <a:solidFill>
                            <a:schemeClr val="tx1"/>
                          </a:solidFill>
                        </a:rPr>
                        <a:t>At once; stalls 20 s, 60 s</a:t>
                      </a:r>
                    </a:p>
                  </a:txBody>
                  <a:tcPr marL="91440" marR="91440" marT="45720" marB="45720" anchor="ctr">
                    <a:solidFill>
                      <a:schemeClr val="bg2"/>
                    </a:solidFill>
                  </a:tcPr>
                </a:tc>
                <a:tc>
                  <a:txBody>
                    <a:bodyPr/>
                    <a:lstStyle/>
                    <a:p>
                      <a:pPr algn="l"/>
                      <a:r>
                        <a:rPr sz="1300" b="0">
                          <a:solidFill>
                            <a:schemeClr val="tx1"/>
                          </a:solidFill>
                        </a:rPr>
                        <a:t>Standby takes over at once</a:t>
                      </a:r>
                    </a:p>
                  </a:txBody>
                  <a:tcPr marL="91440" marR="91440" marT="45720" marB="45720" anchor="ctr">
                    <a:solidFill>
                      <a:schemeClr val="bg2"/>
                    </a:solidFill>
                  </a:tcPr>
                </a:tc>
              </a:tr>
              <a:tr h="402336">
                <a:tc>
                  <a:txBody>
                    <a:bodyPr/>
                    <a:lstStyle/>
                    <a:p>
                      <a:pPr algn="l"/>
                      <a:r>
                        <a:rPr sz="1300" b="1">
                          <a:solidFill>
                            <a:schemeClr val="tx1"/>
                          </a:solidFill>
                        </a:rPr>
                        <a:t>Relay's member lost</a:t>
                      </a:r>
                    </a:p>
                  </a:txBody>
                  <a:tcPr marL="91440" marR="91440" marT="45720" marB="45720" anchor="ctr">
                    <a:solidFill>
                      <a:schemeClr val="bg1"/>
                    </a:solidFill>
                  </a:tcPr>
                </a:tc>
                <a:tc>
                  <a:txBody>
                    <a:bodyPr/>
                    <a:lstStyle/>
                    <a:p>
                      <a:pPr algn="l"/>
                      <a:r>
                        <a:rPr sz="1300" b="0">
                          <a:solidFill>
                            <a:schemeClr val="tx1"/>
                          </a:solidFill>
                        </a:rPr>
                        <a:t>The relay hears nothing</a:t>
                      </a:r>
                    </a:p>
                  </a:txBody>
                  <a:tcPr marL="91440" marR="91440" marT="45720" marB="45720" anchor="ctr">
                    <a:solidFill>
                      <a:schemeClr val="bg1"/>
                    </a:solidFill>
                  </a:tcPr>
                </a:tc>
                <a:tc>
                  <a:txBody>
                    <a:bodyPr/>
                    <a:lstStyle/>
                    <a:p>
                      <a:pPr algn="l"/>
                      <a:r>
                        <a:rPr sz="1300" b="0">
                          <a:solidFill>
                            <a:schemeClr val="tx1"/>
                          </a:solidFill>
                        </a:rPr>
                        <a:t>3 s</a:t>
                      </a:r>
                    </a:p>
                  </a:txBody>
                  <a:tcPr marL="91440" marR="91440" marT="45720" marB="45720" anchor="ctr">
                    <a:solidFill>
                      <a:schemeClr val="bg1"/>
                    </a:solidFill>
                  </a:tcPr>
                </a:tc>
                <a:tc>
                  <a:txBody>
                    <a:bodyPr/>
                    <a:lstStyle/>
                    <a:p>
                      <a:pPr algn="l"/>
                      <a:r>
                        <a:rPr sz="1300" b="0">
                          <a:solidFill>
                            <a:schemeClr val="tx1"/>
                          </a:solidFill>
                        </a:rPr>
                        <a:t>Next member, same position</a:t>
                      </a:r>
                    </a:p>
                  </a:txBody>
                  <a:tcPr marL="91440" marR="91440" marT="45720" marB="45720" anchor="ctr">
                    <a:solidFill>
                      <a:schemeClr val="bg1"/>
                    </a:solidFill>
                  </a:tcPr>
                </a:tc>
              </a:tr>
              <a:tr h="402336">
                <a:tc>
                  <a:txBody>
                    <a:bodyPr/>
                    <a:lstStyle/>
                    <a:p>
                      <a:pPr algn="l"/>
                      <a:r>
                        <a:rPr sz="1300" b="1">
                          <a:solidFill>
                            <a:schemeClr val="tx1"/>
                          </a:solidFill>
                        </a:rPr>
                        <a:t>Majority lost</a:t>
                      </a:r>
                    </a:p>
                  </a:txBody>
                  <a:tcPr marL="91440" marR="91440" marT="45720" marB="45720" anchor="ctr">
                    <a:solidFill>
                      <a:schemeClr val="bg2"/>
                    </a:solidFill>
                  </a:tcPr>
                </a:tc>
                <a:tc>
                  <a:txBody>
                    <a:bodyPr/>
                    <a:lstStyle/>
                    <a:p>
                      <a:pPr algn="l"/>
                      <a:r>
                        <a:rPr sz="1300" b="0">
                          <a:solidFill>
                            <a:schemeClr val="tx1"/>
                          </a:solidFill>
                        </a:rPr>
                        <a:t>Nothing commits; tap silent</a:t>
                      </a:r>
                    </a:p>
                  </a:txBody>
                  <a:tcPr marL="91440" marR="91440" marT="45720" marB="45720" anchor="ctr">
                    <a:solidFill>
                      <a:schemeClr val="bg2"/>
                    </a:solidFill>
                  </a:tcPr>
                </a:tc>
                <a:tc>
                  <a:txBody>
                    <a:bodyPr/>
                    <a:lstStyle/>
                    <a:p>
                      <a:pPr algn="l"/>
                      <a:r>
                        <a:rPr sz="1300" b="0">
                          <a:solidFill>
                            <a:schemeClr val="tx1"/>
                          </a:solidFill>
                        </a:rPr>
                        <a:t>Acting instances at 20 s</a:t>
                      </a:r>
                    </a:p>
                  </a:txBody>
                  <a:tcPr marL="91440" marR="91440" marT="45720" marB="45720" anchor="ctr">
                    <a:solidFill>
                      <a:schemeClr val="bg2"/>
                    </a:solidFill>
                  </a:tcPr>
                </a:tc>
                <a:tc>
                  <a:txBody>
                    <a:bodyPr/>
                    <a:lstStyle/>
                    <a:p>
                      <a:pPr algn="l"/>
                      <a:r>
                        <a:rPr sz="1300" b="0">
                          <a:solidFill>
                            <a:schemeClr val="tx1"/>
                          </a:solidFill>
                        </a:rPr>
                        <a:t>Resumes with a majority</a:t>
                      </a:r>
                    </a:p>
                  </a:txBody>
                  <a:tcPr marL="91440" marR="91440" marT="45720" marB="45720" anchor="ctr">
                    <a:solidFill>
                      <a:schemeClr val="bg2"/>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Verification</a:t>
            </a:r>
          </a:p>
        </p:txBody>
      </p:sp>
      <p:sp>
        <p:nvSpPr>
          <p:cNvPr id="3" name="Text 350"/>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A harness per failure, against a live cluster</a:t>
            </a:r>
          </a:p>
        </p:txBody>
      </p:sp>
      <p:sp>
        <p:nvSpPr>
          <p:cNvPr id="9023" name="Slide number"/>
          <p:cNvSpPr txBox="1"/>
          <p:nvPr userDrawn="1"/>
        </p:nvSpPr>
        <p:spPr>
          <a:xfrm>
            <a:off x="10728655" y="6400800"/>
            <a:ext cx="914400" cy="274320"/>
          </a:xfrm>
          <a:prstGeom prst="rect">
            <a:avLst/>
          </a:prstGeom>
          <a:noFill/>
        </p:spPr>
        <p:txBody>
          <a:bodyPr wrap="none" lIns="0" tIns="0" rIns="0" bIns="0" anchor="ctr"/>
          <a:lstStyle/>
          <a:p>
            <a:pPr algn="r"/>
            <a:fld id="{fddb3b6a-9af9-4126-8807-c3a4e5136a2c}" type="slidenum">
              <a:rPr lang="en-US" sz="1000" dirty="0">
                <a:solidFill>
                  <a:schemeClr val="accent5"/>
                </a:solidFill>
              </a:rPr>
              <a:t>23</a:t>
            </a:fld>
          </a:p>
        </p:txBody>
      </p:sp>
      <p:sp>
        <p:nvSpPr>
          <p:cNvPr id="9024" name="Text 351"/>
          <p:cNvSpPr txBox="1"/>
          <p:nvPr/>
        </p:nvSpPr>
        <p:spPr>
          <a:xfrm>
            <a:off x="548640" y="1691640"/>
            <a:ext cx="2743200" cy="457200"/>
          </a:xfrm>
          <a:prstGeom prst="rect">
            <a:avLst/>
          </a:prstGeom>
          <a:noFill/>
        </p:spPr>
        <p:txBody>
          <a:bodyPr wrap="square" anchor="ctr" lIns="0" rIns="0" tIns="0" bIns="0">
            <a:spAutoFit/>
          </a:bodyPr>
          <a:lstStyle/>
          <a:p>
            <a:pPr algn="l"/>
            <a:r>
              <a:rPr sz="1600" b="1">
                <a:solidFill>
                  <a:schemeClr val="tx1"/>
                </a:solidFill>
              </a:rPr>
              <a:t>chaos-runner</a:t>
            </a:r>
          </a:p>
        </p:txBody>
      </p:sp>
      <p:sp>
        <p:nvSpPr>
          <p:cNvPr id="9025" name="Text 352"/>
          <p:cNvSpPr txBox="1"/>
          <p:nvPr/>
        </p:nvSpPr>
        <p:spPr>
          <a:xfrm>
            <a:off x="3383280" y="1691640"/>
            <a:ext cx="8259775" cy="457200"/>
          </a:xfrm>
          <a:prstGeom prst="rect">
            <a:avLst/>
          </a:prstGeom>
          <a:noFill/>
        </p:spPr>
        <p:txBody>
          <a:bodyPr wrap="square" anchor="ctr" lIns="0" rIns="0" tIns="0" bIns="0">
            <a:spAutoFit/>
          </a:bodyPr>
          <a:lstStyle/>
          <a:p>
            <a:pPr algn="l"/>
            <a:r>
              <a:rPr sz="1600" b="0">
                <a:solidFill>
                  <a:schemeClr val="accent5"/>
                </a:solidFill>
              </a:rPr>
              <a:t>random faults from a seed; recordings gap-free and equal</a:t>
            </a:r>
          </a:p>
        </p:txBody>
      </p:sp>
      <p:sp>
        <p:nvSpPr>
          <p:cNvPr id="9026" name="Text 353"/>
          <p:cNvSpPr txBox="1"/>
          <p:nvPr/>
        </p:nvSpPr>
        <p:spPr>
          <a:xfrm>
            <a:off x="548640" y="2121408"/>
            <a:ext cx="2743200" cy="457200"/>
          </a:xfrm>
          <a:prstGeom prst="rect">
            <a:avLst/>
          </a:prstGeom>
          <a:noFill/>
        </p:spPr>
        <p:txBody>
          <a:bodyPr wrap="square" anchor="ctr" lIns="0" rIns="0" tIns="0" bIns="0">
            <a:spAutoFit/>
          </a:bodyPr>
          <a:lstStyle/>
          <a:p>
            <a:pPr algn="l"/>
            <a:r>
              <a:rPr sz="1600" b="1">
                <a:solidFill>
                  <a:schemeClr val="tx1"/>
                </a:solidFill>
              </a:rPr>
              <a:t>failover soak</a:t>
            </a:r>
          </a:p>
        </p:txBody>
      </p:sp>
      <p:sp>
        <p:nvSpPr>
          <p:cNvPr id="9027" name="Text 354"/>
          <p:cNvSpPr txBox="1"/>
          <p:nvPr/>
        </p:nvSpPr>
        <p:spPr>
          <a:xfrm>
            <a:off x="3383280" y="2121408"/>
            <a:ext cx="8259775" cy="457200"/>
          </a:xfrm>
          <a:prstGeom prst="rect">
            <a:avLst/>
          </a:prstGeom>
          <a:noFill/>
        </p:spPr>
        <p:txBody>
          <a:bodyPr wrap="square" anchor="ctr" lIns="0" rIns="0" tIns="0" bIns="0">
            <a:spAutoFit/>
          </a:bodyPr>
          <a:lstStyle/>
          <a:p>
            <a:pPr algn="l"/>
            <a:r>
              <a:rPr sz="1600" b="0">
                <a:solidFill>
                  <a:schemeClr val="accent5"/>
                </a:solidFill>
              </a:rPr>
              <a:t>repeated leader kills in containers</a:t>
            </a:r>
          </a:p>
        </p:txBody>
      </p:sp>
      <p:sp>
        <p:nvSpPr>
          <p:cNvPr id="9028" name="Text 355"/>
          <p:cNvSpPr txBox="1"/>
          <p:nvPr/>
        </p:nvSpPr>
        <p:spPr>
          <a:xfrm>
            <a:off x="548640" y="2551176"/>
            <a:ext cx="2743200" cy="457200"/>
          </a:xfrm>
          <a:prstGeom prst="rect">
            <a:avLst/>
          </a:prstGeom>
          <a:noFill/>
        </p:spPr>
        <p:txBody>
          <a:bodyPr wrap="square" anchor="ctr" lIns="0" rIns="0" tIns="0" bIns="0">
            <a:spAutoFit/>
          </a:bodyPr>
          <a:lstStyle/>
          <a:p>
            <a:pPr algn="l"/>
            <a:r>
              <a:rPr sz="1600" b="1">
                <a:solidFill>
                  <a:schemeClr val="tx1"/>
                </a:solidFill>
              </a:rPr>
              <a:t>network faults</a:t>
            </a:r>
          </a:p>
        </p:txBody>
      </p:sp>
      <p:sp>
        <p:nvSpPr>
          <p:cNvPr id="9029" name="Text 356"/>
          <p:cNvSpPr txBox="1"/>
          <p:nvPr/>
        </p:nvSpPr>
        <p:spPr>
          <a:xfrm>
            <a:off x="3383280" y="2551176"/>
            <a:ext cx="8259775" cy="457200"/>
          </a:xfrm>
          <a:prstGeom prst="rect">
            <a:avLst/>
          </a:prstGeom>
          <a:noFill/>
        </p:spPr>
        <p:txBody>
          <a:bodyPr wrap="square" anchor="ctr" lIns="0" rIns="0" tIns="0" bIns="0">
            <a:spAutoFit/>
          </a:bodyPr>
          <a:lstStyle/>
          <a:p>
            <a:pPr algn="l"/>
            <a:r>
              <a:rPr sz="1600" b="0">
                <a:solidFill>
                  <a:schemeClr val="accent5"/>
                </a:solidFill>
              </a:rPr>
              <a:t>eBPF: partitions, lost repair, slow links, dropped ballots</a:t>
            </a:r>
          </a:p>
        </p:txBody>
      </p:sp>
      <p:sp>
        <p:nvSpPr>
          <p:cNvPr id="9030" name="Text 357"/>
          <p:cNvSpPr txBox="1"/>
          <p:nvPr/>
        </p:nvSpPr>
        <p:spPr>
          <a:xfrm>
            <a:off x="548640" y="2980944"/>
            <a:ext cx="2743200" cy="457200"/>
          </a:xfrm>
          <a:prstGeom prst="rect">
            <a:avLst/>
          </a:prstGeom>
          <a:noFill/>
        </p:spPr>
        <p:txBody>
          <a:bodyPr wrap="square" anchor="ctr" lIns="0" rIns="0" tIns="0" bIns="0">
            <a:spAutoFit/>
          </a:bodyPr>
          <a:lstStyle/>
          <a:p>
            <a:pPr algn="l"/>
            <a:r>
              <a:rPr sz="1600" b="1">
                <a:solidFill>
                  <a:schemeClr val="tx1"/>
                </a:solidFill>
              </a:rPr>
              <a:t>confirmed ingress</a:t>
            </a:r>
          </a:p>
        </p:txBody>
      </p:sp>
      <p:sp>
        <p:nvSpPr>
          <p:cNvPr id="9031" name="Text 358"/>
          <p:cNvSpPr txBox="1"/>
          <p:nvPr/>
        </p:nvSpPr>
        <p:spPr>
          <a:xfrm>
            <a:off x="3383280" y="2980944"/>
            <a:ext cx="8259775" cy="457200"/>
          </a:xfrm>
          <a:prstGeom prst="rect">
            <a:avLst/>
          </a:prstGeom>
          <a:noFill/>
        </p:spPr>
        <p:txBody>
          <a:bodyPr wrap="square" anchor="ctr" lIns="0" rIns="0" tIns="0" bIns="0">
            <a:spAutoFit/>
          </a:bodyPr>
          <a:lstStyle/>
          <a:p>
            <a:pPr algn="l"/>
            <a:r>
              <a:rPr sz="1600" b="0">
                <a:solidFill>
                  <a:schemeClr val="accent5"/>
                </a:solidFill>
              </a:rPr>
              <a:t>every frame once, in order, across a kill</a:t>
            </a:r>
          </a:p>
        </p:txBody>
      </p:sp>
      <p:sp>
        <p:nvSpPr>
          <p:cNvPr id="9032" name="Text 359"/>
          <p:cNvSpPr txBox="1"/>
          <p:nvPr/>
        </p:nvSpPr>
        <p:spPr>
          <a:xfrm>
            <a:off x="548640" y="3410712"/>
            <a:ext cx="2743200" cy="457200"/>
          </a:xfrm>
          <a:prstGeom prst="rect">
            <a:avLst/>
          </a:prstGeom>
          <a:noFill/>
        </p:spPr>
        <p:txBody>
          <a:bodyPr wrap="square" anchor="ctr" lIns="0" rIns="0" tIns="0" bIns="0">
            <a:spAutoFit/>
          </a:bodyPr>
          <a:lstStyle/>
          <a:p>
            <a:pPr algn="l"/>
            <a:r>
              <a:rPr sz="1600" b="1">
                <a:solidFill>
                  <a:schemeClr val="tx1"/>
                </a:solidFill>
              </a:rPr>
              <a:t>gateway host</a:t>
            </a:r>
          </a:p>
        </p:txBody>
      </p:sp>
      <p:sp>
        <p:nvSpPr>
          <p:cNvPr id="9033" name="Text 360"/>
          <p:cNvSpPr txBox="1"/>
          <p:nvPr/>
        </p:nvSpPr>
        <p:spPr>
          <a:xfrm>
            <a:off x="3383280" y="3410712"/>
            <a:ext cx="8259775" cy="457200"/>
          </a:xfrm>
          <a:prstGeom prst="rect">
            <a:avLst/>
          </a:prstGeom>
          <a:noFill/>
        </p:spPr>
        <p:txBody>
          <a:bodyPr wrap="square" anchor="ctr" lIns="0" rIns="0" tIns="0" bIns="0">
            <a:spAutoFit/>
          </a:bodyPr>
          <a:lstStyle/>
          <a:p>
            <a:pPr algn="l"/>
            <a:r>
              <a:rPr sz="1600" b="0">
                <a:solidFill>
                  <a:schemeClr val="accent5"/>
                </a:solidFill>
              </a:rPr>
              <a:t>relay moves when its member dies</a:t>
            </a:r>
          </a:p>
        </p:txBody>
      </p:sp>
      <p:sp>
        <p:nvSpPr>
          <p:cNvPr id="9034" name="Text 361"/>
          <p:cNvSpPr txBox="1"/>
          <p:nvPr/>
        </p:nvSpPr>
        <p:spPr>
          <a:xfrm>
            <a:off x="548640" y="3840480"/>
            <a:ext cx="2743200" cy="457200"/>
          </a:xfrm>
          <a:prstGeom prst="rect">
            <a:avLst/>
          </a:prstGeom>
          <a:noFill/>
        </p:spPr>
        <p:txBody>
          <a:bodyPr wrap="square" anchor="ctr" lIns="0" rIns="0" tIns="0" bIns="0">
            <a:spAutoFit/>
          </a:bodyPr>
          <a:lstStyle/>
          <a:p>
            <a:pPr algn="l"/>
            <a:r>
              <a:rPr sz="1600" b="1">
                <a:solidFill>
                  <a:schemeClr val="tx1"/>
                </a:solidFill>
              </a:rPr>
              <a:t>session replace</a:t>
            </a:r>
          </a:p>
        </p:txBody>
      </p:sp>
      <p:sp>
        <p:nvSpPr>
          <p:cNvPr id="9035" name="Text 362"/>
          <p:cNvSpPr txBox="1"/>
          <p:nvPr/>
        </p:nvSpPr>
        <p:spPr>
          <a:xfrm>
            <a:off x="3383280" y="3840480"/>
            <a:ext cx="8259775" cy="457200"/>
          </a:xfrm>
          <a:prstGeom prst="rect">
            <a:avLst/>
          </a:prstGeom>
          <a:noFill/>
        </p:spPr>
        <p:txBody>
          <a:bodyPr wrap="square" anchor="ctr" lIns="0" rIns="0" tIns="0" bIns="0">
            <a:spAutoFit/>
          </a:bodyPr>
          <a:lstStyle/>
          <a:p>
            <a:pPr algn="l"/>
            <a:r>
              <a:rPr sz="1600" b="0">
                <a:solidFill>
                  <a:schemeClr val="accent5"/>
                </a:solidFill>
              </a:rPr>
              <a:t>paused client, lost quorum, paused gateway pair</a:t>
            </a:r>
          </a:p>
        </p:txBody>
      </p:sp>
      <p:sp>
        <p:nvSpPr>
          <p:cNvPr id="9036" name="Text 363"/>
          <p:cNvSpPr txBox="1"/>
          <p:nvPr/>
        </p:nvSpPr>
        <p:spPr>
          <a:xfrm>
            <a:off x="548640" y="4270248"/>
            <a:ext cx="2743200" cy="457200"/>
          </a:xfrm>
          <a:prstGeom prst="rect">
            <a:avLst/>
          </a:prstGeom>
          <a:noFill/>
        </p:spPr>
        <p:txBody>
          <a:bodyPr wrap="square" anchor="ctr" lIns="0" rIns="0" tIns="0" bIns="0">
            <a:spAutoFit/>
          </a:bodyPr>
          <a:lstStyle/>
          <a:p>
            <a:pPr algn="l"/>
            <a:r>
              <a:rPr sz="1600" b="1">
                <a:solidFill>
                  <a:schemeClr val="tx1"/>
                </a:solidFill>
              </a:rPr>
              <a:t>snapshots</a:t>
            </a:r>
          </a:p>
        </p:txBody>
      </p:sp>
      <p:sp>
        <p:nvSpPr>
          <p:cNvPr id="9037" name="Text 364"/>
          <p:cNvSpPr txBox="1"/>
          <p:nvPr/>
        </p:nvSpPr>
        <p:spPr>
          <a:xfrm>
            <a:off x="3383280" y="4270248"/>
            <a:ext cx="8259775" cy="457200"/>
          </a:xfrm>
          <a:prstGeom prst="rect">
            <a:avLst/>
          </a:prstGeom>
          <a:noFill/>
        </p:spPr>
        <p:txBody>
          <a:bodyPr wrap="square" anchor="ctr" lIns="0" rIns="0" tIns="0" bIns="0">
            <a:spAutoFit/>
          </a:bodyPr>
          <a:lstStyle/>
          <a:p>
            <a:pPr algn="l"/>
            <a:r>
              <a:rPr sz="1600" b="0">
                <a:solidFill>
                  <a:schemeClr val="accent5"/>
                </a:solidFill>
              </a:rPr>
              <a:t>restore, handover, passive activation</a:t>
            </a:r>
          </a:p>
        </p:txBody>
      </p:sp>
      <p:sp>
        <p:nvSpPr>
          <p:cNvPr id="9038" name="Text 365"/>
          <p:cNvSpPr txBox="1"/>
          <p:nvPr/>
        </p:nvSpPr>
        <p:spPr>
          <a:xfrm>
            <a:off x="548640" y="4700016"/>
            <a:ext cx="2743200" cy="457200"/>
          </a:xfrm>
          <a:prstGeom prst="rect">
            <a:avLst/>
          </a:prstGeom>
          <a:noFill/>
        </p:spPr>
        <p:txBody>
          <a:bodyPr wrap="square" anchor="ctr" lIns="0" rIns="0" tIns="0" bIns="0">
            <a:spAutoFit/>
          </a:bodyPr>
          <a:lstStyle/>
          <a:p>
            <a:pPr algn="l"/>
            <a:r>
              <a:rPr sz="1600" b="1">
                <a:solidFill>
                  <a:schemeClr val="tx1"/>
                </a:solidFill>
              </a:rPr>
              <a:t>C# client</a:t>
            </a:r>
          </a:p>
        </p:txBody>
      </p:sp>
      <p:sp>
        <p:nvSpPr>
          <p:cNvPr id="9039" name="Text 366"/>
          <p:cNvSpPr txBox="1"/>
          <p:nvPr/>
        </p:nvSpPr>
        <p:spPr>
          <a:xfrm>
            <a:off x="3383280" y="4700016"/>
            <a:ext cx="8259775" cy="457200"/>
          </a:xfrm>
          <a:prstGeom prst="rect">
            <a:avLst/>
          </a:prstGeom>
          <a:noFill/>
        </p:spPr>
        <p:txBody>
          <a:bodyPr wrap="square" anchor="ctr" lIns="0" rIns="0" tIns="0" bIns="0">
            <a:spAutoFit/>
          </a:bodyPr>
          <a:lstStyle/>
          <a:p>
            <a:pPr algn="l"/>
            <a:r>
              <a:rPr sz="1600" b="0">
                <a:solidFill>
                  <a:schemeClr val="accent5"/>
                </a:solidFill>
              </a:rPr>
              <a:t>Linux and Windows</a:t>
            </a:r>
          </a:p>
        </p:txBody>
      </p:sp>
      <p:sp>
        <p:nvSpPr>
          <p:cNvPr id="9040" name="Text 367"/>
          <p:cNvSpPr txBox="1"/>
          <p:nvPr/>
        </p:nvSpPr>
        <p:spPr>
          <a:xfrm>
            <a:off x="548640" y="5129784"/>
            <a:ext cx="2743200" cy="457200"/>
          </a:xfrm>
          <a:prstGeom prst="rect">
            <a:avLst/>
          </a:prstGeom>
          <a:noFill/>
        </p:spPr>
        <p:txBody>
          <a:bodyPr wrap="square" anchor="ctr" lIns="0" rIns="0" tIns="0" bIns="0">
            <a:spAutoFit/>
          </a:bodyPr>
          <a:lstStyle/>
          <a:p>
            <a:pPr algn="l"/>
            <a:r>
              <a:rPr sz="1600" b="1">
                <a:solidFill>
                  <a:schemeClr val="tx1"/>
                </a:solidFill>
              </a:rPr>
              <a:t>unit suites</a:t>
            </a:r>
          </a:p>
        </p:txBody>
      </p:sp>
      <p:sp>
        <p:nvSpPr>
          <p:cNvPr id="9041" name="Text 368"/>
          <p:cNvSpPr txBox="1"/>
          <p:nvPr/>
        </p:nvSpPr>
        <p:spPr>
          <a:xfrm>
            <a:off x="3383280" y="5129784"/>
            <a:ext cx="8259775" cy="457200"/>
          </a:xfrm>
          <a:prstGeom prst="rect">
            <a:avLst/>
          </a:prstGeom>
          <a:noFill/>
        </p:spPr>
        <p:txBody>
          <a:bodyPr wrap="square" anchor="ctr" lIns="0" rIns="0" tIns="0" bIns="0">
            <a:spAutoFit/>
          </a:bodyPr>
          <a:lstStyle/>
          <a:p>
            <a:pPr algn="l"/>
            <a:r>
              <a:rPr sz="1600" b="0">
                <a:solidFill>
                  <a:schemeClr val="accent5"/>
                </a:solidFill>
              </a:rPr>
              <a:t>Java, C++ and C#, case for case; seeded property tests</a:t>
            </a:r>
          </a:p>
        </p:txBody>
      </p:sp>
      <p:sp>
        <p:nvSpPr>
          <p:cNvPr id="9042" name="Text 369"/>
          <p:cNvSpPr txBox="1"/>
          <p:nvPr/>
        </p:nvSpPr>
        <p:spPr>
          <a:xfrm>
            <a:off x="548640" y="5669280"/>
            <a:ext cx="11094415" cy="411480"/>
          </a:xfrm>
          <a:prstGeom prst="rect">
            <a:avLst/>
          </a:prstGeom>
          <a:noFill/>
        </p:spPr>
        <p:txBody>
          <a:bodyPr wrap="square" anchor="t" lIns="0" rIns="0" tIns="0" bIns="0">
            <a:spAutoFit/>
          </a:bodyPr>
          <a:lstStyle/>
          <a:p>
            <a:pPr algn="l"/>
            <a:r>
              <a:rPr sz="1600" b="1">
                <a:solidFill>
                  <a:schemeClr val="accent2"/>
                </a:solidFill>
              </a:rPr>
              <a:t>Not exercised: </a:t>
            </a:r>
            <a:r>
              <a:rPr sz="1600" b="0">
                <a:solidFill>
                  <a:schemeClr val="tx1"/>
                </a:solidFill>
              </a:rPr>
              <a:t>the C++ client against a live cluster; killing a standalone aeronmd.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Monitoring</a:t>
            </a:r>
          </a:p>
        </p:txBody>
      </p:sp>
      <p:sp>
        <p:nvSpPr>
          <p:cNvPr id="3" name="Text 370"/>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Each member's counters, scraped by Prometheus, on one Grafana dashboard</a:t>
            </a:r>
          </a:p>
        </p:txBody>
      </p:sp>
      <p:sp>
        <p:nvSpPr>
          <p:cNvPr id="9024" name="Slide number"/>
          <p:cNvSpPr txBox="1"/>
          <p:nvPr userDrawn="1"/>
        </p:nvSpPr>
        <p:spPr>
          <a:xfrm>
            <a:off x="10728655" y="6400800"/>
            <a:ext cx="914400" cy="274320"/>
          </a:xfrm>
          <a:prstGeom prst="rect">
            <a:avLst/>
          </a:prstGeom>
          <a:noFill/>
        </p:spPr>
        <p:txBody>
          <a:bodyPr wrap="none" lIns="0" tIns="0" rIns="0" bIns="0" anchor="ctr"/>
          <a:lstStyle/>
          <a:p>
            <a:pPr algn="r"/>
            <a:fld id="{8f540680-b051-4838-ab1e-03119f7dd7ee}" type="slidenum">
              <a:rPr lang="en-US" sz="1000" dirty="0">
                <a:solidFill>
                  <a:schemeClr val="accent5"/>
                </a:solidFill>
              </a:rPr>
              <a:t>24</a:t>
            </a:fld>
          </a:p>
        </p:txBody>
      </p:sp>
      <p:sp>
        <p:nvSpPr>
          <p:cNvPr id="9025" name="Box 371"/>
          <p:cNvSpPr/>
          <p:nvPr/>
        </p:nvSpPr>
        <p:spPr>
          <a:xfrm>
            <a:off x="548640" y="1691640"/>
            <a:ext cx="2377440" cy="82296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1">
                <a:solidFill>
                  <a:schemeClr val="tx1"/>
                </a:solidFill>
              </a:rPr>
              <a:t>Member</a:t>
            </a:r>
          </a:p>
          <a:p>
            <a:pPr algn="ctr"/>
            <a:r>
              <a:rPr sz="1100" b="0">
                <a:solidFill>
                  <a:schemeClr val="accent5"/>
                </a:solidFill>
              </a:rPr>
              <a:t>Aeron counters in cnc.dat</a:t>
            </a:r>
          </a:p>
        </p:txBody>
      </p:sp>
      <p:cxnSp>
        <p:nvCxnSpPr>
          <p:cNvPr id="9026" name="Arrow 372"/>
          <p:cNvCxnSpPr/>
          <p:nvPr/>
        </p:nvCxnSpPr>
        <p:spPr>
          <a:xfrm>
            <a:off x="2926080" y="2103120"/>
            <a:ext cx="528218"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7" name="Box 373"/>
          <p:cNvSpPr/>
          <p:nvPr/>
        </p:nvSpPr>
        <p:spPr>
          <a:xfrm>
            <a:off x="3454298" y="1691640"/>
            <a:ext cx="2377440" cy="82296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1">
                <a:solidFill>
                  <a:schemeClr val="tx1"/>
                </a:solidFill>
              </a:rPr>
              <a:t>metrics-exporter</a:t>
            </a:r>
          </a:p>
          <a:p>
            <a:pPr algn="ctr"/>
            <a:r>
              <a:rPr sz="1100" b="0">
                <a:solidFill>
                  <a:schemeClr val="accent5"/>
                </a:solidFill>
              </a:rPr>
              <a:t>HTTP · port 9400 + member id</a:t>
            </a:r>
          </a:p>
        </p:txBody>
      </p:sp>
      <p:cxnSp>
        <p:nvCxnSpPr>
          <p:cNvPr id="9028" name="Arrow 374"/>
          <p:cNvCxnSpPr/>
          <p:nvPr/>
        </p:nvCxnSpPr>
        <p:spPr>
          <a:xfrm>
            <a:off x="5831738" y="2103120"/>
            <a:ext cx="528219"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29" name="Box 375"/>
          <p:cNvSpPr/>
          <p:nvPr/>
        </p:nvSpPr>
        <p:spPr>
          <a:xfrm>
            <a:off x="6359957" y="1691640"/>
            <a:ext cx="2377440" cy="82296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1">
                <a:solidFill>
                  <a:schemeClr val="tx1"/>
                </a:solidFill>
              </a:rPr>
              <a:t>Prometheus</a:t>
            </a:r>
          </a:p>
          <a:p>
            <a:pPr algn="ctr"/>
            <a:r>
              <a:rPr sz="1100" b="0">
                <a:solidFill>
                  <a:schemeClr val="accent5"/>
                </a:solidFill>
              </a:rPr>
              <a:t>pulls every exporter</a:t>
            </a:r>
          </a:p>
        </p:txBody>
      </p:sp>
      <p:cxnSp>
        <p:nvCxnSpPr>
          <p:cNvPr id="9030" name="Arrow 376"/>
          <p:cNvCxnSpPr/>
          <p:nvPr/>
        </p:nvCxnSpPr>
        <p:spPr>
          <a:xfrm>
            <a:off x="8737397" y="2103120"/>
            <a:ext cx="528218"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1" name="Box 377"/>
          <p:cNvSpPr/>
          <p:nvPr/>
        </p:nvSpPr>
        <p:spPr>
          <a:xfrm>
            <a:off x="9265615" y="1691640"/>
            <a:ext cx="2377440" cy="82296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500" b="1">
                <a:solidFill>
                  <a:schemeClr val="tx1"/>
                </a:solidFill>
              </a:rPr>
              <a:t>Grafana</a:t>
            </a:r>
          </a:p>
          <a:p>
            <a:pPr algn="ctr"/>
            <a:r>
              <a:rPr sz="1100" b="0">
                <a:solidFill>
                  <a:schemeClr val="accent5"/>
                </a:solidFill>
              </a:rPr>
              <a:t>one provisioned dashboard</a:t>
            </a:r>
          </a:p>
        </p:txBody>
      </p:sp>
      <p:sp>
        <p:nvSpPr>
          <p:cNvPr id="9032" name="Card 378"/>
          <p:cNvSpPr/>
          <p:nvPr/>
        </p:nvSpPr>
        <p:spPr>
          <a:xfrm>
            <a:off x="548640" y="2880360"/>
            <a:ext cx="3511296" cy="2560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800"/>
              </a:spcAft>
            </a:pPr>
            <a:r>
              <a:rPr sz="1800" b="1" cap="none">
                <a:solidFill>
                  <a:schemeClr val="tx1"/>
                </a:solidFill>
                <a:latin typeface="+mj-lt"/>
              </a:rPr>
              <a:t>Sequencer</a:t>
            </a:r>
          </a:p>
          <a:p>
            <a:pPr algn="l" marL="228600" indent="-228600">
              <a:spcAft>
                <a:spcPts val="400"/>
              </a:spcAft>
              <a:buClr>
                <a:schemeClr val="accent1"/>
              </a:buClr>
              <a:buChar char="•"/>
            </a:pPr>
            <a:r>
              <a:rPr sz="1400" b="0">
                <a:solidFill>
                  <a:schemeClr val="tx1"/>
                </a:solidFill>
              </a:rPr>
              <a:t>globalSeqNo and current leader</a:t>
            </a:r>
          </a:p>
          <a:p>
            <a:pPr algn="l" marL="228600" indent="-228600">
              <a:spcAft>
                <a:spcPts val="400"/>
              </a:spcAft>
              <a:buClr>
                <a:schemeClr val="accent1"/>
              </a:buClr>
              <a:buChar char="•"/>
            </a:pPr>
            <a:r>
              <a:rPr sz="1400" b="0">
                <a:solidFill>
                  <a:schemeClr val="tx1"/>
                </a:solidFill>
              </a:rPr>
              <a:t>Apply lag: now − last heartbeat</a:t>
            </a:r>
          </a:p>
          <a:p>
            <a:pPr algn="l" marL="228600" indent="-228600">
              <a:spcAft>
                <a:spcPts val="400"/>
              </a:spcAft>
              <a:buClr>
                <a:schemeClr val="accent1"/>
              </a:buClr>
              <a:buChar char="•"/>
            </a:pPr>
            <a:r>
              <a:rPr sz="1400" b="0">
                <a:solidFill>
                  <a:schemeClr val="tx1"/>
                </a:solidFill>
              </a:rPr>
              <a:t>Rejected ingress, leadership changes</a:t>
            </a:r>
          </a:p>
          <a:p>
            <a:pPr algn="l" marL="228600" indent="-228600">
              <a:spcAft>
                <a:spcPts val="400"/>
              </a:spcAft>
              <a:buClr>
                <a:schemeClr val="accent1"/>
              </a:buClr>
              <a:buChar char="•"/>
            </a:pPr>
            <a:r>
              <a:rPr sz="1400" b="0">
                <a:solidFill>
                  <a:schemeClr val="tx1"/>
                </a:solidFill>
              </a:rPr>
              <a:t>Tap back-pressure and stall</a:t>
            </a:r>
          </a:p>
          <a:p>
            <a:pPr algn="l" marL="228600" indent="-228600">
              <a:spcAft>
                <a:spcPts val="400"/>
              </a:spcAft>
              <a:buClr>
                <a:schemeClr val="accent1"/>
              </a:buClr>
              <a:buChar char="•"/>
            </a:pPr>
            <a:r>
              <a:rPr sz="1400" b="0">
                <a:solidFill>
                  <a:schemeClr val="tx1"/>
                </a:solidFill>
              </a:rPr>
              <a:t>Gateway promotions</a:t>
            </a:r>
          </a:p>
        </p:txBody>
      </p:sp>
      <p:sp>
        <p:nvSpPr>
          <p:cNvPr id="9033" name="Card 379"/>
          <p:cNvSpPr/>
          <p:nvPr/>
        </p:nvSpPr>
        <p:spPr>
          <a:xfrm>
            <a:off x="4338828" y="2880360"/>
            <a:ext cx="3511296" cy="2560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800"/>
              </a:spcAft>
            </a:pPr>
            <a:r>
              <a:rPr sz="1800" b="1" cap="none">
                <a:solidFill>
                  <a:schemeClr val="tx1"/>
                </a:solidFill>
                <a:latin typeface="+mj-lt"/>
              </a:rPr>
              <a:t>Replayer</a:t>
            </a:r>
          </a:p>
          <a:p>
            <a:pPr algn="l" marL="228600" indent="-228600">
              <a:spcAft>
                <a:spcPts val="400"/>
              </a:spcAft>
              <a:buClr>
                <a:schemeClr val="accent1"/>
              </a:buClr>
              <a:buChar char="•"/>
            </a:pPr>
            <a:r>
              <a:rPr sz="1400" b="0">
                <a:solidFill>
                  <a:schemeClr val="tx1"/>
                </a:solidFill>
              </a:rPr>
              <a:t>Ready, stalled, integrity failure</a:t>
            </a:r>
          </a:p>
          <a:p>
            <a:pPr algn="l" marL="228600" indent="-228600">
              <a:spcAft>
                <a:spcPts val="400"/>
              </a:spcAft>
              <a:buClr>
                <a:schemeClr val="accent1"/>
              </a:buClr>
              <a:buChar char="•"/>
            </a:pPr>
            <a:r>
              <a:rPr sz="1400" b="0">
                <a:solidFill>
                  <a:schemeClr val="tx1"/>
                </a:solidFill>
              </a:rPr>
              <a:t>Active and pending replays</a:t>
            </a:r>
          </a:p>
          <a:p>
            <a:pPr algn="l" marL="228600" indent="-228600">
              <a:spcAft>
                <a:spcPts val="400"/>
              </a:spcAft>
              <a:buClr>
                <a:schemeClr val="accent1"/>
              </a:buClr>
              <a:buChar char="•"/>
            </a:pPr>
            <a:r>
              <a:rPr sz="1400" b="0">
                <a:solidFill>
                  <a:schemeClr val="tx1"/>
                </a:solidFill>
              </a:rPr>
              <a:t>Throttled: the recorder is behind</a:t>
            </a:r>
          </a:p>
          <a:p>
            <a:pPr algn="l" marL="228600" indent="-228600">
              <a:spcAft>
                <a:spcPts val="400"/>
              </a:spcAft>
              <a:buClr>
                <a:schemeClr val="accent1"/>
              </a:buClr>
              <a:buChar char="•"/>
            </a:pPr>
            <a:r>
              <a:rPr sz="1400" b="0">
                <a:solidFill>
                  <a:schemeClr val="tx1"/>
                </a:solidFill>
              </a:rPr>
              <a:t>Snapshot round per source</a:t>
            </a:r>
          </a:p>
        </p:txBody>
      </p:sp>
      <p:sp>
        <p:nvSpPr>
          <p:cNvPr id="9034" name="Card 380"/>
          <p:cNvSpPr/>
          <p:nvPr/>
        </p:nvSpPr>
        <p:spPr>
          <a:xfrm>
            <a:off x="8129016" y="2880360"/>
            <a:ext cx="3511296" cy="2560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800"/>
              </a:spcAft>
            </a:pPr>
            <a:r>
              <a:rPr sz="1800" b="1" cap="none">
                <a:solidFill>
                  <a:schemeClr val="tx1"/>
                </a:solidFill>
                <a:latin typeface="+mj-lt"/>
              </a:rPr>
              <a:t>Clients</a:t>
            </a:r>
          </a:p>
          <a:p>
            <a:pPr algn="l" marL="228600" indent="-228600">
              <a:spcAft>
                <a:spcPts val="400"/>
              </a:spcAft>
              <a:buClr>
                <a:schemeClr val="accent1"/>
              </a:buClr>
              <a:buChar char="•"/>
            </a:pPr>
            <a:r>
              <a:rPr sz="1400" b="0">
                <a:solidFill>
                  <a:schemeClr val="tx1"/>
                </a:solidFill>
              </a:rPr>
              <a:t>Recovery stalled, per client</a:t>
            </a:r>
          </a:p>
          <a:p>
            <a:pPr algn="l" marL="228600" indent="-228600">
              <a:spcAft>
                <a:spcPts val="400"/>
              </a:spcAft>
              <a:buClr>
                <a:schemeClr val="accent1"/>
              </a:buClr>
              <a:buChar char="•"/>
            </a:pPr>
            <a:r>
              <a:rPr sz="1400" b="0">
                <a:solidFill>
                  <a:schemeClr val="tx1"/>
                </a:solidFill>
              </a:rPr>
              <a:t>An application's own counters, type ids 5201–5299</a:t>
            </a:r>
          </a:p>
          <a:p>
            <a:pPr algn="l" marL="228600" indent="-228600">
              <a:spcAft>
                <a:spcPts val="400"/>
              </a:spcAft>
              <a:buClr>
                <a:schemeClr val="accent1"/>
              </a:buClr>
              <a:buChar char="•"/>
            </a:pPr>
            <a:r>
              <a:rPr sz="1400" b="0">
                <a:solidFill>
                  <a:schemeClr val="tx1"/>
                </a:solidFill>
              </a:rPr>
              <a:t>Labelled member and client</a:t>
            </a:r>
          </a:p>
        </p:txBody>
      </p:sp>
      <p:sp>
        <p:nvSpPr>
          <p:cNvPr id="9035" name="Text 381"/>
          <p:cNvSpPr txBox="1"/>
          <p:nvPr/>
        </p:nvSpPr>
        <p:spPr>
          <a:xfrm>
            <a:off x="548640" y="5669280"/>
            <a:ext cx="11094415" cy="365760"/>
          </a:xfrm>
          <a:prstGeom prst="rect">
            <a:avLst/>
          </a:prstGeom>
          <a:noFill/>
        </p:spPr>
        <p:txBody>
          <a:bodyPr wrap="square" anchor="t" lIns="0" rIns="0" tIns="0" bIns="0">
            <a:spAutoFit/>
          </a:bodyPr>
          <a:lstStyle/>
          <a:p>
            <a:pPr algn="l"/>
            <a:r>
              <a:rPr sz="1400" b="1">
                <a:solidFill>
                  <a:schemeClr val="accent2"/>
                </a:solidFill>
              </a:rPr>
              <a:t>Not provided: </a:t>
            </a:r>
            <a:r>
              <a:rPr sz="1400" b="0">
                <a:solidFill>
                  <a:schemeClr val="tx1"/>
                </a:solidFill>
              </a:rPr>
              <a:t>alert rules, service discovery, authentication on the metrics endpoint.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rIns="0" anchor="t"/>
          <a:lstStyle/>
          <a:p>
            <a:pPr algn="l"/>
            <a:r>
              <a:rPr sz="4400" b="1" cap="none">
                <a:solidFill>
                  <a:schemeClr val="bg1"/>
                </a:solidFill>
                <a:latin typeface="+mj-lt"/>
              </a:rPr>
              <a:t>Discussion</a:t>
            </a:r>
          </a:p>
        </p:txBody>
      </p:sp>
      <p:sp>
        <p:nvSpPr>
          <p:cNvPr id="3" name="Text Placeholder 2"/>
          <p:cNvSpPr>
            <a:spLocks noGrp="1"/>
          </p:cNvSpPr>
          <p:nvPr>
            <p:ph type="body" idx="1"/>
          </p:nvPr>
        </p:nvSpPr>
        <p:spPr/>
        <p:txBody>
          <a:bodyPr lIns="0" rIns="0"/>
          <a:lstStyle/>
          <a:p>
            <a:pPr algn="l"/>
            <a:r>
              <a:rPr sz="2000" b="0">
                <a:solidFill>
                  <a:schemeClr val="accent3"/>
                </a:solidFill>
              </a:rPr>
              <a:t>Further reading in doc/</a:t>
            </a:r>
          </a:p>
        </p:txBody>
      </p:sp>
      <p:sp>
        <p:nvSpPr>
          <p:cNvPr id="4" name="Tape cell 382"/>
          <p:cNvSpPr/>
          <p:nvPr/>
        </p:nvSpPr>
        <p:spPr>
          <a:xfrm>
            <a:off x="731520" y="1965960"/>
            <a:ext cx="384048" cy="38404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1</a:t>
            </a:r>
          </a:p>
        </p:txBody>
      </p:sp>
      <p:sp>
        <p:nvSpPr>
          <p:cNvPr id="5" name="Tape cell 383"/>
          <p:cNvSpPr/>
          <p:nvPr/>
        </p:nvSpPr>
        <p:spPr>
          <a:xfrm>
            <a:off x="1188720" y="1965960"/>
            <a:ext cx="384048" cy="38404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2</a:t>
            </a:r>
          </a:p>
        </p:txBody>
      </p:sp>
      <p:sp>
        <p:nvSpPr>
          <p:cNvPr id="6" name="Tape cell 384"/>
          <p:cNvSpPr/>
          <p:nvPr/>
        </p:nvSpPr>
        <p:spPr>
          <a:xfrm>
            <a:off x="1645920" y="1965960"/>
            <a:ext cx="384048" cy="38404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3</a:t>
            </a:r>
          </a:p>
        </p:txBody>
      </p:sp>
      <p:sp>
        <p:nvSpPr>
          <p:cNvPr id="7" name="Tape cell 385"/>
          <p:cNvSpPr/>
          <p:nvPr/>
        </p:nvSpPr>
        <p:spPr>
          <a:xfrm>
            <a:off x="2103120" y="1965960"/>
            <a:ext cx="384048" cy="38404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4</a:t>
            </a:r>
          </a:p>
        </p:txBody>
      </p:sp>
      <p:sp>
        <p:nvSpPr>
          <p:cNvPr id="8" name="Tape cell 386"/>
          <p:cNvSpPr/>
          <p:nvPr/>
        </p:nvSpPr>
        <p:spPr>
          <a:xfrm>
            <a:off x="2560320" y="1965960"/>
            <a:ext cx="384048" cy="38404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5</a:t>
            </a:r>
          </a:p>
        </p:txBody>
      </p:sp>
      <p:sp>
        <p:nvSpPr>
          <p:cNvPr id="9" name="Tape cell 387"/>
          <p:cNvSpPr/>
          <p:nvPr/>
        </p:nvSpPr>
        <p:spPr>
          <a:xfrm>
            <a:off x="3017520" y="1965960"/>
            <a:ext cx="384048" cy="384048"/>
          </a:xfrm>
          <a:prstGeom prst="rect">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0">
                <a:solidFill>
                  <a:schemeClr val="accent3"/>
                </a:solidFill>
              </a:rPr>
              <a:t>6</a:t>
            </a:r>
          </a:p>
        </p:txBody>
      </p:sp>
      <p:sp>
        <p:nvSpPr>
          <p:cNvPr id="10" name="Text 388"/>
          <p:cNvSpPr txBox="1"/>
          <p:nvPr/>
        </p:nvSpPr>
        <p:spPr>
          <a:xfrm>
            <a:off x="731520" y="4892040"/>
            <a:ext cx="10698480" cy="1463040"/>
          </a:xfrm>
          <a:prstGeom prst="rect">
            <a:avLst/>
          </a:prstGeom>
          <a:noFill/>
        </p:spPr>
        <p:txBody>
          <a:bodyPr wrap="square" anchor="t" lIns="0" rIns="0" tIns="0" bIns="0">
            <a:spAutoFit/>
          </a:bodyPr>
          <a:lstStyle/>
          <a:p>
            <a:pPr algn="l">
              <a:spcAft>
                <a:spcPts val="600"/>
              </a:spcAft>
            </a:pPr>
            <a:r>
              <a:rPr sz="1600" b="1">
                <a:solidFill>
                  <a:schemeClr val="bg1"/>
                </a:solidFill>
              </a:rPr>
              <a:t>overview.md</a:t>
            </a:r>
            <a:r>
              <a:rPr sz="1600" b="0">
                <a:solidFill>
                  <a:schemeClr val="accent3"/>
                </a:solidFill>
              </a:rPr>
              <a:t>  the design   </a:t>
            </a:r>
            <a:r>
              <a:rPr sz="1600" b="1">
                <a:solidFill>
                  <a:schemeClr val="bg1"/>
                </a:solidFill>
              </a:rPr>
              <a:t>seqeron-protocol-spec.md</a:t>
            </a:r>
            <a:r>
              <a:rPr sz="1600" b="0">
                <a:solidFill>
                  <a:schemeClr val="accent3"/>
                </a:solidFill>
              </a:rPr>
              <a:t>  normative rules</a:t>
            </a:r>
          </a:p>
          <a:p>
            <a:pPr algn="l">
              <a:spcAft>
                <a:spcPts val="600"/>
              </a:spcAft>
            </a:pPr>
            <a:r>
              <a:rPr sz="1600" b="1">
                <a:solidFill>
                  <a:schemeClr val="bg1"/>
                </a:solidFill>
              </a:rPr>
              <a:t>fault-tolerance.md</a:t>
            </a:r>
            <a:r>
              <a:rPr sz="1600" b="0">
                <a:solidFill>
                  <a:schemeClr val="accent3"/>
                </a:solidFill>
              </a:rPr>
              <a:t>  each failure   </a:t>
            </a:r>
            <a:r>
              <a:rPr sz="1600" b="1">
                <a:solidFill>
                  <a:schemeClr val="bg1"/>
                </a:solidFill>
              </a:rPr>
              <a:t>client-api.md</a:t>
            </a:r>
            <a:r>
              <a:rPr sz="1600" b="0">
                <a:solidFill>
                  <a:schemeClr val="accent3"/>
                </a:solidFill>
              </a:rPr>
              <a:t>  the client tier   </a:t>
            </a:r>
            <a:r>
              <a:rPr sz="1600" b="1">
                <a:solidFill>
                  <a:schemeClr val="bg1"/>
                </a:solidFill>
              </a:rPr>
              <a:t>snapshot.md</a:t>
            </a:r>
            <a:r>
              <a:rPr sz="1600" b="0">
                <a:solidFill>
                  <a:schemeClr val="accent3"/>
                </a:solidFill>
              </a:rPr>
              <a:t>  application snapshots</a:t>
            </a:r>
          </a:p>
          <a:p>
            <a:pPr algn="l"/>
            <a:r>
              <a:rPr sz="1600" b="1">
                <a:solidFill>
                  <a:schemeClr val="bg1"/>
                </a:solidFill>
              </a:rPr>
              <a:t>ops.md</a:t>
            </a:r>
            <a:r>
              <a:rPr sz="1600" b="0">
                <a:solidFill>
                  <a:schemeClr val="accent3"/>
                </a:solidFill>
              </a:rPr>
              <a:t>  ports, counters, runbooks   </a:t>
            </a:r>
            <a:r>
              <a:rPr sz="1600" b="1">
                <a:solidFill>
                  <a:schemeClr val="bg1"/>
                </a:solidFill>
              </a:rPr>
              <a:t>clusterctl.md</a:t>
            </a:r>
            <a:r>
              <a:rPr sz="1600" b="0">
                <a:solidFill>
                  <a:schemeClr val="accent3"/>
                </a:solidFill>
              </a:rPr>
              <a:t>  the operator tool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Glossary</a:t>
            </a:r>
          </a:p>
        </p:txBody>
      </p:sp>
      <p:sp>
        <p:nvSpPr>
          <p:cNvPr id="3" name="Text 389"/>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The terms this deck uses, one line each</a:t>
            </a:r>
          </a:p>
        </p:txBody>
      </p:sp>
      <p:sp>
        <p:nvSpPr>
          <p:cNvPr id="9026" name="Slide number"/>
          <p:cNvSpPr txBox="1"/>
          <p:nvPr userDrawn="1"/>
        </p:nvSpPr>
        <p:spPr>
          <a:xfrm>
            <a:off x="10728655" y="6400800"/>
            <a:ext cx="914400" cy="274320"/>
          </a:xfrm>
          <a:prstGeom prst="rect">
            <a:avLst/>
          </a:prstGeom>
          <a:noFill/>
        </p:spPr>
        <p:txBody>
          <a:bodyPr wrap="none" lIns="0" tIns="0" rIns="0" bIns="0" anchor="ctr"/>
          <a:lstStyle/>
          <a:p>
            <a:pPr algn="r"/>
            <a:fld id="{1a7fa557-b703-4843-b5cc-701d7b8c100e}" type="slidenum">
              <a:rPr lang="en-US" sz="1000" dirty="0">
                <a:solidFill>
                  <a:schemeClr val="accent5"/>
                </a:solidFill>
              </a:rPr>
              <a:t>26</a:t>
            </a:fld>
          </a:p>
        </p:txBody>
      </p:sp>
      <p:graphicFrame>
        <p:nvGraphicFramePr>
          <p:cNvPr id="9027" name="Table 390"/>
          <p:cNvGraphicFramePr>
            <a:graphicFrameLocks noGrp="1"/>
          </p:cNvGraphicFramePr>
          <p:nvPr/>
        </p:nvGraphicFramePr>
        <p:xfrm>
          <a:off x="548640" y="1645920"/>
          <a:ext cx="5394960" cy="4425696"/>
        </p:xfrm>
        <a:graphic>
          <a:graphicData uri="http://schemas.openxmlformats.org/drawingml/2006/table">
            <a:tbl>
              <a:tblPr firstRow="1">
                <a:tableStyleId>{5C22544A-7EE6-4342-B048-85BDC9FD1C3A}</a:tableStyleId>
              </a:tblPr>
              <a:tblGrid>
                <a:gridCol w="1600200"/>
                <a:gridCol w="3794760"/>
              </a:tblGrid>
              <a:tr h="402336">
                <a:tc>
                  <a:txBody>
                    <a:bodyPr/>
                    <a:lstStyle/>
                    <a:p>
                      <a:pPr algn="l"/>
                      <a:r>
                        <a:rPr sz="1100" b="1">
                          <a:solidFill>
                            <a:schemeClr val="bg1"/>
                          </a:solidFill>
                        </a:rPr>
                        <a:t>Term</a:t>
                      </a:r>
                    </a:p>
                  </a:txBody>
                  <a:tcPr marL="91440" marR="91440" marT="45720" marB="45720" anchor="ctr">
                    <a:solidFill>
                      <a:schemeClr val="accent1"/>
                    </a:solidFill>
                  </a:tcPr>
                </a:tc>
                <a:tc>
                  <a:txBody>
                    <a:bodyPr/>
                    <a:lstStyle/>
                    <a:p>
                      <a:pPr algn="l"/>
                      <a:r>
                        <a:rPr sz="1100" b="1">
                          <a:solidFill>
                            <a:schemeClr val="bg1"/>
                          </a:solidFill>
                        </a:rPr>
                        <a:t>Meaning</a:t>
                      </a:r>
                    </a:p>
                  </a:txBody>
                  <a:tcPr marL="91440" marR="91440" marT="45720" marB="45720" anchor="ctr">
                    <a:solidFill>
                      <a:schemeClr val="accent1"/>
                    </a:solidFill>
                  </a:tcPr>
                </a:tc>
              </a:tr>
              <a:tr h="402336">
                <a:tc>
                  <a:txBody>
                    <a:bodyPr/>
                    <a:lstStyle/>
                    <a:p>
                      <a:pPr algn="l"/>
                      <a:r>
                        <a:rPr sz="1200" b="1">
                          <a:solidFill>
                            <a:schemeClr val="tx1"/>
                          </a:solidFill>
                        </a:rPr>
                        <a:t>Application</a:t>
                      </a:r>
                    </a:p>
                  </a:txBody>
                  <a:tcPr marL="91440" marR="91440" marT="45720" marB="45720" anchor="ctr">
                    <a:solidFill>
                      <a:schemeClr val="bg1"/>
                    </a:solidFill>
                  </a:tcPr>
                </a:tc>
                <a:tc>
                  <a:txBody>
                    <a:bodyPr/>
                    <a:lstStyle/>
                    <a:p>
                      <a:pPr algn="l"/>
                      <a:r>
                        <a:rPr sz="1200" b="0">
                          <a:solidFill>
                            <a:schemeClr val="tx1"/>
                          </a:solidFill>
                        </a:rPr>
                        <a:t>Deterministic service: one per member, or remote</a:t>
                      </a:r>
                    </a:p>
                  </a:txBody>
                  <a:tcPr marL="91440" marR="91440" marT="45720" marB="45720" anchor="ctr">
                    <a:solidFill>
                      <a:schemeClr val="bg1"/>
                    </a:solidFill>
                  </a:tcPr>
                </a:tc>
              </a:tr>
              <a:tr h="402336">
                <a:tc>
                  <a:txBody>
                    <a:bodyPr/>
                    <a:lstStyle/>
                    <a:p>
                      <a:pPr algn="l"/>
                      <a:r>
                        <a:rPr sz="1200" b="1">
                          <a:solidFill>
                            <a:schemeClr val="tx1"/>
                          </a:solidFill>
                        </a:rPr>
                        <a:t>Cluster clock</a:t>
                      </a:r>
                    </a:p>
                  </a:txBody>
                  <a:tcPr marL="91440" marR="91440" marT="45720" marB="45720" anchor="ctr">
                    <a:solidFill>
                      <a:schemeClr val="bg2"/>
                    </a:solidFill>
                  </a:tcPr>
                </a:tc>
                <a:tc>
                  <a:txBody>
                    <a:bodyPr/>
                    <a:lstStyle/>
                    <a:p>
                      <a:pPr algn="l"/>
                      <a:r>
                        <a:rPr sz="1200" b="0">
                          <a:solidFill>
                            <a:schemeClr val="tx1"/>
                          </a:solidFill>
                        </a:rPr>
                        <a:t>ClusterHeartbeat: 1 Hz, on consensus time</a:t>
                      </a:r>
                    </a:p>
                  </a:txBody>
                  <a:tcPr marL="91440" marR="91440" marT="45720" marB="45720" anchor="ctr">
                    <a:solidFill>
                      <a:schemeClr val="bg2"/>
                    </a:solidFill>
                  </a:tcPr>
                </a:tc>
              </a:tr>
              <a:tr h="402336">
                <a:tc>
                  <a:txBody>
                    <a:bodyPr/>
                    <a:lstStyle/>
                    <a:p>
                      <a:pPr algn="l"/>
                      <a:r>
                        <a:rPr sz="1200" b="1">
                          <a:solidFill>
                            <a:schemeClr val="tx1"/>
                          </a:solidFill>
                        </a:rPr>
                        <a:t>Confirmed ingress</a:t>
                      </a:r>
                    </a:p>
                  </a:txBody>
                  <a:tcPr marL="91440" marR="91440" marT="45720" marB="45720" anchor="ctr">
                    <a:solidFill>
                      <a:schemeClr val="bg1"/>
                    </a:solidFill>
                  </a:tcPr>
                </a:tc>
                <a:tc>
                  <a:txBody>
                    <a:bodyPr/>
                    <a:lstStyle/>
                    <a:p>
                      <a:pPr algn="l"/>
                      <a:r>
                        <a:rPr sz="1200" b="0">
                          <a:solidFill>
                            <a:schemeClr val="tx1"/>
                          </a:solidFill>
                        </a:rPr>
                        <a:t>Held until the producer's own tap shows it</a:t>
                      </a:r>
                    </a:p>
                  </a:txBody>
                  <a:tcPr marL="91440" marR="91440" marT="45720" marB="45720" anchor="ctr">
                    <a:solidFill>
                      <a:schemeClr val="bg1"/>
                    </a:solidFill>
                  </a:tcPr>
                </a:tc>
              </a:tr>
              <a:tr h="402336">
                <a:tc>
                  <a:txBody>
                    <a:bodyPr/>
                    <a:lstStyle/>
                    <a:p>
                      <a:pPr algn="l"/>
                      <a:r>
                        <a:rPr sz="1200" b="1">
                          <a:solidFill>
                            <a:schemeClr val="tx1"/>
                          </a:solidFill>
                        </a:rPr>
                        <a:t>Façade</a:t>
                      </a:r>
                    </a:p>
                  </a:txBody>
                  <a:tcPr marL="91440" marR="91440" marT="45720" marB="45720" anchor="ctr">
                    <a:solidFill>
                      <a:schemeClr val="bg2"/>
                    </a:solidFill>
                  </a:tcPr>
                </a:tc>
                <a:tc>
                  <a:txBody>
                    <a:bodyPr/>
                    <a:lstStyle/>
                    <a:p>
                      <a:pPr algn="l"/>
                      <a:r>
                        <a:rPr sz="1200" b="0">
                          <a:solidFill>
                            <a:schemeClr val="tx1"/>
                          </a:solidFill>
                        </a:rPr>
                        <a:t>A client's one entry point, Gateway or Application</a:t>
                      </a:r>
                    </a:p>
                  </a:txBody>
                  <a:tcPr marL="91440" marR="91440" marT="45720" marB="45720" anchor="ctr">
                    <a:solidFill>
                      <a:schemeClr val="bg2"/>
                    </a:solidFill>
                  </a:tcPr>
                </a:tc>
              </a:tr>
              <a:tr h="402336">
                <a:tc>
                  <a:txBody>
                    <a:bodyPr/>
                    <a:lstStyle/>
                    <a:p>
                      <a:pPr algn="l"/>
                      <a:r>
                        <a:rPr sz="1200" b="1">
                          <a:solidFill>
                            <a:schemeClr val="tx1"/>
                          </a:solidFill>
                        </a:rPr>
                        <a:t>Fence</a:t>
                      </a:r>
                    </a:p>
                  </a:txBody>
                  <a:tcPr marL="91440" marR="91440" marT="45720" marB="45720" anchor="ctr">
                    <a:solidFill>
                      <a:schemeClr val="bg1"/>
                    </a:solidFill>
                  </a:tcPr>
                </a:tc>
                <a:tc>
                  <a:txBody>
                    <a:bodyPr/>
                    <a:lstStyle/>
                    <a:p>
                      <a:pPr algn="l"/>
                      <a:r>
                        <a:rPr sz="1200" b="0">
                          <a:solidFill>
                            <a:schemeClr val="tx1"/>
                          </a:solidFill>
                        </a:rPr>
                        <a:t>Stops acting: its view of the log is not trusted</a:t>
                      </a:r>
                    </a:p>
                  </a:txBody>
                  <a:tcPr marL="91440" marR="91440" marT="45720" marB="45720" anchor="ctr">
                    <a:solidFill>
                      <a:schemeClr val="bg1"/>
                    </a:solidFill>
                  </a:tcPr>
                </a:tc>
              </a:tr>
              <a:tr h="402336">
                <a:tc>
                  <a:txBody>
                    <a:bodyPr/>
                    <a:lstStyle/>
                    <a:p>
                      <a:pPr algn="l"/>
                      <a:r>
                        <a:rPr sz="1200" b="1">
                          <a:solidFill>
                            <a:schemeClr val="tx1"/>
                          </a:solidFill>
                        </a:rPr>
                        <a:t>Gate</a:t>
                      </a:r>
                    </a:p>
                  </a:txBody>
                  <a:tcPr marL="91440" marR="91440" marT="45720" marB="45720" anchor="ctr">
                    <a:solidFill>
                      <a:schemeClr val="bg2"/>
                    </a:solidFill>
                  </a:tcPr>
                </a:tc>
                <a:tc>
                  <a:txBody>
                    <a:bodyPr/>
                    <a:lstStyle/>
                    <a:p>
                      <a:pPr algn="l"/>
                      <a:r>
                        <a:rPr sz="1200" b="0">
                          <a:solidFill>
                            <a:schemeClr val="tx1"/>
                          </a:solidFill>
                        </a:rPr>
                        <a:t>Lets an application instance publish; shut each term</a:t>
                      </a:r>
                    </a:p>
                  </a:txBody>
                  <a:tcPr marL="91440" marR="91440" marT="45720" marB="45720" anchor="ctr">
                    <a:solidFill>
                      <a:schemeClr val="bg2"/>
                    </a:solidFill>
                  </a:tcPr>
                </a:tc>
              </a:tr>
              <a:tr h="402336">
                <a:tc>
                  <a:txBody>
                    <a:bodyPr/>
                    <a:lstStyle/>
                    <a:p>
                      <a:pPr algn="l"/>
                      <a:r>
                        <a:rPr sz="1200" b="1">
                          <a:solidFill>
                            <a:schemeClr val="tx1"/>
                          </a:solidFill>
                        </a:rPr>
                        <a:t>Gateway</a:t>
                      </a:r>
                    </a:p>
                  </a:txBody>
                  <a:tcPr marL="91440" marR="91440" marT="45720" marB="45720" anchor="ctr">
                    <a:solidFill>
                      <a:schemeClr val="bg1"/>
                    </a:solidFill>
                  </a:tcPr>
                </a:tc>
                <a:tc>
                  <a:txBody>
                    <a:bodyPr/>
                    <a:lstStyle/>
                    <a:p>
                      <a:pPr algn="l"/>
                      <a:r>
                        <a:rPr sz="1200" b="0">
                          <a:solidFill>
                            <a:schemeClr val="tx1"/>
                          </a:solidFill>
                        </a:rPr>
                        <a:t>Edge producer pair; the cluster designates one</a:t>
                      </a:r>
                    </a:p>
                  </a:txBody>
                  <a:tcPr marL="91440" marR="91440" marT="45720" marB="45720" anchor="ctr">
                    <a:solidFill>
                      <a:schemeClr val="bg1"/>
                    </a:solidFill>
                  </a:tcPr>
                </a:tc>
              </a:tr>
              <a:tr h="402336">
                <a:tc>
                  <a:txBody>
                    <a:bodyPr/>
                    <a:lstStyle/>
                    <a:p>
                      <a:pPr algn="l"/>
                      <a:r>
                        <a:rPr sz="1200" b="1">
                          <a:solidFill>
                            <a:schemeClr val="tx1"/>
                          </a:solidFill>
                        </a:rPr>
                        <a:t>Gateway host</a:t>
                      </a:r>
                    </a:p>
                  </a:txBody>
                  <a:tcPr marL="91440" marR="91440" marT="45720" marB="45720" anchor="ctr">
                    <a:solidFill>
                      <a:schemeClr val="bg2"/>
                    </a:solidFill>
                  </a:tcPr>
                </a:tc>
                <a:tc>
                  <a:txBody>
                    <a:bodyPr/>
                    <a:lstStyle/>
                    <a:p>
                      <a:pPr algn="l"/>
                      <a:r>
                        <a:rPr sz="1200" b="0">
                          <a:solidFill>
                            <a:schemeClr val="tx1"/>
                          </a:solidFill>
                        </a:rPr>
                        <a:t>Clients, no member; relays a member's tap</a:t>
                      </a:r>
                    </a:p>
                  </a:txBody>
                  <a:tcPr marL="91440" marR="91440" marT="45720" marB="45720" anchor="ctr">
                    <a:solidFill>
                      <a:schemeClr val="bg2"/>
                    </a:solidFill>
                  </a:tcPr>
                </a:tc>
              </a:tr>
              <a:tr h="402336">
                <a:tc>
                  <a:txBody>
                    <a:bodyPr/>
                    <a:lstStyle/>
                    <a:p>
                      <a:pPr algn="l"/>
                      <a:r>
                        <a:rPr sz="1200" b="1">
                          <a:solidFill>
                            <a:schemeClr val="tx1"/>
                          </a:solidFill>
                        </a:rPr>
                        <a:t>globalSeqNo</a:t>
                      </a:r>
                    </a:p>
                  </a:txBody>
                  <a:tcPr marL="91440" marR="91440" marT="45720" marB="45720" anchor="ctr">
                    <a:solidFill>
                      <a:schemeClr val="bg1"/>
                    </a:solidFill>
                  </a:tcPr>
                </a:tc>
                <a:tc>
                  <a:txBody>
                    <a:bodyPr/>
                    <a:lstStyle/>
                    <a:p>
                      <a:pPr algn="l"/>
                      <a:r>
                        <a:rPr sz="1200" b="0">
                          <a:solidFill>
                            <a:schemeClr val="tx1"/>
                          </a:solidFill>
                        </a:rPr>
                        <a:t>The sequence number: from 1, no gaps, no reuse</a:t>
                      </a:r>
                    </a:p>
                  </a:txBody>
                  <a:tcPr marL="91440" marR="91440" marT="45720" marB="45720" anchor="ctr">
                    <a:solidFill>
                      <a:schemeClr val="bg1"/>
                    </a:solidFill>
                  </a:tcPr>
                </a:tc>
              </a:tr>
              <a:tr h="402336">
                <a:tc>
                  <a:txBody>
                    <a:bodyPr/>
                    <a:lstStyle/>
                    <a:p>
                      <a:pPr algn="l"/>
                      <a:r>
                        <a:rPr sz="1200" b="1">
                          <a:solidFill>
                            <a:schemeClr val="tx1"/>
                          </a:solidFill>
                        </a:rPr>
                        <a:t>Member</a:t>
                      </a:r>
                    </a:p>
                  </a:txBody>
                  <a:tcPr marL="91440" marR="91440" marT="45720" marB="45720" anchor="ctr">
                    <a:solidFill>
                      <a:schemeClr val="bg2"/>
                    </a:solidFill>
                  </a:tcPr>
                </a:tc>
                <a:tc>
                  <a:txBody>
                    <a:bodyPr/>
                    <a:lstStyle/>
                    <a:p>
                      <a:pPr algn="l"/>
                      <a:r>
                        <a:rPr sz="1200" b="0">
                          <a:solidFill>
                            <a:schemeClr val="tx1"/>
                          </a:solidFill>
                        </a:rPr>
                        <a:t>One cluster node: one JVM, its own archive</a:t>
                      </a:r>
                    </a:p>
                  </a:txBody>
                  <a:tcPr marL="91440" marR="91440" marT="45720" marB="45720" anchor="ctr">
                    <a:solidFill>
                      <a:schemeClr val="bg2"/>
                    </a:solidFill>
                  </a:tcPr>
                </a:tc>
              </a:tr>
            </a:tbl>
          </a:graphicData>
        </a:graphic>
      </p:graphicFrame>
      <p:graphicFrame>
        <p:nvGraphicFramePr>
          <p:cNvPr id="9028" name="Table 391"/>
          <p:cNvGraphicFramePr>
            <a:graphicFrameLocks noGrp="1"/>
          </p:cNvGraphicFramePr>
          <p:nvPr/>
        </p:nvGraphicFramePr>
        <p:xfrm>
          <a:off x="6245352" y="1645920"/>
          <a:ext cx="5394960" cy="4425696"/>
        </p:xfrm>
        <a:graphic>
          <a:graphicData uri="http://schemas.openxmlformats.org/drawingml/2006/table">
            <a:tbl>
              <a:tblPr firstRow="1">
                <a:tableStyleId>{5C22544A-7EE6-4342-B048-85BDC9FD1C3A}</a:tableStyleId>
              </a:tblPr>
              <a:tblGrid>
                <a:gridCol w="1600200"/>
                <a:gridCol w="3794760"/>
              </a:tblGrid>
              <a:tr h="402336">
                <a:tc>
                  <a:txBody>
                    <a:bodyPr/>
                    <a:lstStyle/>
                    <a:p>
                      <a:pPr algn="l"/>
                      <a:r>
                        <a:rPr sz="1100" b="1">
                          <a:solidFill>
                            <a:schemeClr val="bg1"/>
                          </a:solidFill>
                        </a:rPr>
                        <a:t>Term</a:t>
                      </a:r>
                    </a:p>
                  </a:txBody>
                  <a:tcPr marL="91440" marR="91440" marT="45720" marB="45720" anchor="ctr">
                    <a:solidFill>
                      <a:schemeClr val="accent1"/>
                    </a:solidFill>
                  </a:tcPr>
                </a:tc>
                <a:tc>
                  <a:txBody>
                    <a:bodyPr/>
                    <a:lstStyle/>
                    <a:p>
                      <a:pPr algn="l"/>
                      <a:r>
                        <a:rPr sz="1100" b="1">
                          <a:solidFill>
                            <a:schemeClr val="bg1"/>
                          </a:solidFill>
                        </a:rPr>
                        <a:t>Meaning</a:t>
                      </a:r>
                    </a:p>
                  </a:txBody>
                  <a:tcPr marL="91440" marR="91440" marT="45720" marB="45720" anchor="ctr">
                    <a:solidFill>
                      <a:schemeClr val="accent1"/>
                    </a:solidFill>
                  </a:tcPr>
                </a:tc>
              </a:tr>
              <a:tr h="402336">
                <a:tc>
                  <a:txBody>
                    <a:bodyPr/>
                    <a:lstStyle/>
                    <a:p>
                      <a:pPr algn="l"/>
                      <a:r>
                        <a:rPr sz="1200" b="1">
                          <a:solidFill>
                            <a:schemeClr val="tx1"/>
                          </a:solidFill>
                        </a:rPr>
                        <a:t>payloadId</a:t>
                      </a:r>
                    </a:p>
                  </a:txBody>
                  <a:tcPr marL="91440" marR="91440" marT="45720" marB="45720" anchor="ctr">
                    <a:solidFill>
                      <a:schemeClr val="bg1"/>
                    </a:solidFill>
                  </a:tcPr>
                </a:tc>
                <a:tc>
                  <a:txBody>
                    <a:bodyPr/>
                    <a:lstStyle/>
                    <a:p>
                      <a:pPr algn="l"/>
                      <a:r>
                        <a:rPr sz="1200" b="0">
                          <a:solidFill>
                            <a:schemeClr val="tx1"/>
                          </a:solidFill>
                        </a:rPr>
                        <a:t>A payload's type; the cluster never decodes it</a:t>
                      </a:r>
                    </a:p>
                  </a:txBody>
                  <a:tcPr marL="91440" marR="91440" marT="45720" marB="45720" anchor="ctr">
                    <a:solidFill>
                      <a:schemeClr val="bg1"/>
                    </a:solidFill>
                  </a:tcPr>
                </a:tc>
              </a:tr>
              <a:tr h="402336">
                <a:tc>
                  <a:txBody>
                    <a:bodyPr/>
                    <a:lstStyle/>
                    <a:p>
                      <a:pPr algn="l"/>
                      <a:r>
                        <a:rPr sz="1200" b="1">
                          <a:solidFill>
                            <a:schemeClr val="tx1"/>
                          </a:solidFill>
                        </a:rPr>
                        <a:t>Producer</a:t>
                      </a:r>
                    </a:p>
                  </a:txBody>
                  <a:tcPr marL="91440" marR="91440" marT="45720" marB="45720" anchor="ctr">
                    <a:solidFill>
                      <a:schemeClr val="bg2"/>
                    </a:solidFill>
                  </a:tcPr>
                </a:tc>
                <a:tc>
                  <a:txBody>
                    <a:bodyPr/>
                    <a:lstStyle/>
                    <a:p>
                      <a:pPr algn="l"/>
                      <a:r>
                        <a:rPr sz="1200" b="0">
                          <a:solidFill>
                            <a:schemeClr val="tx1"/>
                          </a:solidFill>
                        </a:rPr>
                        <a:t>Submits on ingress: a gateway or an application</a:t>
                      </a:r>
                    </a:p>
                  </a:txBody>
                  <a:tcPr marL="91440" marR="91440" marT="45720" marB="45720" anchor="ctr">
                    <a:solidFill>
                      <a:schemeClr val="bg2"/>
                    </a:solidFill>
                  </a:tcPr>
                </a:tc>
              </a:tr>
              <a:tr h="402336">
                <a:tc>
                  <a:txBody>
                    <a:bodyPr/>
                    <a:lstStyle/>
                    <a:p>
                      <a:pPr algn="l"/>
                      <a:r>
                        <a:rPr sz="1200" b="1">
                          <a:solidFill>
                            <a:schemeClr val="tx1"/>
                          </a:solidFill>
                        </a:rPr>
                        <a:t>Recording</a:t>
                      </a:r>
                    </a:p>
                  </a:txBody>
                  <a:tcPr marL="91440" marR="91440" marT="45720" marB="45720" anchor="ctr">
                    <a:solidFill>
                      <a:schemeClr val="bg1"/>
                    </a:solidFill>
                  </a:tcPr>
                </a:tc>
                <a:tc>
                  <a:txBody>
                    <a:bodyPr/>
                    <a:lstStyle/>
                    <a:p>
                      <a:pPr algn="l"/>
                      <a:r>
                        <a:rPr sz="1200" b="0">
                          <a:solidFill>
                            <a:schemeClr val="tx1"/>
                          </a:solidFill>
                        </a:rPr>
                        <a:t>The archive's copy of a member's tap</a:t>
                      </a:r>
                    </a:p>
                  </a:txBody>
                  <a:tcPr marL="91440" marR="91440" marT="45720" marB="45720" anchor="ctr">
                    <a:solidFill>
                      <a:schemeClr val="bg1"/>
                    </a:solidFill>
                  </a:tcPr>
                </a:tc>
              </a:tr>
              <a:tr h="402336">
                <a:tc>
                  <a:txBody>
                    <a:bodyPr/>
                    <a:lstStyle/>
                    <a:p>
                      <a:pPr algn="l"/>
                      <a:r>
                        <a:rPr sz="1200" b="1">
                          <a:solidFill>
                            <a:schemeClr val="tx1"/>
                          </a:solidFill>
                        </a:rPr>
                        <a:t>Replayer</a:t>
                      </a:r>
                    </a:p>
                  </a:txBody>
                  <a:tcPr marL="91440" marR="91440" marT="45720" marB="45720" anchor="ctr">
                    <a:solidFill>
                      <a:schemeClr val="bg2"/>
                    </a:solidFill>
                  </a:tcPr>
                </a:tc>
                <a:tc>
                  <a:txBody>
                    <a:bodyPr/>
                    <a:lstStyle/>
                    <a:p>
                      <a:pPr algn="l"/>
                      <a:r>
                        <a:rPr sz="1200" b="0">
                          <a:solidFill>
                            <a:schemeClr val="tx1"/>
                          </a:solidFill>
                        </a:rPr>
                        <a:t>Serves history from the recording, per host</a:t>
                      </a:r>
                    </a:p>
                  </a:txBody>
                  <a:tcPr marL="91440" marR="91440" marT="45720" marB="45720" anchor="ctr">
                    <a:solidFill>
                      <a:schemeClr val="bg2"/>
                    </a:solidFill>
                  </a:tcPr>
                </a:tc>
              </a:tr>
              <a:tr h="402336">
                <a:tc>
                  <a:txBody>
                    <a:bodyPr/>
                    <a:lstStyle/>
                    <a:p>
                      <a:pPr algn="l"/>
                      <a:r>
                        <a:rPr sz="1200" b="1">
                          <a:solidFill>
                            <a:schemeClr val="tx1"/>
                          </a:solidFill>
                        </a:rPr>
                        <a:t>Snapshot round</a:t>
                      </a:r>
                    </a:p>
                  </a:txBody>
                  <a:tcPr marL="91440" marR="91440" marT="45720" marB="45720" anchor="ctr">
                    <a:solidFill>
                      <a:schemeClr val="bg1"/>
                    </a:solidFill>
                  </a:tcPr>
                </a:tc>
                <a:tc>
                  <a:txBody>
                    <a:bodyPr/>
                    <a:lstStyle/>
                    <a:p>
                      <a:pPr algn="l"/>
                      <a:r>
                        <a:rPr sz="1200" b="0">
                          <a:solidFill>
                            <a:schemeClr val="tx1"/>
                          </a:solidFill>
                        </a:rPr>
                        <a:t>An application snapshot the log cuts and confirms</a:t>
                      </a:r>
                    </a:p>
                  </a:txBody>
                  <a:tcPr marL="91440" marR="91440" marT="45720" marB="45720" anchor="ctr">
                    <a:solidFill>
                      <a:schemeClr val="bg1"/>
                    </a:solidFill>
                  </a:tcPr>
                </a:tc>
              </a:tr>
              <a:tr h="402336">
                <a:tc>
                  <a:txBody>
                    <a:bodyPr/>
                    <a:lstStyle/>
                    <a:p>
                      <a:pPr algn="l"/>
                      <a:r>
                        <a:rPr sz="1200" b="1">
                          <a:solidFill>
                            <a:schemeClr val="tx1"/>
                          </a:solidFill>
                        </a:rPr>
                        <a:t>sourceId</a:t>
                      </a:r>
                    </a:p>
                  </a:txBody>
                  <a:tcPr marL="91440" marR="91440" marT="45720" marB="45720" anchor="ctr">
                    <a:solidFill>
                      <a:schemeClr val="bg2"/>
                    </a:solidFill>
                  </a:tcPr>
                </a:tc>
                <a:tc>
                  <a:txBody>
                    <a:bodyPr/>
                    <a:lstStyle/>
                    <a:p>
                      <a:pPr algn="l"/>
                      <a:r>
                        <a:rPr sz="1200" b="0">
                          <a:solidFill>
                            <a:schemeClr val="tx1"/>
                          </a:solidFill>
                        </a:rPr>
                        <a:t>A producer's id: per application or gateway pair</a:t>
                      </a:r>
                    </a:p>
                  </a:txBody>
                  <a:tcPr marL="91440" marR="91440" marT="45720" marB="45720" anchor="ctr">
                    <a:solidFill>
                      <a:schemeClr val="bg2"/>
                    </a:solidFill>
                  </a:tcPr>
                </a:tc>
              </a:tr>
              <a:tr h="402336">
                <a:tc>
                  <a:txBody>
                    <a:bodyPr/>
                    <a:lstStyle/>
                    <a:p>
                      <a:pPr algn="l"/>
                      <a:r>
                        <a:rPr sz="1200" b="1">
                          <a:solidFill>
                            <a:schemeClr val="tx1"/>
                          </a:solidFill>
                        </a:rPr>
                        <a:t>Tap</a:t>
                      </a:r>
                    </a:p>
                  </a:txBody>
                  <a:tcPr marL="91440" marR="91440" marT="45720" marB="45720" anchor="ctr">
                    <a:solidFill>
                      <a:schemeClr val="bg1"/>
                    </a:solidFill>
                  </a:tcPr>
                </a:tc>
                <a:tc>
                  <a:txBody>
                    <a:bodyPr/>
                    <a:lstStyle/>
                    <a:p>
                      <a:pPr algn="l"/>
                      <a:r>
                        <a:rPr sz="1200" b="0">
                          <a:solidFill>
                            <a:schemeClr val="tx1"/>
                          </a:solidFill>
                        </a:rPr>
                        <a:t>A member's stream of sequenced frames: IPC 205</a:t>
                      </a:r>
                    </a:p>
                  </a:txBody>
                  <a:tcPr marL="91440" marR="91440" marT="45720" marB="45720" anchor="ctr">
                    <a:solidFill>
                      <a:schemeClr val="bg1"/>
                    </a:solidFill>
                  </a:tcPr>
                </a:tc>
              </a:tr>
              <a:tr h="402336">
                <a:tc>
                  <a:txBody>
                    <a:bodyPr/>
                    <a:lstStyle/>
                    <a:p>
                      <a:pPr algn="l"/>
                      <a:r>
                        <a:rPr sz="1200" b="1">
                          <a:solidFill>
                            <a:schemeClr val="tx1"/>
                          </a:solidFill>
                        </a:rPr>
                        <a:t>Term</a:t>
                      </a:r>
                    </a:p>
                  </a:txBody>
                  <a:tcPr marL="91440" marR="91440" marT="45720" marB="45720" anchor="ctr">
                    <a:solidFill>
                      <a:schemeClr val="bg2"/>
                    </a:solidFill>
                  </a:tcPr>
                </a:tc>
                <a:tc>
                  <a:txBody>
                    <a:bodyPr/>
                    <a:lstStyle/>
                    <a:p>
                      <a:pPr algn="l"/>
                      <a:r>
                        <a:rPr sz="1200" b="0">
                          <a:solidFill>
                            <a:schemeClr val="tx1"/>
                          </a:solidFill>
                        </a:rPr>
                        <a:t>A Raft leadership term; one LeadershipChanged each</a:t>
                      </a:r>
                    </a:p>
                  </a:txBody>
                  <a:tcPr marL="91440" marR="91440" marT="45720" marB="45720" anchor="ctr">
                    <a:solidFill>
                      <a:schemeClr val="bg2"/>
                    </a:solidFill>
                  </a:tcPr>
                </a:tc>
              </a:tr>
              <a:tr h="402336">
                <a:tc>
                  <a:txBody>
                    <a:bodyPr/>
                    <a:lstStyle/>
                    <a:p>
                      <a:pPr algn="l"/>
                      <a:r>
                        <a:rPr sz="1200" b="1">
                          <a:solidFill>
                            <a:schemeClr val="tx1"/>
                          </a:solidFill>
                        </a:rPr>
                        <a:t>Tethered</a:t>
                      </a:r>
                    </a:p>
                  </a:txBody>
                  <a:tcPr marL="91440" marR="91440" marT="45720" marB="45720" anchor="ctr">
                    <a:solidFill>
                      <a:schemeClr val="bg1"/>
                    </a:solidFill>
                  </a:tcPr>
                </a:tc>
                <a:tc>
                  <a:txBody>
                    <a:bodyPr/>
                    <a:lstStyle/>
                    <a:p>
                      <a:pPr algn="l"/>
                      <a:r>
                        <a:rPr sz="1200" b="0">
                          <a:solidFill>
                            <a:schemeClr val="tx1"/>
                          </a:solidFill>
                        </a:rPr>
                        <a:t>Holds the publisher back; untethered is dropped</a:t>
                      </a:r>
                    </a:p>
                  </a:txBody>
                  <a:tcPr marL="91440" marR="91440" marT="45720" marB="45720" anchor="ctr">
                    <a:solidFill>
                      <a:schemeClr val="bg1"/>
                    </a:solidFill>
                  </a:tcPr>
                </a:tc>
              </a:tr>
              <a:tr h="402336">
                <a:tc>
                  <a:txBody>
                    <a:bodyPr/>
                    <a:lstStyle/>
                    <a:p>
                      <a:pPr algn="l"/>
                      <a:r>
                        <a:rPr sz="1200" b="1">
                          <a:solidFill>
                            <a:schemeClr val="tx1"/>
                          </a:solidFill>
                        </a:rPr>
                        <a:t>S-3, A-4, V-1</a:t>
                      </a:r>
                    </a:p>
                  </a:txBody>
                  <a:tcPr marL="91440" marR="91440" marT="45720" marB="45720" anchor="ctr">
                    <a:solidFill>
                      <a:schemeClr val="bg2"/>
                    </a:solidFill>
                  </a:tcPr>
                </a:tc>
                <a:tc>
                  <a:txBody>
                    <a:bodyPr/>
                    <a:lstStyle/>
                    <a:p>
                      <a:pPr algn="l"/>
                      <a:r>
                        <a:rPr sz="1200" b="0">
                          <a:solidFill>
                            <a:schemeClr val="tx1"/>
                          </a:solidFill>
                        </a:rPr>
                        <a:t>Spec rule ids: sequencer, application, versioning</a:t>
                      </a:r>
                    </a:p>
                  </a:txBody>
                  <a:tcPr marL="91440" marR="91440" marT="45720" marB="45720" anchor="ctr">
                    <a:solidFill>
                      <a:schemeClr val="bg2"/>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Aeron's transport model</a:t>
            </a:r>
          </a:p>
        </p:txBody>
      </p:sp>
      <p:sp>
        <p:nvSpPr>
          <p:cNvPr id="3" name="Text 392"/>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Publications, subscriptions, and one byte position that everything shares</a:t>
            </a:r>
          </a:p>
        </p:txBody>
      </p:sp>
      <p:sp>
        <p:nvSpPr>
          <p:cNvPr id="9027" name="Slide number"/>
          <p:cNvSpPr txBox="1"/>
          <p:nvPr userDrawn="1"/>
        </p:nvSpPr>
        <p:spPr>
          <a:xfrm>
            <a:off x="10728655" y="6400800"/>
            <a:ext cx="914400" cy="274320"/>
          </a:xfrm>
          <a:prstGeom prst="rect">
            <a:avLst/>
          </a:prstGeom>
          <a:noFill/>
        </p:spPr>
        <p:txBody>
          <a:bodyPr wrap="none" lIns="0" tIns="0" rIns="0" bIns="0" anchor="ctr"/>
          <a:lstStyle/>
          <a:p>
            <a:pPr algn="r"/>
            <a:fld id="{421de0e5-05f0-469f-9de8-0056f6b19ae9}" type="slidenum">
              <a:rPr lang="en-US" sz="1000" dirty="0">
                <a:solidFill>
                  <a:schemeClr val="accent5"/>
                </a:solidFill>
              </a:rPr>
              <a:t>27</a:t>
            </a:fld>
          </a:p>
        </p:txBody>
      </p:sp>
      <p:sp>
        <p:nvSpPr>
          <p:cNvPr id="9028" name="Text 393"/>
          <p:cNvSpPr txBox="1"/>
          <p:nvPr/>
        </p:nvSpPr>
        <p:spPr>
          <a:xfrm>
            <a:off x="548640" y="1737360"/>
            <a:ext cx="5120640" cy="4206240"/>
          </a:xfrm>
          <a:prstGeom prst="rect">
            <a:avLst/>
          </a:prstGeom>
          <a:noFill/>
        </p:spPr>
        <p:txBody>
          <a:bodyPr wrap="square" anchor="t" lIns="0" rIns="0" tIns="0" bIns="0">
            <a:spAutoFit/>
          </a:bodyPr>
          <a:lstStyle/>
          <a:p>
            <a:pPr algn="l" marL="228600" indent="-228600">
              <a:spcAft>
                <a:spcPts val="1000"/>
              </a:spcAft>
              <a:buClr>
                <a:schemeClr val="accent1"/>
              </a:buClr>
              <a:buChar char="•"/>
            </a:pPr>
            <a:r>
              <a:rPr sz="1500" b="1">
                <a:solidFill>
                  <a:schemeClr val="tx1"/>
                </a:solidFill>
              </a:rPr>
              <a:t>Channel  </a:t>
            </a:r>
            <a:r>
              <a:rPr sz="1500" b="0">
                <a:solidFill>
                  <a:schemeClr val="tx1"/>
                </a:solidFill>
              </a:rPr>
              <a:t>aeron:udp (unicast, multicast) or aeron:ipc (shared memory)</a:t>
            </a:r>
          </a:p>
          <a:p>
            <a:pPr algn="l" marL="228600" indent="-228600">
              <a:spcAft>
                <a:spcPts val="1000"/>
              </a:spcAft>
              <a:buClr>
                <a:schemeClr val="accent1"/>
              </a:buClr>
              <a:buChar char="•"/>
            </a:pPr>
            <a:r>
              <a:rPr sz="1500" b="1">
                <a:solidFill>
                  <a:schemeClr val="tx1"/>
                </a:solidFill>
              </a:rPr>
              <a:t>Stream id  </a:t>
            </a:r>
            <a:r>
              <a:rPr sz="1500" b="0">
                <a:solidFill>
                  <a:schemeClr val="tx1"/>
                </a:solidFill>
              </a:rPr>
              <a:t>names one stream on a channel</a:t>
            </a:r>
          </a:p>
          <a:p>
            <a:pPr algn="l" marL="228600" indent="-228600">
              <a:spcAft>
                <a:spcPts val="1000"/>
              </a:spcAft>
              <a:buClr>
                <a:schemeClr val="accent1"/>
              </a:buClr>
              <a:buChar char="•"/>
            </a:pPr>
            <a:r>
              <a:rPr sz="1500" b="1">
                <a:solidFill>
                  <a:schemeClr val="tx1"/>
                </a:solidFill>
              </a:rPr>
              <a:t>Position  </a:t>
            </a:r>
            <a:r>
              <a:rPr sz="1500" b="0">
                <a:solidFill>
                  <a:schemeClr val="tx1"/>
                </a:solidFill>
              </a:rPr>
              <a:t>byte offset into the stream; the coordinate for flow control, loss, recording, replay</a:t>
            </a:r>
          </a:p>
          <a:p>
            <a:pPr algn="l" marL="228600" indent="-228600">
              <a:spcAft>
                <a:spcPts val="1000"/>
              </a:spcAft>
              <a:buClr>
                <a:schemeClr val="accent1"/>
              </a:buClr>
              <a:buChar char="•"/>
            </a:pPr>
            <a:r>
              <a:rPr sz="1500" b="1">
                <a:solidFill>
                  <a:schemeClr val="tx1"/>
                </a:solidFill>
              </a:rPr>
              <a:t>Offer  </a:t>
            </a:r>
            <a:r>
              <a:rPr sz="1500" b="0">
                <a:solidFill>
                  <a:schemeClr val="tx1"/>
                </a:solidFill>
              </a:rPr>
              <a:t>a copy into a mapped term: no lock, no system call</a:t>
            </a:r>
          </a:p>
          <a:p>
            <a:pPr algn="l" marL="228600" indent="-228600">
              <a:buClr>
                <a:schemeClr val="accent1"/>
              </a:buClr>
              <a:buChar char="•"/>
            </a:pPr>
            <a:r>
              <a:rPr sz="1500" b="1">
                <a:solidFill>
                  <a:schemeClr val="tx1"/>
                </a:solidFill>
              </a:rPr>
              <a:t>Back-pressure  </a:t>
            </a:r>
            <a:r>
              <a:rPr sz="1500" b="0">
                <a:solidFill>
                  <a:schemeClr val="tx1"/>
                </a:solidFill>
              </a:rPr>
              <a:t>returned to the caller; nothing queues without bound</a:t>
            </a:r>
          </a:p>
        </p:txBody>
      </p:sp>
      <p:sp>
        <p:nvSpPr>
          <p:cNvPr id="9029" name="Box 394"/>
          <p:cNvSpPr/>
          <p:nvPr/>
        </p:nvSpPr>
        <p:spPr>
          <a:xfrm>
            <a:off x="6172200" y="2148840"/>
            <a:ext cx="1691640" cy="10058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30" name="Text 395"/>
          <p:cNvSpPr txBox="1"/>
          <p:nvPr/>
        </p:nvSpPr>
        <p:spPr>
          <a:xfrm>
            <a:off x="6172200" y="2194560"/>
            <a:ext cx="1691640" cy="274320"/>
          </a:xfrm>
          <a:prstGeom prst="rect">
            <a:avLst/>
          </a:prstGeom>
          <a:noFill/>
        </p:spPr>
        <p:txBody>
          <a:bodyPr wrap="square" anchor="t" lIns="0" rIns="0" tIns="0" bIns="0">
            <a:spAutoFit/>
          </a:bodyPr>
          <a:lstStyle/>
          <a:p>
            <a:pPr algn="ctr"/>
            <a:r>
              <a:rPr sz="1100" b="0">
                <a:solidFill>
                  <a:schemeClr val="accent5"/>
                </a:solidFill>
              </a:rPr>
              <a:t>term 0</a:t>
            </a:r>
          </a:p>
        </p:txBody>
      </p:sp>
      <p:sp>
        <p:nvSpPr>
          <p:cNvPr id="9031" name="Box 396"/>
          <p:cNvSpPr/>
          <p:nvPr/>
        </p:nvSpPr>
        <p:spPr>
          <a:xfrm>
            <a:off x="8001000" y="2148840"/>
            <a:ext cx="1691640" cy="10058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32" name="Text 397"/>
          <p:cNvSpPr txBox="1"/>
          <p:nvPr/>
        </p:nvSpPr>
        <p:spPr>
          <a:xfrm>
            <a:off x="8001000" y="2194560"/>
            <a:ext cx="1691640" cy="274320"/>
          </a:xfrm>
          <a:prstGeom prst="rect">
            <a:avLst/>
          </a:prstGeom>
          <a:noFill/>
        </p:spPr>
        <p:txBody>
          <a:bodyPr wrap="square" anchor="t" lIns="0" rIns="0" tIns="0" bIns="0">
            <a:spAutoFit/>
          </a:bodyPr>
          <a:lstStyle/>
          <a:p>
            <a:pPr algn="ctr"/>
            <a:r>
              <a:rPr sz="1100" b="0">
                <a:solidFill>
                  <a:schemeClr val="accent5"/>
                </a:solidFill>
              </a:rPr>
              <a:t>term 1</a:t>
            </a:r>
          </a:p>
        </p:txBody>
      </p:sp>
      <p:sp>
        <p:nvSpPr>
          <p:cNvPr id="9033" name="Box 398"/>
          <p:cNvSpPr/>
          <p:nvPr/>
        </p:nvSpPr>
        <p:spPr>
          <a:xfrm>
            <a:off x="9829800" y="2148840"/>
            <a:ext cx="1691640" cy="10058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34" name="Text 399"/>
          <p:cNvSpPr txBox="1"/>
          <p:nvPr/>
        </p:nvSpPr>
        <p:spPr>
          <a:xfrm>
            <a:off x="9829800" y="2194560"/>
            <a:ext cx="1691640" cy="274320"/>
          </a:xfrm>
          <a:prstGeom prst="rect">
            <a:avLst/>
          </a:prstGeom>
          <a:noFill/>
        </p:spPr>
        <p:txBody>
          <a:bodyPr wrap="square" anchor="t" lIns="0" rIns="0" tIns="0" bIns="0">
            <a:spAutoFit/>
          </a:bodyPr>
          <a:lstStyle/>
          <a:p>
            <a:pPr algn="ctr"/>
            <a:r>
              <a:rPr sz="1100" b="0">
                <a:solidFill>
                  <a:schemeClr val="accent5"/>
                </a:solidFill>
              </a:rPr>
              <a:t>term 2</a:t>
            </a:r>
          </a:p>
        </p:txBody>
      </p:sp>
      <p:sp>
        <p:nvSpPr>
          <p:cNvPr id="9035" name="Written 400"/>
          <p:cNvSpPr/>
          <p:nvPr/>
        </p:nvSpPr>
        <p:spPr>
          <a:xfrm>
            <a:off x="6172200" y="2487168"/>
            <a:ext cx="1691640" cy="667512"/>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6" name="Written 401"/>
          <p:cNvSpPr/>
          <p:nvPr/>
        </p:nvSpPr>
        <p:spPr>
          <a:xfrm>
            <a:off x="8001000" y="2487168"/>
            <a:ext cx="1188720" cy="667512"/>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037" name="Arrow 402"/>
          <p:cNvCxnSpPr/>
          <p:nvPr/>
        </p:nvCxnSpPr>
        <p:spPr>
          <a:xfrm>
            <a:off x="9189720" y="1783080"/>
            <a:ext cx="0" cy="1463040"/>
          </a:xfrm>
          <a:prstGeom prst="line">
            <a:avLst/>
          </a:prstGeom>
          <a:ln w="22225">
            <a:solidFill>
              <a:schemeClr val="accent1"/>
            </a:solidFill>
          </a:ln>
        </p:spPr>
        <p:style>
          <a:lnRef idx="2">
            <a:schemeClr val="accent1"/>
          </a:lnRef>
          <a:fillRef idx="0">
            <a:schemeClr val="accent1"/>
          </a:fillRef>
          <a:effectRef idx="1">
            <a:schemeClr val="accent1"/>
          </a:effectRef>
          <a:fontRef idx="minor">
            <a:schemeClr val="tx1"/>
          </a:fontRef>
        </p:style>
      </p:cxnSp>
      <p:sp>
        <p:nvSpPr>
          <p:cNvPr id="9038" name="Text 403"/>
          <p:cNvSpPr txBox="1"/>
          <p:nvPr/>
        </p:nvSpPr>
        <p:spPr>
          <a:xfrm>
            <a:off x="8001000" y="1481328"/>
            <a:ext cx="2377440" cy="292608"/>
          </a:xfrm>
          <a:prstGeom prst="rect">
            <a:avLst/>
          </a:prstGeom>
          <a:noFill/>
        </p:spPr>
        <p:txBody>
          <a:bodyPr wrap="square" anchor="t" lIns="0" rIns="0" tIns="0" bIns="0">
            <a:spAutoFit/>
          </a:bodyPr>
          <a:lstStyle/>
          <a:p>
            <a:pPr algn="ctr"/>
            <a:r>
              <a:rPr sz="1100" b="1">
                <a:solidFill>
                  <a:schemeClr val="accent1"/>
                </a:solidFill>
              </a:rPr>
              <a:t>publisher position</a:t>
            </a:r>
          </a:p>
        </p:txBody>
      </p:sp>
      <p:cxnSp>
        <p:nvCxnSpPr>
          <p:cNvPr id="9039" name="Arrow 404"/>
          <p:cNvCxnSpPr/>
          <p:nvPr/>
        </p:nvCxnSpPr>
        <p:spPr>
          <a:xfrm>
            <a:off x="6537960" y="1828800"/>
            <a:ext cx="0" cy="1417320"/>
          </a:xfrm>
          <a:prstGeom prst="line">
            <a:avLst/>
          </a:prstGeom>
          <a:ln w="22225">
            <a:solidFill>
              <a:schemeClr val="accent2"/>
            </a:solidFill>
          </a:ln>
        </p:spPr>
        <p:style>
          <a:lnRef idx="2">
            <a:schemeClr val="accent1"/>
          </a:lnRef>
          <a:fillRef idx="0">
            <a:schemeClr val="accent1"/>
          </a:fillRef>
          <a:effectRef idx="1">
            <a:schemeClr val="accent1"/>
          </a:effectRef>
          <a:fontRef idx="minor">
            <a:schemeClr val="tx1"/>
          </a:fontRef>
        </p:style>
      </p:cxnSp>
      <p:sp>
        <p:nvSpPr>
          <p:cNvPr id="9040" name="Text 405"/>
          <p:cNvSpPr txBox="1"/>
          <p:nvPr/>
        </p:nvSpPr>
        <p:spPr>
          <a:xfrm>
            <a:off x="6172200" y="3291840"/>
            <a:ext cx="2377440" cy="292608"/>
          </a:xfrm>
          <a:prstGeom prst="rect">
            <a:avLst/>
          </a:prstGeom>
          <a:noFill/>
        </p:spPr>
        <p:txBody>
          <a:bodyPr wrap="square" anchor="t" lIns="0" rIns="0" tIns="0" bIns="0">
            <a:spAutoFit/>
          </a:bodyPr>
          <a:lstStyle/>
          <a:p>
            <a:pPr algn="l"/>
            <a:r>
              <a:rPr sz="1100" b="1">
                <a:solidFill>
                  <a:schemeClr val="accent2"/>
                </a:solidFill>
              </a:rPr>
              <a:t>subscriber position</a:t>
            </a:r>
          </a:p>
        </p:txBody>
      </p:sp>
      <p:cxnSp>
        <p:nvCxnSpPr>
          <p:cNvPr id="9041" name="Arrow 406"/>
          <p:cNvCxnSpPr/>
          <p:nvPr/>
        </p:nvCxnSpPr>
        <p:spPr>
          <a:xfrm>
            <a:off x="6537960" y="3685032"/>
            <a:ext cx="2651760" cy="0"/>
          </a:xfrm>
          <a:prstGeom prst="line">
            <a:avLst/>
          </a:prstGeom>
          <a:ln w="15875">
            <a:solidFill>
              <a:schemeClr val="accent5"/>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9042" name="Text 407"/>
          <p:cNvSpPr txBox="1"/>
          <p:nvPr/>
        </p:nvSpPr>
        <p:spPr>
          <a:xfrm>
            <a:off x="6537960" y="3703320"/>
            <a:ext cx="2651760" cy="292608"/>
          </a:xfrm>
          <a:prstGeom prst="rect">
            <a:avLst/>
          </a:prstGeom>
          <a:noFill/>
        </p:spPr>
        <p:txBody>
          <a:bodyPr wrap="square" anchor="t" lIns="0" rIns="0" tIns="0" bIns="0">
            <a:spAutoFit/>
          </a:bodyPr>
          <a:lstStyle/>
          <a:p>
            <a:pPr algn="ctr"/>
            <a:r>
              <a:rPr sz="1100" b="0">
                <a:solidFill>
                  <a:schemeClr val="accent5"/>
                </a:solidFill>
              </a:rPr>
              <a:t>≤ window</a:t>
            </a:r>
          </a:p>
        </p:txBody>
      </p:sp>
      <p:sp>
        <p:nvSpPr>
          <p:cNvPr id="9043" name="Text 408"/>
          <p:cNvSpPr txBox="1"/>
          <p:nvPr/>
        </p:nvSpPr>
        <p:spPr>
          <a:xfrm>
            <a:off x="6172200" y="4069080"/>
            <a:ext cx="5394960" cy="274320"/>
          </a:xfrm>
          <a:prstGeom prst="rect">
            <a:avLst/>
          </a:prstGeom>
          <a:noFill/>
        </p:spPr>
        <p:txBody>
          <a:bodyPr wrap="square" anchor="t" lIns="0" rIns="0" tIns="0" bIns="0">
            <a:spAutoFit/>
          </a:bodyPr>
          <a:lstStyle/>
          <a:p>
            <a:pPr algn="l"/>
            <a:r>
              <a:rPr sz="1100" b="0">
                <a:solidFill>
                  <a:schemeClr val="accent5"/>
                </a:solidFill>
              </a:rPr>
              <a:t>Log buffer: one memory-mapped file, three rotating terms</a:t>
            </a:r>
          </a:p>
        </p:txBody>
      </p:sp>
      <p:sp>
        <p:nvSpPr>
          <p:cNvPr id="9044" name="Card 409"/>
          <p:cNvSpPr/>
          <p:nvPr/>
        </p:nvSpPr>
        <p:spPr>
          <a:xfrm>
            <a:off x="6172200" y="4572000"/>
            <a:ext cx="260604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r>
              <a:rPr sz="1500" b="1">
                <a:solidFill>
                  <a:schemeClr val="tx1"/>
                </a:solidFill>
              </a:rPr>
              <a:t>Tethered</a:t>
            </a:r>
          </a:p>
          <a:p>
            <a:pPr algn="l"/>
            <a:r>
              <a:rPr sz="1300" b="0">
                <a:solidFill>
                  <a:schemeClr val="accent5"/>
                </a:solidFill>
              </a:rPr>
              <a:t>The publication waits for it.</a:t>
            </a:r>
          </a:p>
        </p:txBody>
      </p:sp>
      <p:sp>
        <p:nvSpPr>
          <p:cNvPr id="9045" name="Card 410"/>
          <p:cNvSpPr/>
          <p:nvPr/>
        </p:nvSpPr>
        <p:spPr>
          <a:xfrm>
            <a:off x="9006840" y="4572000"/>
            <a:ext cx="2633472"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r>
              <a:rPr sz="1500" b="1">
                <a:solidFill>
                  <a:schemeClr val="tx1"/>
                </a:solidFill>
              </a:rPr>
              <a:t>Untethered</a:t>
            </a:r>
          </a:p>
          <a:p>
            <a:pPr algn="l"/>
            <a:r>
              <a:rPr sz="1300" b="0">
                <a:solidFill>
                  <a:schemeClr val="accent5"/>
                </a:solidFill>
              </a:rPr>
              <a:t>Dropped when a window behind; may rejoin.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The media driver</a:t>
            </a:r>
          </a:p>
        </p:txBody>
      </p:sp>
      <p:sp>
        <p:nvSpPr>
          <p:cNvPr id="3" name="Text 411"/>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Applications do no networking: a driver owns sockets and log buffers</a:t>
            </a:r>
          </a:p>
        </p:txBody>
      </p:sp>
      <p:sp>
        <p:nvSpPr>
          <p:cNvPr id="9028" name="Slide number"/>
          <p:cNvSpPr txBox="1"/>
          <p:nvPr userDrawn="1"/>
        </p:nvSpPr>
        <p:spPr>
          <a:xfrm>
            <a:off x="10728655" y="6400800"/>
            <a:ext cx="914400" cy="274320"/>
          </a:xfrm>
          <a:prstGeom prst="rect">
            <a:avLst/>
          </a:prstGeom>
          <a:noFill/>
        </p:spPr>
        <p:txBody>
          <a:bodyPr wrap="none" lIns="0" tIns="0" rIns="0" bIns="0" anchor="ctr"/>
          <a:lstStyle/>
          <a:p>
            <a:pPr algn="r"/>
            <a:fld id="{cd5cad55-1626-4193-8b22-3445789d60d8}" type="slidenum">
              <a:rPr lang="en-US" sz="1000" dirty="0">
                <a:solidFill>
                  <a:schemeClr val="accent5"/>
                </a:solidFill>
              </a:rPr>
              <a:t>28</a:t>
            </a:fld>
          </a:p>
        </p:txBody>
      </p:sp>
      <p:sp>
        <p:nvSpPr>
          <p:cNvPr id="9029" name="Host 412"/>
          <p:cNvSpPr/>
          <p:nvPr/>
        </p:nvSpPr>
        <p:spPr>
          <a:xfrm>
            <a:off x="664207" y="2339321"/>
            <a:ext cx="1849069" cy="2311336"/>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ctr"/>
            <a:r>
              <a:rPr sz="1100" b="1">
                <a:solidFill>
                  <a:schemeClr val="accent5"/>
                </a:solidFill>
              </a:rPr>
              <a:t>PUBLISHER PROCESS</a:t>
            </a:r>
          </a:p>
        </p:txBody>
      </p:sp>
      <p:sp>
        <p:nvSpPr>
          <p:cNvPr id="9030" name="Box 413"/>
          <p:cNvSpPr/>
          <p:nvPr/>
        </p:nvSpPr>
        <p:spPr>
          <a:xfrm>
            <a:off x="837557" y="2917155"/>
            <a:ext cx="1502369" cy="57783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Publication</a:t>
            </a:r>
          </a:p>
          <a:p>
            <a:pPr algn="ctr"/>
            <a:r>
              <a:rPr sz="1000" b="0">
                <a:solidFill>
                  <a:schemeClr val="accent5"/>
                </a:solidFill>
              </a:rPr>
              <a:t>offer() · tryClaim()</a:t>
            </a:r>
          </a:p>
        </p:txBody>
      </p:sp>
      <p:sp>
        <p:nvSpPr>
          <p:cNvPr id="9031" name="Host 414"/>
          <p:cNvSpPr/>
          <p:nvPr/>
        </p:nvSpPr>
        <p:spPr>
          <a:xfrm>
            <a:off x="2802193" y="2108187"/>
            <a:ext cx="3004737" cy="2773604"/>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ctr"/>
            <a:r>
              <a:rPr sz="1100" b="1">
                <a:solidFill>
                  <a:schemeClr val="accent5"/>
                </a:solidFill>
              </a:rPr>
              <a:t>MEDIA DRIVER</a:t>
            </a:r>
          </a:p>
        </p:txBody>
      </p:sp>
      <p:sp>
        <p:nvSpPr>
          <p:cNvPr id="9032" name="Box 415"/>
          <p:cNvSpPr/>
          <p:nvPr/>
        </p:nvSpPr>
        <p:spPr>
          <a:xfrm>
            <a:off x="2975543" y="2547341"/>
            <a:ext cx="2658037" cy="647174"/>
          </a:xfrm>
          <a:prstGeom prst="rect">
            <a:avLst/>
          </a:prstGeom>
          <a:solidFill>
            <a:schemeClr val="bg2"/>
          </a:solidFill>
          <a:ln w="12700">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Publication log buffer</a:t>
            </a:r>
          </a:p>
          <a:p>
            <a:pPr algn="ctr"/>
            <a:r>
              <a:rPr sz="1000" b="0">
                <a:solidFill>
                  <a:schemeClr val="accent5"/>
                </a:solidFill>
              </a:rPr>
              <a:t>mmap file · 3 terms</a:t>
            </a:r>
          </a:p>
        </p:txBody>
      </p:sp>
      <p:sp>
        <p:nvSpPr>
          <p:cNvPr id="9033" name="Box 416"/>
          <p:cNvSpPr/>
          <p:nvPr/>
        </p:nvSpPr>
        <p:spPr>
          <a:xfrm>
            <a:off x="2975543" y="3437206"/>
            <a:ext cx="1271235" cy="600947"/>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Conductor</a:t>
            </a:r>
          </a:p>
          <a:p>
            <a:pPr algn="ctr"/>
            <a:r>
              <a:rPr sz="1000" b="0">
                <a:solidFill>
                  <a:schemeClr val="accent5"/>
                </a:solidFill>
              </a:rPr>
              <a:t>commands · counters</a:t>
            </a:r>
          </a:p>
        </p:txBody>
      </p:sp>
      <p:sp>
        <p:nvSpPr>
          <p:cNvPr id="9034" name="Box 417"/>
          <p:cNvSpPr/>
          <p:nvPr/>
        </p:nvSpPr>
        <p:spPr>
          <a:xfrm>
            <a:off x="4362345" y="3437206"/>
            <a:ext cx="1271235" cy="600947"/>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Sender</a:t>
            </a:r>
          </a:p>
          <a:p>
            <a:pPr algn="ctr"/>
            <a:r>
              <a:rPr sz="1000" b="0">
                <a:solidFill>
                  <a:schemeClr val="accent5"/>
                </a:solidFill>
              </a:rPr>
              <a:t>send · retransmit</a:t>
            </a:r>
          </a:p>
        </p:txBody>
      </p:sp>
      <p:sp>
        <p:nvSpPr>
          <p:cNvPr id="9035" name="Text 418"/>
          <p:cNvSpPr txBox="1"/>
          <p:nvPr/>
        </p:nvSpPr>
        <p:spPr>
          <a:xfrm>
            <a:off x="2802193" y="4280844"/>
            <a:ext cx="3004737" cy="346700"/>
          </a:xfrm>
          <a:prstGeom prst="rect">
            <a:avLst/>
          </a:prstGeom>
          <a:noFill/>
        </p:spPr>
        <p:txBody>
          <a:bodyPr wrap="square" anchor="ctr" lIns="0" rIns="0" tIns="0" bIns="0">
            <a:spAutoFit/>
          </a:bodyPr>
          <a:lstStyle/>
          <a:p>
            <a:pPr algn="ctr"/>
            <a:r>
              <a:rPr sz="1000" b="0">
                <a:solidFill>
                  <a:schemeClr val="accent5"/>
                </a:solidFill>
              </a:rPr>
              <a:t>clients attach via cnc.dat</a:t>
            </a:r>
          </a:p>
        </p:txBody>
      </p:sp>
      <p:sp>
        <p:nvSpPr>
          <p:cNvPr id="9036" name="Host 419"/>
          <p:cNvSpPr/>
          <p:nvPr/>
        </p:nvSpPr>
        <p:spPr>
          <a:xfrm>
            <a:off x="6384765" y="2108187"/>
            <a:ext cx="3004737" cy="2773604"/>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ctr"/>
            <a:r>
              <a:rPr sz="1100" b="1">
                <a:solidFill>
                  <a:schemeClr val="accent5"/>
                </a:solidFill>
              </a:rPr>
              <a:t>MEDIA DRIVER</a:t>
            </a:r>
          </a:p>
        </p:txBody>
      </p:sp>
      <p:sp>
        <p:nvSpPr>
          <p:cNvPr id="9037" name="Box 420"/>
          <p:cNvSpPr/>
          <p:nvPr/>
        </p:nvSpPr>
        <p:spPr>
          <a:xfrm>
            <a:off x="6558115" y="2547341"/>
            <a:ext cx="2658037" cy="647174"/>
          </a:xfrm>
          <a:prstGeom prst="rect">
            <a:avLst/>
          </a:prstGeom>
          <a:solidFill>
            <a:schemeClr val="bg2"/>
          </a:solidFill>
          <a:ln w="12700">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Image log buffer</a:t>
            </a:r>
          </a:p>
          <a:p>
            <a:pPr algn="ctr"/>
            <a:r>
              <a:rPr sz="1000" b="0">
                <a:solidFill>
                  <a:schemeClr val="accent5"/>
                </a:solidFill>
              </a:rPr>
              <a:t>one per remote publisher</a:t>
            </a:r>
          </a:p>
        </p:txBody>
      </p:sp>
      <p:sp>
        <p:nvSpPr>
          <p:cNvPr id="9038" name="Box 421"/>
          <p:cNvSpPr/>
          <p:nvPr/>
        </p:nvSpPr>
        <p:spPr>
          <a:xfrm>
            <a:off x="6558115" y="3437206"/>
            <a:ext cx="1271235" cy="600947"/>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Receiver</a:t>
            </a:r>
          </a:p>
          <a:p>
            <a:pPr algn="ctr"/>
            <a:r>
              <a:rPr sz="1000" b="0">
                <a:solidFill>
                  <a:schemeClr val="accent5"/>
                </a:solidFill>
              </a:rPr>
              <a:t>reassemble · NAK</a:t>
            </a:r>
          </a:p>
        </p:txBody>
      </p:sp>
      <p:sp>
        <p:nvSpPr>
          <p:cNvPr id="9039" name="Box 422"/>
          <p:cNvSpPr/>
          <p:nvPr/>
        </p:nvSpPr>
        <p:spPr>
          <a:xfrm>
            <a:off x="7944917" y="3437206"/>
            <a:ext cx="1271235" cy="600947"/>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Conductor</a:t>
            </a:r>
          </a:p>
          <a:p>
            <a:pPr algn="ctr"/>
            <a:r>
              <a:rPr sz="1000" b="0">
                <a:solidFill>
                  <a:schemeClr val="accent5"/>
                </a:solidFill>
              </a:rPr>
              <a:t>commands · counters</a:t>
            </a:r>
          </a:p>
        </p:txBody>
      </p:sp>
      <p:sp>
        <p:nvSpPr>
          <p:cNvPr id="9040" name="Text 423"/>
          <p:cNvSpPr txBox="1"/>
          <p:nvPr/>
        </p:nvSpPr>
        <p:spPr>
          <a:xfrm>
            <a:off x="6384765" y="4280844"/>
            <a:ext cx="3004737" cy="346700"/>
          </a:xfrm>
          <a:prstGeom prst="rect">
            <a:avLst/>
          </a:prstGeom>
          <a:noFill/>
        </p:spPr>
        <p:txBody>
          <a:bodyPr wrap="square" anchor="ctr" lIns="0" rIns="0" tIns="0" bIns="0">
            <a:spAutoFit/>
          </a:bodyPr>
          <a:lstStyle/>
          <a:p>
            <a:pPr algn="ctr"/>
            <a:r>
              <a:rPr sz="1000" b="0">
                <a:solidFill>
                  <a:schemeClr val="accent5"/>
                </a:solidFill>
              </a:rPr>
              <a:t>clients attach via cnc.dat</a:t>
            </a:r>
          </a:p>
        </p:txBody>
      </p:sp>
      <p:sp>
        <p:nvSpPr>
          <p:cNvPr id="9041" name="Host 424"/>
          <p:cNvSpPr/>
          <p:nvPr/>
        </p:nvSpPr>
        <p:spPr>
          <a:xfrm>
            <a:off x="9678419" y="2339321"/>
            <a:ext cx="1849069" cy="2311336"/>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ctr"/>
            <a:r>
              <a:rPr sz="1100" b="1">
                <a:solidFill>
                  <a:schemeClr val="accent5"/>
                </a:solidFill>
              </a:rPr>
              <a:t>SUBSCRIBER PROCESS</a:t>
            </a:r>
          </a:p>
        </p:txBody>
      </p:sp>
      <p:sp>
        <p:nvSpPr>
          <p:cNvPr id="9042" name="Box 425"/>
          <p:cNvSpPr/>
          <p:nvPr/>
        </p:nvSpPr>
        <p:spPr>
          <a:xfrm>
            <a:off x="9851769" y="2917155"/>
            <a:ext cx="1502369" cy="57783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Subscription</a:t>
            </a:r>
          </a:p>
          <a:p>
            <a:pPr algn="ctr"/>
            <a:r>
              <a:rPr sz="1000" b="0">
                <a:solidFill>
                  <a:schemeClr val="accent5"/>
                </a:solidFill>
              </a:rPr>
              <a:t>poll() fragments</a:t>
            </a:r>
          </a:p>
        </p:txBody>
      </p:sp>
      <p:cxnSp>
        <p:nvCxnSpPr>
          <p:cNvPr id="9043" name="Arrow 426"/>
          <p:cNvCxnSpPr/>
          <p:nvPr/>
        </p:nvCxnSpPr>
        <p:spPr>
          <a:xfrm flipV="1">
            <a:off x="2339926" y="2894042"/>
            <a:ext cx="635617" cy="231133"/>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44" name="Arrow 427"/>
          <p:cNvCxnSpPr/>
          <p:nvPr/>
        </p:nvCxnSpPr>
        <p:spPr>
          <a:xfrm>
            <a:off x="4997963" y="3194515"/>
            <a:ext cx="0" cy="242691"/>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45" name="Arrow 428"/>
          <p:cNvCxnSpPr/>
          <p:nvPr/>
        </p:nvCxnSpPr>
        <p:spPr>
          <a:xfrm>
            <a:off x="5633580" y="3610556"/>
            <a:ext cx="924535"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46" name="Text 429"/>
          <p:cNvSpPr txBox="1"/>
          <p:nvPr/>
        </p:nvSpPr>
        <p:spPr>
          <a:xfrm>
            <a:off x="5691364" y="3333196"/>
            <a:ext cx="808968" cy="254247"/>
          </a:xfrm>
          <a:prstGeom prst="rect">
            <a:avLst/>
          </a:prstGeom>
          <a:noFill/>
        </p:spPr>
        <p:txBody>
          <a:bodyPr wrap="square" anchor="ctr" lIns="0" rIns="0" tIns="0" bIns="0">
            <a:spAutoFit/>
          </a:bodyPr>
          <a:lstStyle/>
          <a:p>
            <a:pPr algn="ctr"/>
            <a:r>
              <a:rPr sz="1000" b="0">
                <a:solidFill>
                  <a:schemeClr val="accent1"/>
                </a:solidFill>
              </a:rPr>
              <a:t>data</a:t>
            </a:r>
          </a:p>
        </p:txBody>
      </p:sp>
      <p:cxnSp>
        <p:nvCxnSpPr>
          <p:cNvPr id="9047" name="Arrow 430"/>
          <p:cNvCxnSpPr/>
          <p:nvPr/>
        </p:nvCxnSpPr>
        <p:spPr>
          <a:xfrm flipH="1">
            <a:off x="5633580" y="3864803"/>
            <a:ext cx="924535"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48" name="Text 431"/>
          <p:cNvSpPr txBox="1"/>
          <p:nvPr/>
        </p:nvSpPr>
        <p:spPr>
          <a:xfrm>
            <a:off x="5633580" y="3911030"/>
            <a:ext cx="924535" cy="254247"/>
          </a:xfrm>
          <a:prstGeom prst="rect">
            <a:avLst/>
          </a:prstGeom>
          <a:noFill/>
        </p:spPr>
        <p:txBody>
          <a:bodyPr wrap="square" anchor="ctr" lIns="0" rIns="0" tIns="0" bIns="0">
            <a:spAutoFit/>
          </a:bodyPr>
          <a:lstStyle/>
          <a:p>
            <a:pPr algn="ctr"/>
            <a:r>
              <a:rPr sz="1000" b="0">
                <a:solidFill>
                  <a:schemeClr val="accent5"/>
                </a:solidFill>
              </a:rPr>
              <a:t>SM · NAK</a:t>
            </a:r>
          </a:p>
        </p:txBody>
      </p:sp>
      <p:cxnSp>
        <p:nvCxnSpPr>
          <p:cNvPr id="9049" name="Arrow 432"/>
          <p:cNvCxnSpPr/>
          <p:nvPr/>
        </p:nvCxnSpPr>
        <p:spPr>
          <a:xfrm flipV="1">
            <a:off x="7193732" y="3194515"/>
            <a:ext cx="0" cy="242691"/>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50" name="Arrow 433"/>
          <p:cNvCxnSpPr/>
          <p:nvPr/>
        </p:nvCxnSpPr>
        <p:spPr>
          <a:xfrm>
            <a:off x="9216152" y="2894042"/>
            <a:ext cx="635617" cy="231133"/>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1" name="Text 434"/>
          <p:cNvSpPr txBox="1"/>
          <p:nvPr/>
        </p:nvSpPr>
        <p:spPr>
          <a:xfrm>
            <a:off x="548640" y="5532120"/>
            <a:ext cx="11094415" cy="548640"/>
          </a:xfrm>
          <a:prstGeom prst="rect">
            <a:avLst/>
          </a:prstGeom>
          <a:noFill/>
        </p:spPr>
        <p:txBody>
          <a:bodyPr wrap="square" anchor="t" lIns="0" rIns="0" tIns="0" bIns="0">
            <a:spAutoFit/>
          </a:bodyPr>
          <a:lstStyle/>
          <a:p>
            <a:pPr algn="l"/>
            <a:r>
              <a:rPr sz="1400" b="1">
                <a:solidFill>
                  <a:schemeClr val="tx1"/>
                </a:solidFill>
              </a:rPr>
              <a:t>Over aeron:ipc </a:t>
            </a:r>
            <a:r>
              <a:rPr sz="1400" b="0">
                <a:solidFill>
                  <a:schemeClr val="accent5"/>
                </a:solidFill>
              </a:rPr>
              <a:t>publisher and subscriber share one log buffer: no sender, no receiver, no socket. Every stage is visible as a position counter.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Aeron Archive</a:t>
            </a:r>
          </a:p>
        </p:txBody>
      </p:sp>
      <p:sp>
        <p:nvSpPr>
          <p:cNvPr id="3" name="Text 435"/>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Streams recorded to local files, replayed from any position</a:t>
            </a:r>
          </a:p>
        </p:txBody>
      </p:sp>
      <p:sp>
        <p:nvSpPr>
          <p:cNvPr id="9029" name="Slide number"/>
          <p:cNvSpPr txBox="1"/>
          <p:nvPr userDrawn="1"/>
        </p:nvSpPr>
        <p:spPr>
          <a:xfrm>
            <a:off x="10728655" y="6400800"/>
            <a:ext cx="914400" cy="274320"/>
          </a:xfrm>
          <a:prstGeom prst="rect">
            <a:avLst/>
          </a:prstGeom>
          <a:noFill/>
        </p:spPr>
        <p:txBody>
          <a:bodyPr wrap="none" lIns="0" tIns="0" rIns="0" bIns="0" anchor="ctr"/>
          <a:lstStyle/>
          <a:p>
            <a:pPr algn="r"/>
            <a:fld id="{d9f3f00d-a865-4451-85ff-28613e8ac925}" type="slidenum">
              <a:rPr lang="en-US" sz="1000" dirty="0">
                <a:solidFill>
                  <a:schemeClr val="accent5"/>
                </a:solidFill>
              </a:rPr>
              <a:t>29</a:t>
            </a:fld>
          </a:p>
        </p:txBody>
      </p:sp>
      <p:sp>
        <p:nvSpPr>
          <p:cNvPr id="9030" name="Box 436"/>
          <p:cNvSpPr/>
          <p:nvPr/>
        </p:nvSpPr>
        <p:spPr>
          <a:xfrm>
            <a:off x="548640" y="1965960"/>
            <a:ext cx="2218883" cy="68580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31" name="Text 437"/>
          <p:cNvSpPr txBox="1"/>
          <p:nvPr/>
        </p:nvSpPr>
        <p:spPr>
          <a:xfrm>
            <a:off x="548640" y="1965960"/>
            <a:ext cx="2218883" cy="685800"/>
          </a:xfrm>
          <a:prstGeom prst="rect">
            <a:avLst/>
          </a:prstGeom>
          <a:noFill/>
        </p:spPr>
        <p:txBody>
          <a:bodyPr wrap="square" anchor="ctr" lIns="0" rIns="0" tIns="0" bIns="0">
            <a:spAutoFit/>
          </a:bodyPr>
          <a:lstStyle/>
          <a:p>
            <a:pPr algn="ctr"/>
            <a:r>
              <a:rPr sz="1200" b="0">
                <a:solidFill>
                  <a:schemeClr val="accent1"/>
                </a:solidFill>
              </a:rPr>
              <a:t>segment file 0</a:t>
            </a:r>
          </a:p>
        </p:txBody>
      </p:sp>
      <p:sp>
        <p:nvSpPr>
          <p:cNvPr id="9032" name="Box 438"/>
          <p:cNvSpPr/>
          <p:nvPr/>
        </p:nvSpPr>
        <p:spPr>
          <a:xfrm>
            <a:off x="2767523" y="1965960"/>
            <a:ext cx="2218883" cy="68580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33" name="Text 439"/>
          <p:cNvSpPr txBox="1"/>
          <p:nvPr/>
        </p:nvSpPr>
        <p:spPr>
          <a:xfrm>
            <a:off x="2767523" y="1965960"/>
            <a:ext cx="2218883" cy="685800"/>
          </a:xfrm>
          <a:prstGeom prst="rect">
            <a:avLst/>
          </a:prstGeom>
          <a:noFill/>
        </p:spPr>
        <p:txBody>
          <a:bodyPr wrap="square" anchor="ctr" lIns="0" rIns="0" tIns="0" bIns="0">
            <a:spAutoFit/>
          </a:bodyPr>
          <a:lstStyle/>
          <a:p>
            <a:pPr algn="ctr"/>
            <a:r>
              <a:rPr sz="1200" b="0">
                <a:solidFill>
                  <a:schemeClr val="accent1"/>
                </a:solidFill>
              </a:rPr>
              <a:t>segment file 1</a:t>
            </a:r>
          </a:p>
        </p:txBody>
      </p:sp>
      <p:sp>
        <p:nvSpPr>
          <p:cNvPr id="9034" name="Box 440"/>
          <p:cNvSpPr/>
          <p:nvPr/>
        </p:nvSpPr>
        <p:spPr>
          <a:xfrm>
            <a:off x="4986406" y="1965960"/>
            <a:ext cx="2218883" cy="68580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35" name="Text 441"/>
          <p:cNvSpPr txBox="1"/>
          <p:nvPr/>
        </p:nvSpPr>
        <p:spPr>
          <a:xfrm>
            <a:off x="4986406" y="1965960"/>
            <a:ext cx="2218883" cy="685800"/>
          </a:xfrm>
          <a:prstGeom prst="rect">
            <a:avLst/>
          </a:prstGeom>
          <a:noFill/>
        </p:spPr>
        <p:txBody>
          <a:bodyPr wrap="square" anchor="ctr" lIns="0" rIns="0" tIns="0" bIns="0">
            <a:spAutoFit/>
          </a:bodyPr>
          <a:lstStyle/>
          <a:p>
            <a:pPr algn="ctr"/>
            <a:r>
              <a:rPr sz="1200" b="0">
                <a:solidFill>
                  <a:schemeClr val="accent1"/>
                </a:solidFill>
              </a:rPr>
              <a:t>segment file 2</a:t>
            </a:r>
          </a:p>
        </p:txBody>
      </p:sp>
      <p:sp>
        <p:nvSpPr>
          <p:cNvPr id="9036" name="Box 442"/>
          <p:cNvSpPr/>
          <p:nvPr/>
        </p:nvSpPr>
        <p:spPr>
          <a:xfrm>
            <a:off x="7205289" y="1965960"/>
            <a:ext cx="2218883" cy="68580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37" name="Text 443"/>
          <p:cNvSpPr txBox="1"/>
          <p:nvPr/>
        </p:nvSpPr>
        <p:spPr>
          <a:xfrm>
            <a:off x="7205289" y="1965960"/>
            <a:ext cx="2218883" cy="685800"/>
          </a:xfrm>
          <a:prstGeom prst="rect">
            <a:avLst/>
          </a:prstGeom>
          <a:noFill/>
        </p:spPr>
        <p:txBody>
          <a:bodyPr wrap="square" anchor="ctr" lIns="0" rIns="0" tIns="0" bIns="0">
            <a:spAutoFit/>
          </a:bodyPr>
          <a:lstStyle/>
          <a:p>
            <a:pPr algn="ctr"/>
            <a:r>
              <a:rPr sz="1200" b="0">
                <a:solidFill>
                  <a:schemeClr val="accent1"/>
                </a:solidFill>
              </a:rPr>
              <a:t>segment file 3</a:t>
            </a:r>
          </a:p>
        </p:txBody>
      </p:sp>
      <p:sp>
        <p:nvSpPr>
          <p:cNvPr id="9038" name="Box 444"/>
          <p:cNvSpPr/>
          <p:nvPr/>
        </p:nvSpPr>
        <p:spPr>
          <a:xfrm>
            <a:off x="9424172" y="1965960"/>
            <a:ext cx="2218883" cy="68580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39" name="Text 445"/>
          <p:cNvSpPr txBox="1"/>
          <p:nvPr/>
        </p:nvSpPr>
        <p:spPr>
          <a:xfrm>
            <a:off x="9424172" y="1965960"/>
            <a:ext cx="2218883" cy="685800"/>
          </a:xfrm>
          <a:prstGeom prst="rect">
            <a:avLst/>
          </a:prstGeom>
          <a:noFill/>
        </p:spPr>
        <p:txBody>
          <a:bodyPr wrap="square" anchor="ctr" lIns="0" rIns="0" tIns="0" bIns="0">
            <a:spAutoFit/>
          </a:bodyPr>
          <a:lstStyle/>
          <a:p>
            <a:pPr algn="ctr"/>
            <a:r>
              <a:rPr sz="1200" b="0">
                <a:solidFill>
                  <a:schemeClr val="accent1"/>
                </a:solidFill>
              </a:rPr>
              <a:t>segment file 4</a:t>
            </a:r>
          </a:p>
        </p:txBody>
      </p:sp>
      <p:sp>
        <p:nvSpPr>
          <p:cNvPr id="9040" name="Text 446"/>
          <p:cNvSpPr txBox="1"/>
          <p:nvPr/>
        </p:nvSpPr>
        <p:spPr>
          <a:xfrm>
            <a:off x="548640" y="1554480"/>
            <a:ext cx="2743200" cy="320040"/>
          </a:xfrm>
          <a:prstGeom prst="rect">
            <a:avLst/>
          </a:prstGeom>
          <a:noFill/>
        </p:spPr>
        <p:txBody>
          <a:bodyPr wrap="square" anchor="t" lIns="0" rIns="0" tIns="0" bIns="0">
            <a:spAutoFit/>
          </a:bodyPr>
          <a:lstStyle/>
          <a:p>
            <a:pPr algn="l"/>
            <a:r>
              <a:rPr sz="1200" b="0">
                <a:solidFill>
                  <a:schemeClr val="accent5"/>
                </a:solidFill>
              </a:rPr>
              <a:t>start position</a:t>
            </a:r>
          </a:p>
        </p:txBody>
      </p:sp>
      <p:sp>
        <p:nvSpPr>
          <p:cNvPr id="9041" name="Text 447"/>
          <p:cNvSpPr txBox="1"/>
          <p:nvPr/>
        </p:nvSpPr>
        <p:spPr>
          <a:xfrm>
            <a:off x="8899855" y="1554480"/>
            <a:ext cx="2743200" cy="320040"/>
          </a:xfrm>
          <a:prstGeom prst="rect">
            <a:avLst/>
          </a:prstGeom>
          <a:noFill/>
        </p:spPr>
        <p:txBody>
          <a:bodyPr wrap="square" anchor="t" lIns="0" rIns="0" tIns="0" bIns="0">
            <a:spAutoFit/>
          </a:bodyPr>
          <a:lstStyle/>
          <a:p>
            <a:pPr algn="r"/>
            <a:r>
              <a:rPr sz="1200" b="1">
                <a:solidFill>
                  <a:schemeClr val="accent1"/>
                </a:solidFill>
              </a:rPr>
              <a:t>RecordingPos (live) →</a:t>
            </a:r>
          </a:p>
        </p:txBody>
      </p:sp>
      <p:sp>
        <p:nvSpPr>
          <p:cNvPr id="4" name="Path 448"/>
          <p:cNvSpPr/>
          <p:nvPr/>
        </p:nvSpPr>
        <p:spPr>
          <a:xfrm>
            <a:off x="5029200" y="2651760"/>
            <a:ext cx="6613855" cy="502920"/>
          </a:xfrm>
          <a:custGeom>
            <a:avLst/>
            <a:gdLst/>
            <a:ahLst/>
            <a:cxnLst/>
            <a:rect l="l" t="t" r="r" b="b"/>
            <a:pathLst>
              <a:path w="6613855" h="502920">
                <a:moveTo>
                  <a:pt x="0" y="0"/>
                </a:moveTo>
                <a:lnTo>
                  <a:pt x="0" y="502920"/>
                </a:lnTo>
                <a:lnTo>
                  <a:pt x="6613855" y="502920"/>
                </a:lnTo>
              </a:path>
            </a:pathLst>
          </a:custGeom>
          <a:noFill/>
          <a:ln w="22225">
            <a:solidFill>
              <a:schemeClr val="accent2"/>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2" name="Text 449"/>
          <p:cNvSpPr txBox="1"/>
          <p:nvPr/>
        </p:nvSpPr>
        <p:spPr>
          <a:xfrm>
            <a:off x="5166360" y="3200400"/>
            <a:ext cx="6400800" cy="320040"/>
          </a:xfrm>
          <a:prstGeom prst="rect">
            <a:avLst/>
          </a:prstGeom>
          <a:noFill/>
        </p:spPr>
        <p:txBody>
          <a:bodyPr wrap="square" anchor="t" lIns="0" rIns="0" tIns="0" bIns="0">
            <a:spAutoFit/>
          </a:bodyPr>
          <a:lstStyle/>
          <a:p>
            <a:pPr algn="l"/>
            <a:r>
              <a:rPr sz="1200" b="0">
                <a:solidFill>
                  <a:schemeClr val="accent2"/>
                </a:solidFill>
              </a:rPr>
              <a:t>replay(recordingId, position, length): a new session on any channel and stream</a:t>
            </a:r>
          </a:p>
        </p:txBody>
      </p:sp>
      <p:sp>
        <p:nvSpPr>
          <p:cNvPr id="9043" name="Card 450"/>
          <p:cNvSpPr/>
          <p:nvPr/>
        </p:nvSpPr>
        <p:spPr>
          <a:xfrm>
            <a:off x="548640" y="3931920"/>
            <a:ext cx="3511296" cy="2057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800" b="1" cap="none">
                <a:solidFill>
                  <a:schemeClr val="tx1"/>
                </a:solidFill>
                <a:latin typeface="+mj-lt"/>
              </a:rPr>
              <a:t>Catalog</a:t>
            </a:r>
          </a:p>
          <a:p>
            <a:pPr algn="l"/>
            <a:r>
              <a:rPr sz="1400" b="0">
                <a:solidFill>
                  <a:schemeClr val="tx1"/>
                </a:solidFill>
              </a:rPr>
              <a:t>Every recording has an id and start and stop positions. Nothing indexes by message.</a:t>
            </a:r>
          </a:p>
        </p:txBody>
      </p:sp>
      <p:sp>
        <p:nvSpPr>
          <p:cNvPr id="9044" name="Card 451"/>
          <p:cNvSpPr/>
          <p:nvPr/>
        </p:nvSpPr>
        <p:spPr>
          <a:xfrm>
            <a:off x="4338828" y="3931920"/>
            <a:ext cx="3511296" cy="2057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800" b="1" cap="none">
                <a:solidFill>
                  <a:schemeClr val="tx1"/>
                </a:solidFill>
                <a:latin typeface="+mj-lt"/>
              </a:rPr>
              <a:t>Replay</a:t>
            </a:r>
          </a:p>
          <a:p>
            <a:pPr algn="l"/>
            <a:r>
              <a:rPr sz="1400" b="0">
                <a:solidFill>
                  <a:schemeClr val="tx1"/>
                </a:solidFill>
              </a:rPr>
              <a:t>From any position, as a new session. A bounded replay of an active recording follows it live.</a:t>
            </a:r>
          </a:p>
        </p:txBody>
      </p:sp>
      <p:sp>
        <p:nvSpPr>
          <p:cNvPr id="9045" name="Card 452"/>
          <p:cNvSpPr/>
          <p:nvPr/>
        </p:nvSpPr>
        <p:spPr>
          <a:xfrm>
            <a:off x="8129016" y="3931920"/>
            <a:ext cx="3511296" cy="2057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800" b="1" cap="none">
                <a:solidFill>
                  <a:schemeClr val="tx1"/>
                </a:solidFill>
                <a:latin typeface="+mj-lt"/>
              </a:rPr>
              <a:t>Control</a:t>
            </a:r>
          </a:p>
          <a:p>
            <a:pPr algn="l"/>
            <a:r>
              <a:rPr sz="1400" b="0">
                <a:solidFill>
                  <a:schemeClr val="tx1"/>
                </a:solidFill>
              </a:rPr>
              <a:t>A request/response protocol drives it; counters expose each recording's progress.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Sequencer components</a:t>
            </a:r>
          </a:p>
        </p:txBody>
      </p:sp>
      <p:sp>
        <p:nvSpPr>
          <p:cNvPr id="3" name="Text 453"/>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The replicated state machine has no Aeron dependency</a:t>
            </a:r>
          </a:p>
        </p:txBody>
      </p:sp>
      <p:sp>
        <p:nvSpPr>
          <p:cNvPr id="9030" name="Slide number"/>
          <p:cNvSpPr txBox="1"/>
          <p:nvPr userDrawn="1"/>
        </p:nvSpPr>
        <p:spPr>
          <a:xfrm>
            <a:off x="10728655" y="6400800"/>
            <a:ext cx="914400" cy="274320"/>
          </a:xfrm>
          <a:prstGeom prst="rect">
            <a:avLst/>
          </a:prstGeom>
          <a:noFill/>
        </p:spPr>
        <p:txBody>
          <a:bodyPr wrap="none" lIns="0" tIns="0" rIns="0" bIns="0" anchor="ctr"/>
          <a:lstStyle/>
          <a:p>
            <a:pPr algn="r"/>
            <a:fld id="{31f9119c-6655-4c34-996a-07c0a28278f9}" type="slidenum">
              <a:rPr lang="en-US" sz="1000" dirty="0">
                <a:solidFill>
                  <a:schemeClr val="accent5"/>
                </a:solidFill>
              </a:rPr>
              <a:t>30</a:t>
            </a:fld>
          </a:p>
        </p:txBody>
      </p:sp>
      <p:sp>
        <p:nvSpPr>
          <p:cNvPr id="9031" name="Card 454"/>
          <p:cNvSpPr/>
          <p:nvPr/>
        </p:nvSpPr>
        <p:spPr>
          <a:xfrm>
            <a:off x="548640" y="1691640"/>
            <a:ext cx="3511296" cy="201168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r>
              <a:rPr sz="1800" b="1" cap="none">
                <a:solidFill>
                  <a:schemeClr val="tx1"/>
                </a:solidFill>
                <a:latin typeface="+mj-lt"/>
              </a:rPr>
              <a:t>SequencerService</a:t>
            </a:r>
          </a:p>
          <a:p>
            <a:pPr algn="l">
              <a:spcAft>
                <a:spcPts val="800"/>
              </a:spcAft>
            </a:pPr>
            <a:r>
              <a:rPr sz="1300" b="0">
                <a:solidFill>
                  <a:schemeClr val="accent1"/>
                </a:solidFill>
              </a:rPr>
              <a:t>ClusteredService adapter</a:t>
            </a:r>
          </a:p>
          <a:p>
            <a:pPr algn="l"/>
            <a:r>
              <a:rPr sz="1400" b="0">
                <a:solidFill>
                  <a:schemeClr val="tx1"/>
                </a:solidFill>
              </a:rPr>
              <a:t>Decides when to call the sequencer; publishes what it returns. Holds no replicated state.</a:t>
            </a:r>
          </a:p>
        </p:txBody>
      </p:sp>
      <p:cxnSp>
        <p:nvCxnSpPr>
          <p:cNvPr id="9032" name="Arrow 455"/>
          <p:cNvCxnSpPr/>
          <p:nvPr/>
        </p:nvCxnSpPr>
        <p:spPr>
          <a:xfrm>
            <a:off x="4059936" y="2697480"/>
            <a:ext cx="278892"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3" name="Card 456"/>
          <p:cNvSpPr/>
          <p:nvPr/>
        </p:nvSpPr>
        <p:spPr>
          <a:xfrm>
            <a:off x="4338828" y="1691640"/>
            <a:ext cx="3511296" cy="201168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r>
              <a:rPr sz="1800" b="1" cap="none">
                <a:solidFill>
                  <a:schemeClr val="tx1"/>
                </a:solidFill>
                <a:latin typeface="+mj-lt"/>
              </a:rPr>
              <a:t>Sequencer</a:t>
            </a:r>
          </a:p>
          <a:p>
            <a:pPr algn="l">
              <a:spcAft>
                <a:spcPts val="800"/>
              </a:spcAft>
            </a:pPr>
            <a:r>
              <a:rPr sz="1300" b="0">
                <a:solidFill>
                  <a:schemeClr val="accent1"/>
                </a:solidFill>
              </a:rPr>
              <a:t>the replicated state machine</a:t>
            </a:r>
          </a:p>
          <a:p>
            <a:pPr algn="l"/>
            <a:r>
              <a:rPr sz="1400" b="0">
                <a:solidFill>
                  <a:schemeClr val="tx1"/>
                </a:solidFill>
              </a:rPr>
              <a:t>Owns globalSeqNo, gateway list, bindings, open connections, deadlines. Validates and encodes.</a:t>
            </a:r>
          </a:p>
        </p:txBody>
      </p:sp>
      <p:cxnSp>
        <p:nvCxnSpPr>
          <p:cNvPr id="9034" name="Arrow 457"/>
          <p:cNvCxnSpPr/>
          <p:nvPr/>
        </p:nvCxnSpPr>
        <p:spPr>
          <a:xfrm>
            <a:off x="7850124" y="2697480"/>
            <a:ext cx="278892"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35" name="Card 458"/>
          <p:cNvSpPr/>
          <p:nvPr/>
        </p:nvSpPr>
        <p:spPr>
          <a:xfrm>
            <a:off x="8129016" y="1691640"/>
            <a:ext cx="3511296" cy="201168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r>
              <a:rPr sz="1800" b="1" cap="none">
                <a:solidFill>
                  <a:schemeClr val="tx1"/>
                </a:solidFill>
                <a:latin typeface="+mj-lt"/>
              </a:rPr>
              <a:t>TapPublisher</a:t>
            </a:r>
          </a:p>
          <a:p>
            <a:pPr algn="l">
              <a:spcAft>
                <a:spcPts val="800"/>
              </a:spcAft>
            </a:pPr>
            <a:r>
              <a:rPr sz="1300" b="0">
                <a:solidFill>
                  <a:schemeClr val="accent1"/>
                </a:solidFill>
              </a:rPr>
              <a:t>reliable, bounded offer</a:t>
            </a:r>
          </a:p>
          <a:p>
            <a:pPr algn="l"/>
            <a:r>
              <a:rPr sz="1400" b="0">
                <a:solidFill>
                  <a:schemeClr val="tx1"/>
                </a:solidFill>
              </a:rPr>
              <a:t>Retries the tap offer; watches RecordingPos; terminates the member on a stalled archive.</a:t>
            </a:r>
          </a:p>
        </p:txBody>
      </p:sp>
      <p:sp>
        <p:nvSpPr>
          <p:cNvPr id="9036" name="Card 459"/>
          <p:cNvSpPr/>
          <p:nvPr/>
        </p:nvSpPr>
        <p:spPr>
          <a:xfrm>
            <a:off x="548640" y="4023360"/>
            <a:ext cx="11094415" cy="1554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274320" bIns="274320"/>
          <a:lstStyle/>
          <a:p>
            <a:pPr algn="l">
              <a:spcAft>
                <a:spcPts val="600"/>
              </a:spcAft>
            </a:pPr>
            <a:r>
              <a:rPr sz="1300" b="1">
                <a:solidFill>
                  <a:schemeClr val="bg1"/>
                </a:solidFill>
              </a:rPr>
              <a:t>S-3  Determinism</a:t>
            </a:r>
          </a:p>
          <a:p>
            <a:pPr algn="l"/>
            <a:r>
              <a:rPr sz="1700" b="0" cap="none">
                <a:solidFill>
                  <a:schemeClr val="bg1"/>
                </a:solidFill>
                <a:latin typeface="+mj-lt"/>
              </a:rPr>
              <a:t>Every reject decision and every byte of every synthesized frame is a function of the committed log alone: not node configuration, wall-clock time, local state or hash-map iteration order.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Header</a:t>
            </a:r>
          </a:p>
        </p:txBody>
      </p:sp>
      <p:sp>
        <p:nvSpPr>
          <p:cNvPr id="3" name="Text 460"/>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Copy 18 bytes, append 16, never touch the payload</a:t>
            </a:r>
          </a:p>
        </p:txBody>
      </p:sp>
      <p:sp>
        <p:nvSpPr>
          <p:cNvPr id="9031" name="Slide number"/>
          <p:cNvSpPr txBox="1"/>
          <p:nvPr userDrawn="1"/>
        </p:nvSpPr>
        <p:spPr>
          <a:xfrm>
            <a:off x="10728655" y="6400800"/>
            <a:ext cx="914400" cy="274320"/>
          </a:xfrm>
          <a:prstGeom prst="rect">
            <a:avLst/>
          </a:prstGeom>
          <a:noFill/>
        </p:spPr>
        <p:txBody>
          <a:bodyPr wrap="none" lIns="0" tIns="0" rIns="0" bIns="0" anchor="ctr"/>
          <a:lstStyle/>
          <a:p>
            <a:pPr algn="r"/>
            <a:fld id="{9946953d-c33f-4a87-8ab2-9546e686d9e0}" type="slidenum">
              <a:rPr lang="en-US" sz="1000" dirty="0">
                <a:solidFill>
                  <a:schemeClr val="accent5"/>
                </a:solidFill>
              </a:rPr>
              <a:t>31</a:t>
            </a:fld>
          </a:p>
        </p:txBody>
      </p:sp>
      <p:sp>
        <p:nvSpPr>
          <p:cNvPr id="9032" name="Text 461"/>
          <p:cNvSpPr txBox="1"/>
          <p:nvPr/>
        </p:nvSpPr>
        <p:spPr>
          <a:xfrm>
            <a:off x="296494" y="1726273"/>
            <a:ext cx="504292" cy="277360"/>
          </a:xfrm>
          <a:prstGeom prst="rect">
            <a:avLst/>
          </a:prstGeom>
          <a:noFill/>
        </p:spPr>
        <p:txBody>
          <a:bodyPr wrap="square" anchor="ctr" lIns="0" rIns="0" tIns="0" bIns="0">
            <a:spAutoFit/>
          </a:bodyPr>
          <a:lstStyle/>
          <a:p>
            <a:pPr algn="ctr"/>
            <a:r>
              <a:rPr sz="1100" b="0">
                <a:solidFill>
                  <a:schemeClr val="accent5"/>
                </a:solidFill>
              </a:rPr>
              <a:t>0</a:t>
            </a:r>
          </a:p>
        </p:txBody>
      </p:sp>
      <p:sp>
        <p:nvSpPr>
          <p:cNvPr id="9033" name="Text 462"/>
          <p:cNvSpPr txBox="1"/>
          <p:nvPr/>
        </p:nvSpPr>
        <p:spPr>
          <a:xfrm>
            <a:off x="1506794" y="1726273"/>
            <a:ext cx="504292" cy="277360"/>
          </a:xfrm>
          <a:prstGeom prst="rect">
            <a:avLst/>
          </a:prstGeom>
          <a:noFill/>
        </p:spPr>
        <p:txBody>
          <a:bodyPr wrap="square" anchor="ctr" lIns="0" rIns="0" tIns="0" bIns="0">
            <a:spAutoFit/>
          </a:bodyPr>
          <a:lstStyle/>
          <a:p>
            <a:pPr algn="ctr"/>
            <a:r>
              <a:rPr sz="1100" b="0">
                <a:solidFill>
                  <a:schemeClr val="accent5"/>
                </a:solidFill>
              </a:rPr>
              <a:t>4</a:t>
            </a:r>
          </a:p>
        </p:txBody>
      </p:sp>
      <p:sp>
        <p:nvSpPr>
          <p:cNvPr id="9034" name="Text 463"/>
          <p:cNvSpPr txBox="1"/>
          <p:nvPr/>
        </p:nvSpPr>
        <p:spPr>
          <a:xfrm>
            <a:off x="2717094" y="1726273"/>
            <a:ext cx="504292" cy="277360"/>
          </a:xfrm>
          <a:prstGeom prst="rect">
            <a:avLst/>
          </a:prstGeom>
          <a:noFill/>
        </p:spPr>
        <p:txBody>
          <a:bodyPr wrap="square" anchor="ctr" lIns="0" rIns="0" tIns="0" bIns="0">
            <a:spAutoFit/>
          </a:bodyPr>
          <a:lstStyle/>
          <a:p>
            <a:pPr algn="ctr"/>
            <a:r>
              <a:rPr sz="1100" b="0">
                <a:solidFill>
                  <a:schemeClr val="accent5"/>
                </a:solidFill>
              </a:rPr>
              <a:t>8</a:t>
            </a:r>
          </a:p>
        </p:txBody>
      </p:sp>
      <p:sp>
        <p:nvSpPr>
          <p:cNvPr id="9035" name="Text 464"/>
          <p:cNvSpPr txBox="1"/>
          <p:nvPr/>
        </p:nvSpPr>
        <p:spPr>
          <a:xfrm>
            <a:off x="5137694" y="1726273"/>
            <a:ext cx="504292" cy="277360"/>
          </a:xfrm>
          <a:prstGeom prst="rect">
            <a:avLst/>
          </a:prstGeom>
          <a:noFill/>
        </p:spPr>
        <p:txBody>
          <a:bodyPr wrap="square" anchor="ctr" lIns="0" rIns="0" tIns="0" bIns="0">
            <a:spAutoFit/>
          </a:bodyPr>
          <a:lstStyle/>
          <a:p>
            <a:pPr algn="ctr"/>
            <a:r>
              <a:rPr sz="1100" b="0">
                <a:solidFill>
                  <a:schemeClr val="accent5"/>
                </a:solidFill>
              </a:rPr>
              <a:t>16</a:t>
            </a:r>
          </a:p>
        </p:txBody>
      </p:sp>
      <p:sp>
        <p:nvSpPr>
          <p:cNvPr id="9036" name="Text 465"/>
          <p:cNvSpPr txBox="1"/>
          <p:nvPr/>
        </p:nvSpPr>
        <p:spPr>
          <a:xfrm>
            <a:off x="5742843" y="1726273"/>
            <a:ext cx="504292" cy="277360"/>
          </a:xfrm>
          <a:prstGeom prst="rect">
            <a:avLst/>
          </a:prstGeom>
          <a:noFill/>
        </p:spPr>
        <p:txBody>
          <a:bodyPr wrap="square" anchor="ctr" lIns="0" rIns="0" tIns="0" bIns="0">
            <a:spAutoFit/>
          </a:bodyPr>
          <a:lstStyle/>
          <a:p>
            <a:pPr algn="ctr"/>
            <a:r>
              <a:rPr sz="1100" b="0">
                <a:solidFill>
                  <a:schemeClr val="accent5"/>
                </a:solidFill>
              </a:rPr>
              <a:t>18</a:t>
            </a:r>
          </a:p>
        </p:txBody>
      </p:sp>
      <p:sp>
        <p:nvSpPr>
          <p:cNvPr id="9037" name="Text 466"/>
          <p:cNvSpPr txBox="1"/>
          <p:nvPr/>
        </p:nvSpPr>
        <p:spPr>
          <a:xfrm>
            <a:off x="8163443" y="1726273"/>
            <a:ext cx="504292" cy="277360"/>
          </a:xfrm>
          <a:prstGeom prst="rect">
            <a:avLst/>
          </a:prstGeom>
          <a:noFill/>
        </p:spPr>
        <p:txBody>
          <a:bodyPr wrap="square" anchor="ctr" lIns="0" rIns="0" tIns="0" bIns="0">
            <a:spAutoFit/>
          </a:bodyPr>
          <a:lstStyle/>
          <a:p>
            <a:pPr algn="ctr"/>
            <a:r>
              <a:rPr sz="1100" b="0">
                <a:solidFill>
                  <a:schemeClr val="accent5"/>
                </a:solidFill>
              </a:rPr>
              <a:t>26</a:t>
            </a:r>
          </a:p>
        </p:txBody>
      </p:sp>
      <p:sp>
        <p:nvSpPr>
          <p:cNvPr id="9038" name="Text 467"/>
          <p:cNvSpPr txBox="1"/>
          <p:nvPr/>
        </p:nvSpPr>
        <p:spPr>
          <a:xfrm>
            <a:off x="10584043" y="1726273"/>
            <a:ext cx="504292" cy="277360"/>
          </a:xfrm>
          <a:prstGeom prst="rect">
            <a:avLst/>
          </a:prstGeom>
          <a:noFill/>
        </p:spPr>
        <p:txBody>
          <a:bodyPr wrap="square" anchor="ctr" lIns="0" rIns="0" tIns="0" bIns="0">
            <a:spAutoFit/>
          </a:bodyPr>
          <a:lstStyle/>
          <a:p>
            <a:pPr algn="ctr"/>
            <a:r>
              <a:rPr sz="1100" b="0">
                <a:solidFill>
                  <a:schemeClr val="accent5"/>
                </a:solidFill>
              </a:rPr>
              <a:t>34</a:t>
            </a:r>
          </a:p>
        </p:txBody>
      </p:sp>
      <p:sp>
        <p:nvSpPr>
          <p:cNvPr id="9039" name="Box 468"/>
          <p:cNvSpPr/>
          <p:nvPr/>
        </p:nvSpPr>
        <p:spPr>
          <a:xfrm>
            <a:off x="548640" y="2104492"/>
            <a:ext cx="1210300" cy="60515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sourceId</a:t>
            </a:r>
          </a:p>
        </p:txBody>
      </p:sp>
      <p:sp>
        <p:nvSpPr>
          <p:cNvPr id="9040" name="Box 469"/>
          <p:cNvSpPr/>
          <p:nvPr/>
        </p:nvSpPr>
        <p:spPr>
          <a:xfrm>
            <a:off x="1758940" y="2104492"/>
            <a:ext cx="1210300" cy="60515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connectionId</a:t>
            </a:r>
          </a:p>
        </p:txBody>
      </p:sp>
      <p:sp>
        <p:nvSpPr>
          <p:cNvPr id="9041" name="Box 470"/>
          <p:cNvSpPr/>
          <p:nvPr/>
        </p:nvSpPr>
        <p:spPr>
          <a:xfrm>
            <a:off x="2969240" y="2104492"/>
            <a:ext cx="2420600" cy="60515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sessionId</a:t>
            </a:r>
          </a:p>
          <a:p>
            <a:pPr algn="ctr"/>
            <a:r>
              <a:rPr sz="1000" b="0">
                <a:solidFill>
                  <a:schemeClr val="accent5"/>
                </a:solidFill>
              </a:rPr>
              <a:t>set by the sequencer</a:t>
            </a:r>
          </a:p>
        </p:txBody>
      </p:sp>
      <p:sp>
        <p:nvSpPr>
          <p:cNvPr id="9042" name="Box 471"/>
          <p:cNvSpPr/>
          <p:nvPr/>
        </p:nvSpPr>
        <p:spPr>
          <a:xfrm>
            <a:off x="5389839" y="2104492"/>
            <a:ext cx="605150" cy="60515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type</a:t>
            </a:r>
          </a:p>
        </p:txBody>
      </p:sp>
      <p:sp>
        <p:nvSpPr>
          <p:cNvPr id="9043" name="Box 472"/>
          <p:cNvSpPr/>
          <p:nvPr/>
        </p:nvSpPr>
        <p:spPr>
          <a:xfrm>
            <a:off x="5994989" y="2104492"/>
            <a:ext cx="2420600" cy="60515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globalSeqNo</a:t>
            </a:r>
          </a:p>
        </p:txBody>
      </p:sp>
      <p:sp>
        <p:nvSpPr>
          <p:cNvPr id="9044" name="Box 473"/>
          <p:cNvSpPr/>
          <p:nvPr/>
        </p:nvSpPr>
        <p:spPr>
          <a:xfrm>
            <a:off x="8415589" y="2104492"/>
            <a:ext cx="2420600" cy="60515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timestamp</a:t>
            </a:r>
          </a:p>
          <a:p>
            <a:pPr algn="ctr"/>
            <a:r>
              <a:rPr sz="1000" b="0">
                <a:solidFill>
                  <a:schemeClr val="accent5"/>
                </a:solidFill>
              </a:rPr>
              <a:t>Raft consensus time, ns</a:t>
            </a:r>
          </a:p>
        </p:txBody>
      </p:sp>
      <p:sp>
        <p:nvSpPr>
          <p:cNvPr id="4" name="Path 474"/>
          <p:cNvSpPr/>
          <p:nvPr/>
        </p:nvSpPr>
        <p:spPr>
          <a:xfrm>
            <a:off x="548640" y="2835714"/>
            <a:ext cx="5421135" cy="100859"/>
          </a:xfrm>
          <a:custGeom>
            <a:avLst/>
            <a:gdLst/>
            <a:ahLst/>
            <a:cxnLst/>
            <a:rect l="l" t="t" r="r" b="b"/>
            <a:pathLst>
              <a:path w="5421135" h="100859">
                <a:moveTo>
                  <a:pt x="0" y="0"/>
                </a:moveTo>
                <a:lnTo>
                  <a:pt x="0" y="100859"/>
                </a:lnTo>
                <a:lnTo>
                  <a:pt x="5421135" y="100859"/>
                </a:lnTo>
                <a:lnTo>
                  <a:pt x="5421135" y="0"/>
                </a:lnTo>
              </a:path>
            </a:pathLst>
          </a:custGeom>
          <a:no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5" name="Text 475"/>
          <p:cNvSpPr txBox="1"/>
          <p:nvPr/>
        </p:nvSpPr>
        <p:spPr>
          <a:xfrm>
            <a:off x="548640" y="2987002"/>
            <a:ext cx="5421135" cy="327790"/>
          </a:xfrm>
          <a:prstGeom prst="rect">
            <a:avLst/>
          </a:prstGeom>
          <a:noFill/>
        </p:spPr>
        <p:txBody>
          <a:bodyPr wrap="square" anchor="ctr" lIns="0" rIns="0" tIns="0" bIns="0">
            <a:spAutoFit/>
          </a:bodyPr>
          <a:lstStyle/>
          <a:p>
            <a:pPr algn="ctr"/>
            <a:r>
              <a:rPr sz="1200" b="0">
                <a:solidFill>
                  <a:schemeClr val="tx1"/>
                </a:solidFill>
              </a:rPr>
              <a:t>copied from ingress · 18 bytes</a:t>
            </a:r>
          </a:p>
        </p:txBody>
      </p:sp>
      <p:sp>
        <p:nvSpPr>
          <p:cNvPr id="5" name="Path 476"/>
          <p:cNvSpPr/>
          <p:nvPr/>
        </p:nvSpPr>
        <p:spPr>
          <a:xfrm>
            <a:off x="6020204" y="2835714"/>
            <a:ext cx="4815985" cy="100859"/>
          </a:xfrm>
          <a:custGeom>
            <a:avLst/>
            <a:gdLst/>
            <a:ahLst/>
            <a:cxnLst/>
            <a:rect l="l" t="t" r="r" b="b"/>
            <a:pathLst>
              <a:path w="4815985" h="100859">
                <a:moveTo>
                  <a:pt x="0" y="0"/>
                </a:moveTo>
                <a:lnTo>
                  <a:pt x="0" y="100859"/>
                </a:lnTo>
                <a:lnTo>
                  <a:pt x="4815985" y="100859"/>
                </a:lnTo>
                <a:lnTo>
                  <a:pt x="4815985" y="0"/>
                </a:lnTo>
              </a:path>
            </a:pathLst>
          </a:custGeom>
          <a:noFill/>
          <a:ln w="2222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6" name="Text 477"/>
          <p:cNvSpPr txBox="1"/>
          <p:nvPr/>
        </p:nvSpPr>
        <p:spPr>
          <a:xfrm>
            <a:off x="6020204" y="2987002"/>
            <a:ext cx="4815985" cy="327790"/>
          </a:xfrm>
          <a:prstGeom prst="rect">
            <a:avLst/>
          </a:prstGeom>
          <a:noFill/>
        </p:spPr>
        <p:txBody>
          <a:bodyPr wrap="square" anchor="ctr" lIns="0" rIns="0" tIns="0" bIns="0">
            <a:spAutoFit/>
          </a:bodyPr>
          <a:lstStyle/>
          <a:p>
            <a:pPr algn="ctr"/>
            <a:r>
              <a:rPr sz="1200" b="0">
                <a:solidFill>
                  <a:schemeClr val="accent1"/>
                </a:solidFill>
              </a:rPr>
              <a:t>appended by the sequencer · 16 bytes</a:t>
            </a:r>
          </a:p>
        </p:txBody>
      </p:sp>
      <p:sp>
        <p:nvSpPr>
          <p:cNvPr id="9047" name="Card 478"/>
          <p:cNvSpPr/>
          <p:nvPr/>
        </p:nvSpPr>
        <p:spPr>
          <a:xfrm>
            <a:off x="548640" y="3794760"/>
            <a:ext cx="5394960" cy="1783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800" b="1" cap="none">
                <a:solidFill>
                  <a:schemeClr val="tx1"/>
                </a:solidFill>
                <a:latin typeface="+mj-lt"/>
              </a:rPr>
              <a:t>Application type</a:t>
            </a:r>
          </a:p>
          <a:p>
            <a:pPr algn="l">
              <a:spcAft>
                <a:spcPts val="600"/>
              </a:spcAft>
            </a:pPr>
            <a:r>
              <a:rPr sz="1400" b="1">
                <a:solidFill>
                  <a:schemeClr val="tx1"/>
                </a:solidFill>
              </a:rPr>
              <a:t>Unsequenced (100) → Sequenced (101)</a:t>
            </a:r>
          </a:p>
          <a:p>
            <a:pPr algn="l"/>
            <a:r>
              <a:rPr sz="1400" b="0">
                <a:solidFill>
                  <a:schemeClr val="tx1"/>
                </a:solidFill>
              </a:rPr>
              <a:t>One opaque payload named by payloadId. The cluster decodes no application payload.</a:t>
            </a:r>
          </a:p>
        </p:txBody>
      </p:sp>
      <p:sp>
        <p:nvSpPr>
          <p:cNvPr id="9048" name="Card 479"/>
          <p:cNvSpPr/>
          <p:nvPr/>
        </p:nvSpPr>
        <p:spPr>
          <a:xfrm>
            <a:off x="6245352" y="3794760"/>
            <a:ext cx="5394960" cy="1783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800" b="1" cap="none">
                <a:solidFill>
                  <a:schemeClr val="tx1"/>
                </a:solidFill>
                <a:latin typeface="+mj-lt"/>
              </a:rPr>
              <a:t>System type</a:t>
            </a:r>
          </a:p>
          <a:p>
            <a:pPr algn="l">
              <a:spcAft>
                <a:spcPts val="600"/>
              </a:spcAft>
            </a:pPr>
            <a:r>
              <a:rPr sz="1400" b="1">
                <a:solidFill>
                  <a:schemeClr val="tx1"/>
                </a:solidFill>
              </a:rPr>
              <a:t>UnsequencedSystem (102) → SequencedSystem (103), plus 104–107</a:t>
            </a:r>
          </a:p>
          <a:p>
            <a:pPr algn="l"/>
            <a:r>
              <a:rPr sz="1400" b="0">
                <a:solidFill>
                  <a:schemeClr val="tx1"/>
                </a:solidFill>
              </a:rPr>
              <a:t>Named by systemEventType. Twelve events submitted, four synthesized.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Frames created by the sequencer</a:t>
            </a:r>
          </a:p>
        </p:txBody>
      </p:sp>
      <p:sp>
        <p:nvSpPr>
          <p:cNvPr id="3" name="Text 480"/>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Four synthesized frames share the one globalSeqNo counter</a:t>
            </a:r>
          </a:p>
        </p:txBody>
      </p:sp>
      <p:sp>
        <p:nvSpPr>
          <p:cNvPr id="9032" name="Slide number"/>
          <p:cNvSpPr txBox="1"/>
          <p:nvPr userDrawn="1"/>
        </p:nvSpPr>
        <p:spPr>
          <a:xfrm>
            <a:off x="10728655" y="6400800"/>
            <a:ext cx="914400" cy="274320"/>
          </a:xfrm>
          <a:prstGeom prst="rect">
            <a:avLst/>
          </a:prstGeom>
          <a:noFill/>
        </p:spPr>
        <p:txBody>
          <a:bodyPr wrap="none" lIns="0" tIns="0" rIns="0" bIns="0" anchor="ctr"/>
          <a:lstStyle/>
          <a:p>
            <a:pPr algn="r"/>
            <a:fld id="{5f6e1fc2-ad84-4544-9921-945b2860615b}" type="slidenum">
              <a:rPr lang="en-US" sz="1000" dirty="0">
                <a:solidFill>
                  <a:schemeClr val="accent5"/>
                </a:solidFill>
              </a:rPr>
              <a:t>32</a:t>
            </a:fld>
          </a:p>
        </p:txBody>
      </p:sp>
      <p:sp>
        <p:nvSpPr>
          <p:cNvPr id="9033" name="Frame card 481"/>
          <p:cNvSpPr/>
          <p:nvPr/>
        </p:nvSpPr>
        <p:spPr>
          <a:xfrm>
            <a:off x="548640" y="1691640"/>
            <a:ext cx="5394960" cy="210312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4" name="Text 482"/>
          <p:cNvSpPr txBox="1"/>
          <p:nvPr/>
        </p:nvSpPr>
        <p:spPr>
          <a:xfrm>
            <a:off x="777240" y="1856232"/>
            <a:ext cx="4023360" cy="457200"/>
          </a:xfrm>
          <a:prstGeom prst="rect">
            <a:avLst/>
          </a:prstGeom>
          <a:noFill/>
        </p:spPr>
        <p:txBody>
          <a:bodyPr wrap="square" anchor="t" lIns="0" rIns="0" tIns="0" bIns="0">
            <a:spAutoFit/>
          </a:bodyPr>
          <a:lstStyle/>
          <a:p>
            <a:pPr algn="l"/>
            <a:r>
              <a:rPr sz="2000" b="1" cap="none">
                <a:solidFill>
                  <a:schemeClr val="tx1"/>
                </a:solidFill>
                <a:latin typeface="+mj-lt"/>
              </a:rPr>
              <a:t>ClusterHeartbeat</a:t>
            </a:r>
          </a:p>
        </p:txBody>
      </p:sp>
      <p:sp>
        <p:nvSpPr>
          <p:cNvPr id="9035" name="Text 483"/>
          <p:cNvSpPr txBox="1"/>
          <p:nvPr/>
        </p:nvSpPr>
        <p:spPr>
          <a:xfrm>
            <a:off x="4800600" y="1874520"/>
            <a:ext cx="914400" cy="411480"/>
          </a:xfrm>
          <a:prstGeom prst="rect">
            <a:avLst/>
          </a:prstGeom>
          <a:noFill/>
        </p:spPr>
        <p:txBody>
          <a:bodyPr wrap="square" anchor="t" lIns="0" rIns="0" tIns="0" bIns="0">
            <a:spAutoFit/>
          </a:bodyPr>
          <a:lstStyle/>
          <a:p>
            <a:pPr algn="r"/>
            <a:r>
              <a:rPr sz="1400" b="1">
                <a:solidFill>
                  <a:schemeClr val="accent2"/>
                </a:solidFill>
              </a:rPr>
              <a:t>104</a:t>
            </a:r>
          </a:p>
        </p:txBody>
      </p:sp>
      <p:sp>
        <p:nvSpPr>
          <p:cNvPr id="9036" name="Text 484"/>
          <p:cNvSpPr txBox="1"/>
          <p:nvPr/>
        </p:nvSpPr>
        <p:spPr>
          <a:xfrm>
            <a:off x="777240" y="2423160"/>
            <a:ext cx="4937760" cy="548640"/>
          </a:xfrm>
          <a:prstGeom prst="rect">
            <a:avLst/>
          </a:prstGeom>
          <a:noFill/>
        </p:spPr>
        <p:txBody>
          <a:bodyPr wrap="square" anchor="t" lIns="0" rIns="0" tIns="0" bIns="0">
            <a:spAutoFit/>
          </a:bodyPr>
          <a:lstStyle/>
          <a:p>
            <a:pPr algn="l"/>
            <a:r>
              <a:rPr sz="1400" b="1">
                <a:solidFill>
                  <a:schemeClr val="tx1"/>
                </a:solidFill>
              </a:rPr>
              <a:t>When  </a:t>
            </a:r>
            <a:r>
              <a:rPr sz="1400" b="0">
                <a:solidFill>
                  <a:schemeClr val="tx1"/>
                </a:solidFill>
              </a:rPr>
              <a:t>Every second, from a cluster timer.</a:t>
            </a:r>
          </a:p>
        </p:txBody>
      </p:sp>
      <p:sp>
        <p:nvSpPr>
          <p:cNvPr id="9037" name="Text 485"/>
          <p:cNvSpPr txBox="1"/>
          <p:nvPr/>
        </p:nvSpPr>
        <p:spPr>
          <a:xfrm>
            <a:off x="777240" y="2926080"/>
            <a:ext cx="4937760" cy="731520"/>
          </a:xfrm>
          <a:prstGeom prst="rect">
            <a:avLst/>
          </a:prstGeom>
          <a:noFill/>
        </p:spPr>
        <p:txBody>
          <a:bodyPr wrap="square" anchor="t" lIns="0" rIns="0" tIns="0" bIns="0">
            <a:spAutoFit/>
          </a:bodyPr>
          <a:lstStyle/>
          <a:p>
            <a:pPr algn="l"/>
            <a:r>
              <a:rPr sz="1400" b="1">
                <a:solidFill>
                  <a:schemeClr val="tx1"/>
                </a:solidFill>
              </a:rPr>
              <a:t>Why  </a:t>
            </a:r>
            <a:r>
              <a:rPr sz="1400" b="0">
                <a:solidFill>
                  <a:schemeClr val="tx1"/>
                </a:solidFill>
              </a:rPr>
              <a:t>A clock every client agrees on; keeps advancing while producers are silent.</a:t>
            </a:r>
          </a:p>
        </p:txBody>
      </p:sp>
      <p:sp>
        <p:nvSpPr>
          <p:cNvPr id="9038" name="Frame card 486"/>
          <p:cNvSpPr/>
          <p:nvPr/>
        </p:nvSpPr>
        <p:spPr>
          <a:xfrm>
            <a:off x="6245352" y="1691640"/>
            <a:ext cx="5394960" cy="210312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9" name="Text 487"/>
          <p:cNvSpPr txBox="1"/>
          <p:nvPr/>
        </p:nvSpPr>
        <p:spPr>
          <a:xfrm>
            <a:off x="6473952" y="1856232"/>
            <a:ext cx="4023360" cy="457200"/>
          </a:xfrm>
          <a:prstGeom prst="rect">
            <a:avLst/>
          </a:prstGeom>
          <a:noFill/>
        </p:spPr>
        <p:txBody>
          <a:bodyPr wrap="square" anchor="t" lIns="0" rIns="0" tIns="0" bIns="0">
            <a:spAutoFit/>
          </a:bodyPr>
          <a:lstStyle/>
          <a:p>
            <a:pPr algn="l"/>
            <a:r>
              <a:rPr sz="2000" b="1" cap="none">
                <a:solidFill>
                  <a:schemeClr val="tx1"/>
                </a:solidFill>
                <a:latin typeface="+mj-lt"/>
              </a:rPr>
              <a:t>LeadershipChanged</a:t>
            </a:r>
          </a:p>
        </p:txBody>
      </p:sp>
      <p:sp>
        <p:nvSpPr>
          <p:cNvPr id="9040" name="Text 488"/>
          <p:cNvSpPr txBox="1"/>
          <p:nvPr/>
        </p:nvSpPr>
        <p:spPr>
          <a:xfrm>
            <a:off x="10497312" y="1874520"/>
            <a:ext cx="914400" cy="411480"/>
          </a:xfrm>
          <a:prstGeom prst="rect">
            <a:avLst/>
          </a:prstGeom>
          <a:noFill/>
        </p:spPr>
        <p:txBody>
          <a:bodyPr wrap="square" anchor="t" lIns="0" rIns="0" tIns="0" bIns="0">
            <a:spAutoFit/>
          </a:bodyPr>
          <a:lstStyle/>
          <a:p>
            <a:pPr algn="r"/>
            <a:r>
              <a:rPr sz="1400" b="1">
                <a:solidFill>
                  <a:schemeClr val="accent2"/>
                </a:solidFill>
              </a:rPr>
              <a:t>105</a:t>
            </a:r>
          </a:p>
        </p:txBody>
      </p:sp>
      <p:sp>
        <p:nvSpPr>
          <p:cNvPr id="9041" name="Text 489"/>
          <p:cNvSpPr txBox="1"/>
          <p:nvPr/>
        </p:nvSpPr>
        <p:spPr>
          <a:xfrm>
            <a:off x="6473952" y="2423160"/>
            <a:ext cx="4937760" cy="548640"/>
          </a:xfrm>
          <a:prstGeom prst="rect">
            <a:avLst/>
          </a:prstGeom>
          <a:noFill/>
        </p:spPr>
        <p:txBody>
          <a:bodyPr wrap="square" anchor="t" lIns="0" rIns="0" tIns="0" bIns="0">
            <a:spAutoFit/>
          </a:bodyPr>
          <a:lstStyle/>
          <a:p>
            <a:pPr algn="l"/>
            <a:r>
              <a:rPr sz="1400" b="1">
                <a:solidFill>
                  <a:schemeClr val="tx1"/>
                </a:solidFill>
              </a:rPr>
              <a:t>When  </a:t>
            </a:r>
            <a:r>
              <a:rPr sz="1400" b="0">
                <a:solidFill>
                  <a:schemeClr val="tx1"/>
                </a:solidFill>
              </a:rPr>
              <a:t>Once per Raft term, same leader or not.</a:t>
            </a:r>
          </a:p>
        </p:txBody>
      </p:sp>
      <p:sp>
        <p:nvSpPr>
          <p:cNvPr id="9042" name="Text 490"/>
          <p:cNvSpPr txBox="1"/>
          <p:nvPr/>
        </p:nvSpPr>
        <p:spPr>
          <a:xfrm>
            <a:off x="6473952" y="2926080"/>
            <a:ext cx="4937760" cy="731520"/>
          </a:xfrm>
          <a:prstGeom prst="rect">
            <a:avLst/>
          </a:prstGeom>
          <a:noFill/>
        </p:spPr>
        <p:txBody>
          <a:bodyPr wrap="square" anchor="t" lIns="0" rIns="0" tIns="0" bIns="0">
            <a:spAutoFit/>
          </a:bodyPr>
          <a:lstStyle/>
          <a:p>
            <a:pPr algn="l"/>
            <a:r>
              <a:rPr sz="1400" b="1">
                <a:solidFill>
                  <a:schemeClr val="tx1"/>
                </a:solidFill>
              </a:rPr>
              <a:t>Why  </a:t>
            </a:r>
            <a:r>
              <a:rPr sz="1400" b="0">
                <a:solidFill>
                  <a:schemeClr val="tx1"/>
                </a:solidFill>
              </a:rPr>
              <a:t>Gates leader-only work; tells producers which ingress was lost.</a:t>
            </a:r>
          </a:p>
        </p:txBody>
      </p:sp>
      <p:sp>
        <p:nvSpPr>
          <p:cNvPr id="9043" name="Frame card 491"/>
          <p:cNvSpPr/>
          <p:nvPr/>
        </p:nvSpPr>
        <p:spPr>
          <a:xfrm>
            <a:off x="548640" y="4023360"/>
            <a:ext cx="5394960" cy="210312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4" name="Text 492"/>
          <p:cNvSpPr txBox="1"/>
          <p:nvPr/>
        </p:nvSpPr>
        <p:spPr>
          <a:xfrm>
            <a:off x="777240" y="4187952"/>
            <a:ext cx="4023360" cy="457200"/>
          </a:xfrm>
          <a:prstGeom prst="rect">
            <a:avLst/>
          </a:prstGeom>
          <a:noFill/>
        </p:spPr>
        <p:txBody>
          <a:bodyPr wrap="square" anchor="t" lIns="0" rIns="0" tIns="0" bIns="0">
            <a:spAutoFit/>
          </a:bodyPr>
          <a:lstStyle/>
          <a:p>
            <a:pPr algn="l"/>
            <a:r>
              <a:rPr sz="2000" b="1" cap="none">
                <a:solidFill>
                  <a:schemeClr val="tx1"/>
                </a:solidFill>
                <a:latin typeface="+mj-lt"/>
              </a:rPr>
              <a:t>GatewayActive</a:t>
            </a:r>
          </a:p>
        </p:txBody>
      </p:sp>
      <p:sp>
        <p:nvSpPr>
          <p:cNvPr id="9045" name="Text 493"/>
          <p:cNvSpPr txBox="1"/>
          <p:nvPr/>
        </p:nvSpPr>
        <p:spPr>
          <a:xfrm>
            <a:off x="4800600" y="4206240"/>
            <a:ext cx="914400" cy="411480"/>
          </a:xfrm>
          <a:prstGeom prst="rect">
            <a:avLst/>
          </a:prstGeom>
          <a:noFill/>
        </p:spPr>
        <p:txBody>
          <a:bodyPr wrap="square" anchor="t" lIns="0" rIns="0" tIns="0" bIns="0">
            <a:spAutoFit/>
          </a:bodyPr>
          <a:lstStyle/>
          <a:p>
            <a:pPr algn="r"/>
            <a:r>
              <a:rPr sz="1400" b="1">
                <a:solidFill>
                  <a:schemeClr val="accent2"/>
                </a:solidFill>
              </a:rPr>
              <a:t>106</a:t>
            </a:r>
          </a:p>
        </p:txBody>
      </p:sp>
      <p:sp>
        <p:nvSpPr>
          <p:cNvPr id="9046" name="Text 494"/>
          <p:cNvSpPr txBox="1"/>
          <p:nvPr/>
        </p:nvSpPr>
        <p:spPr>
          <a:xfrm>
            <a:off x="777240" y="4754880"/>
            <a:ext cx="4937760" cy="548640"/>
          </a:xfrm>
          <a:prstGeom prst="rect">
            <a:avLst/>
          </a:prstGeom>
          <a:noFill/>
        </p:spPr>
        <p:txBody>
          <a:bodyPr wrap="square" anchor="t" lIns="0" rIns="0" tIns="0" bIns="0">
            <a:spAutoFit/>
          </a:bodyPr>
          <a:lstStyle/>
          <a:p>
            <a:pPr algn="l"/>
            <a:r>
              <a:rPr sz="1400" b="1">
                <a:solidFill>
                  <a:schemeClr val="tx1"/>
                </a:solidFill>
              </a:rPr>
              <a:t>When  </a:t>
            </a:r>
            <a:r>
              <a:rPr sz="1400" b="0">
                <a:solidFill>
                  <a:schemeClr val="tx1"/>
                </a:solidFill>
              </a:rPr>
              <a:t>Bootstrap, session close, timeout, operator.</a:t>
            </a:r>
          </a:p>
        </p:txBody>
      </p:sp>
      <p:sp>
        <p:nvSpPr>
          <p:cNvPr id="9047" name="Text 495"/>
          <p:cNvSpPr txBox="1"/>
          <p:nvPr/>
        </p:nvSpPr>
        <p:spPr>
          <a:xfrm>
            <a:off x="777240" y="5257800"/>
            <a:ext cx="4937760" cy="731520"/>
          </a:xfrm>
          <a:prstGeom prst="rect">
            <a:avLst/>
          </a:prstGeom>
          <a:noFill/>
        </p:spPr>
        <p:txBody>
          <a:bodyPr wrap="square" anchor="t" lIns="0" rIns="0" tIns="0" bIns="0">
            <a:spAutoFit/>
          </a:bodyPr>
          <a:lstStyle/>
          <a:p>
            <a:pPr algn="l"/>
            <a:r>
              <a:rPr sz="1400" b="1">
                <a:solidFill>
                  <a:schemeClr val="tx1"/>
                </a:solidFill>
              </a:rPr>
              <a:t>Why  </a:t>
            </a:r>
            <a:r>
              <a:rPr sz="1400" b="0">
                <a:solidFill>
                  <a:schemeClr val="tx1"/>
                </a:solidFill>
              </a:rPr>
              <a:t>The gateway election's decision, at one position for everyone.</a:t>
            </a:r>
          </a:p>
        </p:txBody>
      </p:sp>
      <p:sp>
        <p:nvSpPr>
          <p:cNvPr id="9048" name="Frame card 496"/>
          <p:cNvSpPr/>
          <p:nvPr/>
        </p:nvSpPr>
        <p:spPr>
          <a:xfrm>
            <a:off x="6245352" y="4023360"/>
            <a:ext cx="5394960" cy="210312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9" name="Text 497"/>
          <p:cNvSpPr txBox="1"/>
          <p:nvPr/>
        </p:nvSpPr>
        <p:spPr>
          <a:xfrm>
            <a:off x="6473952" y="4187952"/>
            <a:ext cx="4023360" cy="457200"/>
          </a:xfrm>
          <a:prstGeom prst="rect">
            <a:avLst/>
          </a:prstGeom>
          <a:noFill/>
        </p:spPr>
        <p:txBody>
          <a:bodyPr wrap="square" anchor="t" lIns="0" rIns="0" tIns="0" bIns="0">
            <a:spAutoFit/>
          </a:bodyPr>
          <a:lstStyle/>
          <a:p>
            <a:pPr algn="l"/>
            <a:r>
              <a:rPr sz="2000" b="1" cap="none">
                <a:solidFill>
                  <a:schemeClr val="tx1"/>
                </a:solidFill>
                <a:latin typeface="+mj-lt"/>
              </a:rPr>
              <a:t>SnapshotStarted</a:t>
            </a:r>
          </a:p>
        </p:txBody>
      </p:sp>
      <p:sp>
        <p:nvSpPr>
          <p:cNvPr id="9050" name="Text 498"/>
          <p:cNvSpPr txBox="1"/>
          <p:nvPr/>
        </p:nvSpPr>
        <p:spPr>
          <a:xfrm>
            <a:off x="10497312" y="4206240"/>
            <a:ext cx="914400" cy="411480"/>
          </a:xfrm>
          <a:prstGeom prst="rect">
            <a:avLst/>
          </a:prstGeom>
          <a:noFill/>
        </p:spPr>
        <p:txBody>
          <a:bodyPr wrap="square" anchor="t" lIns="0" rIns="0" tIns="0" bIns="0">
            <a:spAutoFit/>
          </a:bodyPr>
          <a:lstStyle/>
          <a:p>
            <a:pPr algn="r"/>
            <a:r>
              <a:rPr sz="1400" b="1">
                <a:solidFill>
                  <a:schemeClr val="accent2"/>
                </a:solidFill>
              </a:rPr>
              <a:t>107</a:t>
            </a:r>
          </a:p>
        </p:txBody>
      </p:sp>
      <p:sp>
        <p:nvSpPr>
          <p:cNvPr id="9051" name="Text 499"/>
          <p:cNvSpPr txBox="1"/>
          <p:nvPr/>
        </p:nvSpPr>
        <p:spPr>
          <a:xfrm>
            <a:off x="6473952" y="4754880"/>
            <a:ext cx="4937760" cy="548640"/>
          </a:xfrm>
          <a:prstGeom prst="rect">
            <a:avLst/>
          </a:prstGeom>
          <a:noFill/>
        </p:spPr>
        <p:txBody>
          <a:bodyPr wrap="square" anchor="t" lIns="0" rIns="0" tIns="0" bIns="0">
            <a:spAutoFit/>
          </a:bodyPr>
          <a:lstStyle/>
          <a:p>
            <a:pPr algn="l"/>
            <a:r>
              <a:rPr sz="1400" b="1">
                <a:solidFill>
                  <a:schemeClr val="tx1"/>
                </a:solidFill>
              </a:rPr>
              <a:t>When  </a:t>
            </a:r>
            <a:r>
              <a:rPr sz="1400" b="0">
                <a:solidFill>
                  <a:schemeClr val="tx1"/>
                </a:solidFill>
              </a:rPr>
              <a:t>Operator request or policy interval.</a:t>
            </a:r>
          </a:p>
        </p:txBody>
      </p:sp>
      <p:sp>
        <p:nvSpPr>
          <p:cNvPr id="9052" name="Text 500"/>
          <p:cNvSpPr txBox="1"/>
          <p:nvPr/>
        </p:nvSpPr>
        <p:spPr>
          <a:xfrm>
            <a:off x="6473952" y="5257800"/>
            <a:ext cx="4937760" cy="731520"/>
          </a:xfrm>
          <a:prstGeom prst="rect">
            <a:avLst/>
          </a:prstGeom>
          <a:noFill/>
        </p:spPr>
        <p:txBody>
          <a:bodyPr wrap="square" anchor="t" lIns="0" rIns="0" tIns="0" bIns="0">
            <a:spAutoFit/>
          </a:bodyPr>
          <a:lstStyle/>
          <a:p>
            <a:pPr algn="l"/>
            <a:r>
              <a:rPr sz="1400" b="1">
                <a:solidFill>
                  <a:schemeClr val="tx1"/>
                </a:solidFill>
              </a:rPr>
              <a:t>Why  </a:t>
            </a:r>
            <a:r>
              <a:rPr sz="1400" b="0">
                <a:solidFill>
                  <a:schemeClr val="tx1"/>
                </a:solidFill>
              </a:rPr>
              <a:t>The cut of an application snapshot round.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Repairing a gap</a:t>
            </a:r>
          </a:p>
        </p:txBody>
      </p:sp>
      <p:sp>
        <p:nvSpPr>
          <p:cNvPr id="3" name="Text 501"/>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Replay only what was lost; hold live frames meanwhile</a:t>
            </a:r>
          </a:p>
        </p:txBody>
      </p:sp>
      <p:sp>
        <p:nvSpPr>
          <p:cNvPr id="9033" name="Slide number"/>
          <p:cNvSpPr txBox="1"/>
          <p:nvPr userDrawn="1"/>
        </p:nvSpPr>
        <p:spPr>
          <a:xfrm>
            <a:off x="10728655" y="6400800"/>
            <a:ext cx="914400" cy="274320"/>
          </a:xfrm>
          <a:prstGeom prst="rect">
            <a:avLst/>
          </a:prstGeom>
          <a:noFill/>
        </p:spPr>
        <p:txBody>
          <a:bodyPr wrap="none" lIns="0" tIns="0" rIns="0" bIns="0" anchor="ctr"/>
          <a:lstStyle/>
          <a:p>
            <a:pPr algn="r"/>
            <a:fld id="{9bb9255d-b481-477a-b7f9-86287d6f8927}" type="slidenum">
              <a:rPr lang="en-US" sz="1000" dirty="0">
                <a:solidFill>
                  <a:schemeClr val="accent5"/>
                </a:solidFill>
              </a:rPr>
              <a:t>33</a:t>
            </a:fld>
          </a:p>
        </p:txBody>
      </p:sp>
      <p:sp>
        <p:nvSpPr>
          <p:cNvPr id="9034" name="Text 502"/>
          <p:cNvSpPr txBox="1"/>
          <p:nvPr/>
        </p:nvSpPr>
        <p:spPr>
          <a:xfrm>
            <a:off x="548640" y="2184117"/>
            <a:ext cx="2043708" cy="496329"/>
          </a:xfrm>
          <a:prstGeom prst="rect">
            <a:avLst/>
          </a:prstGeom>
          <a:noFill/>
        </p:spPr>
        <p:txBody>
          <a:bodyPr wrap="square" anchor="ctr" lIns="0" rIns="0" tIns="0" bIns="0">
            <a:spAutoFit/>
          </a:bodyPr>
          <a:lstStyle/>
          <a:p>
            <a:pPr algn="l"/>
            <a:r>
              <a:rPr sz="1400" b="1">
                <a:solidFill>
                  <a:schemeClr val="tx1"/>
                </a:solidFill>
              </a:rPr>
              <a:t>Tap 205</a:t>
            </a:r>
          </a:p>
        </p:txBody>
      </p:sp>
      <p:sp>
        <p:nvSpPr>
          <p:cNvPr id="9035" name="Text 503"/>
          <p:cNvSpPr txBox="1"/>
          <p:nvPr/>
        </p:nvSpPr>
        <p:spPr>
          <a:xfrm>
            <a:off x="548640" y="3205971"/>
            <a:ext cx="2043708" cy="496329"/>
          </a:xfrm>
          <a:prstGeom prst="rect">
            <a:avLst/>
          </a:prstGeom>
          <a:noFill/>
        </p:spPr>
        <p:txBody>
          <a:bodyPr wrap="square" anchor="ctr" lIns="0" rIns="0" tIns="0" bIns="0">
            <a:spAutoFit/>
          </a:bodyPr>
          <a:lstStyle/>
          <a:p>
            <a:pPr algn="l"/>
            <a:r>
              <a:rPr sz="1400" b="1">
                <a:solidFill>
                  <a:schemeClr val="tx1"/>
                </a:solidFill>
              </a:rPr>
              <a:t>Replay 201</a:t>
            </a:r>
          </a:p>
        </p:txBody>
      </p:sp>
      <p:sp>
        <p:nvSpPr>
          <p:cNvPr id="9036" name="Text 504"/>
          <p:cNvSpPr txBox="1"/>
          <p:nvPr/>
        </p:nvSpPr>
        <p:spPr>
          <a:xfrm>
            <a:off x="548640" y="4227825"/>
            <a:ext cx="2043708" cy="496329"/>
          </a:xfrm>
          <a:prstGeom prst="rect">
            <a:avLst/>
          </a:prstGeom>
          <a:noFill/>
        </p:spPr>
        <p:txBody>
          <a:bodyPr wrap="square" anchor="ctr" lIns="0" rIns="0" tIns="0" bIns="0">
            <a:spAutoFit/>
          </a:bodyPr>
          <a:lstStyle/>
          <a:p>
            <a:pPr algn="l"/>
            <a:r>
              <a:rPr sz="1400" b="1">
                <a:solidFill>
                  <a:schemeClr val="tx1"/>
                </a:solidFill>
              </a:rPr>
              <a:t>Delivered</a:t>
            </a:r>
          </a:p>
        </p:txBody>
      </p:sp>
      <p:sp>
        <p:nvSpPr>
          <p:cNvPr id="9037" name="Box 505"/>
          <p:cNvSpPr/>
          <p:nvPr/>
        </p:nvSpPr>
        <p:spPr>
          <a:xfrm>
            <a:off x="2738327" y="2184117"/>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101</a:t>
            </a:r>
          </a:p>
        </p:txBody>
      </p:sp>
      <p:sp>
        <p:nvSpPr>
          <p:cNvPr id="9038" name="Box 506"/>
          <p:cNvSpPr/>
          <p:nvPr/>
        </p:nvSpPr>
        <p:spPr>
          <a:xfrm>
            <a:off x="2738327" y="4227825"/>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101</a:t>
            </a:r>
          </a:p>
        </p:txBody>
      </p:sp>
      <p:sp>
        <p:nvSpPr>
          <p:cNvPr id="9039" name="Box 507"/>
          <p:cNvSpPr/>
          <p:nvPr/>
        </p:nvSpPr>
        <p:spPr>
          <a:xfrm>
            <a:off x="3585006" y="2184117"/>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102</a:t>
            </a:r>
          </a:p>
        </p:txBody>
      </p:sp>
      <p:sp>
        <p:nvSpPr>
          <p:cNvPr id="9040" name="Box 508"/>
          <p:cNvSpPr/>
          <p:nvPr/>
        </p:nvSpPr>
        <p:spPr>
          <a:xfrm>
            <a:off x="3585006" y="4227825"/>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102</a:t>
            </a:r>
          </a:p>
        </p:txBody>
      </p:sp>
      <p:sp>
        <p:nvSpPr>
          <p:cNvPr id="9041" name="Box 509"/>
          <p:cNvSpPr/>
          <p:nvPr/>
        </p:nvSpPr>
        <p:spPr>
          <a:xfrm>
            <a:off x="4431685" y="2184117"/>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103</a:t>
            </a:r>
          </a:p>
        </p:txBody>
      </p:sp>
      <p:sp>
        <p:nvSpPr>
          <p:cNvPr id="9042" name="Box 510"/>
          <p:cNvSpPr/>
          <p:nvPr/>
        </p:nvSpPr>
        <p:spPr>
          <a:xfrm>
            <a:off x="4431685" y="4227825"/>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103</a:t>
            </a:r>
          </a:p>
        </p:txBody>
      </p:sp>
      <p:sp>
        <p:nvSpPr>
          <p:cNvPr id="9043" name="Box 511"/>
          <p:cNvSpPr/>
          <p:nvPr/>
        </p:nvSpPr>
        <p:spPr>
          <a:xfrm>
            <a:off x="5278364" y="2184117"/>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104</a:t>
            </a:r>
          </a:p>
        </p:txBody>
      </p:sp>
      <p:sp>
        <p:nvSpPr>
          <p:cNvPr id="9044" name="Box 512"/>
          <p:cNvSpPr/>
          <p:nvPr/>
        </p:nvSpPr>
        <p:spPr>
          <a:xfrm>
            <a:off x="5278364" y="4227825"/>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104</a:t>
            </a:r>
          </a:p>
        </p:txBody>
      </p:sp>
      <p:sp>
        <p:nvSpPr>
          <p:cNvPr id="9045" name="Box 513"/>
          <p:cNvSpPr/>
          <p:nvPr/>
        </p:nvSpPr>
        <p:spPr>
          <a:xfrm>
            <a:off x="6125043" y="2184117"/>
            <a:ext cx="729896" cy="496329"/>
          </a:xfrm>
          <a:prstGeom prst="rect">
            <a:avLst/>
          </a:prstGeom>
          <a:noFill/>
          <a:ln w="15875">
            <a:solidFill>
              <a:schemeClr val="accent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accent2"/>
                </a:solidFill>
              </a:rPr>
              <a:t>×</a:t>
            </a:r>
          </a:p>
        </p:txBody>
      </p:sp>
      <p:sp>
        <p:nvSpPr>
          <p:cNvPr id="9046" name="Box 514"/>
          <p:cNvSpPr/>
          <p:nvPr/>
        </p:nvSpPr>
        <p:spPr>
          <a:xfrm>
            <a:off x="6125043" y="4227825"/>
            <a:ext cx="729896" cy="496329"/>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105</a:t>
            </a:r>
          </a:p>
        </p:txBody>
      </p:sp>
      <p:sp>
        <p:nvSpPr>
          <p:cNvPr id="9047" name="Box 515"/>
          <p:cNvSpPr/>
          <p:nvPr/>
        </p:nvSpPr>
        <p:spPr>
          <a:xfrm>
            <a:off x="6971722" y="2184117"/>
            <a:ext cx="729896" cy="496329"/>
          </a:xfrm>
          <a:prstGeom prst="rect">
            <a:avLst/>
          </a:prstGeom>
          <a:solidFill>
            <a:schemeClr val="accent3"/>
          </a:solidFill>
          <a:ln w="15875">
            <a:solidFill>
              <a:schemeClr val="accent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106</a:t>
            </a:r>
          </a:p>
        </p:txBody>
      </p:sp>
      <p:sp>
        <p:nvSpPr>
          <p:cNvPr id="9048" name="Box 516"/>
          <p:cNvSpPr/>
          <p:nvPr/>
        </p:nvSpPr>
        <p:spPr>
          <a:xfrm>
            <a:off x="6971722" y="4227825"/>
            <a:ext cx="729896" cy="496329"/>
          </a:xfrm>
          <a:prstGeom prst="rect">
            <a:avLst/>
          </a:prstGeom>
          <a:solidFill>
            <a:schemeClr val="accent3"/>
          </a:solidFill>
          <a:ln w="15875">
            <a:solidFill>
              <a:schemeClr val="accent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106</a:t>
            </a:r>
          </a:p>
        </p:txBody>
      </p:sp>
      <p:sp>
        <p:nvSpPr>
          <p:cNvPr id="9049" name="Box 517"/>
          <p:cNvSpPr/>
          <p:nvPr/>
        </p:nvSpPr>
        <p:spPr>
          <a:xfrm>
            <a:off x="7818402" y="2184117"/>
            <a:ext cx="729896" cy="496329"/>
          </a:xfrm>
          <a:prstGeom prst="rect">
            <a:avLst/>
          </a:prstGeom>
          <a:solidFill>
            <a:schemeClr val="accent3"/>
          </a:solidFill>
          <a:ln w="15875">
            <a:solidFill>
              <a:schemeClr val="accent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107</a:t>
            </a:r>
          </a:p>
        </p:txBody>
      </p:sp>
      <p:sp>
        <p:nvSpPr>
          <p:cNvPr id="9050" name="Box 518"/>
          <p:cNvSpPr/>
          <p:nvPr/>
        </p:nvSpPr>
        <p:spPr>
          <a:xfrm>
            <a:off x="7818402" y="4227825"/>
            <a:ext cx="729896" cy="496329"/>
          </a:xfrm>
          <a:prstGeom prst="rect">
            <a:avLst/>
          </a:prstGeom>
          <a:solidFill>
            <a:schemeClr val="accent3"/>
          </a:solidFill>
          <a:ln w="15875">
            <a:solidFill>
              <a:schemeClr val="accent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107</a:t>
            </a:r>
          </a:p>
        </p:txBody>
      </p:sp>
      <p:sp>
        <p:nvSpPr>
          <p:cNvPr id="9051" name="Box 519"/>
          <p:cNvSpPr/>
          <p:nvPr/>
        </p:nvSpPr>
        <p:spPr>
          <a:xfrm>
            <a:off x="8665081" y="2184117"/>
            <a:ext cx="729896" cy="496329"/>
          </a:xfrm>
          <a:prstGeom prst="rect">
            <a:avLst/>
          </a:prstGeom>
          <a:solidFill>
            <a:schemeClr val="accent3"/>
          </a:solidFill>
          <a:ln w="15875">
            <a:solidFill>
              <a:schemeClr val="accent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108</a:t>
            </a:r>
          </a:p>
        </p:txBody>
      </p:sp>
      <p:sp>
        <p:nvSpPr>
          <p:cNvPr id="9052" name="Box 520"/>
          <p:cNvSpPr/>
          <p:nvPr/>
        </p:nvSpPr>
        <p:spPr>
          <a:xfrm>
            <a:off x="8665081" y="4227825"/>
            <a:ext cx="729896" cy="496329"/>
          </a:xfrm>
          <a:prstGeom prst="rect">
            <a:avLst/>
          </a:prstGeom>
          <a:solidFill>
            <a:schemeClr val="accent3"/>
          </a:solidFill>
          <a:ln w="15875">
            <a:solidFill>
              <a:schemeClr val="accent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108</a:t>
            </a:r>
          </a:p>
        </p:txBody>
      </p:sp>
      <p:sp>
        <p:nvSpPr>
          <p:cNvPr id="9053" name="Box 521"/>
          <p:cNvSpPr/>
          <p:nvPr/>
        </p:nvSpPr>
        <p:spPr>
          <a:xfrm>
            <a:off x="9511760" y="2184117"/>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109</a:t>
            </a:r>
          </a:p>
        </p:txBody>
      </p:sp>
      <p:sp>
        <p:nvSpPr>
          <p:cNvPr id="9054" name="Box 522"/>
          <p:cNvSpPr/>
          <p:nvPr/>
        </p:nvSpPr>
        <p:spPr>
          <a:xfrm>
            <a:off x="9511760" y="4227825"/>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109</a:t>
            </a:r>
          </a:p>
        </p:txBody>
      </p:sp>
      <p:sp>
        <p:nvSpPr>
          <p:cNvPr id="9055" name="Box 523"/>
          <p:cNvSpPr/>
          <p:nvPr/>
        </p:nvSpPr>
        <p:spPr>
          <a:xfrm>
            <a:off x="10358439" y="2184117"/>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110</a:t>
            </a:r>
          </a:p>
        </p:txBody>
      </p:sp>
      <p:sp>
        <p:nvSpPr>
          <p:cNvPr id="9056" name="Box 524"/>
          <p:cNvSpPr/>
          <p:nvPr/>
        </p:nvSpPr>
        <p:spPr>
          <a:xfrm>
            <a:off x="10358439" y="4227825"/>
            <a:ext cx="729896" cy="496329"/>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110</a:t>
            </a:r>
          </a:p>
        </p:txBody>
      </p:sp>
      <p:sp>
        <p:nvSpPr>
          <p:cNvPr id="9057" name="Box 525"/>
          <p:cNvSpPr/>
          <p:nvPr/>
        </p:nvSpPr>
        <p:spPr>
          <a:xfrm>
            <a:off x="6125043" y="3205971"/>
            <a:ext cx="729896" cy="496329"/>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105</a:t>
            </a:r>
          </a:p>
        </p:txBody>
      </p:sp>
      <p:cxnSp>
        <p:nvCxnSpPr>
          <p:cNvPr id="9058" name="Arrow 526"/>
          <p:cNvCxnSpPr/>
          <p:nvPr/>
        </p:nvCxnSpPr>
        <p:spPr>
          <a:xfrm>
            <a:off x="6489991" y="2709642"/>
            <a:ext cx="0" cy="467133"/>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59" name="Text 527"/>
          <p:cNvSpPr txBox="1"/>
          <p:nvPr/>
        </p:nvSpPr>
        <p:spPr>
          <a:xfrm>
            <a:off x="6971722" y="1687787"/>
            <a:ext cx="4379374" cy="437937"/>
          </a:xfrm>
          <a:prstGeom prst="rect">
            <a:avLst/>
          </a:prstGeom>
          <a:noFill/>
        </p:spPr>
        <p:txBody>
          <a:bodyPr wrap="square" anchor="ctr" lIns="0" rIns="0" tIns="0" bIns="0">
            <a:spAutoFit/>
          </a:bodyPr>
          <a:lstStyle/>
          <a:p>
            <a:pPr algn="l"/>
            <a:r>
              <a:rPr sz="1200" b="0">
                <a:solidFill>
                  <a:schemeClr val="accent2"/>
                </a:solidFill>
              </a:rPr>
              <a:t>106 arrives: gap → resume after 104</a:t>
            </a:r>
          </a:p>
        </p:txBody>
      </p:sp>
      <p:sp>
        <p:nvSpPr>
          <p:cNvPr id="9060" name="Text 528"/>
          <p:cNvSpPr txBox="1"/>
          <p:nvPr/>
        </p:nvSpPr>
        <p:spPr>
          <a:xfrm>
            <a:off x="6971722" y="2768033"/>
            <a:ext cx="4379374" cy="379546"/>
          </a:xfrm>
          <a:prstGeom prst="rect">
            <a:avLst/>
          </a:prstGeom>
          <a:noFill/>
        </p:spPr>
        <p:txBody>
          <a:bodyPr wrap="square" anchor="ctr" lIns="0" rIns="0" tIns="0" bIns="0">
            <a:spAutoFit/>
          </a:bodyPr>
          <a:lstStyle/>
          <a:p>
            <a:pPr algn="l"/>
            <a:r>
              <a:rPr sz="1200" b="0">
                <a:solidFill>
                  <a:schemeClr val="accent1"/>
                </a:solidFill>
              </a:rPr>
              <a:t>106–108 retained in a bounded FIFO</a:t>
            </a:r>
          </a:p>
        </p:txBody>
      </p:sp>
      <p:sp>
        <p:nvSpPr>
          <p:cNvPr id="9061" name="Text 529"/>
          <p:cNvSpPr txBox="1"/>
          <p:nvPr/>
        </p:nvSpPr>
        <p:spPr>
          <a:xfrm>
            <a:off x="6971722" y="3235166"/>
            <a:ext cx="4379374" cy="437937"/>
          </a:xfrm>
          <a:prstGeom prst="rect">
            <a:avLst/>
          </a:prstGeom>
          <a:noFill/>
        </p:spPr>
        <p:txBody>
          <a:bodyPr wrap="square" anchor="ctr" lIns="0" rIns="0" tIns="0" bIns="0">
            <a:spAutoFit/>
          </a:bodyPr>
          <a:lstStyle/>
          <a:p>
            <a:pPr algn="l"/>
            <a:r>
              <a:rPr sz="1200" b="0">
                <a:solidFill>
                  <a:schemeClr val="accent5"/>
                </a:solidFill>
              </a:rPr>
              <a:t>anchor check: first frame must be 105</a:t>
            </a:r>
          </a:p>
        </p:txBody>
      </p:sp>
      <p:sp>
        <p:nvSpPr>
          <p:cNvPr id="9062" name="Text 530"/>
          <p:cNvSpPr txBox="1"/>
          <p:nvPr/>
        </p:nvSpPr>
        <p:spPr>
          <a:xfrm>
            <a:off x="2738327" y="4840937"/>
            <a:ext cx="8612770" cy="408742"/>
          </a:xfrm>
          <a:prstGeom prst="rect">
            <a:avLst/>
          </a:prstGeom>
          <a:noFill/>
        </p:spPr>
        <p:txBody>
          <a:bodyPr wrap="square" anchor="ctr" lIns="0" rIns="0" tIns="0" bIns="0">
            <a:spAutoFit/>
          </a:bodyPr>
          <a:lstStyle/>
          <a:p>
            <a:pPr algn="l"/>
            <a:r>
              <a:rPr sz="1200" b="0">
                <a:solidFill>
                  <a:schemeClr val="accent5"/>
                </a:solidFill>
              </a:rPr>
              <a:t>105 from the replay, then the FIFO drains, then back on the live tap.</a:t>
            </a:r>
          </a:p>
        </p:txBody>
      </p:sp>
      <p:sp>
        <p:nvSpPr>
          <p:cNvPr id="9063" name="Text 531"/>
          <p:cNvSpPr txBox="1"/>
          <p:nvPr/>
        </p:nvSpPr>
        <p:spPr>
          <a:xfrm>
            <a:off x="548640" y="5486400"/>
            <a:ext cx="11094415" cy="640080"/>
          </a:xfrm>
          <a:prstGeom prst="rect">
            <a:avLst/>
          </a:prstGeom>
          <a:noFill/>
        </p:spPr>
        <p:txBody>
          <a:bodyPr wrap="square" anchor="t" lIns="0" rIns="0" tIns="0" bIns="0">
            <a:spAutoFit/>
          </a:bodyPr>
          <a:lstStyle/>
          <a:p>
            <a:pPr algn="l"/>
            <a:r>
              <a:rPr sz="1400" b="1">
                <a:solidFill>
                  <a:schemeClr val="tx1"/>
                </a:solidFill>
              </a:rPr>
              <a:t>Cold start </a:t>
            </a:r>
            <a:r>
              <a:rPr sz="1400" b="0">
                <a:solidFill>
                  <a:schemeClr val="tx1"/>
                </a:solidFill>
              </a:rPr>
              <a:t>is the same walk from globalSeqNo 1 to the reported end, then the tap, de-duplicating on globalSeqNo.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Promotion rules</a:t>
            </a:r>
          </a:p>
        </p:txBody>
      </p:sp>
      <p:sp>
        <p:nvSpPr>
          <p:cNvPr id="3" name="Text 532"/>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Four triggers, one target rule, all on consensus time</a:t>
            </a:r>
          </a:p>
        </p:txBody>
      </p:sp>
      <p:sp>
        <p:nvSpPr>
          <p:cNvPr id="9034" name="Slide number"/>
          <p:cNvSpPr txBox="1"/>
          <p:nvPr userDrawn="1"/>
        </p:nvSpPr>
        <p:spPr>
          <a:xfrm>
            <a:off x="10728655" y="6400800"/>
            <a:ext cx="914400" cy="274320"/>
          </a:xfrm>
          <a:prstGeom prst="rect">
            <a:avLst/>
          </a:prstGeom>
          <a:noFill/>
        </p:spPr>
        <p:txBody>
          <a:bodyPr wrap="none" lIns="0" tIns="0" rIns="0" bIns="0" anchor="ctr"/>
          <a:lstStyle/>
          <a:p>
            <a:pPr algn="r"/>
            <a:fld id="{ccf3c857-e483-43f5-8bbb-cb9b8e719fec}" type="slidenum">
              <a:rPr lang="en-US" sz="1000" dirty="0">
                <a:solidFill>
                  <a:schemeClr val="accent5"/>
                </a:solidFill>
              </a:rPr>
              <a:t>34</a:t>
            </a:fld>
          </a:p>
        </p:txBody>
      </p:sp>
      <p:sp>
        <p:nvSpPr>
          <p:cNvPr id="9035" name="Trigger 533"/>
          <p:cNvSpPr/>
          <p:nvPr/>
        </p:nvSpPr>
        <p:spPr>
          <a:xfrm>
            <a:off x="548640" y="1691640"/>
            <a:ext cx="2567864"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6" name="Number 534"/>
          <p:cNvSpPr/>
          <p:nvPr/>
        </p:nvSpPr>
        <p:spPr>
          <a:xfrm>
            <a:off x="731520" y="187452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1</a:t>
            </a:r>
          </a:p>
        </p:txBody>
      </p:sp>
      <p:sp>
        <p:nvSpPr>
          <p:cNvPr id="9037" name="Text 535"/>
          <p:cNvSpPr txBox="1"/>
          <p:nvPr/>
        </p:nvSpPr>
        <p:spPr>
          <a:xfrm>
            <a:off x="731520" y="2423160"/>
            <a:ext cx="2202104" cy="411480"/>
          </a:xfrm>
          <a:prstGeom prst="rect">
            <a:avLst/>
          </a:prstGeom>
          <a:noFill/>
        </p:spPr>
        <p:txBody>
          <a:bodyPr wrap="square" anchor="t" lIns="0" rIns="0" tIns="0" bIns="0">
            <a:spAutoFit/>
          </a:bodyPr>
          <a:lstStyle/>
          <a:p>
            <a:pPr algn="l"/>
            <a:r>
              <a:rPr sz="1700" b="1" cap="none">
                <a:solidFill>
                  <a:schemeClr val="tx1"/>
                </a:solidFill>
                <a:latin typeface="+mj-lt"/>
              </a:rPr>
              <a:t>Bootstrap</a:t>
            </a:r>
          </a:p>
        </p:txBody>
      </p:sp>
      <p:sp>
        <p:nvSpPr>
          <p:cNvPr id="9038" name="Text 536"/>
          <p:cNvSpPr txBox="1"/>
          <p:nvPr/>
        </p:nvSpPr>
        <p:spPr>
          <a:xfrm>
            <a:off x="731520" y="2834640"/>
            <a:ext cx="2202104" cy="914400"/>
          </a:xfrm>
          <a:prstGeom prst="rect">
            <a:avLst/>
          </a:prstGeom>
          <a:noFill/>
        </p:spPr>
        <p:txBody>
          <a:bodyPr wrap="square" anchor="t" lIns="0" rIns="0" tIns="0" bIns="0">
            <a:spAutoFit/>
          </a:bodyPr>
          <a:lstStyle/>
          <a:p>
            <a:pPr algn="l"/>
            <a:r>
              <a:rPr sz="1400" b="0">
                <a:solidFill>
                  <a:schemeClr val="tx1"/>
                </a:solidFill>
              </a:rPr>
              <a:t>After the last topology row, each rank-0 instance.</a:t>
            </a:r>
          </a:p>
        </p:txBody>
      </p:sp>
      <p:sp>
        <p:nvSpPr>
          <p:cNvPr id="9039" name="Trigger 537"/>
          <p:cNvSpPr/>
          <p:nvPr/>
        </p:nvSpPr>
        <p:spPr>
          <a:xfrm>
            <a:off x="3390824" y="1691640"/>
            <a:ext cx="2567864"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0" name="Number 538"/>
          <p:cNvSpPr/>
          <p:nvPr/>
        </p:nvSpPr>
        <p:spPr>
          <a:xfrm>
            <a:off x="3573704" y="187452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2</a:t>
            </a:r>
          </a:p>
        </p:txBody>
      </p:sp>
      <p:sp>
        <p:nvSpPr>
          <p:cNvPr id="9041" name="Text 539"/>
          <p:cNvSpPr txBox="1"/>
          <p:nvPr/>
        </p:nvSpPr>
        <p:spPr>
          <a:xfrm>
            <a:off x="3573704" y="2423160"/>
            <a:ext cx="2202104" cy="411480"/>
          </a:xfrm>
          <a:prstGeom prst="rect">
            <a:avLst/>
          </a:prstGeom>
          <a:noFill/>
        </p:spPr>
        <p:txBody>
          <a:bodyPr wrap="square" anchor="t" lIns="0" rIns="0" tIns="0" bIns="0">
            <a:spAutoFit/>
          </a:bodyPr>
          <a:lstStyle/>
          <a:p>
            <a:pPr algn="l"/>
            <a:r>
              <a:rPr sz="1700" b="1" cap="none">
                <a:solidFill>
                  <a:schemeClr val="tx1"/>
                </a:solidFill>
                <a:latin typeface="+mj-lt"/>
              </a:rPr>
              <a:t>Session close</a:t>
            </a:r>
          </a:p>
        </p:txBody>
      </p:sp>
      <p:sp>
        <p:nvSpPr>
          <p:cNvPr id="9042" name="Text 540"/>
          <p:cNvSpPr txBox="1"/>
          <p:nvPr/>
        </p:nvSpPr>
        <p:spPr>
          <a:xfrm>
            <a:off x="3573704" y="2834640"/>
            <a:ext cx="2202104" cy="914400"/>
          </a:xfrm>
          <a:prstGeom prst="rect">
            <a:avLst/>
          </a:prstGeom>
          <a:noFill/>
        </p:spPr>
        <p:txBody>
          <a:bodyPr wrap="square" anchor="t" lIns="0" rIns="0" tIns="0" bIns="0">
            <a:spAutoFit/>
          </a:bodyPr>
          <a:lstStyle/>
          <a:p>
            <a:pPr algn="l"/>
            <a:r>
              <a:rPr sz="1400" b="0">
                <a:solidFill>
                  <a:schemeClr val="tx1"/>
                </a:solidFill>
              </a:rPr>
              <a:t>The designated instance's bound session closes.</a:t>
            </a:r>
          </a:p>
        </p:txBody>
      </p:sp>
      <p:sp>
        <p:nvSpPr>
          <p:cNvPr id="9043" name="Trigger 541"/>
          <p:cNvSpPr/>
          <p:nvPr/>
        </p:nvSpPr>
        <p:spPr>
          <a:xfrm>
            <a:off x="6233008" y="1691640"/>
            <a:ext cx="2567864"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4" name="Number 542"/>
          <p:cNvSpPr/>
          <p:nvPr/>
        </p:nvSpPr>
        <p:spPr>
          <a:xfrm>
            <a:off x="6415888" y="187452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3</a:t>
            </a:r>
          </a:p>
        </p:txBody>
      </p:sp>
      <p:sp>
        <p:nvSpPr>
          <p:cNvPr id="9045" name="Text 543"/>
          <p:cNvSpPr txBox="1"/>
          <p:nvPr/>
        </p:nvSpPr>
        <p:spPr>
          <a:xfrm>
            <a:off x="6415888" y="2423160"/>
            <a:ext cx="2202104" cy="411480"/>
          </a:xfrm>
          <a:prstGeom prst="rect">
            <a:avLst/>
          </a:prstGeom>
          <a:noFill/>
        </p:spPr>
        <p:txBody>
          <a:bodyPr wrap="square" anchor="t" lIns="0" rIns="0" tIns="0" bIns="0">
            <a:spAutoFit/>
          </a:bodyPr>
          <a:lstStyle/>
          <a:p>
            <a:pPr algn="l"/>
            <a:r>
              <a:rPr sz="1700" b="1" cap="none">
                <a:solidFill>
                  <a:schemeClr val="tx1"/>
                </a:solidFill>
                <a:latin typeface="+mj-lt"/>
              </a:rPr>
              <a:t>Activation timeout</a:t>
            </a:r>
          </a:p>
        </p:txBody>
      </p:sp>
      <p:sp>
        <p:nvSpPr>
          <p:cNvPr id="9046" name="Text 544"/>
          <p:cNvSpPr txBox="1"/>
          <p:nvPr/>
        </p:nvSpPr>
        <p:spPr>
          <a:xfrm>
            <a:off x="6415888" y="2834640"/>
            <a:ext cx="2202104" cy="914400"/>
          </a:xfrm>
          <a:prstGeom prst="rect">
            <a:avLst/>
          </a:prstGeom>
          <a:noFill/>
        </p:spPr>
        <p:txBody>
          <a:bodyPr wrap="square" anchor="t" lIns="0" rIns="0" tIns="0" bIns="0">
            <a:spAutoFit/>
          </a:bodyPr>
          <a:lstStyle/>
          <a:p>
            <a:pPr algn="l"/>
            <a:r>
              <a:rPr sz="1400" b="0">
                <a:solidFill>
                  <a:schemeClr val="tx1"/>
                </a:solidFill>
              </a:rPr>
              <a:t>No GatewayStarted within 5 s of consensus time.</a:t>
            </a:r>
          </a:p>
        </p:txBody>
      </p:sp>
      <p:sp>
        <p:nvSpPr>
          <p:cNvPr id="9047" name="Trigger 545"/>
          <p:cNvSpPr/>
          <p:nvPr/>
        </p:nvSpPr>
        <p:spPr>
          <a:xfrm>
            <a:off x="9075191" y="1691640"/>
            <a:ext cx="2567864"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8" name="Number 546"/>
          <p:cNvSpPr/>
          <p:nvPr/>
        </p:nvSpPr>
        <p:spPr>
          <a:xfrm>
            <a:off x="9258071" y="187452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chemeClr val="bg1"/>
                </a:solidFill>
              </a:rPr>
              <a:t>4</a:t>
            </a:r>
          </a:p>
        </p:txBody>
      </p:sp>
      <p:sp>
        <p:nvSpPr>
          <p:cNvPr id="9049" name="Text 547"/>
          <p:cNvSpPr txBox="1"/>
          <p:nvPr/>
        </p:nvSpPr>
        <p:spPr>
          <a:xfrm>
            <a:off x="9258071" y="2423160"/>
            <a:ext cx="2202104" cy="411480"/>
          </a:xfrm>
          <a:prstGeom prst="rect">
            <a:avLst/>
          </a:prstGeom>
          <a:noFill/>
        </p:spPr>
        <p:txBody>
          <a:bodyPr wrap="square" anchor="t" lIns="0" rIns="0" tIns="0" bIns="0">
            <a:spAutoFit/>
          </a:bodyPr>
          <a:lstStyle/>
          <a:p>
            <a:pPr algn="l"/>
            <a:r>
              <a:rPr sz="1700" b="1" cap="none">
                <a:solidFill>
                  <a:schemeClr val="tx1"/>
                </a:solidFill>
                <a:latin typeface="+mj-lt"/>
              </a:rPr>
              <a:t>Operator</a:t>
            </a:r>
          </a:p>
        </p:txBody>
      </p:sp>
      <p:sp>
        <p:nvSpPr>
          <p:cNvPr id="9050" name="Text 548"/>
          <p:cNvSpPr txBox="1"/>
          <p:nvPr/>
        </p:nvSpPr>
        <p:spPr>
          <a:xfrm>
            <a:off x="9258071" y="2834640"/>
            <a:ext cx="2202104" cy="914400"/>
          </a:xfrm>
          <a:prstGeom prst="rect">
            <a:avLst/>
          </a:prstGeom>
          <a:noFill/>
        </p:spPr>
        <p:txBody>
          <a:bodyPr wrap="square" anchor="t" lIns="0" rIns="0" tIns="0" bIns="0">
            <a:spAutoFit/>
          </a:bodyPr>
          <a:lstStyle/>
          <a:p>
            <a:pPr algn="l"/>
            <a:r>
              <a:rPr sz="1400" b="0">
                <a:solidFill>
                  <a:schemeClr val="tx1"/>
                </a:solidFill>
              </a:rPr>
              <a:t>clusterctl activate names an instance directly.</a:t>
            </a:r>
          </a:p>
        </p:txBody>
      </p:sp>
      <p:sp>
        <p:nvSpPr>
          <p:cNvPr id="9051" name="Text 549"/>
          <p:cNvSpPr txBox="1"/>
          <p:nvPr/>
        </p:nvSpPr>
        <p:spPr>
          <a:xfrm>
            <a:off x="548640" y="3977640"/>
            <a:ext cx="11094415" cy="365760"/>
          </a:xfrm>
          <a:prstGeom prst="rect">
            <a:avLst/>
          </a:prstGeom>
          <a:noFill/>
        </p:spPr>
        <p:txBody>
          <a:bodyPr wrap="square" anchor="t" lIns="0" rIns="0" tIns="0" bIns="0">
            <a:spAutoFit/>
          </a:bodyPr>
          <a:lstStyle/>
          <a:p>
            <a:pPr algn="l"/>
            <a:r>
              <a:rPr sz="1500" b="1">
                <a:solidFill>
                  <a:schemeClr val="tx1"/>
                </a:solidFill>
              </a:rPr>
              <a:t>Target: </a:t>
            </a:r>
            <a:r>
              <a:rPr sz="1500" b="0">
                <a:solidFill>
                  <a:schemeClr val="tx1"/>
                </a:solidFill>
              </a:rPr>
              <a:t>lowest rank among siblings, excluding the instance that lost the role.</a:t>
            </a:r>
          </a:p>
        </p:txBody>
      </p:sp>
      <p:sp>
        <p:nvSpPr>
          <p:cNvPr id="9052" name="Card 550"/>
          <p:cNvSpPr/>
          <p:nvPr/>
        </p:nvSpPr>
        <p:spPr>
          <a:xfrm>
            <a:off x="548640" y="4526280"/>
            <a:ext cx="5394960" cy="1554480"/>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700" b="1" cap="none">
                <a:solidFill>
                  <a:schemeClr val="tx1"/>
                </a:solidFill>
                <a:latin typeface="+mj-lt"/>
              </a:rPr>
              <a:t>Superseded → standby</a:t>
            </a:r>
          </a:p>
          <a:p>
            <a:pPr algn="l"/>
            <a:r>
              <a:rPr sz="1400" b="0">
                <a:solidFill>
                  <a:schemeClr val="tx1"/>
                </a:solidFill>
              </a:rPr>
              <a:t>Closes its edge, keeps its session, keeps following the tap. Nothing it sends is sequenced. Can be designated again.</a:t>
            </a:r>
          </a:p>
        </p:txBody>
      </p:sp>
      <p:sp>
        <p:nvSpPr>
          <p:cNvPr id="9053" name="Card 551"/>
          <p:cNvSpPr/>
          <p:nvPr/>
        </p:nvSpPr>
        <p:spPr>
          <a:xfrm>
            <a:off x="6245352" y="4526280"/>
            <a:ext cx="5394960" cy="155448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700" b="1" cap="none">
                <a:solidFill>
                  <a:schemeClr val="accent2"/>
                </a:solidFill>
                <a:latin typeface="+mj-lt"/>
              </a:rPr>
              <a:t>Fenced → session released</a:t>
            </a:r>
          </a:p>
          <a:p>
            <a:pPr algn="l"/>
            <a:r>
              <a:rPr sz="1400" b="0">
                <a:solidFill>
                  <a:schemeClr val="tx1"/>
                </a:solidFill>
              </a:rPr>
              <a:t>Its view of the log can no longer be trusted. Reports once, releases its session, does nothing more; the standby is promoted at the fence.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Applications: cluster member local or remote</a:t>
            </a:r>
          </a:p>
        </p:txBody>
      </p:sp>
      <p:sp>
        <p:nvSpPr>
          <p:cNvPr id="3" name="Text 552"/>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Each application follows its own member's tap; only the leader's publishes</a:t>
            </a:r>
          </a:p>
        </p:txBody>
      </p:sp>
      <p:sp>
        <p:nvSpPr>
          <p:cNvPr id="9035" name="Slide number"/>
          <p:cNvSpPr txBox="1"/>
          <p:nvPr userDrawn="1"/>
        </p:nvSpPr>
        <p:spPr>
          <a:xfrm>
            <a:off x="10728655" y="6400800"/>
            <a:ext cx="914400" cy="274320"/>
          </a:xfrm>
          <a:prstGeom prst="rect">
            <a:avLst/>
          </a:prstGeom>
          <a:noFill/>
        </p:spPr>
        <p:txBody>
          <a:bodyPr wrap="none" lIns="0" tIns="0" rIns="0" bIns="0" anchor="ctr"/>
          <a:lstStyle/>
          <a:p>
            <a:pPr algn="r"/>
            <a:fld id="{13e65e12-2be6-4bae-956c-85a8cc466a81}" type="slidenum">
              <a:rPr lang="en-US" sz="1000" dirty="0">
                <a:solidFill>
                  <a:schemeClr val="accent5"/>
                </a:solidFill>
              </a:rPr>
              <a:t>35</a:t>
            </a:fld>
          </a:p>
        </p:txBody>
      </p:sp>
      <p:sp>
        <p:nvSpPr>
          <p:cNvPr id="9036" name="Member 553"/>
          <p:cNvSpPr/>
          <p:nvPr/>
        </p:nvSpPr>
        <p:spPr>
          <a:xfrm>
            <a:off x="548640" y="1783080"/>
            <a:ext cx="3017520" cy="960120"/>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7" name="Text 554"/>
          <p:cNvSpPr txBox="1"/>
          <p:nvPr/>
        </p:nvSpPr>
        <p:spPr>
          <a:xfrm>
            <a:off x="658368" y="1819656"/>
            <a:ext cx="2743200" cy="274320"/>
          </a:xfrm>
          <a:prstGeom prst="rect">
            <a:avLst/>
          </a:prstGeom>
          <a:noFill/>
        </p:spPr>
        <p:txBody>
          <a:bodyPr wrap="square" anchor="t" lIns="0" rIns="0" tIns="0" bIns="0">
            <a:spAutoFit/>
          </a:bodyPr>
          <a:lstStyle/>
          <a:p>
            <a:pPr algn="l"/>
            <a:r>
              <a:rPr sz="1000" b="1">
                <a:solidFill>
                  <a:schemeClr val="accent5"/>
                </a:solidFill>
              </a:rPr>
              <a:t>MEMBER 0 · LEADER</a:t>
            </a:r>
          </a:p>
        </p:txBody>
      </p:sp>
      <p:sp>
        <p:nvSpPr>
          <p:cNvPr id="9038" name="Box 555"/>
          <p:cNvSpPr/>
          <p:nvPr/>
        </p:nvSpPr>
        <p:spPr>
          <a:xfrm>
            <a:off x="685800" y="2103120"/>
            <a:ext cx="1143000" cy="502920"/>
          </a:xfrm>
          <a:prstGeom prst="rect">
            <a:avLst/>
          </a:prstGeom>
          <a:solidFill>
            <a:schemeClr val="bg1"/>
          </a:solidFill>
          <a:ln w="317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Application</a:t>
            </a:r>
          </a:p>
          <a:p>
            <a:pPr algn="ctr"/>
            <a:r>
              <a:rPr sz="1000" b="0">
                <a:solidFill>
                  <a:schemeClr val="accent5"/>
                </a:solidFill>
              </a:rPr>
              <a:t>publishes</a:t>
            </a:r>
          </a:p>
        </p:txBody>
      </p:sp>
      <p:sp>
        <p:nvSpPr>
          <p:cNvPr id="9039" name="Box 556"/>
          <p:cNvSpPr/>
          <p:nvPr/>
        </p:nvSpPr>
        <p:spPr>
          <a:xfrm>
            <a:off x="2286000" y="2103120"/>
            <a:ext cx="1143000" cy="50292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Sequencer</a:t>
            </a:r>
          </a:p>
        </p:txBody>
      </p:sp>
      <p:cxnSp>
        <p:nvCxnSpPr>
          <p:cNvPr id="9040" name="Arrow 557"/>
          <p:cNvCxnSpPr/>
          <p:nvPr/>
        </p:nvCxnSpPr>
        <p:spPr>
          <a:xfrm flipH="1">
            <a:off x="1828800" y="2286000"/>
            <a:ext cx="45720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41" name="Arrow 558"/>
          <p:cNvCxnSpPr/>
          <p:nvPr/>
        </p:nvCxnSpPr>
        <p:spPr>
          <a:xfrm>
            <a:off x="1828800" y="2468880"/>
            <a:ext cx="45720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42" name="Member 559"/>
          <p:cNvSpPr/>
          <p:nvPr/>
        </p:nvSpPr>
        <p:spPr>
          <a:xfrm>
            <a:off x="548640" y="2880360"/>
            <a:ext cx="3017520" cy="960120"/>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3" name="Text 560"/>
          <p:cNvSpPr txBox="1"/>
          <p:nvPr/>
        </p:nvSpPr>
        <p:spPr>
          <a:xfrm>
            <a:off x="658368" y="2916936"/>
            <a:ext cx="2743200" cy="274320"/>
          </a:xfrm>
          <a:prstGeom prst="rect">
            <a:avLst/>
          </a:prstGeom>
          <a:noFill/>
        </p:spPr>
        <p:txBody>
          <a:bodyPr wrap="square" anchor="t" lIns="0" rIns="0" tIns="0" bIns="0">
            <a:spAutoFit/>
          </a:bodyPr>
          <a:lstStyle/>
          <a:p>
            <a:pPr algn="l"/>
            <a:r>
              <a:rPr sz="1000" b="1">
                <a:solidFill>
                  <a:schemeClr val="accent5"/>
                </a:solidFill>
              </a:rPr>
              <a:t>MEMBER 1</a:t>
            </a:r>
          </a:p>
        </p:txBody>
      </p:sp>
      <p:sp>
        <p:nvSpPr>
          <p:cNvPr id="9044" name="Box 561"/>
          <p:cNvSpPr/>
          <p:nvPr/>
        </p:nvSpPr>
        <p:spPr>
          <a:xfrm>
            <a:off x="685800" y="3200400"/>
            <a:ext cx="1143000" cy="50292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Application</a:t>
            </a:r>
          </a:p>
          <a:p>
            <a:pPr algn="ctr"/>
            <a:r>
              <a:rPr sz="1000" b="0">
                <a:solidFill>
                  <a:schemeClr val="accent5"/>
                </a:solidFill>
              </a:rPr>
              <a:t>follows</a:t>
            </a:r>
          </a:p>
        </p:txBody>
      </p:sp>
      <p:sp>
        <p:nvSpPr>
          <p:cNvPr id="9045" name="Box 562"/>
          <p:cNvSpPr/>
          <p:nvPr/>
        </p:nvSpPr>
        <p:spPr>
          <a:xfrm>
            <a:off x="2286000" y="3200400"/>
            <a:ext cx="1143000" cy="50292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Sequencer</a:t>
            </a:r>
          </a:p>
        </p:txBody>
      </p:sp>
      <p:cxnSp>
        <p:nvCxnSpPr>
          <p:cNvPr id="9046" name="Arrow 563"/>
          <p:cNvCxnSpPr/>
          <p:nvPr/>
        </p:nvCxnSpPr>
        <p:spPr>
          <a:xfrm flipH="1">
            <a:off x="1828800" y="3383280"/>
            <a:ext cx="45720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47" name="Member 564"/>
          <p:cNvSpPr/>
          <p:nvPr/>
        </p:nvSpPr>
        <p:spPr>
          <a:xfrm>
            <a:off x="548640" y="3977640"/>
            <a:ext cx="3017520" cy="960120"/>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8" name="Text 565"/>
          <p:cNvSpPr txBox="1"/>
          <p:nvPr/>
        </p:nvSpPr>
        <p:spPr>
          <a:xfrm>
            <a:off x="658368" y="4014216"/>
            <a:ext cx="2743200" cy="274320"/>
          </a:xfrm>
          <a:prstGeom prst="rect">
            <a:avLst/>
          </a:prstGeom>
          <a:noFill/>
        </p:spPr>
        <p:txBody>
          <a:bodyPr wrap="square" anchor="t" lIns="0" rIns="0" tIns="0" bIns="0">
            <a:spAutoFit/>
          </a:bodyPr>
          <a:lstStyle/>
          <a:p>
            <a:pPr algn="l"/>
            <a:r>
              <a:rPr sz="1000" b="1">
                <a:solidFill>
                  <a:schemeClr val="accent5"/>
                </a:solidFill>
              </a:rPr>
              <a:t>MEMBER 2</a:t>
            </a:r>
          </a:p>
        </p:txBody>
      </p:sp>
      <p:sp>
        <p:nvSpPr>
          <p:cNvPr id="9049" name="Box 566"/>
          <p:cNvSpPr/>
          <p:nvPr/>
        </p:nvSpPr>
        <p:spPr>
          <a:xfrm>
            <a:off x="685800" y="4297680"/>
            <a:ext cx="1143000" cy="50292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Application</a:t>
            </a:r>
          </a:p>
          <a:p>
            <a:pPr algn="ctr"/>
            <a:r>
              <a:rPr sz="1000" b="0">
                <a:solidFill>
                  <a:schemeClr val="accent5"/>
                </a:solidFill>
              </a:rPr>
              <a:t>follows</a:t>
            </a:r>
          </a:p>
        </p:txBody>
      </p:sp>
      <p:sp>
        <p:nvSpPr>
          <p:cNvPr id="9050" name="Box 567"/>
          <p:cNvSpPr/>
          <p:nvPr/>
        </p:nvSpPr>
        <p:spPr>
          <a:xfrm>
            <a:off x="2286000" y="4297680"/>
            <a:ext cx="1143000" cy="50292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Sequencer</a:t>
            </a:r>
          </a:p>
        </p:txBody>
      </p:sp>
      <p:cxnSp>
        <p:nvCxnSpPr>
          <p:cNvPr id="9051" name="Arrow 568"/>
          <p:cNvCxnSpPr/>
          <p:nvPr/>
        </p:nvCxnSpPr>
        <p:spPr>
          <a:xfrm flipH="1">
            <a:off x="1828800" y="4480560"/>
            <a:ext cx="45720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2" name="Application host 569"/>
          <p:cNvSpPr/>
          <p:nvPr/>
        </p:nvSpPr>
        <p:spPr>
          <a:xfrm>
            <a:off x="4389120" y="1783080"/>
            <a:ext cx="3017520" cy="2057400"/>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3" name="Text 570"/>
          <p:cNvSpPr txBox="1"/>
          <p:nvPr/>
        </p:nvSpPr>
        <p:spPr>
          <a:xfrm>
            <a:off x="4498848" y="1819656"/>
            <a:ext cx="2743200" cy="274320"/>
          </a:xfrm>
          <a:prstGeom prst="rect">
            <a:avLst/>
          </a:prstGeom>
          <a:noFill/>
        </p:spPr>
        <p:txBody>
          <a:bodyPr wrap="square" anchor="t" lIns="0" rIns="0" tIns="0" bIns="0">
            <a:spAutoFit/>
          </a:bodyPr>
          <a:lstStyle/>
          <a:p>
            <a:pPr algn="l"/>
            <a:r>
              <a:rPr sz="1000" b="1">
                <a:solidFill>
                  <a:schemeClr val="accent5"/>
                </a:solidFill>
              </a:rPr>
              <a:t>REMOTE APPLICATION HOST</a:t>
            </a:r>
          </a:p>
        </p:txBody>
      </p:sp>
      <p:sp>
        <p:nvSpPr>
          <p:cNvPr id="9054" name="Box 571"/>
          <p:cNvSpPr/>
          <p:nvPr/>
        </p:nvSpPr>
        <p:spPr>
          <a:xfrm>
            <a:off x="4526280" y="2103120"/>
            <a:ext cx="2743200" cy="59436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Application</a:t>
            </a:r>
          </a:p>
          <a:p>
            <a:pPr algn="ctr"/>
            <a:r>
              <a:rPr sz="1000" b="0">
                <a:solidFill>
                  <a:schemeClr val="accent5"/>
                </a:solidFill>
              </a:rPr>
              <a:t>one instance · gate open once caught up</a:t>
            </a:r>
          </a:p>
        </p:txBody>
      </p:sp>
      <p:sp>
        <p:nvSpPr>
          <p:cNvPr id="9055" name="Box 572"/>
          <p:cNvSpPr/>
          <p:nvPr/>
        </p:nvSpPr>
        <p:spPr>
          <a:xfrm>
            <a:off x="4526280" y="3063240"/>
            <a:ext cx="2743200" cy="59436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chemeClr val="tx1"/>
                </a:solidFill>
              </a:rPr>
              <a:t>ReplayerService</a:t>
            </a:r>
          </a:p>
          <a:p>
            <a:pPr algn="ctr"/>
            <a:r>
              <a:rPr sz="1000" b="0">
                <a:solidFill>
                  <a:schemeClr val="accent5"/>
                </a:solidFill>
              </a:rPr>
              <a:t>local · TapRelay: the host's own tap</a:t>
            </a:r>
          </a:p>
        </p:txBody>
      </p:sp>
      <p:cxnSp>
        <p:nvCxnSpPr>
          <p:cNvPr id="9056" name="Arrow 573"/>
          <p:cNvCxnSpPr/>
          <p:nvPr/>
        </p:nvCxnSpPr>
        <p:spPr>
          <a:xfrm flipV="1">
            <a:off x="5897880" y="2697480"/>
            <a:ext cx="0" cy="36576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57" name="Arrow 574"/>
          <p:cNvCxnSpPr/>
          <p:nvPr/>
        </p:nvCxnSpPr>
        <p:spPr>
          <a:xfrm flipH="1">
            <a:off x="3566160" y="2395728"/>
            <a:ext cx="9601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8" name="Text 575"/>
          <p:cNvSpPr txBox="1"/>
          <p:nvPr/>
        </p:nvSpPr>
        <p:spPr>
          <a:xfrm>
            <a:off x="3566160" y="2130552"/>
            <a:ext cx="822960" cy="228600"/>
          </a:xfrm>
          <a:prstGeom prst="rect">
            <a:avLst/>
          </a:prstGeom>
          <a:noFill/>
        </p:spPr>
        <p:txBody>
          <a:bodyPr wrap="square" anchor="t" lIns="0" rIns="0" tIns="0" bIns="0">
            <a:spAutoFit/>
          </a:bodyPr>
          <a:lstStyle/>
          <a:p>
            <a:pPr algn="ctr"/>
            <a:r>
              <a:rPr sz="1000" b="0">
                <a:solidFill>
                  <a:schemeClr val="accent5"/>
                </a:solidFill>
              </a:rPr>
              <a:t>UDP ingress</a:t>
            </a:r>
          </a:p>
        </p:txBody>
      </p:sp>
      <p:cxnSp>
        <p:nvCxnSpPr>
          <p:cNvPr id="9059" name="Arrow 576"/>
          <p:cNvCxnSpPr/>
          <p:nvPr/>
        </p:nvCxnSpPr>
        <p:spPr>
          <a:xfrm>
            <a:off x="3566160" y="3355848"/>
            <a:ext cx="96012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0" name="Text 577"/>
          <p:cNvSpPr txBox="1"/>
          <p:nvPr/>
        </p:nvSpPr>
        <p:spPr>
          <a:xfrm>
            <a:off x="3566160" y="3090672"/>
            <a:ext cx="822960" cy="228600"/>
          </a:xfrm>
          <a:prstGeom prst="rect">
            <a:avLst/>
          </a:prstGeom>
          <a:noFill/>
        </p:spPr>
        <p:txBody>
          <a:bodyPr wrap="square" anchor="t" lIns="0" rIns="0" tIns="0" bIns="0">
            <a:spAutoFit/>
          </a:bodyPr>
          <a:lstStyle/>
          <a:p>
            <a:pPr algn="ctr"/>
            <a:r>
              <a:rPr sz="1000" b="0">
                <a:solidFill>
                  <a:schemeClr val="accent1"/>
                </a:solidFill>
              </a:rPr>
              <a:t>replay</a:t>
            </a:r>
          </a:p>
        </p:txBody>
      </p:sp>
      <p:sp>
        <p:nvSpPr>
          <p:cNvPr id="9061" name="Text 578"/>
          <p:cNvSpPr txBox="1"/>
          <p:nvPr/>
        </p:nvSpPr>
        <p:spPr>
          <a:xfrm>
            <a:off x="548640" y="5257800"/>
            <a:ext cx="6858000" cy="731520"/>
          </a:xfrm>
          <a:prstGeom prst="rect">
            <a:avLst/>
          </a:prstGeom>
          <a:noFill/>
        </p:spPr>
        <p:txBody>
          <a:bodyPr wrap="square" anchor="t" lIns="0" rIns="0" tIns="0" bIns="0">
            <a:spAutoFit/>
          </a:bodyPr>
          <a:lstStyle/>
          <a:p>
            <a:pPr algn="l">
              <a:spcAft>
                <a:spcPts val="200"/>
              </a:spcAft>
            </a:pPr>
            <a:r>
              <a:rPr sz="1200" b="0">
                <a:solidFill>
                  <a:schemeClr val="accent5"/>
                </a:solidFill>
              </a:rPr>
              <a:t>Teal: the tap, live.</a:t>
            </a:r>
          </a:p>
          <a:p>
            <a:pPr algn="l">
              <a:spcAft>
                <a:spcPts val="200"/>
              </a:spcAft>
            </a:pPr>
            <a:r>
              <a:rPr sz="1200" b="0">
                <a:solidFill>
                  <a:schemeClr val="accent5"/>
                </a:solidFill>
              </a:rPr>
              <a:t>Black: ingress, IPC from the application on the leader and UDP from the remote host.</a:t>
            </a:r>
          </a:p>
        </p:txBody>
      </p:sp>
      <p:sp>
        <p:nvSpPr>
          <p:cNvPr id="9062" name="Text 579"/>
          <p:cNvSpPr txBox="1"/>
          <p:nvPr/>
        </p:nvSpPr>
        <p:spPr>
          <a:xfrm>
            <a:off x="7863840" y="1783080"/>
            <a:ext cx="3776472" cy="4114800"/>
          </a:xfrm>
          <a:prstGeom prst="rect">
            <a:avLst/>
          </a:prstGeom>
          <a:noFill/>
        </p:spPr>
        <p:txBody>
          <a:bodyPr wrap="square" anchor="t" lIns="0" rIns="0" tIns="0" bIns="0">
            <a:spAutoFit/>
          </a:bodyPr>
          <a:lstStyle/>
          <a:p>
            <a:pPr algn="l" marL="228600" indent="-228600">
              <a:spcAft>
                <a:spcPts val="1000"/>
              </a:spcAft>
              <a:buClr>
                <a:schemeClr val="accent1"/>
              </a:buClr>
              <a:buChar char="•"/>
            </a:pPr>
            <a:r>
              <a:rPr sz="1500" b="0">
                <a:solidFill>
                  <a:schemeClr val="tx1"/>
                </a:solidFill>
              </a:rPr>
              <a:t>An application on every member; a member hosts several</a:t>
            </a:r>
          </a:p>
          <a:p>
            <a:pPr algn="l" marL="228600" indent="-228600">
              <a:spcAft>
                <a:spcPts val="1000"/>
              </a:spcAft>
              <a:buClr>
                <a:schemeClr val="accent1"/>
              </a:buClr>
              <a:buChar char="•"/>
            </a:pPr>
            <a:r>
              <a:rPr sz="1500" b="0">
                <a:solidFill>
                  <a:schemeClr val="tx1"/>
                </a:solidFill>
              </a:rPr>
              <a:t>Every application follows its own member's tap and holds the same state</a:t>
            </a:r>
          </a:p>
          <a:p>
            <a:pPr algn="l" marL="228600" indent="-228600">
              <a:spcAft>
                <a:spcPts val="1000"/>
              </a:spcAft>
              <a:buClr>
                <a:schemeClr val="accent1"/>
              </a:buClr>
              <a:buChar char="•"/>
            </a:pPr>
            <a:r>
              <a:rPr sz="1500" b="0">
                <a:solidFill>
                  <a:schemeClr val="tx1"/>
                </a:solidFill>
              </a:rPr>
              <a:t>Only the application on the leader publishes; every LeadershipChanged closes its gate</a:t>
            </a:r>
          </a:p>
          <a:p>
            <a:pPr algn="l" marL="228600" indent="-228600">
              <a:buClr>
                <a:schemeClr val="accent1"/>
              </a:buClr>
              <a:buChar char="•"/>
            </a:pPr>
            <a:r>
              <a:rPr sz="1500" b="0">
                <a:solidFill>
                  <a:schemeClr val="tx1"/>
                </a:solidFill>
              </a:rPr>
              <a:t>Remote: one instance on its own host, beside a local ReplayerService; UDP ingress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Leader-only work, through the log</a:t>
            </a:r>
          </a:p>
        </p:txBody>
      </p:sp>
      <p:sp>
        <p:nvSpPr>
          <p:cNvPr id="3" name="Text 580"/>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Outstanding work is replicated; dispatch is local</a:t>
            </a:r>
          </a:p>
        </p:txBody>
      </p:sp>
      <p:sp>
        <p:nvSpPr>
          <p:cNvPr id="9036" name="Slide number"/>
          <p:cNvSpPr txBox="1"/>
          <p:nvPr userDrawn="1"/>
        </p:nvSpPr>
        <p:spPr>
          <a:xfrm>
            <a:off x="10728655" y="6400800"/>
            <a:ext cx="914400" cy="274320"/>
          </a:xfrm>
          <a:prstGeom prst="rect">
            <a:avLst/>
          </a:prstGeom>
          <a:noFill/>
        </p:spPr>
        <p:txBody>
          <a:bodyPr wrap="none" lIns="0" tIns="0" rIns="0" bIns="0" anchor="ctr"/>
          <a:lstStyle/>
          <a:p>
            <a:pPr algn="r"/>
            <a:fld id="{f67d72a3-bd55-45e9-8b47-1bbb4f6c13e6}" type="slidenum">
              <a:rPr lang="en-US" sz="1000" dirty="0">
                <a:solidFill>
                  <a:schemeClr val="accent5"/>
                </a:solidFill>
              </a:rPr>
              <a:t>36</a:t>
            </a:fld>
          </a:p>
        </p:txBody>
      </p:sp>
      <p:sp>
        <p:nvSpPr>
          <p:cNvPr id="9037" name="Host 581"/>
          <p:cNvSpPr/>
          <p:nvPr/>
        </p:nvSpPr>
        <p:spPr>
          <a:xfrm>
            <a:off x="664207" y="2941282"/>
            <a:ext cx="1386802" cy="577834"/>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t" tIns="73152" lIns="109728" rIns="109728"/>
          <a:lstStyle/>
          <a:p>
            <a:pPr algn="ctr"/>
            <a:r>
              <a:rPr sz="1100" b="1">
                <a:solidFill>
                  <a:schemeClr val="accent5"/>
                </a:solidFill>
              </a:rPr>
              <a:t>EXTERNAL</a:t>
            </a:r>
          </a:p>
        </p:txBody>
      </p:sp>
      <p:sp>
        <p:nvSpPr>
          <p:cNvPr id="9038" name="Box 582"/>
          <p:cNvSpPr/>
          <p:nvPr/>
        </p:nvSpPr>
        <p:spPr>
          <a:xfrm>
            <a:off x="2513276" y="2941282"/>
            <a:ext cx="1733502" cy="57783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Gateway</a:t>
            </a:r>
          </a:p>
          <a:p>
            <a:pPr algn="ctr"/>
            <a:r>
              <a:rPr sz="1000" b="0">
                <a:solidFill>
                  <a:schemeClr val="accent5"/>
                </a:solidFill>
              </a:rPr>
              <a:t>active instance</a:t>
            </a:r>
          </a:p>
        </p:txBody>
      </p:sp>
      <p:cxnSp>
        <p:nvCxnSpPr>
          <p:cNvPr id="9039" name="Arrow 583"/>
          <p:cNvCxnSpPr/>
          <p:nvPr/>
        </p:nvCxnSpPr>
        <p:spPr>
          <a:xfrm>
            <a:off x="2051009" y="3149302"/>
            <a:ext cx="462267"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40" name="Arrow 584"/>
          <p:cNvCxnSpPr/>
          <p:nvPr/>
        </p:nvCxnSpPr>
        <p:spPr>
          <a:xfrm flipH="1">
            <a:off x="2051009" y="3334209"/>
            <a:ext cx="462267"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41" name="Box 585"/>
          <p:cNvSpPr/>
          <p:nvPr/>
        </p:nvSpPr>
        <p:spPr>
          <a:xfrm>
            <a:off x="4709046" y="2941282"/>
            <a:ext cx="1271235" cy="57783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seq N</a:t>
            </a:r>
          </a:p>
          <a:p>
            <a:pPr algn="ctr"/>
            <a:r>
              <a:rPr sz="1000" b="0">
                <a:solidFill>
                  <a:schemeClr val="accent5"/>
                </a:solidFill>
              </a:rPr>
              <a:t>request</a:t>
            </a:r>
          </a:p>
        </p:txBody>
      </p:sp>
      <p:cxnSp>
        <p:nvCxnSpPr>
          <p:cNvPr id="9042" name="Arrow 586"/>
          <p:cNvCxnSpPr/>
          <p:nvPr/>
        </p:nvCxnSpPr>
        <p:spPr>
          <a:xfrm>
            <a:off x="4246778" y="3230199"/>
            <a:ext cx="462268"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43" name="Box 587"/>
          <p:cNvSpPr/>
          <p:nvPr/>
        </p:nvSpPr>
        <p:spPr>
          <a:xfrm>
            <a:off x="6442548" y="2016747"/>
            <a:ext cx="2080203" cy="57783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Application · member 0</a:t>
            </a:r>
          </a:p>
          <a:p>
            <a:pPr algn="ctr"/>
            <a:r>
              <a:rPr sz="1000" b="0">
                <a:solidFill>
                  <a:schemeClr val="accent5"/>
                </a:solidFill>
              </a:rPr>
              <a:t>outstanding: N</a:t>
            </a:r>
          </a:p>
        </p:txBody>
      </p:sp>
      <p:sp>
        <p:nvSpPr>
          <p:cNvPr id="9044" name="Box 588"/>
          <p:cNvSpPr/>
          <p:nvPr/>
        </p:nvSpPr>
        <p:spPr>
          <a:xfrm>
            <a:off x="6442548" y="2941282"/>
            <a:ext cx="2080203" cy="577834"/>
          </a:xfrm>
          <a:prstGeom prst="rect">
            <a:avLst/>
          </a:prstGeom>
          <a:solidFill>
            <a:schemeClr val="bg1"/>
          </a:solidFill>
          <a:ln w="317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Application · member 1</a:t>
            </a:r>
          </a:p>
          <a:p>
            <a:pPr algn="ctr"/>
            <a:r>
              <a:rPr sz="1000" b="0">
                <a:solidFill>
                  <a:schemeClr val="accent5"/>
                </a:solidFill>
              </a:rPr>
              <a:t>leader: reply(requester, conn)</a:t>
            </a:r>
          </a:p>
        </p:txBody>
      </p:sp>
      <p:sp>
        <p:nvSpPr>
          <p:cNvPr id="9045" name="Box 589"/>
          <p:cNvSpPr/>
          <p:nvPr/>
        </p:nvSpPr>
        <p:spPr>
          <a:xfrm>
            <a:off x="6442548" y="3865816"/>
            <a:ext cx="2080203" cy="57783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Application · member 2</a:t>
            </a:r>
          </a:p>
          <a:p>
            <a:pPr algn="ctr"/>
            <a:r>
              <a:rPr sz="1000" b="0">
                <a:solidFill>
                  <a:schemeClr val="accent5"/>
                </a:solidFill>
              </a:rPr>
              <a:t>outstanding: N</a:t>
            </a:r>
          </a:p>
        </p:txBody>
      </p:sp>
      <p:cxnSp>
        <p:nvCxnSpPr>
          <p:cNvPr id="9046" name="Arrow 590"/>
          <p:cNvCxnSpPr/>
          <p:nvPr/>
        </p:nvCxnSpPr>
        <p:spPr>
          <a:xfrm flipV="1">
            <a:off x="5980281" y="2305664"/>
            <a:ext cx="462267" cy="924535"/>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9047" name="Arrow 591"/>
          <p:cNvCxnSpPr/>
          <p:nvPr/>
        </p:nvCxnSpPr>
        <p:spPr>
          <a:xfrm>
            <a:off x="5980281" y="3230199"/>
            <a:ext cx="462267"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9048" name="Arrow 592"/>
          <p:cNvCxnSpPr/>
          <p:nvPr/>
        </p:nvCxnSpPr>
        <p:spPr>
          <a:xfrm>
            <a:off x="5980281" y="3230199"/>
            <a:ext cx="462267" cy="924535"/>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49" name="Box 593"/>
          <p:cNvSpPr/>
          <p:nvPr/>
        </p:nvSpPr>
        <p:spPr>
          <a:xfrm>
            <a:off x="8985018" y="2941282"/>
            <a:ext cx="1271235" cy="57783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seq M</a:t>
            </a:r>
          </a:p>
          <a:p>
            <a:pPr algn="ctr"/>
            <a:r>
              <a:rPr sz="1000" b="0">
                <a:solidFill>
                  <a:schemeClr val="accent5"/>
                </a:solidFill>
              </a:rPr>
              <a:t>reply</a:t>
            </a:r>
          </a:p>
        </p:txBody>
      </p:sp>
      <p:cxnSp>
        <p:nvCxnSpPr>
          <p:cNvPr id="9050" name="Arrow 594"/>
          <p:cNvCxnSpPr/>
          <p:nvPr/>
        </p:nvCxnSpPr>
        <p:spPr>
          <a:xfrm>
            <a:off x="8522751" y="3230199"/>
            <a:ext cx="462267"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1" name="Text 595"/>
          <p:cNvSpPr txBox="1"/>
          <p:nvPr/>
        </p:nvSpPr>
        <p:spPr>
          <a:xfrm>
            <a:off x="10314037" y="2848828"/>
            <a:ext cx="1329018" cy="762741"/>
          </a:xfrm>
          <a:prstGeom prst="rect">
            <a:avLst/>
          </a:prstGeom>
          <a:noFill/>
        </p:spPr>
        <p:txBody>
          <a:bodyPr wrap="square" anchor="ctr" lIns="0" rIns="0" tIns="0" bIns="0">
            <a:spAutoFit/>
          </a:bodyPr>
          <a:lstStyle/>
          <a:p>
            <a:pPr algn="l"/>
            <a:r>
              <a:rPr sz="1100" b="0">
                <a:solidFill>
                  <a:schemeClr val="accent5"/>
                </a:solidFill>
              </a:rPr>
              <a:t>every instance: N discharged</a:t>
            </a:r>
          </a:p>
        </p:txBody>
      </p:sp>
      <p:sp>
        <p:nvSpPr>
          <p:cNvPr id="4" name="Path 596"/>
          <p:cNvSpPr/>
          <p:nvPr/>
        </p:nvSpPr>
        <p:spPr>
          <a:xfrm>
            <a:off x="3380027" y="3519116"/>
            <a:ext cx="6240609" cy="1248122"/>
          </a:xfrm>
          <a:custGeom>
            <a:avLst/>
            <a:gdLst/>
            <a:ahLst/>
            <a:cxnLst/>
            <a:rect l="l" t="t" r="r" b="b"/>
            <a:pathLst>
              <a:path w="6240609" h="1248122">
                <a:moveTo>
                  <a:pt x="6240609" y="0"/>
                </a:moveTo>
                <a:lnTo>
                  <a:pt x="6240609" y="1248122"/>
                </a:lnTo>
                <a:lnTo>
                  <a:pt x="0" y="1248122"/>
                </a:lnTo>
                <a:lnTo>
                  <a:pt x="0" y="0"/>
                </a:lnTo>
              </a:path>
            </a:pathLst>
          </a:custGeom>
          <a:noFill/>
          <a:ln w="22225">
            <a:solidFill>
              <a:schemeClr val="accent1"/>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2" name="Text 597"/>
          <p:cNvSpPr txBox="1"/>
          <p:nvPr/>
        </p:nvSpPr>
        <p:spPr>
          <a:xfrm>
            <a:off x="4015645" y="4790351"/>
            <a:ext cx="5084940" cy="277360"/>
          </a:xfrm>
          <a:prstGeom prst="rect">
            <a:avLst/>
          </a:prstGeom>
          <a:noFill/>
        </p:spPr>
        <p:txBody>
          <a:bodyPr wrap="square" anchor="ctr" lIns="0" rIns="0" tIns="0" bIns="0">
            <a:spAutoFit/>
          </a:bodyPr>
          <a:lstStyle/>
          <a:p>
            <a:pPr algn="ctr"/>
            <a:r>
              <a:rPr sz="1100" b="0">
                <a:solidFill>
                  <a:schemeClr val="accent5"/>
                </a:solidFill>
              </a:rPr>
              <a:t>gateway keeps its own sourceId, routes by connectionId</a:t>
            </a:r>
          </a:p>
        </p:txBody>
      </p:sp>
      <p:sp>
        <p:nvSpPr>
          <p:cNvPr id="9053" name="Card 598"/>
          <p:cNvSpPr/>
          <p:nvPr/>
        </p:nvSpPr>
        <p:spPr>
          <a:xfrm>
            <a:off x="548640" y="5212080"/>
            <a:ext cx="3511296"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r>
              <a:rPr sz="1300" b="1">
                <a:solidFill>
                  <a:schemeClr val="tx1"/>
                </a:solidFill>
              </a:rPr>
              <a:t>Replicated  </a:t>
            </a:r>
            <a:r>
              <a:rPr sz="1300" b="0">
                <a:solidFill>
                  <a:schemeClr val="tx1"/>
                </a:solidFill>
              </a:rPr>
              <a:t>Outstanding from sequenced request to sequenced reply, on every instance.</a:t>
            </a:r>
          </a:p>
        </p:txBody>
      </p:sp>
      <p:sp>
        <p:nvSpPr>
          <p:cNvPr id="9054" name="Card 599"/>
          <p:cNvSpPr/>
          <p:nvPr/>
        </p:nvSpPr>
        <p:spPr>
          <a:xfrm>
            <a:off x="4338828" y="5212080"/>
            <a:ext cx="3511296"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r>
              <a:rPr sz="1300" b="1">
                <a:solidFill>
                  <a:schemeClr val="tx1"/>
                </a:solidFill>
              </a:rPr>
              <a:t>Gate closes  </a:t>
            </a:r>
            <a:r>
              <a:rPr sz="1300" b="0">
                <a:solidFill>
                  <a:schemeClr val="tx1"/>
                </a:solidFill>
              </a:rPr>
              <a:t>On every LeadershipChanged, even for the same leader.</a:t>
            </a:r>
          </a:p>
        </p:txBody>
      </p:sp>
      <p:sp>
        <p:nvSpPr>
          <p:cNvPr id="9055" name="Card 600"/>
          <p:cNvSpPr/>
          <p:nvPr/>
        </p:nvSpPr>
        <p:spPr>
          <a:xfrm>
            <a:off x="8129016" y="5212080"/>
            <a:ext cx="3511296"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r>
              <a:rPr sz="1300" b="1">
                <a:solidFill>
                  <a:schemeClr val="tx1"/>
                </a:solidFill>
              </a:rPr>
              <a:t>At least once  </a:t>
            </a:r>
            <a:r>
              <a:rPr sz="1300" b="0">
                <a:solidFill>
                  <a:schemeClr val="tx1"/>
                </a:solidFill>
              </a:rPr>
              <a:t>Deterministic replies make duplicates identical; drop by key.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Remote hosts: the tap relay</a:t>
            </a:r>
          </a:p>
        </p:txBody>
      </p:sp>
      <p:sp>
        <p:nvSpPr>
          <p:cNvPr id="3" name="Text 601"/>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Clients off the cluster see exactly what they would see on a member</a:t>
            </a:r>
          </a:p>
        </p:txBody>
      </p:sp>
      <p:sp>
        <p:nvSpPr>
          <p:cNvPr id="9037" name="Slide number"/>
          <p:cNvSpPr txBox="1"/>
          <p:nvPr userDrawn="1"/>
        </p:nvSpPr>
        <p:spPr>
          <a:xfrm>
            <a:off x="10728655" y="6400800"/>
            <a:ext cx="914400" cy="274320"/>
          </a:xfrm>
          <a:prstGeom prst="rect">
            <a:avLst/>
          </a:prstGeom>
          <a:noFill/>
        </p:spPr>
        <p:txBody>
          <a:bodyPr wrap="none" lIns="0" tIns="0" rIns="0" bIns="0" anchor="ctr"/>
          <a:lstStyle/>
          <a:p>
            <a:pPr algn="r"/>
            <a:fld id="{97887395-ad15-48a9-85f7-b3ab13d9ffba}" type="slidenum">
              <a:rPr lang="en-US" sz="1000" dirty="0">
                <a:solidFill>
                  <a:schemeClr val="accent5"/>
                </a:solidFill>
              </a:rPr>
              <a:t>37</a:t>
            </a:fld>
          </a:p>
        </p:txBody>
      </p:sp>
      <p:sp>
        <p:nvSpPr>
          <p:cNvPr id="9038" name="Box 602"/>
          <p:cNvSpPr/>
          <p:nvPr/>
        </p:nvSpPr>
        <p:spPr>
          <a:xfrm>
            <a:off x="548640" y="1783080"/>
            <a:ext cx="2377440" cy="868680"/>
          </a:xfrm>
          <a:prstGeom prst="rect">
            <a:avLst/>
          </a:prstGeom>
          <a:solidFill>
            <a:schemeClr val="bg1"/>
          </a:solidFill>
          <a:ln w="317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Member 0</a:t>
            </a:r>
          </a:p>
          <a:p>
            <a:pPr algn="ctr"/>
            <a:r>
              <a:rPr sz="1100" b="0">
                <a:solidFill>
                  <a:schemeClr val="accent5"/>
                </a:solidFill>
              </a:rPr>
              <a:t>active recording</a:t>
            </a:r>
          </a:p>
        </p:txBody>
      </p:sp>
      <p:sp>
        <p:nvSpPr>
          <p:cNvPr id="9039" name="Box 603"/>
          <p:cNvSpPr/>
          <p:nvPr/>
        </p:nvSpPr>
        <p:spPr>
          <a:xfrm>
            <a:off x="548640" y="2971800"/>
            <a:ext cx="2377440" cy="86868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Member 1</a:t>
            </a:r>
          </a:p>
          <a:p>
            <a:pPr algn="ctr"/>
            <a:r>
              <a:rPr sz="1100" b="0">
                <a:solidFill>
                  <a:schemeClr val="accent5"/>
                </a:solidFill>
              </a:rPr>
              <a:t>active recording</a:t>
            </a:r>
          </a:p>
        </p:txBody>
      </p:sp>
      <p:sp>
        <p:nvSpPr>
          <p:cNvPr id="9040" name="Box 604"/>
          <p:cNvSpPr/>
          <p:nvPr/>
        </p:nvSpPr>
        <p:spPr>
          <a:xfrm>
            <a:off x="548640" y="4160520"/>
            <a:ext cx="2377440" cy="86868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Member 2</a:t>
            </a:r>
          </a:p>
          <a:p>
            <a:pPr algn="ctr"/>
            <a:r>
              <a:rPr sz="1100" b="0">
                <a:solidFill>
                  <a:schemeClr val="accent5"/>
                </a:solidFill>
              </a:rPr>
              <a:t>active recording</a:t>
            </a:r>
          </a:p>
        </p:txBody>
      </p:sp>
      <p:cxnSp>
        <p:nvCxnSpPr>
          <p:cNvPr id="9041" name="Arrow 605"/>
          <p:cNvCxnSpPr/>
          <p:nvPr/>
        </p:nvCxnSpPr>
        <p:spPr>
          <a:xfrm>
            <a:off x="2926080" y="2212848"/>
            <a:ext cx="868680" cy="1033272"/>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42" name="Arrow 606"/>
          <p:cNvCxnSpPr/>
          <p:nvPr/>
        </p:nvCxnSpPr>
        <p:spPr>
          <a:xfrm>
            <a:off x="2926080" y="3401568"/>
            <a:ext cx="868680" cy="27432"/>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43" name="Text 607"/>
          <p:cNvSpPr txBox="1"/>
          <p:nvPr/>
        </p:nvSpPr>
        <p:spPr>
          <a:xfrm>
            <a:off x="548640" y="5257800"/>
            <a:ext cx="6858000" cy="731520"/>
          </a:xfrm>
          <a:prstGeom prst="rect">
            <a:avLst/>
          </a:prstGeom>
          <a:noFill/>
        </p:spPr>
        <p:txBody>
          <a:bodyPr wrap="square" anchor="t" lIns="0" rIns="0" tIns="0" bIns="0">
            <a:spAutoFit/>
          </a:bodyPr>
          <a:lstStyle/>
          <a:p>
            <a:pPr algn="l">
              <a:spcAft>
                <a:spcPts val="200"/>
              </a:spcAft>
            </a:pPr>
            <a:r>
              <a:rPr sz="1200" b="0">
                <a:solidFill>
                  <a:schemeClr val="accent5"/>
                </a:solidFill>
              </a:rPr>
              <a:t>Solid: one UDP archive replay.</a:t>
            </a:r>
          </a:p>
          <a:p>
            <a:pPr algn="l">
              <a:spcAft>
                <a:spcPts val="200"/>
              </a:spcAft>
            </a:pPr>
            <a:r>
              <a:rPr sz="1200" b="0">
                <a:solidFill>
                  <a:schemeClr val="accent5"/>
                </a:solidFill>
              </a:rPr>
              <a:t>Dashed: failover to next member archive.</a:t>
            </a:r>
          </a:p>
        </p:txBody>
      </p:sp>
      <p:sp>
        <p:nvSpPr>
          <p:cNvPr id="9044" name="Remote host 608"/>
          <p:cNvSpPr/>
          <p:nvPr/>
        </p:nvSpPr>
        <p:spPr>
          <a:xfrm>
            <a:off x="3840480" y="1783080"/>
            <a:ext cx="3566160" cy="3246120"/>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5" name="Text 609"/>
          <p:cNvSpPr txBox="1"/>
          <p:nvPr/>
        </p:nvSpPr>
        <p:spPr>
          <a:xfrm>
            <a:off x="3977640" y="1847088"/>
            <a:ext cx="3291840" cy="320040"/>
          </a:xfrm>
          <a:prstGeom prst="rect">
            <a:avLst/>
          </a:prstGeom>
          <a:noFill/>
        </p:spPr>
        <p:txBody>
          <a:bodyPr wrap="square" anchor="t" lIns="0" rIns="0" tIns="0" bIns="0">
            <a:spAutoFit/>
          </a:bodyPr>
          <a:lstStyle/>
          <a:p>
            <a:pPr algn="l"/>
            <a:r>
              <a:rPr sz="1100" b="1">
                <a:solidFill>
                  <a:schemeClr val="accent5"/>
                </a:solidFill>
              </a:rPr>
              <a:t>GATEWAY OR APPLICATION HOST</a:t>
            </a:r>
          </a:p>
        </p:txBody>
      </p:sp>
      <p:sp>
        <p:nvSpPr>
          <p:cNvPr id="9046" name="Box 610"/>
          <p:cNvSpPr/>
          <p:nvPr/>
        </p:nvSpPr>
        <p:spPr>
          <a:xfrm>
            <a:off x="4023360" y="2286000"/>
            <a:ext cx="3200400" cy="68580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TapRelay</a:t>
            </a:r>
          </a:p>
          <a:p>
            <a:pPr algn="ctr"/>
            <a:r>
              <a:rPr sz="1100" b="0">
                <a:solidFill>
                  <a:schemeClr val="accent5"/>
                </a:solidFill>
              </a:rPr>
              <a:t>next frame only</a:t>
            </a:r>
          </a:p>
        </p:txBody>
      </p:sp>
      <p:sp>
        <p:nvSpPr>
          <p:cNvPr id="9047" name="Text 611"/>
          <p:cNvSpPr txBox="1"/>
          <p:nvPr/>
        </p:nvSpPr>
        <p:spPr>
          <a:xfrm>
            <a:off x="4526280" y="3044952"/>
            <a:ext cx="1280160" cy="219456"/>
          </a:xfrm>
          <a:prstGeom prst="rect">
            <a:avLst/>
          </a:prstGeom>
          <a:noFill/>
        </p:spPr>
        <p:txBody>
          <a:bodyPr wrap="square" anchor="ctr" lIns="0" rIns="0" tIns="0" bIns="0">
            <a:spAutoFit/>
          </a:bodyPr>
          <a:lstStyle/>
          <a:p>
            <a:pPr algn="l"/>
            <a:r>
              <a:rPr sz="1000" b="1">
                <a:solidFill>
                  <a:schemeClr val="accent1"/>
                </a:solidFill>
              </a:rPr>
              <a:t>Tap · aeron:ipc 205</a:t>
            </a:r>
          </a:p>
        </p:txBody>
      </p:sp>
      <p:sp>
        <p:nvSpPr>
          <p:cNvPr id="9048" name="Tap cell 612"/>
          <p:cNvSpPr/>
          <p:nvPr/>
        </p:nvSpPr>
        <p:spPr>
          <a:xfrm>
            <a:off x="4526280" y="3291840"/>
            <a:ext cx="283464" cy="32918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1</a:t>
            </a:r>
          </a:p>
        </p:txBody>
      </p:sp>
      <p:sp>
        <p:nvSpPr>
          <p:cNvPr id="9049" name="Tap cell 613"/>
          <p:cNvSpPr/>
          <p:nvPr/>
        </p:nvSpPr>
        <p:spPr>
          <a:xfrm>
            <a:off x="4842662" y="3291840"/>
            <a:ext cx="283464" cy="32918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2</a:t>
            </a:r>
          </a:p>
        </p:txBody>
      </p:sp>
      <p:sp>
        <p:nvSpPr>
          <p:cNvPr id="9050" name="Tap cell 614"/>
          <p:cNvSpPr/>
          <p:nvPr/>
        </p:nvSpPr>
        <p:spPr>
          <a:xfrm>
            <a:off x="5159045" y="3291840"/>
            <a:ext cx="283464" cy="32918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3</a:t>
            </a:r>
          </a:p>
        </p:txBody>
      </p:sp>
      <p:sp>
        <p:nvSpPr>
          <p:cNvPr id="9051" name="Tap cell 615"/>
          <p:cNvSpPr/>
          <p:nvPr/>
        </p:nvSpPr>
        <p:spPr>
          <a:xfrm>
            <a:off x="5475427" y="3291840"/>
            <a:ext cx="283464" cy="32918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0">
                <a:solidFill>
                  <a:schemeClr val="accent1"/>
                </a:solidFill>
              </a:rPr>
              <a:t>4</a:t>
            </a:r>
          </a:p>
        </p:txBody>
      </p:sp>
      <p:sp>
        <p:nvSpPr>
          <p:cNvPr id="9052" name="Tap cell 616"/>
          <p:cNvSpPr/>
          <p:nvPr/>
        </p:nvSpPr>
        <p:spPr>
          <a:xfrm>
            <a:off x="5791810" y="3291840"/>
            <a:ext cx="283464"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chemeClr val="bg1"/>
                </a:solidFill>
              </a:rPr>
              <a:t>5</a:t>
            </a:r>
          </a:p>
        </p:txBody>
      </p:sp>
      <p:sp>
        <p:nvSpPr>
          <p:cNvPr id="9053" name="Tap cell 617"/>
          <p:cNvSpPr/>
          <p:nvPr/>
        </p:nvSpPr>
        <p:spPr>
          <a:xfrm>
            <a:off x="6108192" y="3291840"/>
            <a:ext cx="283464" cy="32918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054" name="Tap cell 618"/>
          <p:cNvSpPr/>
          <p:nvPr/>
        </p:nvSpPr>
        <p:spPr>
          <a:xfrm>
            <a:off x="6424574" y="3291840"/>
            <a:ext cx="283464" cy="32918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055" name="Box 619"/>
          <p:cNvSpPr/>
          <p:nvPr/>
        </p:nvSpPr>
        <p:spPr>
          <a:xfrm>
            <a:off x="4023360" y="4114800"/>
            <a:ext cx="1280160" cy="68580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Archive</a:t>
            </a:r>
          </a:p>
          <a:p>
            <a:pPr algn="ctr"/>
            <a:r>
              <a:rPr sz="1100" b="0">
                <a:solidFill>
                  <a:schemeClr val="accent5"/>
                </a:solidFill>
              </a:rPr>
              <a:t>records the tap</a:t>
            </a:r>
          </a:p>
        </p:txBody>
      </p:sp>
      <p:sp>
        <p:nvSpPr>
          <p:cNvPr id="9056" name="Box 620"/>
          <p:cNvSpPr/>
          <p:nvPr/>
        </p:nvSpPr>
        <p:spPr>
          <a:xfrm>
            <a:off x="5486400" y="4114800"/>
            <a:ext cx="1737360" cy="68580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Clients</a:t>
            </a:r>
          </a:p>
          <a:p>
            <a:pPr algn="ctr"/>
            <a:r>
              <a:rPr sz="1100" b="0">
                <a:solidFill>
                  <a:schemeClr val="accent5"/>
                </a:solidFill>
              </a:rPr>
              <a:t>unchanged; UDP ingress</a:t>
            </a:r>
          </a:p>
        </p:txBody>
      </p:sp>
      <p:cxnSp>
        <p:nvCxnSpPr>
          <p:cNvPr id="9057" name="Arrow 621"/>
          <p:cNvCxnSpPr/>
          <p:nvPr/>
        </p:nvCxnSpPr>
        <p:spPr>
          <a:xfrm>
            <a:off x="5933542" y="2971800"/>
            <a:ext cx="0" cy="32004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58" name="Arrow 622"/>
          <p:cNvCxnSpPr/>
          <p:nvPr/>
        </p:nvCxnSpPr>
        <p:spPr>
          <a:xfrm>
            <a:off x="4984394" y="3621024"/>
            <a:ext cx="0" cy="493776"/>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59" name="Arrow 623"/>
          <p:cNvCxnSpPr/>
          <p:nvPr/>
        </p:nvCxnSpPr>
        <p:spPr>
          <a:xfrm>
            <a:off x="5617159" y="3621024"/>
            <a:ext cx="0" cy="493776"/>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0" name="Text 624"/>
          <p:cNvSpPr txBox="1"/>
          <p:nvPr/>
        </p:nvSpPr>
        <p:spPr>
          <a:xfrm>
            <a:off x="7863840" y="1783080"/>
            <a:ext cx="3776472" cy="4114800"/>
          </a:xfrm>
          <a:prstGeom prst="rect">
            <a:avLst/>
          </a:prstGeom>
          <a:noFill/>
        </p:spPr>
        <p:txBody>
          <a:bodyPr wrap="square" anchor="t" lIns="0" rIns="0" tIns="0" bIns="0">
            <a:spAutoFit/>
          </a:bodyPr>
          <a:lstStyle/>
          <a:p>
            <a:pPr algn="l" marL="228600" indent="-228600">
              <a:spcAft>
                <a:spcPts val="1000"/>
              </a:spcAft>
              <a:buClr>
                <a:schemeClr val="accent1"/>
              </a:buClr>
              <a:buChar char="•"/>
            </a:pPr>
            <a:r>
              <a:rPr sz="1500" b="0">
                <a:solidFill>
                  <a:schemeClr val="tx1"/>
                </a:solidFill>
              </a:rPr>
              <a:t>Republishes only globalSeqNo last + 1</a:t>
            </a:r>
          </a:p>
          <a:p>
            <a:pPr algn="l" marL="228600" indent="-228600">
              <a:spcAft>
                <a:spcPts val="1000"/>
              </a:spcAft>
              <a:buClr>
                <a:schemeClr val="accent1"/>
              </a:buClr>
              <a:buChar char="•"/>
            </a:pPr>
            <a:r>
              <a:rPr sz="1500" b="0">
                <a:solidFill>
                  <a:schemeClr val="tx1"/>
                </a:solidFill>
              </a:rPr>
              <a:t>Resumes at the same recording position on the next member</a:t>
            </a:r>
          </a:p>
          <a:p>
            <a:pPr algn="l" marL="228600" indent="-228600">
              <a:spcAft>
                <a:spcPts val="1000"/>
              </a:spcAft>
              <a:buClr>
                <a:schemeClr val="accent1"/>
              </a:buClr>
              <a:buChar char="•"/>
            </a:pPr>
            <a:r>
              <a:rPr sz="1500" b="0">
                <a:solidFill>
                  <a:schemeClr val="tx1"/>
                </a:solidFill>
              </a:rPr>
              <a:t>Restart relays from globalSeqNo 1 into a new recording, as a member's restart does</a:t>
            </a:r>
          </a:p>
          <a:p>
            <a:pPr algn="l" marL="228600" indent="-228600">
              <a:buClr>
                <a:schemeClr val="accent1"/>
              </a:buClr>
              <a:buChar char="•"/>
            </a:pPr>
            <a:r>
              <a:rPr sz="1500" b="0">
                <a:solidFill>
                  <a:schemeClr val="tx1"/>
                </a:solidFill>
              </a:rPr>
              <a:t>Costs the member one archive replay per host; the sequencer nothing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A lost session is replaced, not fenced</a:t>
            </a:r>
          </a:p>
        </p:txBody>
      </p:sp>
      <p:sp>
        <p:nvSpPr>
          <p:cNvPr id="3" name="Text 625"/>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Unless the instance announced itself on it</a:t>
            </a:r>
          </a:p>
        </p:txBody>
      </p:sp>
      <p:sp>
        <p:nvSpPr>
          <p:cNvPr id="9038" name="Slide number"/>
          <p:cNvSpPr txBox="1"/>
          <p:nvPr userDrawn="1"/>
        </p:nvSpPr>
        <p:spPr>
          <a:xfrm>
            <a:off x="10728655" y="6400800"/>
            <a:ext cx="914400" cy="274320"/>
          </a:xfrm>
          <a:prstGeom prst="rect">
            <a:avLst/>
          </a:prstGeom>
          <a:noFill/>
        </p:spPr>
        <p:txBody>
          <a:bodyPr wrap="none" lIns="0" tIns="0" rIns="0" bIns="0" anchor="ctr"/>
          <a:lstStyle/>
          <a:p>
            <a:pPr algn="r"/>
            <a:fld id="{b8126452-cd0d-4c3f-8f4f-6de21932cc93}" type="slidenum">
              <a:rPr lang="en-US" sz="1000" dirty="0">
                <a:solidFill>
                  <a:schemeClr val="accent5"/>
                </a:solidFill>
              </a:rPr>
              <a:t>38</a:t>
            </a:fld>
          </a:p>
        </p:txBody>
      </p:sp>
      <p:sp>
        <p:nvSpPr>
          <p:cNvPr id="9039" name="Card 626"/>
          <p:cNvSpPr/>
          <p:nvPr/>
        </p:nvSpPr>
        <p:spPr>
          <a:xfrm>
            <a:off x="548640" y="1691640"/>
            <a:ext cx="3511296" cy="2834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800"/>
              </a:spcAft>
            </a:pPr>
            <a:r>
              <a:rPr sz="2000" b="1" cap="none">
                <a:solidFill>
                  <a:schemeClr val="accent1"/>
                </a:solidFill>
                <a:latin typeface="+mj-lt"/>
              </a:rPr>
              <a:t>Replaces</a:t>
            </a:r>
          </a:p>
          <a:p>
            <a:pPr algn="l"/>
            <a:r>
              <a:rPr sz="1500" b="0">
                <a:solidFill>
                  <a:schemeClr val="tx1"/>
                </a:solidFill>
              </a:rPr>
              <a:t>An application, a gateway standby, or an instance designated after its session was lost. It opens a new session the way it opened the first.</a:t>
            </a:r>
          </a:p>
        </p:txBody>
      </p:sp>
      <p:sp>
        <p:nvSpPr>
          <p:cNvPr id="9040" name="Card 627"/>
          <p:cNvSpPr/>
          <p:nvPr/>
        </p:nvSpPr>
        <p:spPr>
          <a:xfrm>
            <a:off x="4338828" y="1691640"/>
            <a:ext cx="3511296" cy="283464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800"/>
              </a:spcAft>
            </a:pPr>
            <a:r>
              <a:rPr sz="2000" b="1" cap="none">
                <a:solidFill>
                  <a:schemeClr val="accent2"/>
                </a:solidFill>
                <a:latin typeface="+mj-lt"/>
              </a:rPr>
              <a:t>Fences</a:t>
            </a:r>
          </a:p>
          <a:p>
            <a:pPr algn="l"/>
            <a:r>
              <a:rPr sz="1500" b="0">
                <a:solidFill>
                  <a:schemeClr val="tx1"/>
                </a:solidFill>
              </a:rPr>
              <a:t>A gateway instance that announced itself on the lost session. Closing that session promotes its sibling, and the tap carries no frame for the close.</a:t>
            </a:r>
          </a:p>
        </p:txBody>
      </p:sp>
      <p:sp>
        <p:nvSpPr>
          <p:cNvPr id="9041" name="Card 628"/>
          <p:cNvSpPr/>
          <p:nvPr/>
        </p:nvSpPr>
        <p:spPr>
          <a:xfrm>
            <a:off x="8129016" y="1691640"/>
            <a:ext cx="3511296" cy="2834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228600" bIns="228600"/>
          <a:lstStyle/>
          <a:p>
            <a:pPr algn="l">
              <a:spcAft>
                <a:spcPts val="800"/>
              </a:spcAft>
            </a:pPr>
            <a:r>
              <a:rPr sz="2000" b="1" cap="none">
                <a:solidFill>
                  <a:schemeClr val="tx1"/>
                </a:solidFill>
                <a:latin typeface="+mj-lt"/>
              </a:rPr>
              <a:t>Drops</a:t>
            </a:r>
          </a:p>
          <a:p>
            <a:pPr algn="l"/>
            <a:r>
              <a:rPr sz="1500" b="0">
                <a:solidFill>
                  <a:schemeClr val="tx1"/>
                </a:solidFill>
              </a:rPr>
              <a:t>What was unconfirmed on the old session is not resent: its close is on no tap, so what reached the log cannot be counted.</a:t>
            </a:r>
          </a:p>
        </p:txBody>
      </p:sp>
      <p:sp>
        <p:nvSpPr>
          <p:cNvPr id="9042" name="Card 629"/>
          <p:cNvSpPr/>
          <p:nvPr/>
        </p:nvSpPr>
        <p:spPr>
          <a:xfrm>
            <a:off x="548640" y="4846320"/>
            <a:ext cx="11094415" cy="1188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228600" bIns="228600"/>
          <a:lstStyle/>
          <a:p>
            <a:pPr algn="l"/>
            <a:r>
              <a:rPr sz="1600" b="1">
                <a:solidFill>
                  <a:schemeClr val="tx1"/>
                </a:solidFill>
              </a:rPr>
              <a:t>Never blocks the duty cycle. </a:t>
            </a:r>
            <a:r>
              <a:rPr sz="1600" b="0">
                <a:solidFill>
                  <a:schemeClr val="tx1"/>
                </a:solidFill>
              </a:rPr>
              <a:t>An attempt starts at most once a second and advances a step per doWork(). With no session after 20 s and the attempt under way failed, the instance fences.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The snapshot protocol</a:t>
            </a:r>
          </a:p>
        </p:txBody>
      </p:sp>
      <p:sp>
        <p:nvSpPr>
          <p:cNvPr id="3" name="Text 630"/>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Four frames on the log, two node-local messages for a restore</a:t>
            </a:r>
          </a:p>
        </p:txBody>
      </p:sp>
      <p:sp>
        <p:nvSpPr>
          <p:cNvPr id="9039" name="Slide number"/>
          <p:cNvSpPr txBox="1"/>
          <p:nvPr userDrawn="1"/>
        </p:nvSpPr>
        <p:spPr>
          <a:xfrm>
            <a:off x="10728655" y="6400800"/>
            <a:ext cx="914400" cy="274320"/>
          </a:xfrm>
          <a:prstGeom prst="rect">
            <a:avLst/>
          </a:prstGeom>
          <a:noFill/>
        </p:spPr>
        <p:txBody>
          <a:bodyPr wrap="none" lIns="0" tIns="0" rIns="0" bIns="0" anchor="ctr"/>
          <a:lstStyle/>
          <a:p>
            <a:pPr algn="r"/>
            <a:fld id="{3529df76-a75a-497b-8dfd-c907457c7c56}" type="slidenum">
              <a:rPr lang="en-US" sz="1000" dirty="0">
                <a:solidFill>
                  <a:schemeClr val="accent5"/>
                </a:solidFill>
              </a:rPr>
              <a:t>39</a:t>
            </a:fld>
          </a:p>
        </p:txBody>
      </p:sp>
      <p:graphicFrame>
        <p:nvGraphicFramePr>
          <p:cNvPr id="9040" name="Table 631"/>
          <p:cNvGraphicFramePr>
            <a:graphicFrameLocks noGrp="1"/>
          </p:cNvGraphicFramePr>
          <p:nvPr/>
        </p:nvGraphicFramePr>
        <p:xfrm>
          <a:off x="548640" y="1691640"/>
          <a:ext cx="11091672" cy="4023360"/>
        </p:xfrm>
        <a:graphic>
          <a:graphicData uri="http://schemas.openxmlformats.org/drawingml/2006/table">
            <a:tbl>
              <a:tblPr firstRow="1">
                <a:tableStyleId>{5C22544A-7EE6-4342-B048-85BDC9FD1C3A}</a:tableStyleId>
              </a:tblPr>
              <a:tblGrid>
                <a:gridCol w="2606040"/>
                <a:gridCol w="2377440"/>
                <a:gridCol w="2743200"/>
                <a:gridCol w="3364992"/>
              </a:tblGrid>
              <a:tr h="502920">
                <a:tc>
                  <a:txBody>
                    <a:bodyPr/>
                    <a:lstStyle/>
                    <a:p>
                      <a:pPr algn="l"/>
                      <a:r>
                        <a:rPr sz="1200" b="1">
                          <a:solidFill>
                            <a:schemeClr val="bg1"/>
                          </a:solidFill>
                        </a:rPr>
                        <a:t>Message</a:t>
                      </a:r>
                    </a:p>
                  </a:txBody>
                  <a:tcPr marL="91440" marR="91440" marT="45720" marB="45720" anchor="ctr">
                    <a:solidFill>
                      <a:schemeClr val="accent1"/>
                    </a:solidFill>
                  </a:tcPr>
                </a:tc>
                <a:tc>
                  <a:txBody>
                    <a:bodyPr/>
                    <a:lstStyle/>
                    <a:p>
                      <a:pPr algn="l"/>
                      <a:r>
                        <a:rPr sz="1200" b="1">
                          <a:solidFill>
                            <a:schemeClr val="bg1"/>
                          </a:solidFill>
                        </a:rPr>
                        <a:t>Sent by</a:t>
                      </a:r>
                    </a:p>
                  </a:txBody>
                  <a:tcPr marL="91440" marR="91440" marT="45720" marB="45720" anchor="ctr">
                    <a:solidFill>
                      <a:schemeClr val="accent1"/>
                    </a:solidFill>
                  </a:tcPr>
                </a:tc>
                <a:tc>
                  <a:txBody>
                    <a:bodyPr/>
                    <a:lstStyle/>
                    <a:p>
                      <a:pPr algn="l"/>
                      <a:r>
                        <a:rPr sz="1200" b="1">
                          <a:solidFill>
                            <a:schemeClr val="bg1"/>
                          </a:solidFill>
                        </a:rPr>
                        <a:t>Fields</a:t>
                      </a:r>
                    </a:p>
                  </a:txBody>
                  <a:tcPr marL="91440" marR="91440" marT="45720" marB="45720" anchor="ctr">
                    <a:solidFill>
                      <a:schemeClr val="accent1"/>
                    </a:solidFill>
                  </a:tcPr>
                </a:tc>
                <a:tc>
                  <a:txBody>
                    <a:bodyPr/>
                    <a:lstStyle/>
                    <a:p>
                      <a:pPr algn="l"/>
                      <a:r>
                        <a:rPr sz="1200" b="1">
                          <a:solidFill>
                            <a:schemeClr val="bg1"/>
                          </a:solidFill>
                        </a:rPr>
                        <a:t>Effect</a:t>
                      </a:r>
                    </a:p>
                  </a:txBody>
                  <a:tcPr marL="91440" marR="91440" marT="45720" marB="45720" anchor="ctr">
                    <a:solidFill>
                      <a:schemeClr val="accent1"/>
                    </a:solidFill>
                  </a:tcPr>
                </a:tc>
              </a:tr>
              <a:tr h="502920">
                <a:tc>
                  <a:txBody>
                    <a:bodyPr/>
                    <a:lstStyle/>
                    <a:p>
                      <a:pPr algn="l"/>
                      <a:r>
                        <a:rPr sz="1300" b="1">
                          <a:solidFill>
                            <a:schemeClr val="tx1"/>
                          </a:solidFill>
                        </a:rPr>
                        <a:t>SnapshotPolicyRegistered</a:t>
                      </a:r>
                    </a:p>
                  </a:txBody>
                  <a:tcPr marL="91440" marR="91440" marT="45720" marB="45720" anchor="ctr">
                    <a:solidFill>
                      <a:schemeClr val="bg1"/>
                    </a:solidFill>
                  </a:tcPr>
                </a:tc>
                <a:tc>
                  <a:txBody>
                    <a:bodyPr/>
                    <a:lstStyle/>
                    <a:p>
                      <a:pPr algn="l"/>
                      <a:r>
                        <a:rPr sz="1300" b="0">
                          <a:solidFill>
                            <a:schemeClr val="tx1"/>
                          </a:solidFill>
                        </a:rPr>
                        <a:t>clusterctl load-topology</a:t>
                      </a:r>
                    </a:p>
                  </a:txBody>
                  <a:tcPr marL="91440" marR="91440" marT="45720" marB="45720" anchor="ctr">
                    <a:solidFill>
                      <a:schemeClr val="bg1"/>
                    </a:solidFill>
                  </a:tcPr>
                </a:tc>
                <a:tc>
                  <a:txBody>
                    <a:bodyPr/>
                    <a:lstStyle/>
                    <a:p>
                      <a:pPr algn="l"/>
                      <a:r>
                        <a:rPr sz="1300" b="0">
                          <a:solidFill>
                            <a:schemeClr val="tx1"/>
                          </a:solidFill>
                        </a:rPr>
                        <a:t>intervalSeconds</a:t>
                      </a:r>
                    </a:p>
                  </a:txBody>
                  <a:tcPr marL="91440" marR="91440" marT="45720" marB="45720" anchor="ctr">
                    <a:solidFill>
                      <a:schemeClr val="bg1"/>
                    </a:solidFill>
                  </a:tcPr>
                </a:tc>
                <a:tc>
                  <a:txBody>
                    <a:bodyPr/>
                    <a:lstStyle/>
                    <a:p>
                      <a:pPr algn="l"/>
                      <a:r>
                        <a:rPr sz="1300" b="0">
                          <a:solidFill>
                            <a:schemeClr val="tx1"/>
                          </a:solidFill>
                        </a:rPr>
                        <a:t>Turns rounds on; 0 is operator requests only</a:t>
                      </a:r>
                    </a:p>
                  </a:txBody>
                  <a:tcPr marL="91440" marR="91440" marT="45720" marB="45720" anchor="ctr">
                    <a:solidFill>
                      <a:schemeClr val="bg1"/>
                    </a:solidFill>
                  </a:tcPr>
                </a:tc>
              </a:tr>
              <a:tr h="502920">
                <a:tc>
                  <a:txBody>
                    <a:bodyPr/>
                    <a:lstStyle/>
                    <a:p>
                      <a:pPr algn="l"/>
                      <a:r>
                        <a:rPr sz="1300" b="1">
                          <a:solidFill>
                            <a:schemeClr val="tx1"/>
                          </a:solidFill>
                        </a:rPr>
                        <a:t>GatewayRegistered, ApplicationRegistered</a:t>
                      </a:r>
                    </a:p>
                  </a:txBody>
                  <a:tcPr marL="91440" marR="91440" marT="45720" marB="45720" anchor="ctr">
                    <a:solidFill>
                      <a:schemeClr val="bg2"/>
                    </a:solidFill>
                  </a:tcPr>
                </a:tc>
                <a:tc>
                  <a:txBody>
                    <a:bodyPr/>
                    <a:lstStyle/>
                    <a:p>
                      <a:pPr algn="l"/>
                      <a:r>
                        <a:rPr sz="1300" b="0">
                          <a:solidFill>
                            <a:schemeClr val="tx1"/>
                          </a:solidFill>
                        </a:rPr>
                        <a:t>clusterctl load-topology</a:t>
                      </a:r>
                    </a:p>
                  </a:txBody>
                  <a:tcPr marL="91440" marR="91440" marT="45720" marB="45720" anchor="ctr">
                    <a:solidFill>
                      <a:schemeClr val="bg2"/>
                    </a:solidFill>
                  </a:tcPr>
                </a:tc>
                <a:tc>
                  <a:txBody>
                    <a:bodyPr/>
                    <a:lstStyle/>
                    <a:p>
                      <a:pPr algn="l"/>
                      <a:r>
                        <a:rPr sz="1300" b="0">
                          <a:solidFill>
                            <a:schemeClr val="tx1"/>
                          </a:solidFill>
                        </a:rPr>
                        <a:t>snapshot</a:t>
                      </a:r>
                    </a:p>
                  </a:txBody>
                  <a:tcPr marL="91440" marR="91440" marT="45720" marB="45720" anchor="ctr">
                    <a:solidFill>
                      <a:schemeClr val="bg2"/>
                    </a:solidFill>
                  </a:tcPr>
                </a:tc>
                <a:tc>
                  <a:txBody>
                    <a:bodyPr/>
                    <a:lstStyle/>
                    <a:p>
                      <a:pPr algn="l"/>
                      <a:r>
                        <a:rPr sz="1300" b="0">
                          <a:solidFill>
                            <a:schemeClr val="tx1"/>
                          </a:solidFill>
                        </a:rPr>
                        <a:t>Whether that source takes part; read by its façades</a:t>
                      </a:r>
                    </a:p>
                  </a:txBody>
                  <a:tcPr marL="91440" marR="91440" marT="45720" marB="45720" anchor="ctr">
                    <a:solidFill>
                      <a:schemeClr val="bg2"/>
                    </a:solidFill>
                  </a:tcPr>
                </a:tc>
              </a:tr>
              <a:tr h="502920">
                <a:tc>
                  <a:txBody>
                    <a:bodyPr/>
                    <a:lstStyle/>
                    <a:p>
                      <a:pPr algn="l"/>
                      <a:r>
                        <a:rPr sz="1300" b="1">
                          <a:solidFill>
                            <a:schemeClr val="tx1"/>
                          </a:solidFill>
                        </a:rPr>
                        <a:t>SnapshotRequested</a:t>
                      </a:r>
                    </a:p>
                  </a:txBody>
                  <a:tcPr marL="91440" marR="91440" marT="45720" marB="45720" anchor="ctr">
                    <a:solidFill>
                      <a:schemeClr val="bg1"/>
                    </a:solidFill>
                  </a:tcPr>
                </a:tc>
                <a:tc>
                  <a:txBody>
                    <a:bodyPr/>
                    <a:lstStyle/>
                    <a:p>
                      <a:pPr algn="l"/>
                      <a:r>
                        <a:rPr sz="1300" b="0">
                          <a:solidFill>
                            <a:schemeClr val="tx1"/>
                          </a:solidFill>
                        </a:rPr>
                        <a:t>clusterctl request-snapshot</a:t>
                      </a:r>
                    </a:p>
                  </a:txBody>
                  <a:tcPr marL="91440" marR="91440" marT="45720" marB="45720" anchor="ctr">
                    <a:solidFill>
                      <a:schemeClr val="bg1"/>
                    </a:solidFill>
                  </a:tcPr>
                </a:tc>
                <a:tc>
                  <a:txBody>
                    <a:bodyPr/>
                    <a:lstStyle/>
                    <a:p>
                      <a:pPr algn="l"/>
                      <a:r>
                        <a:rPr sz="1300" b="0">
                          <a:solidFill>
                            <a:schemeClr val="tx1"/>
                          </a:solidFill>
                        </a:rPr>
                        <a:t>correlationId</a:t>
                      </a:r>
                    </a:p>
                  </a:txBody>
                  <a:tcPr marL="91440" marR="91440" marT="45720" marB="45720" anchor="ctr">
                    <a:solidFill>
                      <a:schemeClr val="bg1"/>
                    </a:solidFill>
                  </a:tcPr>
                </a:tc>
                <a:tc>
                  <a:txBody>
                    <a:bodyPr/>
                    <a:lstStyle/>
                    <a:p>
                      <a:pPr algn="l"/>
                      <a:r>
                        <a:rPr sz="1300" b="0">
                          <a:solidFill>
                            <a:schemeClr val="tx1"/>
                          </a:solidFill>
                        </a:rPr>
                        <a:t>SnapshotStarted at the next globalSeqNo</a:t>
                      </a:r>
                    </a:p>
                  </a:txBody>
                  <a:tcPr marL="91440" marR="91440" marT="45720" marB="45720" anchor="ctr">
                    <a:solidFill>
                      <a:schemeClr val="bg1"/>
                    </a:solidFill>
                  </a:tcPr>
                </a:tc>
              </a:tr>
              <a:tr h="502920">
                <a:tc>
                  <a:txBody>
                    <a:bodyPr/>
                    <a:lstStyle/>
                    <a:p>
                      <a:pPr algn="l"/>
                      <a:r>
                        <a:rPr sz="1300" b="1">
                          <a:solidFill>
                            <a:schemeClr val="tx1"/>
                          </a:solidFill>
                        </a:rPr>
                        <a:t>SnapshotStarted</a:t>
                      </a:r>
                    </a:p>
                  </a:txBody>
                  <a:tcPr marL="91440" marR="91440" marT="45720" marB="45720" anchor="ctr">
                    <a:solidFill>
                      <a:schemeClr val="bg2"/>
                    </a:solidFill>
                  </a:tcPr>
                </a:tc>
                <a:tc>
                  <a:txBody>
                    <a:bodyPr/>
                    <a:lstStyle/>
                    <a:p>
                      <a:pPr algn="l"/>
                      <a:r>
                        <a:rPr sz="1300" b="0">
                          <a:solidFill>
                            <a:schemeClr val="tx1"/>
                          </a:solidFill>
                        </a:rPr>
                        <a:t>the sequencer only</a:t>
                      </a:r>
                    </a:p>
                  </a:txBody>
                  <a:tcPr marL="91440" marR="91440" marT="45720" marB="45720" anchor="ctr">
                    <a:solidFill>
                      <a:schemeClr val="bg2"/>
                    </a:solidFill>
                  </a:tcPr>
                </a:tc>
                <a:tc>
                  <a:txBody>
                    <a:bodyPr/>
                    <a:lstStyle/>
                    <a:p>
                      <a:pPr algn="l"/>
                      <a:r>
                        <a:rPr sz="1300" b="0">
                          <a:solidFill>
                            <a:schemeClr val="tx1"/>
                          </a:solidFill>
                        </a:rPr>
                        <a:t>round</a:t>
                      </a:r>
                    </a:p>
                  </a:txBody>
                  <a:tcPr marL="91440" marR="91440" marT="45720" marB="45720" anchor="ctr">
                    <a:solidFill>
                      <a:schemeClr val="bg2"/>
                    </a:solidFill>
                  </a:tcPr>
                </a:tc>
                <a:tc>
                  <a:txBody>
                    <a:bodyPr/>
                    <a:lstStyle/>
                    <a:p>
                      <a:pPr algn="l"/>
                      <a:r>
                        <a:rPr sz="1300" b="0">
                          <a:solidFill>
                            <a:schemeClr val="tx1"/>
                          </a:solidFill>
                        </a:rPr>
                        <a:t>The cut: every participating instance serializes here</a:t>
                      </a:r>
                    </a:p>
                  </a:txBody>
                  <a:tcPr marL="91440" marR="91440" marT="45720" marB="45720" anchor="ctr">
                    <a:solidFill>
                      <a:schemeClr val="bg2"/>
                    </a:solidFill>
                  </a:tcPr>
                </a:tc>
              </a:tr>
              <a:tr h="502920">
                <a:tc>
                  <a:txBody>
                    <a:bodyPr/>
                    <a:lstStyle/>
                    <a:p>
                      <a:pPr algn="l"/>
                      <a:r>
                        <a:rPr sz="1300" b="1">
                          <a:solidFill>
                            <a:schemeClr val="tx1"/>
                          </a:solidFill>
                        </a:rPr>
                        <a:t>SnapshotEnd</a:t>
                      </a:r>
                    </a:p>
                  </a:txBody>
                  <a:tcPr marL="91440" marR="91440" marT="45720" marB="45720" anchor="ctr">
                    <a:solidFill>
                      <a:schemeClr val="bg1"/>
                    </a:solidFill>
                  </a:tcPr>
                </a:tc>
                <a:tc>
                  <a:txBody>
                    <a:bodyPr/>
                    <a:lstStyle/>
                    <a:p>
                      <a:pPr algn="l"/>
                      <a:r>
                        <a:rPr sz="1300" b="0">
                          <a:solidFill>
                            <a:schemeClr val="tx1"/>
                          </a:solidFill>
                        </a:rPr>
                        <a:t>the instance that may publish</a:t>
                      </a:r>
                    </a:p>
                  </a:txBody>
                  <a:tcPr marL="91440" marR="91440" marT="45720" marB="45720" anchor="ctr">
                    <a:solidFill>
                      <a:schemeClr val="bg1"/>
                    </a:solidFill>
                  </a:tcPr>
                </a:tc>
                <a:tc>
                  <a:txBody>
                    <a:bodyPr/>
                    <a:lstStyle/>
                    <a:p>
                      <a:pPr algn="l"/>
                      <a:r>
                        <a:rPr sz="1300" b="0">
                          <a:solidFill>
                            <a:schemeClr val="tx1"/>
                          </a:solidFill>
                        </a:rPr>
                        <a:t>round, recordCount, length, crc32c</a:t>
                      </a:r>
                    </a:p>
                  </a:txBody>
                  <a:tcPr marL="91440" marR="91440" marT="45720" marB="45720" anchor="ctr">
                    <a:solidFill>
                      <a:schemeClr val="bg1"/>
                    </a:solidFill>
                  </a:tcPr>
                </a:tc>
                <a:tc>
                  <a:txBody>
                    <a:bodyPr/>
                    <a:lstStyle/>
                    <a:p>
                      <a:pPr algn="l"/>
                      <a:r>
                        <a:rPr sz="1300" b="0">
                          <a:solidFill>
                            <a:schemeClr val="tx1"/>
                          </a:solidFill>
                        </a:rPr>
                        <a:t>Every instance compares its own; a difference fences</a:t>
                      </a:r>
                    </a:p>
                  </a:txBody>
                  <a:tcPr marL="91440" marR="91440" marT="45720" marB="45720" anchor="ctr">
                    <a:solidFill>
                      <a:schemeClr val="bg1"/>
                    </a:solidFill>
                  </a:tcPr>
                </a:tc>
              </a:tr>
              <a:tr h="502920">
                <a:tc>
                  <a:txBody>
                    <a:bodyPr/>
                    <a:lstStyle/>
                    <a:p>
                      <a:pPr algn="l"/>
                      <a:r>
                        <a:rPr sz="1300" b="1">
                          <a:solidFill>
                            <a:schemeClr val="tx1"/>
                          </a:solidFill>
                        </a:rPr>
                        <a:t>SnapshotQuery</a:t>
                      </a:r>
                    </a:p>
                  </a:txBody>
                  <a:tcPr marL="91440" marR="91440" marT="45720" marB="45720" anchor="ctr">
                    <a:solidFill>
                      <a:schemeClr val="bg2"/>
                    </a:solidFill>
                  </a:tcPr>
                </a:tc>
                <a:tc>
                  <a:txBody>
                    <a:bodyPr/>
                    <a:lstStyle/>
                    <a:p>
                      <a:pPr algn="l"/>
                      <a:r>
                        <a:rPr sz="1300" b="0">
                          <a:solidFill>
                            <a:schemeClr val="tx1"/>
                          </a:solidFill>
                        </a:rPr>
                        <a:t>a restoring instance</a:t>
                      </a:r>
                    </a:p>
                  </a:txBody>
                  <a:tcPr marL="91440" marR="91440" marT="45720" marB="45720" anchor="ctr">
                    <a:solidFill>
                      <a:schemeClr val="bg2"/>
                    </a:solidFill>
                  </a:tcPr>
                </a:tc>
                <a:tc>
                  <a:txBody>
                    <a:bodyPr/>
                    <a:lstStyle/>
                    <a:p>
                      <a:pPr algn="l"/>
                      <a:r>
                        <a:rPr sz="1300" b="0">
                          <a:solidFill>
                            <a:schemeClr val="tx1"/>
                          </a:solidFill>
                        </a:rPr>
                        <a:t>sourceId, round</a:t>
                      </a:r>
                    </a:p>
                  </a:txBody>
                  <a:tcPr marL="91440" marR="91440" marT="45720" marB="45720" anchor="ctr">
                    <a:solidFill>
                      <a:schemeClr val="bg2"/>
                    </a:solidFill>
                  </a:tcPr>
                </a:tc>
                <a:tc>
                  <a:txBody>
                    <a:bodyPr/>
                    <a:lstStyle/>
                    <a:p>
                      <a:pPr algn="l"/>
                      <a:r>
                        <a:rPr sz="1300" b="0">
                          <a:solidFill>
                            <a:schemeClr val="tx1"/>
                          </a:solidFill>
                        </a:rPr>
                        <a:t>Asks its Replayer whether the log ends that round</a:t>
                      </a:r>
                    </a:p>
                  </a:txBody>
                  <a:tcPr marL="91440" marR="91440" marT="45720" marB="45720" anchor="ctr">
                    <a:solidFill>
                      <a:schemeClr val="bg2"/>
                    </a:solidFill>
                  </a:tcPr>
                </a:tc>
              </a:tr>
              <a:tr h="502920">
                <a:tc>
                  <a:txBody>
                    <a:bodyPr/>
                    <a:lstStyle/>
                    <a:p>
                      <a:pPr algn="l"/>
                      <a:r>
                        <a:rPr sz="1300" b="1">
                          <a:solidFill>
                            <a:schemeClr val="tx1"/>
                          </a:solidFill>
                        </a:rPr>
                        <a:t>SnapshotLocation</a:t>
                      </a:r>
                    </a:p>
                  </a:txBody>
                  <a:tcPr marL="91440" marR="91440" marT="45720" marB="45720" anchor="ctr">
                    <a:solidFill>
                      <a:schemeClr val="bg1"/>
                    </a:solidFill>
                  </a:tcPr>
                </a:tc>
                <a:tc>
                  <a:txBody>
                    <a:bodyPr/>
                    <a:lstStyle/>
                    <a:p>
                      <a:pPr algn="l"/>
                      <a:r>
                        <a:rPr sz="1300" b="0">
                          <a:solidFill>
                            <a:schemeClr val="tx1"/>
                          </a:solidFill>
                        </a:rPr>
                        <a:t>the Replayer</a:t>
                      </a:r>
                    </a:p>
                  </a:txBody>
                  <a:tcPr marL="91440" marR="91440" marT="45720" marB="45720" anchor="ctr">
                    <a:solidFill>
                      <a:schemeClr val="bg1"/>
                    </a:solidFill>
                  </a:tcPr>
                </a:tc>
                <a:tc>
                  <a:txBody>
                    <a:bodyPr/>
                    <a:lstStyle/>
                    <a:p>
                      <a:pPr algn="l"/>
                      <a:r>
                        <a:rPr sz="1300" b="0">
                          <a:solidFill>
                            <a:schemeClr val="tx1"/>
                          </a:solidFill>
                        </a:rPr>
                        <a:t>the end, asOfPosition</a:t>
                      </a:r>
                    </a:p>
                  </a:txBody>
                  <a:tcPr marL="91440" marR="91440" marT="45720" marB="45720" anchor="ctr">
                    <a:solidFill>
                      <a:schemeClr val="bg1"/>
                    </a:solidFill>
                  </a:tcPr>
                </a:tc>
                <a:tc>
                  <a:txBody>
                    <a:bodyPr/>
                    <a:lstStyle/>
                    <a:p>
                      <a:pPr algn="l"/>
                      <a:r>
                        <a:rPr sz="1300" b="0">
                          <a:solidFill>
                            <a:schemeClr val="tx1"/>
                          </a:solidFill>
                        </a:rPr>
                        <a:t>Where to resume; round −1 when there is none</a:t>
                      </a:r>
                    </a:p>
                  </a:txBody>
                  <a:tcPr marL="91440" marR="91440" marT="45720" marB="45720" anchor="ctr">
                    <a:solidFill>
                      <a:schemeClr val="bg1"/>
                    </a:solidFill>
                  </a:tcPr>
                </a:tc>
              </a:tr>
            </a:tbl>
          </a:graphicData>
        </a:graphic>
      </p:graphicFrame>
      <p:sp>
        <p:nvSpPr>
          <p:cNvPr id="9041" name="Text 632"/>
          <p:cNvSpPr txBox="1"/>
          <p:nvPr/>
        </p:nvSpPr>
        <p:spPr>
          <a:xfrm>
            <a:off x="548640" y="5806440"/>
            <a:ext cx="11094415" cy="365760"/>
          </a:xfrm>
          <a:prstGeom prst="rect">
            <a:avLst/>
          </a:prstGeom>
          <a:noFill/>
        </p:spPr>
        <p:txBody>
          <a:bodyPr wrap="square" anchor="t" lIns="0" rIns="0" tIns="0" bIns="0">
            <a:spAutoFit/>
          </a:bodyPr>
          <a:lstStyle/>
          <a:p>
            <a:pPr algn="l"/>
            <a:r>
              <a:rPr sz="1300" b="0">
                <a:solidFill>
                  <a:schemeClr val="accent5"/>
                </a:solidFill>
              </a:rPr>
              <a:t>SnapshotQuery and SnapshotLocation are replay control (schema 212): node-local, never sequenced. The rest are schema 210.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Replay sequence: a cold start</a:t>
            </a:r>
          </a:p>
        </p:txBody>
      </p:sp>
      <p:sp>
        <p:nvSpPr>
          <p:cNvPr id="3" name="Text 633"/>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Prove the recording, walk it to the end, then follow the tap</a:t>
            </a:r>
          </a:p>
        </p:txBody>
      </p:sp>
      <p:sp>
        <p:nvSpPr>
          <p:cNvPr id="9040" name="Slide number"/>
          <p:cNvSpPr txBox="1"/>
          <p:nvPr userDrawn="1"/>
        </p:nvSpPr>
        <p:spPr>
          <a:xfrm>
            <a:off x="10728655" y="6400800"/>
            <a:ext cx="914400" cy="274320"/>
          </a:xfrm>
          <a:prstGeom prst="rect">
            <a:avLst/>
          </a:prstGeom>
          <a:noFill/>
        </p:spPr>
        <p:txBody>
          <a:bodyPr wrap="none" lIns="0" tIns="0" rIns="0" bIns="0" anchor="ctr"/>
          <a:lstStyle/>
          <a:p>
            <a:pPr algn="r"/>
            <a:fld id="{32515ca7-2a15-42b9-a21a-3c05c1153ebe}" type="slidenum">
              <a:rPr lang="en-US" sz="1000" dirty="0">
                <a:solidFill>
                  <a:schemeClr val="accent5"/>
                </a:solidFill>
              </a:rPr>
              <a:t>40</a:t>
            </a:fld>
          </a:p>
        </p:txBody>
      </p:sp>
      <p:sp>
        <p:nvSpPr>
          <p:cNvPr id="9041" name="Lane 634"/>
          <p:cNvSpPr/>
          <p:nvPr/>
        </p:nvSpPr>
        <p:spPr>
          <a:xfrm>
            <a:off x="594360" y="1444752"/>
            <a:ext cx="1920240" cy="42062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Live tap</a:t>
            </a:r>
          </a:p>
          <a:p>
            <a:pPr algn="ctr"/>
            <a:r>
              <a:rPr sz="900" b="0">
                <a:solidFill>
                  <a:schemeClr val="accent5"/>
                </a:solidFill>
              </a:rPr>
              <a:t>stream 205</a:t>
            </a:r>
          </a:p>
        </p:txBody>
      </p:sp>
      <p:sp>
        <p:nvSpPr>
          <p:cNvPr id="9042" name="Lane 635"/>
          <p:cNvSpPr/>
          <p:nvPr/>
        </p:nvSpPr>
        <p:spPr>
          <a:xfrm>
            <a:off x="2788920" y="1444752"/>
            <a:ext cx="1920240" cy="42062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Client</a:t>
            </a:r>
          </a:p>
          <a:p>
            <a:pPr algn="ctr"/>
            <a:r>
              <a:rPr sz="900" b="0">
                <a:solidFill>
                  <a:schemeClr val="accent5"/>
                </a:solidFill>
              </a:rPr>
              <a:t>ReplayerStreamReceiver</a:t>
            </a:r>
          </a:p>
        </p:txBody>
      </p:sp>
      <p:sp>
        <p:nvSpPr>
          <p:cNvPr id="9043" name="Lane 636"/>
          <p:cNvSpPr/>
          <p:nvPr/>
        </p:nvSpPr>
        <p:spPr>
          <a:xfrm>
            <a:off x="6720840" y="1444752"/>
            <a:ext cx="1920240" cy="420624"/>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ReplayerService</a:t>
            </a:r>
          </a:p>
          <a:p>
            <a:pPr algn="ctr"/>
            <a:r>
              <a:rPr sz="900" b="0">
                <a:solidFill>
                  <a:schemeClr val="accent5"/>
                </a:solidFill>
              </a:rPr>
              <a:t>requests 202 · replies 203</a:t>
            </a:r>
          </a:p>
        </p:txBody>
      </p:sp>
      <p:sp>
        <p:nvSpPr>
          <p:cNvPr id="9044" name="Lane 637"/>
          <p:cNvSpPr/>
          <p:nvPr/>
        </p:nvSpPr>
        <p:spPr>
          <a:xfrm>
            <a:off x="9692640" y="1444752"/>
            <a:ext cx="1920240" cy="42062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Archive</a:t>
            </a:r>
          </a:p>
          <a:p>
            <a:pPr algn="ctr"/>
            <a:r>
              <a:rPr sz="900" b="0">
                <a:solidFill>
                  <a:schemeClr val="accent5"/>
                </a:solidFill>
              </a:rPr>
              <a:t>active tap recording</a:t>
            </a:r>
          </a:p>
        </p:txBody>
      </p:sp>
      <p:cxnSp>
        <p:nvCxnSpPr>
          <p:cNvPr id="9045" name="Arrow 638"/>
          <p:cNvCxnSpPr/>
          <p:nvPr/>
        </p:nvCxnSpPr>
        <p:spPr>
          <a:xfrm>
            <a:off x="155448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46" name="Arrow 639"/>
          <p:cNvCxnSpPr/>
          <p:nvPr/>
        </p:nvCxnSpPr>
        <p:spPr>
          <a:xfrm>
            <a:off x="374904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47" name="Arrow 640"/>
          <p:cNvCxnSpPr/>
          <p:nvPr/>
        </p:nvCxnSpPr>
        <p:spPr>
          <a:xfrm>
            <a:off x="76809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48" name="Arrow 641"/>
          <p:cNvCxnSpPr/>
          <p:nvPr/>
        </p:nvCxnSpPr>
        <p:spPr>
          <a:xfrm>
            <a:off x="106527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49" name="Arrow 642"/>
          <p:cNvCxnSpPr/>
          <p:nvPr/>
        </p:nvCxnSpPr>
        <p:spPr>
          <a:xfrm>
            <a:off x="7619695" y="1197864"/>
            <a:ext cx="32004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0" name="Text 643"/>
          <p:cNvSpPr txBox="1"/>
          <p:nvPr/>
        </p:nvSpPr>
        <p:spPr>
          <a:xfrm>
            <a:off x="8003743" y="1088136"/>
            <a:ext cx="621792" cy="219456"/>
          </a:xfrm>
          <a:prstGeom prst="rect">
            <a:avLst/>
          </a:prstGeom>
          <a:noFill/>
        </p:spPr>
        <p:txBody>
          <a:bodyPr wrap="square" anchor="ctr" lIns="0" rIns="0" tIns="0" bIns="0">
            <a:spAutoFit/>
          </a:bodyPr>
          <a:lstStyle/>
          <a:p>
            <a:pPr algn="l"/>
            <a:r>
              <a:rPr sz="1000" b="0">
                <a:solidFill>
                  <a:schemeClr val="accent5"/>
                </a:solidFill>
              </a:rPr>
              <a:t>live tap</a:t>
            </a:r>
          </a:p>
        </p:txBody>
      </p:sp>
      <p:cxnSp>
        <p:nvCxnSpPr>
          <p:cNvPr id="9051" name="Arrow 644"/>
          <p:cNvCxnSpPr/>
          <p:nvPr/>
        </p:nvCxnSpPr>
        <p:spPr>
          <a:xfrm>
            <a:off x="8625535" y="1197864"/>
            <a:ext cx="320040" cy="0"/>
          </a:xfrm>
          <a:prstGeom prst="line">
            <a:avLst/>
          </a:prstGeom>
          <a:ln w="22225">
            <a:solidFill>
              <a:schemeClr val="accent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2" name="Text 645"/>
          <p:cNvSpPr txBox="1"/>
          <p:nvPr/>
        </p:nvSpPr>
        <p:spPr>
          <a:xfrm>
            <a:off x="9009583" y="1088136"/>
            <a:ext cx="621792" cy="219456"/>
          </a:xfrm>
          <a:prstGeom prst="rect">
            <a:avLst/>
          </a:prstGeom>
          <a:noFill/>
        </p:spPr>
        <p:txBody>
          <a:bodyPr wrap="square" anchor="ctr" lIns="0" rIns="0" tIns="0" bIns="0">
            <a:spAutoFit/>
          </a:bodyPr>
          <a:lstStyle/>
          <a:p>
            <a:pPr algn="l"/>
            <a:r>
              <a:rPr sz="1000" b="0">
                <a:solidFill>
                  <a:schemeClr val="accent5"/>
                </a:solidFill>
              </a:rPr>
              <a:t>replay 201</a:t>
            </a:r>
          </a:p>
        </p:txBody>
      </p:sp>
      <p:cxnSp>
        <p:nvCxnSpPr>
          <p:cNvPr id="9053" name="Arrow 646"/>
          <p:cNvCxnSpPr/>
          <p:nvPr/>
        </p:nvCxnSpPr>
        <p:spPr>
          <a:xfrm>
            <a:off x="9631375" y="1197864"/>
            <a:ext cx="32004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4" name="Text 647"/>
          <p:cNvSpPr txBox="1"/>
          <p:nvPr/>
        </p:nvSpPr>
        <p:spPr>
          <a:xfrm>
            <a:off x="10015423" y="1088136"/>
            <a:ext cx="621792" cy="219456"/>
          </a:xfrm>
          <a:prstGeom prst="rect">
            <a:avLst/>
          </a:prstGeom>
          <a:noFill/>
        </p:spPr>
        <p:txBody>
          <a:bodyPr wrap="square" anchor="ctr" lIns="0" rIns="0" tIns="0" bIns="0">
            <a:spAutoFit/>
          </a:bodyPr>
          <a:lstStyle/>
          <a:p>
            <a:pPr algn="l"/>
            <a:r>
              <a:rPr sz="1000" b="0">
                <a:solidFill>
                  <a:schemeClr val="accent5"/>
                </a:solidFill>
              </a:rPr>
              <a:t>request</a:t>
            </a:r>
          </a:p>
        </p:txBody>
      </p:sp>
      <p:cxnSp>
        <p:nvCxnSpPr>
          <p:cNvPr id="9055" name="Arrow 648"/>
          <p:cNvCxnSpPr/>
          <p:nvPr/>
        </p:nvCxnSpPr>
        <p:spPr>
          <a:xfrm>
            <a:off x="10637215" y="1197864"/>
            <a:ext cx="32004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56" name="Text 649"/>
          <p:cNvSpPr txBox="1"/>
          <p:nvPr/>
        </p:nvSpPr>
        <p:spPr>
          <a:xfrm>
            <a:off x="11021263" y="1088136"/>
            <a:ext cx="621792" cy="219456"/>
          </a:xfrm>
          <a:prstGeom prst="rect">
            <a:avLst/>
          </a:prstGeom>
          <a:noFill/>
        </p:spPr>
        <p:txBody>
          <a:bodyPr wrap="square" anchor="ctr" lIns="0" rIns="0" tIns="0" bIns="0">
            <a:spAutoFit/>
          </a:bodyPr>
          <a:lstStyle/>
          <a:p>
            <a:pPr algn="l"/>
            <a:r>
              <a:rPr sz="1000" b="0">
                <a:solidFill>
                  <a:schemeClr val="accent5"/>
                </a:solidFill>
              </a:rPr>
              <a:t>reply</a:t>
            </a:r>
          </a:p>
        </p:txBody>
      </p:sp>
      <p:sp>
        <p:nvSpPr>
          <p:cNvPr id="9057" name="Frame tag 650"/>
          <p:cNvSpPr/>
          <p:nvPr/>
        </p:nvSpPr>
        <p:spPr>
          <a:xfrm>
            <a:off x="6309360" y="1975104"/>
            <a:ext cx="566928" cy="21945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chemeClr val="tx1"/>
                </a:solidFill>
              </a:rPr>
              <a:t>START</a:t>
            </a:r>
          </a:p>
        </p:txBody>
      </p:sp>
      <p:sp>
        <p:nvSpPr>
          <p:cNvPr id="9058" name="Frame guard 651"/>
          <p:cNvSpPr/>
          <p:nvPr/>
        </p:nvSpPr>
        <p:spPr>
          <a:xfrm>
            <a:off x="6912864" y="1975104"/>
            <a:ext cx="2018995" cy="21945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9" name="Text 652"/>
          <p:cNvSpPr txBox="1"/>
          <p:nvPr/>
        </p:nvSpPr>
        <p:spPr>
          <a:xfrm>
            <a:off x="6967728" y="1975104"/>
            <a:ext cx="1909267" cy="219456"/>
          </a:xfrm>
          <a:prstGeom prst="rect">
            <a:avLst/>
          </a:prstGeom>
          <a:noFill/>
        </p:spPr>
        <p:txBody>
          <a:bodyPr wrap="none" anchor="ctr" lIns="0" rIns="0" tIns="0" bIns="0">
            <a:spAutoFit/>
          </a:bodyPr>
          <a:lstStyle/>
          <a:p>
            <a:pPr algn="l"/>
            <a:r>
              <a:rPr sz="1000" b="0" i="1">
                <a:solidFill>
                  <a:schemeClr val="accent5"/>
                </a:solidFill>
              </a:rPr>
              <a:t>once, before it reports ready</a:t>
            </a:r>
          </a:p>
        </p:txBody>
      </p:sp>
      <p:sp>
        <p:nvSpPr>
          <p:cNvPr id="9060" name="Text 653"/>
          <p:cNvSpPr txBox="1"/>
          <p:nvPr/>
        </p:nvSpPr>
        <p:spPr>
          <a:xfrm>
            <a:off x="7726680" y="2157984"/>
            <a:ext cx="2880360" cy="228600"/>
          </a:xfrm>
          <a:prstGeom prst="rect">
            <a:avLst/>
          </a:prstGeom>
          <a:noFill/>
        </p:spPr>
        <p:txBody>
          <a:bodyPr wrap="square" anchor="b" lIns="0" rIns="0" tIns="0" bIns="0">
            <a:spAutoFit/>
          </a:bodyPr>
          <a:lstStyle/>
          <a:p>
            <a:pPr algn="ctr"/>
            <a:r>
              <a:rPr sz="1100" b="0">
                <a:solidFill>
                  <a:schemeClr val="tx1"/>
                </a:solidFill>
              </a:rPr>
              <a:t>startReplay(active, first frame) · 204</a:t>
            </a:r>
          </a:p>
        </p:txBody>
      </p:sp>
      <p:cxnSp>
        <p:nvCxnSpPr>
          <p:cNvPr id="9061" name="Arrow 654"/>
          <p:cNvCxnSpPr/>
          <p:nvPr/>
        </p:nvCxnSpPr>
        <p:spPr>
          <a:xfrm>
            <a:off x="7680960" y="2404872"/>
            <a:ext cx="297180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2" name="Text 655"/>
          <p:cNvSpPr txBox="1"/>
          <p:nvPr/>
        </p:nvSpPr>
        <p:spPr>
          <a:xfrm>
            <a:off x="7726680" y="2450592"/>
            <a:ext cx="2880360" cy="228600"/>
          </a:xfrm>
          <a:prstGeom prst="rect">
            <a:avLst/>
          </a:prstGeom>
          <a:noFill/>
        </p:spPr>
        <p:txBody>
          <a:bodyPr wrap="square" anchor="b" lIns="0" rIns="0" tIns="0" bIns="0">
            <a:spAutoFit/>
          </a:bodyPr>
          <a:lstStyle/>
          <a:p>
            <a:pPr algn="ctr"/>
            <a:r>
              <a:rPr sz="1100" b="0">
                <a:solidFill>
                  <a:schemeClr val="tx1"/>
                </a:solidFill>
              </a:rPr>
              <a:t>first frame is globalSeqNo 1 → ready</a:t>
            </a:r>
          </a:p>
        </p:txBody>
      </p:sp>
      <p:cxnSp>
        <p:nvCxnSpPr>
          <p:cNvPr id="9063" name="Arrow 656"/>
          <p:cNvCxnSpPr/>
          <p:nvPr/>
        </p:nvCxnSpPr>
        <p:spPr>
          <a:xfrm flipH="1">
            <a:off x="7680960" y="2697480"/>
            <a:ext cx="297180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64" name="Frame 657"/>
          <p:cNvSpPr/>
          <p:nvPr/>
        </p:nvSpPr>
        <p:spPr>
          <a:xfrm>
            <a:off x="6309360" y="1975104"/>
            <a:ext cx="5333695" cy="832104"/>
          </a:xfrm>
          <a:prstGeom prst="rect">
            <a:avLst/>
          </a:prstGeom>
          <a:noFill/>
          <a:ln w="12700">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5" name="Text 658"/>
          <p:cNvSpPr txBox="1"/>
          <p:nvPr/>
        </p:nvSpPr>
        <p:spPr>
          <a:xfrm>
            <a:off x="3794760" y="2852928"/>
            <a:ext cx="3840480" cy="228600"/>
          </a:xfrm>
          <a:prstGeom prst="rect">
            <a:avLst/>
          </a:prstGeom>
          <a:noFill/>
        </p:spPr>
        <p:txBody>
          <a:bodyPr wrap="square" anchor="b" lIns="0" rIns="0" tIns="0" bIns="0">
            <a:spAutoFit/>
          </a:bodyPr>
          <a:lstStyle/>
          <a:p>
            <a:pPr algn="ctr"/>
            <a:r>
              <a:rPr sz="1100" b="0">
                <a:solidFill>
                  <a:schemeClr val="tx1"/>
                </a:solidFill>
              </a:rPr>
              <a:t>ReplayRequest(clientId, requestId 1, FROM_START)</a:t>
            </a:r>
          </a:p>
        </p:txBody>
      </p:sp>
      <p:cxnSp>
        <p:nvCxnSpPr>
          <p:cNvPr id="9066" name="Arrow 659"/>
          <p:cNvCxnSpPr/>
          <p:nvPr/>
        </p:nvCxnSpPr>
        <p:spPr>
          <a:xfrm>
            <a:off x="3749040" y="3099816"/>
            <a:ext cx="39319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7" name="Text 660"/>
          <p:cNvSpPr txBox="1"/>
          <p:nvPr/>
        </p:nvSpPr>
        <p:spPr>
          <a:xfrm>
            <a:off x="7726680" y="3145536"/>
            <a:ext cx="2880360" cy="228600"/>
          </a:xfrm>
          <a:prstGeom prst="rect">
            <a:avLst/>
          </a:prstGeom>
          <a:noFill/>
        </p:spPr>
        <p:txBody>
          <a:bodyPr wrap="square" anchor="b" lIns="0" rIns="0" tIns="0" bIns="0">
            <a:spAutoFit/>
          </a:bodyPr>
          <a:lstStyle/>
          <a:p>
            <a:pPr algn="ctr"/>
            <a:r>
              <a:rPr sz="1100" b="0">
                <a:solidFill>
                  <a:schemeClr val="tx1"/>
                </a:solidFill>
              </a:rPr>
              <a:t>startReplay(start → last recorded) · 201</a:t>
            </a:r>
          </a:p>
        </p:txBody>
      </p:sp>
      <p:cxnSp>
        <p:nvCxnSpPr>
          <p:cNvPr id="9068" name="Arrow 661"/>
          <p:cNvCxnSpPr/>
          <p:nvPr/>
        </p:nvCxnSpPr>
        <p:spPr>
          <a:xfrm>
            <a:off x="7680960" y="3392424"/>
            <a:ext cx="297180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9" name="Text 662"/>
          <p:cNvSpPr txBox="1"/>
          <p:nvPr/>
        </p:nvSpPr>
        <p:spPr>
          <a:xfrm>
            <a:off x="3794760" y="3438144"/>
            <a:ext cx="3840480" cy="228600"/>
          </a:xfrm>
          <a:prstGeom prst="rect">
            <a:avLst/>
          </a:prstGeom>
          <a:noFill/>
        </p:spPr>
        <p:txBody>
          <a:bodyPr wrap="square" anchor="b" lIns="0" rIns="0" tIns="0" bIns="0">
            <a:spAutoFit/>
          </a:bodyPr>
          <a:lstStyle/>
          <a:p>
            <a:pPr algn="ctr"/>
            <a:r>
              <a:rPr sz="1100" b="0">
                <a:solidFill>
                  <a:schemeClr val="tx1"/>
                </a:solidFill>
              </a:rPr>
              <a:t>Replaying(session, catchUpPosition = last recorded)</a:t>
            </a:r>
          </a:p>
        </p:txBody>
      </p:sp>
      <p:cxnSp>
        <p:nvCxnSpPr>
          <p:cNvPr id="9070" name="Arrow 663"/>
          <p:cNvCxnSpPr/>
          <p:nvPr/>
        </p:nvCxnSpPr>
        <p:spPr>
          <a:xfrm flipH="1">
            <a:off x="3749040" y="3685032"/>
            <a:ext cx="393192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71" name="Note 664"/>
          <p:cNvSpPr/>
          <p:nvPr/>
        </p:nvSpPr>
        <p:spPr>
          <a:xfrm>
            <a:off x="3822192" y="3730752"/>
            <a:ext cx="37490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72" name="Text 665"/>
          <p:cNvSpPr txBox="1"/>
          <p:nvPr/>
        </p:nvSpPr>
        <p:spPr>
          <a:xfrm>
            <a:off x="3895344" y="3730752"/>
            <a:ext cx="3602736" cy="274320"/>
          </a:xfrm>
          <a:prstGeom prst="rect">
            <a:avLst/>
          </a:prstGeom>
          <a:noFill/>
        </p:spPr>
        <p:txBody>
          <a:bodyPr wrap="square" anchor="ctr" lIns="0" rIns="0" tIns="0" bIns="0">
            <a:spAutoFit/>
          </a:bodyPr>
          <a:lstStyle/>
          <a:p>
            <a:pPr algn="l"/>
            <a:r>
              <a:rPr sz="1100" b="0">
                <a:solidFill>
                  <a:schemeClr val="tx1"/>
                </a:solidFill>
              </a:rPr>
              <a:t>subscribe to 201 for this replay session only</a:t>
            </a:r>
          </a:p>
        </p:txBody>
      </p:sp>
      <p:sp>
        <p:nvSpPr>
          <p:cNvPr id="9073" name="Frame tag 666"/>
          <p:cNvSpPr/>
          <p:nvPr/>
        </p:nvSpPr>
        <p:spPr>
          <a:xfrm>
            <a:off x="548640" y="4087368"/>
            <a:ext cx="566928" cy="21945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chemeClr val="tx1"/>
                </a:solidFill>
              </a:rPr>
              <a:t>LOOP</a:t>
            </a:r>
          </a:p>
        </p:txBody>
      </p:sp>
      <p:sp>
        <p:nvSpPr>
          <p:cNvPr id="9074" name="Frame guard 667"/>
          <p:cNvSpPr/>
          <p:nvPr/>
        </p:nvSpPr>
        <p:spPr>
          <a:xfrm>
            <a:off x="1152144" y="4087368"/>
            <a:ext cx="3138221" cy="21945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5" name="Text 668"/>
          <p:cNvSpPr txBox="1"/>
          <p:nvPr/>
        </p:nvSpPr>
        <p:spPr>
          <a:xfrm>
            <a:off x="1207008" y="4087368"/>
            <a:ext cx="3028493" cy="219456"/>
          </a:xfrm>
          <a:prstGeom prst="rect">
            <a:avLst/>
          </a:prstGeom>
          <a:noFill/>
        </p:spPr>
        <p:txBody>
          <a:bodyPr wrap="none" anchor="ctr" lIns="0" rIns="0" tIns="0" bIns="0">
            <a:spAutoFit/>
          </a:bodyPr>
          <a:lstStyle/>
          <a:p>
            <a:pPr algn="l"/>
            <a:r>
              <a:rPr sz="1000" b="0" i="1">
                <a:solidFill>
                  <a:schemeClr val="accent5"/>
                </a:solidFill>
              </a:rPr>
              <a:t>until the replay image reaches catchUpPosition</a:t>
            </a:r>
          </a:p>
        </p:txBody>
      </p:sp>
      <p:sp>
        <p:nvSpPr>
          <p:cNvPr id="9076" name="Text 669"/>
          <p:cNvSpPr txBox="1"/>
          <p:nvPr/>
        </p:nvSpPr>
        <p:spPr>
          <a:xfrm>
            <a:off x="3794760" y="4270248"/>
            <a:ext cx="6812280" cy="228600"/>
          </a:xfrm>
          <a:prstGeom prst="rect">
            <a:avLst/>
          </a:prstGeom>
          <a:noFill/>
        </p:spPr>
        <p:txBody>
          <a:bodyPr wrap="square" anchor="b" lIns="0" rIns="0" tIns="0" bIns="0">
            <a:spAutoFit/>
          </a:bodyPr>
          <a:lstStyle/>
          <a:p>
            <a:pPr algn="ctr"/>
            <a:r>
              <a:rPr sz="1100" b="0">
                <a:solidFill>
                  <a:schemeClr val="tx1"/>
                </a:solidFill>
              </a:rPr>
              <a:t>replayed frames 1, 2, 3 … → dispatched in globalSeqNo order</a:t>
            </a:r>
          </a:p>
        </p:txBody>
      </p:sp>
      <p:cxnSp>
        <p:nvCxnSpPr>
          <p:cNvPr id="9077" name="Arrow 670"/>
          <p:cNvCxnSpPr/>
          <p:nvPr/>
        </p:nvCxnSpPr>
        <p:spPr>
          <a:xfrm flipH="1">
            <a:off x="3749040" y="4517136"/>
            <a:ext cx="6903720" cy="0"/>
          </a:xfrm>
          <a:prstGeom prst="line">
            <a:avLst/>
          </a:prstGeom>
          <a:ln w="22225">
            <a:solidFill>
              <a:schemeClr val="accent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78" name="Text 671"/>
          <p:cNvSpPr txBox="1"/>
          <p:nvPr/>
        </p:nvSpPr>
        <p:spPr>
          <a:xfrm>
            <a:off x="1600200" y="4562856"/>
            <a:ext cx="2103120" cy="228600"/>
          </a:xfrm>
          <a:prstGeom prst="rect">
            <a:avLst/>
          </a:prstGeom>
          <a:noFill/>
        </p:spPr>
        <p:txBody>
          <a:bodyPr wrap="square" anchor="b" lIns="0" rIns="0" tIns="0" bIns="0">
            <a:spAutoFit/>
          </a:bodyPr>
          <a:lstStyle/>
          <a:p>
            <a:pPr algn="ctr"/>
            <a:r>
              <a:rPr sz="1100" b="0">
                <a:solidFill>
                  <a:schemeClr val="tx1"/>
                </a:solidFill>
              </a:rPr>
              <a:t>frames past the end → retained</a:t>
            </a:r>
          </a:p>
        </p:txBody>
      </p:sp>
      <p:cxnSp>
        <p:nvCxnSpPr>
          <p:cNvPr id="9079" name="Arrow 672"/>
          <p:cNvCxnSpPr/>
          <p:nvPr/>
        </p:nvCxnSpPr>
        <p:spPr>
          <a:xfrm>
            <a:off x="1554480" y="4809744"/>
            <a:ext cx="219456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80" name="Text 673"/>
          <p:cNvSpPr txBox="1"/>
          <p:nvPr/>
        </p:nvSpPr>
        <p:spPr>
          <a:xfrm>
            <a:off x="3794760" y="4855464"/>
            <a:ext cx="3840480" cy="228600"/>
          </a:xfrm>
          <a:prstGeom prst="rect">
            <a:avLst/>
          </a:prstGeom>
          <a:noFill/>
        </p:spPr>
        <p:txBody>
          <a:bodyPr wrap="square" anchor="b" lIns="0" rIns="0" tIns="0" bIns="0">
            <a:spAutoFit/>
          </a:bodyPr>
          <a:lstStyle/>
          <a:p>
            <a:pPr algn="ctr"/>
            <a:r>
              <a:rPr sz="1100" b="0">
                <a:solidFill>
                  <a:schemeClr val="tx1"/>
                </a:solidFill>
              </a:rPr>
              <a:t>ReplayHeartbeat every 500 ms (slot idle TTL 5 s)</a:t>
            </a:r>
          </a:p>
        </p:txBody>
      </p:sp>
      <p:cxnSp>
        <p:nvCxnSpPr>
          <p:cNvPr id="9081" name="Arrow 674"/>
          <p:cNvCxnSpPr/>
          <p:nvPr/>
        </p:nvCxnSpPr>
        <p:spPr>
          <a:xfrm>
            <a:off x="3749040" y="5102352"/>
            <a:ext cx="39319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82" name="Frame 675"/>
          <p:cNvSpPr/>
          <p:nvPr/>
        </p:nvSpPr>
        <p:spPr>
          <a:xfrm>
            <a:off x="548640" y="4087368"/>
            <a:ext cx="11094415" cy="1124712"/>
          </a:xfrm>
          <a:prstGeom prst="rect">
            <a:avLst/>
          </a:prstGeom>
          <a:noFill/>
          <a:ln w="12700">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3" name="Note 676"/>
          <p:cNvSpPr/>
          <p:nvPr/>
        </p:nvSpPr>
        <p:spPr>
          <a:xfrm>
            <a:off x="3822192" y="5257800"/>
            <a:ext cx="37490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84" name="Text 677"/>
          <p:cNvSpPr txBox="1"/>
          <p:nvPr/>
        </p:nvSpPr>
        <p:spPr>
          <a:xfrm>
            <a:off x="3895344" y="5257800"/>
            <a:ext cx="3602736" cy="274320"/>
          </a:xfrm>
          <a:prstGeom prst="rect">
            <a:avLst/>
          </a:prstGeom>
          <a:noFill/>
        </p:spPr>
        <p:txBody>
          <a:bodyPr wrap="square" anchor="ctr" lIns="0" rIns="0" tIns="0" bIns="0">
            <a:spAutoFit/>
          </a:bodyPr>
          <a:lstStyle/>
          <a:p>
            <a:pPr algn="l"/>
            <a:r>
              <a:rPr sz="1100" b="0">
                <a:solidFill>
                  <a:schemeClr val="tx1"/>
                </a:solidFill>
              </a:rPr>
              <a:t>position ≥ catchUpPosition: close the replay</a:t>
            </a:r>
          </a:p>
        </p:txBody>
      </p:sp>
      <p:sp>
        <p:nvSpPr>
          <p:cNvPr id="9085" name="Text 678"/>
          <p:cNvSpPr txBox="1"/>
          <p:nvPr/>
        </p:nvSpPr>
        <p:spPr>
          <a:xfrm>
            <a:off x="3794760" y="5550408"/>
            <a:ext cx="3840480" cy="228600"/>
          </a:xfrm>
          <a:prstGeom prst="rect">
            <a:avLst/>
          </a:prstGeom>
          <a:noFill/>
        </p:spPr>
        <p:txBody>
          <a:bodyPr wrap="square" anchor="b" lIns="0" rIns="0" tIns="0" bIns="0">
            <a:spAutoFit/>
          </a:bodyPr>
          <a:lstStyle/>
          <a:p>
            <a:pPr algn="ctr"/>
            <a:r>
              <a:rPr sz="1100" b="0">
                <a:solidFill>
                  <a:schemeClr val="tx1"/>
                </a:solidFill>
              </a:rPr>
              <a:t>ReplayComplete → slot freed, a queued request starts</a:t>
            </a:r>
          </a:p>
        </p:txBody>
      </p:sp>
      <p:cxnSp>
        <p:nvCxnSpPr>
          <p:cNvPr id="9086" name="Arrow 679"/>
          <p:cNvCxnSpPr/>
          <p:nvPr/>
        </p:nvCxnSpPr>
        <p:spPr>
          <a:xfrm>
            <a:off x="3749040" y="5797296"/>
            <a:ext cx="39319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87" name="Note 680"/>
          <p:cNvSpPr/>
          <p:nvPr/>
        </p:nvSpPr>
        <p:spPr>
          <a:xfrm>
            <a:off x="3822192" y="5843016"/>
            <a:ext cx="3749040"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88" name="Text 681"/>
          <p:cNvSpPr txBox="1"/>
          <p:nvPr/>
        </p:nvSpPr>
        <p:spPr>
          <a:xfrm>
            <a:off x="3895344" y="5843016"/>
            <a:ext cx="3602736" cy="274320"/>
          </a:xfrm>
          <a:prstGeom prst="rect">
            <a:avLst/>
          </a:prstGeom>
          <a:noFill/>
        </p:spPr>
        <p:txBody>
          <a:bodyPr wrap="square" anchor="ctr" lIns="0" rIns="0" tIns="0" bIns="0">
            <a:spAutoFit/>
          </a:bodyPr>
          <a:lstStyle/>
          <a:p>
            <a:pPr algn="l"/>
            <a:r>
              <a:rPr sz="1100" b="0">
                <a:solidFill>
                  <a:schemeClr val="tx1"/>
                </a:solidFill>
              </a:rPr>
              <a:t>drain the FIFO → isCaughtUp(), onCaughtUp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Replay sequence: a gap</a:t>
            </a:r>
          </a:p>
        </p:txBody>
      </p:sp>
      <p:sp>
        <p:nvSpPr>
          <p:cNvPr id="3" name="Text 682"/>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Resume at the last delivered frame; the anchor catches a rotation</a:t>
            </a:r>
          </a:p>
        </p:txBody>
      </p:sp>
      <p:sp>
        <p:nvSpPr>
          <p:cNvPr id="9041" name="Slide number"/>
          <p:cNvSpPr txBox="1"/>
          <p:nvPr userDrawn="1"/>
        </p:nvSpPr>
        <p:spPr>
          <a:xfrm>
            <a:off x="10728655" y="6400800"/>
            <a:ext cx="914400" cy="274320"/>
          </a:xfrm>
          <a:prstGeom prst="rect">
            <a:avLst/>
          </a:prstGeom>
          <a:noFill/>
        </p:spPr>
        <p:txBody>
          <a:bodyPr wrap="none" lIns="0" tIns="0" rIns="0" bIns="0" anchor="ctr"/>
          <a:lstStyle/>
          <a:p>
            <a:pPr algn="r"/>
            <a:fld id="{01a50604-694a-4c44-9f71-22379b92a02f}" type="slidenum">
              <a:rPr lang="en-US" sz="1000" dirty="0">
                <a:solidFill>
                  <a:schemeClr val="accent5"/>
                </a:solidFill>
              </a:rPr>
              <a:t>41</a:t>
            </a:fld>
          </a:p>
        </p:txBody>
      </p:sp>
      <p:sp>
        <p:nvSpPr>
          <p:cNvPr id="9042" name="Lane 683"/>
          <p:cNvSpPr/>
          <p:nvPr/>
        </p:nvSpPr>
        <p:spPr>
          <a:xfrm>
            <a:off x="594360" y="1444752"/>
            <a:ext cx="1920240" cy="42062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Live tap</a:t>
            </a:r>
          </a:p>
          <a:p>
            <a:pPr algn="ctr"/>
            <a:r>
              <a:rPr sz="900" b="0">
                <a:solidFill>
                  <a:schemeClr val="accent5"/>
                </a:solidFill>
              </a:rPr>
              <a:t>stream 205</a:t>
            </a:r>
          </a:p>
        </p:txBody>
      </p:sp>
      <p:sp>
        <p:nvSpPr>
          <p:cNvPr id="9043" name="Lane 684"/>
          <p:cNvSpPr/>
          <p:nvPr/>
        </p:nvSpPr>
        <p:spPr>
          <a:xfrm>
            <a:off x="2788920" y="1444752"/>
            <a:ext cx="1920240" cy="42062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Client</a:t>
            </a:r>
          </a:p>
          <a:p>
            <a:pPr algn="ctr"/>
            <a:r>
              <a:rPr sz="900" b="0">
                <a:solidFill>
                  <a:schemeClr val="accent5"/>
                </a:solidFill>
              </a:rPr>
              <a:t>ReplayerStreamReceiver</a:t>
            </a:r>
          </a:p>
        </p:txBody>
      </p:sp>
      <p:sp>
        <p:nvSpPr>
          <p:cNvPr id="9044" name="Lane 685"/>
          <p:cNvSpPr/>
          <p:nvPr/>
        </p:nvSpPr>
        <p:spPr>
          <a:xfrm>
            <a:off x="6720840" y="1444752"/>
            <a:ext cx="1920240" cy="420624"/>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ReplayerService</a:t>
            </a:r>
          </a:p>
          <a:p>
            <a:pPr algn="ctr"/>
            <a:r>
              <a:rPr sz="900" b="0">
                <a:solidFill>
                  <a:schemeClr val="accent5"/>
                </a:solidFill>
              </a:rPr>
              <a:t>requests 202 · replies 203</a:t>
            </a:r>
          </a:p>
        </p:txBody>
      </p:sp>
      <p:sp>
        <p:nvSpPr>
          <p:cNvPr id="9045" name="Lane 686"/>
          <p:cNvSpPr/>
          <p:nvPr/>
        </p:nvSpPr>
        <p:spPr>
          <a:xfrm>
            <a:off x="9692640" y="1444752"/>
            <a:ext cx="1920240" cy="42062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Archive</a:t>
            </a:r>
          </a:p>
          <a:p>
            <a:pPr algn="ctr"/>
            <a:r>
              <a:rPr sz="900" b="0">
                <a:solidFill>
                  <a:schemeClr val="accent5"/>
                </a:solidFill>
              </a:rPr>
              <a:t>active tap recording</a:t>
            </a:r>
          </a:p>
        </p:txBody>
      </p:sp>
      <p:cxnSp>
        <p:nvCxnSpPr>
          <p:cNvPr id="9046" name="Arrow 687"/>
          <p:cNvCxnSpPr/>
          <p:nvPr/>
        </p:nvCxnSpPr>
        <p:spPr>
          <a:xfrm>
            <a:off x="155448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47" name="Arrow 688"/>
          <p:cNvCxnSpPr/>
          <p:nvPr/>
        </p:nvCxnSpPr>
        <p:spPr>
          <a:xfrm>
            <a:off x="374904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48" name="Arrow 689"/>
          <p:cNvCxnSpPr/>
          <p:nvPr/>
        </p:nvCxnSpPr>
        <p:spPr>
          <a:xfrm>
            <a:off x="76809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49" name="Arrow 690"/>
          <p:cNvCxnSpPr/>
          <p:nvPr/>
        </p:nvCxnSpPr>
        <p:spPr>
          <a:xfrm>
            <a:off x="106527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0" name="Arrow 691"/>
          <p:cNvCxnSpPr/>
          <p:nvPr/>
        </p:nvCxnSpPr>
        <p:spPr>
          <a:xfrm>
            <a:off x="7619695" y="1197864"/>
            <a:ext cx="32004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1" name="Text 692"/>
          <p:cNvSpPr txBox="1"/>
          <p:nvPr/>
        </p:nvSpPr>
        <p:spPr>
          <a:xfrm>
            <a:off x="8003743" y="1088136"/>
            <a:ext cx="621792" cy="219456"/>
          </a:xfrm>
          <a:prstGeom prst="rect">
            <a:avLst/>
          </a:prstGeom>
          <a:noFill/>
        </p:spPr>
        <p:txBody>
          <a:bodyPr wrap="square" anchor="ctr" lIns="0" rIns="0" tIns="0" bIns="0">
            <a:spAutoFit/>
          </a:bodyPr>
          <a:lstStyle/>
          <a:p>
            <a:pPr algn="l"/>
            <a:r>
              <a:rPr sz="1000" b="0">
                <a:solidFill>
                  <a:schemeClr val="accent5"/>
                </a:solidFill>
              </a:rPr>
              <a:t>live tap</a:t>
            </a:r>
          </a:p>
        </p:txBody>
      </p:sp>
      <p:cxnSp>
        <p:nvCxnSpPr>
          <p:cNvPr id="9052" name="Arrow 693"/>
          <p:cNvCxnSpPr/>
          <p:nvPr/>
        </p:nvCxnSpPr>
        <p:spPr>
          <a:xfrm>
            <a:off x="8625535" y="1197864"/>
            <a:ext cx="320040" cy="0"/>
          </a:xfrm>
          <a:prstGeom prst="line">
            <a:avLst/>
          </a:prstGeom>
          <a:ln w="22225">
            <a:solidFill>
              <a:schemeClr val="accent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3" name="Text 694"/>
          <p:cNvSpPr txBox="1"/>
          <p:nvPr/>
        </p:nvSpPr>
        <p:spPr>
          <a:xfrm>
            <a:off x="9009583" y="1088136"/>
            <a:ext cx="621792" cy="219456"/>
          </a:xfrm>
          <a:prstGeom prst="rect">
            <a:avLst/>
          </a:prstGeom>
          <a:noFill/>
        </p:spPr>
        <p:txBody>
          <a:bodyPr wrap="square" anchor="ctr" lIns="0" rIns="0" tIns="0" bIns="0">
            <a:spAutoFit/>
          </a:bodyPr>
          <a:lstStyle/>
          <a:p>
            <a:pPr algn="l"/>
            <a:r>
              <a:rPr sz="1000" b="0">
                <a:solidFill>
                  <a:schemeClr val="accent5"/>
                </a:solidFill>
              </a:rPr>
              <a:t>replay 201</a:t>
            </a:r>
          </a:p>
        </p:txBody>
      </p:sp>
      <p:cxnSp>
        <p:nvCxnSpPr>
          <p:cNvPr id="9054" name="Arrow 695"/>
          <p:cNvCxnSpPr/>
          <p:nvPr/>
        </p:nvCxnSpPr>
        <p:spPr>
          <a:xfrm>
            <a:off x="9631375" y="1197864"/>
            <a:ext cx="32004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5" name="Text 696"/>
          <p:cNvSpPr txBox="1"/>
          <p:nvPr/>
        </p:nvSpPr>
        <p:spPr>
          <a:xfrm>
            <a:off x="10015423" y="1088136"/>
            <a:ext cx="621792" cy="219456"/>
          </a:xfrm>
          <a:prstGeom prst="rect">
            <a:avLst/>
          </a:prstGeom>
          <a:noFill/>
        </p:spPr>
        <p:txBody>
          <a:bodyPr wrap="square" anchor="ctr" lIns="0" rIns="0" tIns="0" bIns="0">
            <a:spAutoFit/>
          </a:bodyPr>
          <a:lstStyle/>
          <a:p>
            <a:pPr algn="l"/>
            <a:r>
              <a:rPr sz="1000" b="0">
                <a:solidFill>
                  <a:schemeClr val="accent5"/>
                </a:solidFill>
              </a:rPr>
              <a:t>request</a:t>
            </a:r>
          </a:p>
        </p:txBody>
      </p:sp>
      <p:cxnSp>
        <p:nvCxnSpPr>
          <p:cNvPr id="9056" name="Arrow 697"/>
          <p:cNvCxnSpPr/>
          <p:nvPr/>
        </p:nvCxnSpPr>
        <p:spPr>
          <a:xfrm>
            <a:off x="10637215" y="1197864"/>
            <a:ext cx="32004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57" name="Text 698"/>
          <p:cNvSpPr txBox="1"/>
          <p:nvPr/>
        </p:nvSpPr>
        <p:spPr>
          <a:xfrm>
            <a:off x="11021263" y="1088136"/>
            <a:ext cx="621792" cy="219456"/>
          </a:xfrm>
          <a:prstGeom prst="rect">
            <a:avLst/>
          </a:prstGeom>
          <a:noFill/>
        </p:spPr>
        <p:txBody>
          <a:bodyPr wrap="square" anchor="ctr" lIns="0" rIns="0" tIns="0" bIns="0">
            <a:spAutoFit/>
          </a:bodyPr>
          <a:lstStyle/>
          <a:p>
            <a:pPr algn="l"/>
            <a:r>
              <a:rPr sz="1000" b="0">
                <a:solidFill>
                  <a:schemeClr val="accent5"/>
                </a:solidFill>
              </a:rPr>
              <a:t>reply</a:t>
            </a:r>
          </a:p>
        </p:txBody>
      </p:sp>
      <p:sp>
        <p:nvSpPr>
          <p:cNvPr id="9058" name="Text 699"/>
          <p:cNvSpPr txBox="1"/>
          <p:nvPr/>
        </p:nvSpPr>
        <p:spPr>
          <a:xfrm>
            <a:off x="1600200" y="1911096"/>
            <a:ext cx="2103120" cy="228600"/>
          </a:xfrm>
          <a:prstGeom prst="rect">
            <a:avLst/>
          </a:prstGeom>
          <a:noFill/>
        </p:spPr>
        <p:txBody>
          <a:bodyPr wrap="square" anchor="b" lIns="0" rIns="0" tIns="0" bIns="0">
            <a:spAutoFit/>
          </a:bodyPr>
          <a:lstStyle/>
          <a:p>
            <a:pPr algn="ctr"/>
            <a:r>
              <a:rPr sz="1100" b="0">
                <a:solidFill>
                  <a:schemeClr val="tx1"/>
                </a:solidFill>
              </a:rPr>
              <a:t>104 → dispatched</a:t>
            </a:r>
          </a:p>
        </p:txBody>
      </p:sp>
      <p:cxnSp>
        <p:nvCxnSpPr>
          <p:cNvPr id="9059" name="Arrow 700"/>
          <p:cNvCxnSpPr/>
          <p:nvPr/>
        </p:nvCxnSpPr>
        <p:spPr>
          <a:xfrm>
            <a:off x="1554480" y="2157984"/>
            <a:ext cx="219456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0" name="Text 701"/>
          <p:cNvSpPr txBox="1"/>
          <p:nvPr/>
        </p:nvSpPr>
        <p:spPr>
          <a:xfrm>
            <a:off x="1600200" y="2203704"/>
            <a:ext cx="2103120" cy="228600"/>
          </a:xfrm>
          <a:prstGeom prst="rect">
            <a:avLst/>
          </a:prstGeom>
          <a:noFill/>
        </p:spPr>
        <p:txBody>
          <a:bodyPr wrap="square" anchor="b" lIns="0" rIns="0" tIns="0" bIns="0">
            <a:spAutoFit/>
          </a:bodyPr>
          <a:lstStyle/>
          <a:p>
            <a:pPr algn="ctr"/>
            <a:r>
              <a:rPr sz="1100" b="0">
                <a:solidFill>
                  <a:schemeClr val="accent2"/>
                </a:solidFill>
              </a:rPr>
              <a:t>105</a:t>
            </a:r>
          </a:p>
        </p:txBody>
      </p:sp>
      <p:cxnSp>
        <p:nvCxnSpPr>
          <p:cNvPr id="9061" name="Arrow 702"/>
          <p:cNvCxnSpPr/>
          <p:nvPr/>
        </p:nvCxnSpPr>
        <p:spPr>
          <a:xfrm>
            <a:off x="1554480" y="2450592"/>
            <a:ext cx="1360627" cy="0"/>
          </a:xfrm>
          <a:prstGeom prst="line">
            <a:avLst/>
          </a:prstGeom>
          <a:ln w="22225">
            <a:solidFill>
              <a:schemeClr val="accent2"/>
            </a:solidFill>
          </a:ln>
        </p:spPr>
        <p:style>
          <a:lnRef idx="2">
            <a:schemeClr val="accent1"/>
          </a:lnRef>
          <a:fillRef idx="0">
            <a:schemeClr val="accent1"/>
          </a:fillRef>
          <a:effectRef idx="1">
            <a:schemeClr val="accent1"/>
          </a:effectRef>
          <a:fontRef idx="minor">
            <a:schemeClr val="tx1"/>
          </a:fontRef>
        </p:style>
      </p:cxnSp>
      <p:sp>
        <p:nvSpPr>
          <p:cNvPr id="9062" name="Text 703"/>
          <p:cNvSpPr txBox="1"/>
          <p:nvPr/>
        </p:nvSpPr>
        <p:spPr>
          <a:xfrm>
            <a:off x="2823667" y="2322576"/>
            <a:ext cx="182880" cy="256032"/>
          </a:xfrm>
          <a:prstGeom prst="rect">
            <a:avLst/>
          </a:prstGeom>
          <a:noFill/>
        </p:spPr>
        <p:txBody>
          <a:bodyPr wrap="square" anchor="ctr" lIns="0" rIns="0" tIns="0" bIns="0">
            <a:spAutoFit/>
          </a:bodyPr>
          <a:lstStyle/>
          <a:p>
            <a:pPr algn="ctr"/>
            <a:r>
              <a:rPr sz="1600" b="1">
                <a:solidFill>
                  <a:schemeClr val="accent2"/>
                </a:solidFill>
              </a:rPr>
              <a:t>×</a:t>
            </a:r>
          </a:p>
        </p:txBody>
      </p:sp>
      <p:sp>
        <p:nvSpPr>
          <p:cNvPr id="9063" name="Text 704"/>
          <p:cNvSpPr txBox="1"/>
          <p:nvPr/>
        </p:nvSpPr>
        <p:spPr>
          <a:xfrm>
            <a:off x="1600200" y="2496312"/>
            <a:ext cx="2103120" cy="228600"/>
          </a:xfrm>
          <a:prstGeom prst="rect">
            <a:avLst/>
          </a:prstGeom>
          <a:noFill/>
        </p:spPr>
        <p:txBody>
          <a:bodyPr wrap="square" anchor="b" lIns="0" rIns="0" tIns="0" bIns="0">
            <a:spAutoFit/>
          </a:bodyPr>
          <a:lstStyle/>
          <a:p>
            <a:pPr algn="ctr"/>
            <a:r>
              <a:rPr sz="1100" b="0">
                <a:solidFill>
                  <a:schemeClr val="tx1"/>
                </a:solidFill>
              </a:rPr>
              <a:t>106, ahead of 105</a:t>
            </a:r>
          </a:p>
        </p:txBody>
      </p:sp>
      <p:cxnSp>
        <p:nvCxnSpPr>
          <p:cNvPr id="9064" name="Arrow 705"/>
          <p:cNvCxnSpPr/>
          <p:nvPr/>
        </p:nvCxnSpPr>
        <p:spPr>
          <a:xfrm>
            <a:off x="1554480" y="2743200"/>
            <a:ext cx="219456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5" name="Note 706"/>
          <p:cNvSpPr/>
          <p:nvPr/>
        </p:nvSpPr>
        <p:spPr>
          <a:xfrm>
            <a:off x="3822192" y="2788920"/>
            <a:ext cx="37490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66" name="Text 707"/>
          <p:cNvSpPr txBox="1"/>
          <p:nvPr/>
        </p:nvSpPr>
        <p:spPr>
          <a:xfrm>
            <a:off x="3895344" y="2788920"/>
            <a:ext cx="3602736" cy="274320"/>
          </a:xfrm>
          <a:prstGeom prst="rect">
            <a:avLst/>
          </a:prstGeom>
          <a:noFill/>
        </p:spPr>
        <p:txBody>
          <a:bodyPr wrap="square" anchor="ctr" lIns="0" rIns="0" tIns="0" bIns="0">
            <a:spAutoFit/>
          </a:bodyPr>
          <a:lstStyle/>
          <a:p>
            <a:pPr algn="l"/>
            <a:r>
              <a:rPr sz="1100" b="0">
                <a:solidFill>
                  <a:schemeClr val="tx1"/>
                </a:solidFill>
              </a:rPr>
              <a:t>isCaughtUp() cleared; 106 retained</a:t>
            </a:r>
          </a:p>
        </p:txBody>
      </p:sp>
      <p:sp>
        <p:nvSpPr>
          <p:cNvPr id="9067" name="Text 708"/>
          <p:cNvSpPr txBox="1"/>
          <p:nvPr/>
        </p:nvSpPr>
        <p:spPr>
          <a:xfrm>
            <a:off x="3794760" y="3081528"/>
            <a:ext cx="3840480" cy="228600"/>
          </a:xfrm>
          <a:prstGeom prst="rect">
            <a:avLst/>
          </a:prstGeom>
          <a:noFill/>
        </p:spPr>
        <p:txBody>
          <a:bodyPr wrap="square" anchor="b" lIns="0" rIns="0" tIns="0" bIns="0">
            <a:spAutoFit/>
          </a:bodyPr>
          <a:lstStyle/>
          <a:p>
            <a:pPr algn="ctr"/>
            <a:r>
              <a:rPr sz="1100" b="0">
                <a:solidFill>
                  <a:schemeClr val="tx1"/>
                </a:solidFill>
              </a:rPr>
              <a:t>ReplayRequest(requestId k, fromPosition = end of 104)</a:t>
            </a:r>
          </a:p>
        </p:txBody>
      </p:sp>
      <p:cxnSp>
        <p:nvCxnSpPr>
          <p:cNvPr id="9068" name="Arrow 709"/>
          <p:cNvCxnSpPr/>
          <p:nvPr/>
        </p:nvCxnSpPr>
        <p:spPr>
          <a:xfrm>
            <a:off x="3749040" y="3328416"/>
            <a:ext cx="39319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9" name="Text 710"/>
          <p:cNvSpPr txBox="1"/>
          <p:nvPr/>
        </p:nvSpPr>
        <p:spPr>
          <a:xfrm>
            <a:off x="7726680" y="3374136"/>
            <a:ext cx="2880360" cy="228600"/>
          </a:xfrm>
          <a:prstGeom prst="rect">
            <a:avLst/>
          </a:prstGeom>
          <a:noFill/>
        </p:spPr>
        <p:txBody>
          <a:bodyPr wrap="square" anchor="b" lIns="0" rIns="0" tIns="0" bIns="0">
            <a:spAutoFit/>
          </a:bodyPr>
          <a:lstStyle/>
          <a:p>
            <a:pPr algn="ctr"/>
            <a:r>
              <a:rPr sz="1100" b="0">
                <a:solidFill>
                  <a:schemeClr val="tx1"/>
                </a:solidFill>
              </a:rPr>
              <a:t>startReplay(fromPosition → last recorded)</a:t>
            </a:r>
          </a:p>
        </p:txBody>
      </p:sp>
      <p:cxnSp>
        <p:nvCxnSpPr>
          <p:cNvPr id="9070" name="Arrow 711"/>
          <p:cNvCxnSpPr/>
          <p:nvPr/>
        </p:nvCxnSpPr>
        <p:spPr>
          <a:xfrm>
            <a:off x="7680960" y="3621024"/>
            <a:ext cx="297180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71" name="Text 712"/>
          <p:cNvSpPr txBox="1"/>
          <p:nvPr/>
        </p:nvSpPr>
        <p:spPr>
          <a:xfrm>
            <a:off x="3794760" y="3666744"/>
            <a:ext cx="3840480" cy="228600"/>
          </a:xfrm>
          <a:prstGeom prst="rect">
            <a:avLst/>
          </a:prstGeom>
          <a:noFill/>
        </p:spPr>
        <p:txBody>
          <a:bodyPr wrap="square" anchor="b" lIns="0" rIns="0" tIns="0" bIns="0">
            <a:spAutoFit/>
          </a:bodyPr>
          <a:lstStyle/>
          <a:p>
            <a:pPr algn="ctr"/>
            <a:r>
              <a:rPr sz="1100" b="0">
                <a:solidFill>
                  <a:schemeClr val="tx1"/>
                </a:solidFill>
              </a:rPr>
              <a:t>Replaying(session, catchUpPosition = last recorded)</a:t>
            </a:r>
          </a:p>
        </p:txBody>
      </p:sp>
      <p:cxnSp>
        <p:nvCxnSpPr>
          <p:cNvPr id="9072" name="Arrow 713"/>
          <p:cNvCxnSpPr/>
          <p:nvPr/>
        </p:nvCxnSpPr>
        <p:spPr>
          <a:xfrm flipH="1">
            <a:off x="3749040" y="3913632"/>
            <a:ext cx="393192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73" name="Text 714"/>
          <p:cNvSpPr txBox="1"/>
          <p:nvPr/>
        </p:nvSpPr>
        <p:spPr>
          <a:xfrm>
            <a:off x="1600200" y="3959352"/>
            <a:ext cx="2103120" cy="228600"/>
          </a:xfrm>
          <a:prstGeom prst="rect">
            <a:avLst/>
          </a:prstGeom>
          <a:noFill/>
        </p:spPr>
        <p:txBody>
          <a:bodyPr wrap="square" anchor="b" lIns="0" rIns="0" tIns="0" bIns="0">
            <a:spAutoFit/>
          </a:bodyPr>
          <a:lstStyle/>
          <a:p>
            <a:pPr algn="ctr"/>
            <a:r>
              <a:rPr sz="1100" b="0">
                <a:solidFill>
                  <a:schemeClr val="tx1"/>
                </a:solidFill>
              </a:rPr>
              <a:t>107, 108 … → retained</a:t>
            </a:r>
          </a:p>
        </p:txBody>
      </p:sp>
      <p:cxnSp>
        <p:nvCxnSpPr>
          <p:cNvPr id="9074" name="Arrow 715"/>
          <p:cNvCxnSpPr/>
          <p:nvPr/>
        </p:nvCxnSpPr>
        <p:spPr>
          <a:xfrm>
            <a:off x="1554480" y="4206240"/>
            <a:ext cx="219456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75" name="Frame tag 716"/>
          <p:cNvSpPr/>
          <p:nvPr/>
        </p:nvSpPr>
        <p:spPr>
          <a:xfrm>
            <a:off x="548640" y="4315968"/>
            <a:ext cx="566928" cy="21945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chemeClr val="tx1"/>
                </a:solidFill>
              </a:rPr>
              <a:t>ALT</a:t>
            </a:r>
          </a:p>
        </p:txBody>
      </p:sp>
      <p:sp>
        <p:nvSpPr>
          <p:cNvPr id="9076" name="Frame guard 717"/>
          <p:cNvSpPr/>
          <p:nvPr/>
        </p:nvSpPr>
        <p:spPr>
          <a:xfrm>
            <a:off x="1152144" y="4315968"/>
            <a:ext cx="2940710" cy="21945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7" name="Text 718"/>
          <p:cNvSpPr txBox="1"/>
          <p:nvPr/>
        </p:nvSpPr>
        <p:spPr>
          <a:xfrm>
            <a:off x="1207008" y="4315968"/>
            <a:ext cx="2830982" cy="219456"/>
          </a:xfrm>
          <a:prstGeom prst="rect">
            <a:avLst/>
          </a:prstGeom>
          <a:noFill/>
        </p:spPr>
        <p:txBody>
          <a:bodyPr wrap="none" anchor="ctr" lIns="0" rIns="0" tIns="0" bIns="0">
            <a:spAutoFit/>
          </a:bodyPr>
          <a:lstStyle/>
          <a:p>
            <a:pPr algn="l"/>
            <a:r>
              <a:rPr sz="1000" b="0" i="1">
                <a:solidFill>
                  <a:schemeClr val="accent5"/>
                </a:solidFill>
              </a:rPr>
              <a:t>the first replayed frame is 105, the anchor</a:t>
            </a:r>
          </a:p>
        </p:txBody>
      </p:sp>
      <p:sp>
        <p:nvSpPr>
          <p:cNvPr id="9078" name="Text 719"/>
          <p:cNvSpPr txBox="1"/>
          <p:nvPr/>
        </p:nvSpPr>
        <p:spPr>
          <a:xfrm>
            <a:off x="3794760" y="4498848"/>
            <a:ext cx="6812280" cy="228600"/>
          </a:xfrm>
          <a:prstGeom prst="rect">
            <a:avLst/>
          </a:prstGeom>
          <a:noFill/>
        </p:spPr>
        <p:txBody>
          <a:bodyPr wrap="square" anchor="b" lIns="0" rIns="0" tIns="0" bIns="0">
            <a:spAutoFit/>
          </a:bodyPr>
          <a:lstStyle/>
          <a:p>
            <a:pPr algn="ctr"/>
            <a:r>
              <a:rPr sz="1100" b="0">
                <a:solidFill>
                  <a:schemeClr val="tx1"/>
                </a:solidFill>
              </a:rPr>
              <a:t>105 → dispatched</a:t>
            </a:r>
          </a:p>
        </p:txBody>
      </p:sp>
      <p:cxnSp>
        <p:nvCxnSpPr>
          <p:cNvPr id="9079" name="Arrow 720"/>
          <p:cNvCxnSpPr/>
          <p:nvPr/>
        </p:nvCxnSpPr>
        <p:spPr>
          <a:xfrm flipH="1">
            <a:off x="3749040" y="4745736"/>
            <a:ext cx="6903720" cy="0"/>
          </a:xfrm>
          <a:prstGeom prst="line">
            <a:avLst/>
          </a:prstGeom>
          <a:ln w="22225">
            <a:solidFill>
              <a:schemeClr val="accent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80" name="Text 721"/>
          <p:cNvSpPr txBox="1"/>
          <p:nvPr/>
        </p:nvSpPr>
        <p:spPr>
          <a:xfrm>
            <a:off x="3794760" y="4791456"/>
            <a:ext cx="3840480" cy="228600"/>
          </a:xfrm>
          <a:prstGeom prst="rect">
            <a:avLst/>
          </a:prstGeom>
          <a:noFill/>
        </p:spPr>
        <p:txBody>
          <a:bodyPr wrap="square" anchor="b" lIns="0" rIns="0" tIns="0" bIns="0">
            <a:spAutoFit/>
          </a:bodyPr>
          <a:lstStyle/>
          <a:p>
            <a:pPr algn="ctr"/>
            <a:r>
              <a:rPr sz="1100" b="0">
                <a:solidFill>
                  <a:schemeClr val="tx1"/>
                </a:solidFill>
              </a:rPr>
              <a:t>ReplayComplete at catchUpPosition</a:t>
            </a:r>
          </a:p>
        </p:txBody>
      </p:sp>
      <p:cxnSp>
        <p:nvCxnSpPr>
          <p:cNvPr id="9081" name="Arrow 722"/>
          <p:cNvCxnSpPr/>
          <p:nvPr/>
        </p:nvCxnSpPr>
        <p:spPr>
          <a:xfrm>
            <a:off x="3749040" y="5038344"/>
            <a:ext cx="39319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82" name="Note 723"/>
          <p:cNvSpPr/>
          <p:nvPr/>
        </p:nvSpPr>
        <p:spPr>
          <a:xfrm>
            <a:off x="3822192" y="5084064"/>
            <a:ext cx="3749040"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83" name="Text 724"/>
          <p:cNvSpPr txBox="1"/>
          <p:nvPr/>
        </p:nvSpPr>
        <p:spPr>
          <a:xfrm>
            <a:off x="3895344" y="5084064"/>
            <a:ext cx="3602736" cy="274320"/>
          </a:xfrm>
          <a:prstGeom prst="rect">
            <a:avLst/>
          </a:prstGeom>
          <a:noFill/>
        </p:spPr>
        <p:txBody>
          <a:bodyPr wrap="square" anchor="ctr" lIns="0" rIns="0" tIns="0" bIns="0">
            <a:spAutoFit/>
          </a:bodyPr>
          <a:lstStyle/>
          <a:p>
            <a:pPr algn="l"/>
            <a:r>
              <a:rPr sz="1100" b="0">
                <a:solidFill>
                  <a:schemeClr val="tx1"/>
                </a:solidFill>
              </a:rPr>
              <a:t>drain 106, 107, 108 → isCaughtUp(), onCaughtUp</a:t>
            </a:r>
          </a:p>
        </p:txBody>
      </p:sp>
      <p:cxnSp>
        <p:nvCxnSpPr>
          <p:cNvPr id="9084" name="Arrow 725"/>
          <p:cNvCxnSpPr/>
          <p:nvPr/>
        </p:nvCxnSpPr>
        <p:spPr>
          <a:xfrm>
            <a:off x="548640" y="5458968"/>
            <a:ext cx="11094415" cy="0"/>
          </a:xfrm>
          <a:prstGeom prst="line">
            <a:avLst/>
          </a:prstGeom>
          <a:ln w="15875">
            <a:solidFill>
              <a:schemeClr val="accent5"/>
            </a:solidFill>
            <a:prstDash val="dash"/>
          </a:ln>
        </p:spPr>
        <p:style>
          <a:lnRef idx="2">
            <a:schemeClr val="accent1"/>
          </a:lnRef>
          <a:fillRef idx="0">
            <a:schemeClr val="accent1"/>
          </a:fillRef>
          <a:effectRef idx="1">
            <a:schemeClr val="accent1"/>
          </a:effectRef>
          <a:fontRef idx="minor">
            <a:schemeClr val="tx1"/>
          </a:fontRef>
        </p:style>
      </p:cxnSp>
      <p:sp>
        <p:nvSpPr>
          <p:cNvPr id="9085" name="Frame tag 726"/>
          <p:cNvSpPr/>
          <p:nvPr/>
        </p:nvSpPr>
        <p:spPr>
          <a:xfrm>
            <a:off x="548640" y="5458968"/>
            <a:ext cx="566928" cy="21945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chemeClr val="tx1"/>
                </a:solidFill>
              </a:rPr>
              <a:t>ELSE</a:t>
            </a:r>
          </a:p>
        </p:txBody>
      </p:sp>
      <p:sp>
        <p:nvSpPr>
          <p:cNvPr id="9086" name="Frame guard 727"/>
          <p:cNvSpPr/>
          <p:nvPr/>
        </p:nvSpPr>
        <p:spPr>
          <a:xfrm>
            <a:off x="1152144" y="5458968"/>
            <a:ext cx="3862426" cy="21945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7" name="Text 728"/>
          <p:cNvSpPr txBox="1"/>
          <p:nvPr/>
        </p:nvSpPr>
        <p:spPr>
          <a:xfrm>
            <a:off x="1207008" y="5458968"/>
            <a:ext cx="3752698" cy="219456"/>
          </a:xfrm>
          <a:prstGeom prst="rect">
            <a:avLst/>
          </a:prstGeom>
          <a:noFill/>
        </p:spPr>
        <p:txBody>
          <a:bodyPr wrap="none" anchor="ctr" lIns="0" rIns="0" tIns="0" bIns="0">
            <a:spAutoFit/>
          </a:bodyPr>
          <a:lstStyle/>
          <a:p>
            <a:pPr algn="l"/>
            <a:r>
              <a:rPr sz="1000" b="0" i="1">
                <a:solidFill>
                  <a:schemeClr val="accent5"/>
                </a:solidFill>
              </a:rPr>
              <a:t>another frame, or NO_REPLAY_NEEDED: the recording rotated</a:t>
            </a:r>
          </a:p>
        </p:txBody>
      </p:sp>
      <p:sp>
        <p:nvSpPr>
          <p:cNvPr id="9088" name="Text 729"/>
          <p:cNvSpPr txBox="1"/>
          <p:nvPr/>
        </p:nvSpPr>
        <p:spPr>
          <a:xfrm>
            <a:off x="3794760" y="5641848"/>
            <a:ext cx="3840480" cy="228600"/>
          </a:xfrm>
          <a:prstGeom prst="rect">
            <a:avLst/>
          </a:prstGeom>
          <a:noFill/>
        </p:spPr>
        <p:txBody>
          <a:bodyPr wrap="square" anchor="b" lIns="0" rIns="0" tIns="0" bIns="0">
            <a:spAutoFit/>
          </a:bodyPr>
          <a:lstStyle/>
          <a:p>
            <a:pPr algn="ctr"/>
            <a:r>
              <a:rPr sz="1100" b="0">
                <a:solidFill>
                  <a:schemeClr val="tx1"/>
                </a:solidFill>
              </a:rPr>
              <a:t>ReplayRequest(FROM_START, or the snapshot's cut)</a:t>
            </a:r>
          </a:p>
        </p:txBody>
      </p:sp>
      <p:cxnSp>
        <p:nvCxnSpPr>
          <p:cNvPr id="9089" name="Arrow 730"/>
          <p:cNvCxnSpPr/>
          <p:nvPr/>
        </p:nvCxnSpPr>
        <p:spPr>
          <a:xfrm>
            <a:off x="3749040" y="5888736"/>
            <a:ext cx="39319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90" name="Frame 731"/>
          <p:cNvSpPr/>
          <p:nvPr/>
        </p:nvSpPr>
        <p:spPr>
          <a:xfrm>
            <a:off x="548640" y="4315968"/>
            <a:ext cx="11094415" cy="1682496"/>
          </a:xfrm>
          <a:prstGeom prst="rect">
            <a:avLst/>
          </a:prstGeom>
          <a:noFill/>
          <a:ln w="12700">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Replay sequence: when history is not served</a:t>
            </a:r>
          </a:p>
        </p:txBody>
      </p:sp>
      <p:sp>
        <p:nvSpPr>
          <p:cNvPr id="3" name="Text 732"/>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Every refusal holds the client at the gap and drops nothing</a:t>
            </a:r>
          </a:p>
        </p:txBody>
      </p:sp>
      <p:sp>
        <p:nvSpPr>
          <p:cNvPr id="9042" name="Slide number"/>
          <p:cNvSpPr txBox="1"/>
          <p:nvPr userDrawn="1"/>
        </p:nvSpPr>
        <p:spPr>
          <a:xfrm>
            <a:off x="10728655" y="6400800"/>
            <a:ext cx="914400" cy="274320"/>
          </a:xfrm>
          <a:prstGeom prst="rect">
            <a:avLst/>
          </a:prstGeom>
          <a:noFill/>
        </p:spPr>
        <p:txBody>
          <a:bodyPr wrap="none" lIns="0" tIns="0" rIns="0" bIns="0" anchor="ctr"/>
          <a:lstStyle/>
          <a:p>
            <a:pPr algn="r"/>
            <a:fld id="{1d2734aa-6a9e-4834-9043-164211e5fdac}" type="slidenum">
              <a:rPr lang="en-US" sz="1000" dirty="0">
                <a:solidFill>
                  <a:schemeClr val="accent5"/>
                </a:solidFill>
              </a:rPr>
              <a:t>42</a:t>
            </a:fld>
          </a:p>
        </p:txBody>
      </p:sp>
      <p:sp>
        <p:nvSpPr>
          <p:cNvPr id="9043" name="Lane 733"/>
          <p:cNvSpPr/>
          <p:nvPr/>
        </p:nvSpPr>
        <p:spPr>
          <a:xfrm>
            <a:off x="594360" y="1444752"/>
            <a:ext cx="1920240" cy="420624"/>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Live tap</a:t>
            </a:r>
          </a:p>
          <a:p>
            <a:pPr algn="ctr"/>
            <a:r>
              <a:rPr sz="900" b="0">
                <a:solidFill>
                  <a:schemeClr val="accent5"/>
                </a:solidFill>
              </a:rPr>
              <a:t>stream 205</a:t>
            </a:r>
          </a:p>
        </p:txBody>
      </p:sp>
      <p:sp>
        <p:nvSpPr>
          <p:cNvPr id="9044" name="Lane 734"/>
          <p:cNvSpPr/>
          <p:nvPr/>
        </p:nvSpPr>
        <p:spPr>
          <a:xfrm>
            <a:off x="2788920" y="1444752"/>
            <a:ext cx="1920240" cy="42062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Client</a:t>
            </a:r>
          </a:p>
          <a:p>
            <a:pPr algn="ctr"/>
            <a:r>
              <a:rPr sz="900" b="0">
                <a:solidFill>
                  <a:schemeClr val="accent5"/>
                </a:solidFill>
              </a:rPr>
              <a:t>ReplayerStreamReceiver</a:t>
            </a:r>
          </a:p>
        </p:txBody>
      </p:sp>
      <p:sp>
        <p:nvSpPr>
          <p:cNvPr id="9045" name="Lane 735"/>
          <p:cNvSpPr/>
          <p:nvPr/>
        </p:nvSpPr>
        <p:spPr>
          <a:xfrm>
            <a:off x="6720840" y="1444752"/>
            <a:ext cx="1920240" cy="420624"/>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ReplayerService</a:t>
            </a:r>
          </a:p>
          <a:p>
            <a:pPr algn="ctr"/>
            <a:r>
              <a:rPr sz="900" b="0">
                <a:solidFill>
                  <a:schemeClr val="accent5"/>
                </a:solidFill>
              </a:rPr>
              <a:t>requests 202 · replies 203</a:t>
            </a:r>
          </a:p>
        </p:txBody>
      </p:sp>
      <p:sp>
        <p:nvSpPr>
          <p:cNvPr id="9046" name="Lane 736"/>
          <p:cNvSpPr/>
          <p:nvPr/>
        </p:nvSpPr>
        <p:spPr>
          <a:xfrm>
            <a:off x="9692640" y="1444752"/>
            <a:ext cx="1920240" cy="42062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Archive</a:t>
            </a:r>
          </a:p>
          <a:p>
            <a:pPr algn="ctr"/>
            <a:r>
              <a:rPr sz="900" b="0">
                <a:solidFill>
                  <a:schemeClr val="accent5"/>
                </a:solidFill>
              </a:rPr>
              <a:t>active tap recording</a:t>
            </a:r>
          </a:p>
        </p:txBody>
      </p:sp>
      <p:cxnSp>
        <p:nvCxnSpPr>
          <p:cNvPr id="9047" name="Arrow 737"/>
          <p:cNvCxnSpPr/>
          <p:nvPr/>
        </p:nvCxnSpPr>
        <p:spPr>
          <a:xfrm>
            <a:off x="155448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48" name="Arrow 738"/>
          <p:cNvCxnSpPr/>
          <p:nvPr/>
        </p:nvCxnSpPr>
        <p:spPr>
          <a:xfrm>
            <a:off x="374904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49" name="Arrow 739"/>
          <p:cNvCxnSpPr/>
          <p:nvPr/>
        </p:nvCxnSpPr>
        <p:spPr>
          <a:xfrm>
            <a:off x="76809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0" name="Arrow 740"/>
          <p:cNvCxnSpPr/>
          <p:nvPr/>
        </p:nvCxnSpPr>
        <p:spPr>
          <a:xfrm>
            <a:off x="106527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1" name="Arrow 741"/>
          <p:cNvCxnSpPr/>
          <p:nvPr/>
        </p:nvCxnSpPr>
        <p:spPr>
          <a:xfrm>
            <a:off x="7619695" y="1197864"/>
            <a:ext cx="32004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2" name="Text 742"/>
          <p:cNvSpPr txBox="1"/>
          <p:nvPr/>
        </p:nvSpPr>
        <p:spPr>
          <a:xfrm>
            <a:off x="8003743" y="1088136"/>
            <a:ext cx="621792" cy="219456"/>
          </a:xfrm>
          <a:prstGeom prst="rect">
            <a:avLst/>
          </a:prstGeom>
          <a:noFill/>
        </p:spPr>
        <p:txBody>
          <a:bodyPr wrap="square" anchor="ctr" lIns="0" rIns="0" tIns="0" bIns="0">
            <a:spAutoFit/>
          </a:bodyPr>
          <a:lstStyle/>
          <a:p>
            <a:pPr algn="l"/>
            <a:r>
              <a:rPr sz="1000" b="0">
                <a:solidFill>
                  <a:schemeClr val="accent5"/>
                </a:solidFill>
              </a:rPr>
              <a:t>live tap</a:t>
            </a:r>
          </a:p>
        </p:txBody>
      </p:sp>
      <p:cxnSp>
        <p:nvCxnSpPr>
          <p:cNvPr id="9053" name="Arrow 743"/>
          <p:cNvCxnSpPr/>
          <p:nvPr/>
        </p:nvCxnSpPr>
        <p:spPr>
          <a:xfrm>
            <a:off x="8625535" y="1197864"/>
            <a:ext cx="320040" cy="0"/>
          </a:xfrm>
          <a:prstGeom prst="line">
            <a:avLst/>
          </a:prstGeom>
          <a:ln w="22225">
            <a:solidFill>
              <a:schemeClr val="accent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4" name="Text 744"/>
          <p:cNvSpPr txBox="1"/>
          <p:nvPr/>
        </p:nvSpPr>
        <p:spPr>
          <a:xfrm>
            <a:off x="9009583" y="1088136"/>
            <a:ext cx="621792" cy="219456"/>
          </a:xfrm>
          <a:prstGeom prst="rect">
            <a:avLst/>
          </a:prstGeom>
          <a:noFill/>
        </p:spPr>
        <p:txBody>
          <a:bodyPr wrap="square" anchor="ctr" lIns="0" rIns="0" tIns="0" bIns="0">
            <a:spAutoFit/>
          </a:bodyPr>
          <a:lstStyle/>
          <a:p>
            <a:pPr algn="l"/>
            <a:r>
              <a:rPr sz="1000" b="0">
                <a:solidFill>
                  <a:schemeClr val="accent5"/>
                </a:solidFill>
              </a:rPr>
              <a:t>replay 201</a:t>
            </a:r>
          </a:p>
        </p:txBody>
      </p:sp>
      <p:cxnSp>
        <p:nvCxnSpPr>
          <p:cNvPr id="9055" name="Arrow 745"/>
          <p:cNvCxnSpPr/>
          <p:nvPr/>
        </p:nvCxnSpPr>
        <p:spPr>
          <a:xfrm>
            <a:off x="9631375" y="1197864"/>
            <a:ext cx="32004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6" name="Text 746"/>
          <p:cNvSpPr txBox="1"/>
          <p:nvPr/>
        </p:nvSpPr>
        <p:spPr>
          <a:xfrm>
            <a:off x="10015423" y="1088136"/>
            <a:ext cx="621792" cy="219456"/>
          </a:xfrm>
          <a:prstGeom prst="rect">
            <a:avLst/>
          </a:prstGeom>
          <a:noFill/>
        </p:spPr>
        <p:txBody>
          <a:bodyPr wrap="square" anchor="ctr" lIns="0" rIns="0" tIns="0" bIns="0">
            <a:spAutoFit/>
          </a:bodyPr>
          <a:lstStyle/>
          <a:p>
            <a:pPr algn="l"/>
            <a:r>
              <a:rPr sz="1000" b="0">
                <a:solidFill>
                  <a:schemeClr val="accent5"/>
                </a:solidFill>
              </a:rPr>
              <a:t>request</a:t>
            </a:r>
          </a:p>
        </p:txBody>
      </p:sp>
      <p:cxnSp>
        <p:nvCxnSpPr>
          <p:cNvPr id="9057" name="Arrow 747"/>
          <p:cNvCxnSpPr/>
          <p:nvPr/>
        </p:nvCxnSpPr>
        <p:spPr>
          <a:xfrm>
            <a:off x="10637215" y="1197864"/>
            <a:ext cx="32004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58" name="Text 748"/>
          <p:cNvSpPr txBox="1"/>
          <p:nvPr/>
        </p:nvSpPr>
        <p:spPr>
          <a:xfrm>
            <a:off x="11021263" y="1088136"/>
            <a:ext cx="621792" cy="219456"/>
          </a:xfrm>
          <a:prstGeom prst="rect">
            <a:avLst/>
          </a:prstGeom>
          <a:noFill/>
        </p:spPr>
        <p:txBody>
          <a:bodyPr wrap="square" anchor="ctr" lIns="0" rIns="0" tIns="0" bIns="0">
            <a:spAutoFit/>
          </a:bodyPr>
          <a:lstStyle/>
          <a:p>
            <a:pPr algn="l"/>
            <a:r>
              <a:rPr sz="1000" b="0">
                <a:solidFill>
                  <a:schemeClr val="accent5"/>
                </a:solidFill>
              </a:rPr>
              <a:t>reply</a:t>
            </a:r>
          </a:p>
        </p:txBody>
      </p:sp>
      <p:sp>
        <p:nvSpPr>
          <p:cNvPr id="9059" name="Text 749"/>
          <p:cNvSpPr txBox="1"/>
          <p:nvPr/>
        </p:nvSpPr>
        <p:spPr>
          <a:xfrm>
            <a:off x="3794760" y="1911096"/>
            <a:ext cx="3840480" cy="228600"/>
          </a:xfrm>
          <a:prstGeom prst="rect">
            <a:avLst/>
          </a:prstGeom>
          <a:noFill/>
        </p:spPr>
        <p:txBody>
          <a:bodyPr wrap="square" anchor="b" lIns="0" rIns="0" tIns="0" bIns="0">
            <a:spAutoFit/>
          </a:bodyPr>
          <a:lstStyle/>
          <a:p>
            <a:pPr algn="ctr"/>
            <a:r>
              <a:rPr sz="1100" b="0">
                <a:solidFill>
                  <a:schemeClr val="tx1"/>
                </a:solidFill>
              </a:rPr>
              <a:t>ReplayRequest(requestId n, fromPosition)</a:t>
            </a:r>
          </a:p>
        </p:txBody>
      </p:sp>
      <p:cxnSp>
        <p:nvCxnSpPr>
          <p:cNvPr id="9060" name="Arrow 750"/>
          <p:cNvCxnSpPr/>
          <p:nvPr/>
        </p:nvCxnSpPr>
        <p:spPr>
          <a:xfrm>
            <a:off x="3749040" y="2157984"/>
            <a:ext cx="39319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1" name="Frame tag 751"/>
          <p:cNvSpPr/>
          <p:nvPr/>
        </p:nvSpPr>
        <p:spPr>
          <a:xfrm>
            <a:off x="548640" y="2267712"/>
            <a:ext cx="566928" cy="21945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chemeClr val="tx1"/>
                </a:solidFill>
              </a:rPr>
              <a:t>ALT</a:t>
            </a:r>
          </a:p>
        </p:txBody>
      </p:sp>
      <p:sp>
        <p:nvSpPr>
          <p:cNvPr id="9062" name="Frame guard 752"/>
          <p:cNvSpPr/>
          <p:nvPr/>
        </p:nvSpPr>
        <p:spPr>
          <a:xfrm>
            <a:off x="1152144" y="2267712"/>
            <a:ext cx="5837530" cy="21945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3" name="Text 753"/>
          <p:cNvSpPr txBox="1"/>
          <p:nvPr/>
        </p:nvSpPr>
        <p:spPr>
          <a:xfrm>
            <a:off x="1207008" y="2267712"/>
            <a:ext cx="5727802" cy="219456"/>
          </a:xfrm>
          <a:prstGeom prst="rect">
            <a:avLst/>
          </a:prstGeom>
          <a:noFill/>
        </p:spPr>
        <p:txBody>
          <a:bodyPr wrap="none" anchor="ctr" lIns="0" rIns="0" tIns="0" bIns="0">
            <a:spAutoFit/>
          </a:bodyPr>
          <a:lstStyle/>
          <a:p>
            <a:pPr algn="l"/>
            <a:r>
              <a:rPr sz="1000" b="0" i="1">
                <a:solidFill>
                  <a:schemeClr val="accent5"/>
                </a:solidFill>
              </a:rPr>
              <a:t>no free slot (4, or 1 while the recorder trails), not ready yet, or the archive stalled</a:t>
            </a:r>
          </a:p>
        </p:txBody>
      </p:sp>
      <p:sp>
        <p:nvSpPr>
          <p:cNvPr id="9064" name="Text 754"/>
          <p:cNvSpPr txBox="1"/>
          <p:nvPr/>
        </p:nvSpPr>
        <p:spPr>
          <a:xfrm>
            <a:off x="3794760" y="2450592"/>
            <a:ext cx="3840480" cy="228600"/>
          </a:xfrm>
          <a:prstGeom prst="rect">
            <a:avLst/>
          </a:prstGeom>
          <a:noFill/>
        </p:spPr>
        <p:txBody>
          <a:bodyPr wrap="square" anchor="b" lIns="0" rIns="0" tIns="0" bIns="0">
            <a:spAutoFit/>
          </a:bodyPr>
          <a:lstStyle/>
          <a:p>
            <a:pPr algn="ctr"/>
            <a:r>
              <a:rPr sz="1100" b="0">
                <a:solidFill>
                  <a:schemeClr val="tx1"/>
                </a:solidFill>
              </a:rPr>
              <a:t>ReplayPending(n): hold at the gap</a:t>
            </a:r>
          </a:p>
        </p:txBody>
      </p:sp>
      <p:cxnSp>
        <p:nvCxnSpPr>
          <p:cNvPr id="9065" name="Arrow 755"/>
          <p:cNvCxnSpPr/>
          <p:nvPr/>
        </p:nvCxnSpPr>
        <p:spPr>
          <a:xfrm flipH="1">
            <a:off x="3749040" y="2697480"/>
            <a:ext cx="393192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66" name="Text 756"/>
          <p:cNvSpPr txBox="1"/>
          <p:nvPr/>
        </p:nvSpPr>
        <p:spPr>
          <a:xfrm>
            <a:off x="3794760" y="2743200"/>
            <a:ext cx="3840480" cy="228600"/>
          </a:xfrm>
          <a:prstGeom prst="rect">
            <a:avLst/>
          </a:prstGeom>
          <a:noFill/>
        </p:spPr>
        <p:txBody>
          <a:bodyPr wrap="square" anchor="b" lIns="0" rIns="0" tIns="0" bIns="0">
            <a:spAutoFit/>
          </a:bodyPr>
          <a:lstStyle/>
          <a:p>
            <a:pPr algn="ctr"/>
            <a:r>
              <a:rPr sz="1100" b="0">
                <a:solidFill>
                  <a:schemeClr val="tx1"/>
                </a:solidFill>
              </a:rPr>
              <a:t>ReplayRequest(n + 1, same position) after 500 ms</a:t>
            </a:r>
          </a:p>
        </p:txBody>
      </p:sp>
      <p:cxnSp>
        <p:nvCxnSpPr>
          <p:cNvPr id="9067" name="Arrow 757"/>
          <p:cNvCxnSpPr/>
          <p:nvPr/>
        </p:nvCxnSpPr>
        <p:spPr>
          <a:xfrm>
            <a:off x="3749040" y="2990088"/>
            <a:ext cx="39319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68" name="Arrow 758"/>
          <p:cNvCxnSpPr/>
          <p:nvPr/>
        </p:nvCxnSpPr>
        <p:spPr>
          <a:xfrm>
            <a:off x="548640" y="3118104"/>
            <a:ext cx="11094415" cy="0"/>
          </a:xfrm>
          <a:prstGeom prst="line">
            <a:avLst/>
          </a:prstGeom>
          <a:ln w="15875">
            <a:solidFill>
              <a:schemeClr val="accent5"/>
            </a:solidFill>
            <a:prstDash val="dash"/>
          </a:ln>
        </p:spPr>
        <p:style>
          <a:lnRef idx="2">
            <a:schemeClr val="accent1"/>
          </a:lnRef>
          <a:fillRef idx="0">
            <a:schemeClr val="accent1"/>
          </a:fillRef>
          <a:effectRef idx="1">
            <a:schemeClr val="accent1"/>
          </a:effectRef>
          <a:fontRef idx="minor">
            <a:schemeClr val="tx1"/>
          </a:fontRef>
        </p:style>
      </p:cxnSp>
      <p:sp>
        <p:nvSpPr>
          <p:cNvPr id="9069" name="Frame tag 759"/>
          <p:cNvSpPr/>
          <p:nvPr/>
        </p:nvSpPr>
        <p:spPr>
          <a:xfrm>
            <a:off x="548640" y="3118104"/>
            <a:ext cx="566928" cy="21945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chemeClr val="tx1"/>
                </a:solidFill>
              </a:rPr>
              <a:t>ELSE</a:t>
            </a:r>
          </a:p>
        </p:txBody>
      </p:sp>
      <p:sp>
        <p:nvSpPr>
          <p:cNvPr id="9070" name="Frame guard 760"/>
          <p:cNvSpPr/>
          <p:nvPr/>
        </p:nvSpPr>
        <p:spPr>
          <a:xfrm>
            <a:off x="1152144" y="3118104"/>
            <a:ext cx="4652467" cy="21945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1" name="Text 761"/>
          <p:cNvSpPr txBox="1"/>
          <p:nvPr/>
        </p:nvSpPr>
        <p:spPr>
          <a:xfrm>
            <a:off x="1207008" y="3118104"/>
            <a:ext cx="4542739" cy="219456"/>
          </a:xfrm>
          <a:prstGeom prst="rect">
            <a:avLst/>
          </a:prstGeom>
          <a:noFill/>
        </p:spPr>
        <p:txBody>
          <a:bodyPr wrap="none" anchor="ctr" lIns="0" rIns="0" tIns="0" bIns="0">
            <a:spAutoFit/>
          </a:bodyPr>
          <a:lstStyle/>
          <a:p>
            <a:pPr algn="l"/>
            <a:r>
              <a:rPr sz="1000" b="0" i="1">
                <a:solidFill>
                  <a:schemeClr val="accent5"/>
                </a:solidFill>
              </a:rPr>
              <a:t>integrity check failed: the recording does not start at globalSeqNo 1</a:t>
            </a:r>
          </a:p>
        </p:txBody>
      </p:sp>
      <p:sp>
        <p:nvSpPr>
          <p:cNvPr id="9072" name="Text 762"/>
          <p:cNvSpPr txBox="1"/>
          <p:nvPr/>
        </p:nvSpPr>
        <p:spPr>
          <a:xfrm>
            <a:off x="3794760" y="3300984"/>
            <a:ext cx="3840480" cy="228600"/>
          </a:xfrm>
          <a:prstGeom prst="rect">
            <a:avLst/>
          </a:prstGeom>
          <a:noFill/>
        </p:spPr>
        <p:txBody>
          <a:bodyPr wrap="square" anchor="b" lIns="0" rIns="0" tIns="0" bIns="0">
            <a:spAutoFit/>
          </a:bodyPr>
          <a:lstStyle/>
          <a:p>
            <a:pPr algn="ctr"/>
            <a:r>
              <a:rPr sz="1100" b="0">
                <a:solidFill>
                  <a:schemeClr val="tx1"/>
                </a:solidFill>
              </a:rPr>
              <a:t>ReplayUnavailable(n), for the process's life</a:t>
            </a:r>
          </a:p>
        </p:txBody>
      </p:sp>
      <p:cxnSp>
        <p:nvCxnSpPr>
          <p:cNvPr id="9073" name="Arrow 763"/>
          <p:cNvCxnSpPr/>
          <p:nvPr/>
        </p:nvCxnSpPr>
        <p:spPr>
          <a:xfrm flipH="1">
            <a:off x="3749040" y="3547872"/>
            <a:ext cx="393192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74" name="Note 764"/>
          <p:cNvSpPr/>
          <p:nvPr/>
        </p:nvSpPr>
        <p:spPr>
          <a:xfrm>
            <a:off x="3822192" y="3593592"/>
            <a:ext cx="37490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75" name="Text 765"/>
          <p:cNvSpPr txBox="1"/>
          <p:nvPr/>
        </p:nvSpPr>
        <p:spPr>
          <a:xfrm>
            <a:off x="3895344" y="3593592"/>
            <a:ext cx="3602736" cy="274320"/>
          </a:xfrm>
          <a:prstGeom prst="rect">
            <a:avLst/>
          </a:prstGeom>
          <a:noFill/>
        </p:spPr>
        <p:txBody>
          <a:bodyPr wrap="square" anchor="ctr" lIns="0" rIns="0" tIns="0" bIns="0">
            <a:spAutoFit/>
          </a:bodyPr>
          <a:lstStyle/>
          <a:p>
            <a:pPr algn="l"/>
            <a:r>
              <a:rPr sz="1100" b="0">
                <a:solidFill>
                  <a:schemeClr val="tx1"/>
                </a:solidFill>
              </a:rPr>
              <a:t>hold, dispatch nothing, keep resending</a:t>
            </a:r>
          </a:p>
        </p:txBody>
      </p:sp>
      <p:cxnSp>
        <p:nvCxnSpPr>
          <p:cNvPr id="9076" name="Arrow 766"/>
          <p:cNvCxnSpPr/>
          <p:nvPr/>
        </p:nvCxnSpPr>
        <p:spPr>
          <a:xfrm>
            <a:off x="548640" y="3968496"/>
            <a:ext cx="11094415" cy="0"/>
          </a:xfrm>
          <a:prstGeom prst="line">
            <a:avLst/>
          </a:prstGeom>
          <a:ln w="15875">
            <a:solidFill>
              <a:schemeClr val="accent5"/>
            </a:solidFill>
            <a:prstDash val="dash"/>
          </a:ln>
        </p:spPr>
        <p:style>
          <a:lnRef idx="2">
            <a:schemeClr val="accent1"/>
          </a:lnRef>
          <a:fillRef idx="0">
            <a:schemeClr val="accent1"/>
          </a:fillRef>
          <a:effectRef idx="1">
            <a:schemeClr val="accent1"/>
          </a:effectRef>
          <a:fontRef idx="minor">
            <a:schemeClr val="tx1"/>
          </a:fontRef>
        </p:style>
      </p:cxnSp>
      <p:sp>
        <p:nvSpPr>
          <p:cNvPr id="9077" name="Frame tag 767"/>
          <p:cNvSpPr/>
          <p:nvPr/>
        </p:nvSpPr>
        <p:spPr>
          <a:xfrm>
            <a:off x="548640" y="3968496"/>
            <a:ext cx="566928" cy="21945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chemeClr val="tx1"/>
                </a:solidFill>
              </a:rPr>
              <a:t>ELSE</a:t>
            </a:r>
          </a:p>
        </p:txBody>
      </p:sp>
      <p:sp>
        <p:nvSpPr>
          <p:cNvPr id="9078" name="Frame guard 768"/>
          <p:cNvSpPr/>
          <p:nvPr/>
        </p:nvSpPr>
        <p:spPr>
          <a:xfrm>
            <a:off x="1152144" y="3968496"/>
            <a:ext cx="3072384" cy="21945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9" name="Text 769"/>
          <p:cNvSpPr txBox="1"/>
          <p:nvPr/>
        </p:nvSpPr>
        <p:spPr>
          <a:xfrm>
            <a:off x="1207008" y="3968496"/>
            <a:ext cx="2962656" cy="219456"/>
          </a:xfrm>
          <a:prstGeom prst="rect">
            <a:avLst/>
          </a:prstGeom>
          <a:noFill/>
        </p:spPr>
        <p:txBody>
          <a:bodyPr wrap="none" anchor="ctr" lIns="0" rIns="0" tIns="0" bIns="0">
            <a:spAutoFit/>
          </a:bodyPr>
          <a:lstStyle/>
          <a:p>
            <a:pPr algn="l"/>
            <a:r>
              <a:rPr sz="1000" b="0" i="1">
                <a:solidFill>
                  <a:schemeClr val="accent5"/>
                </a:solidFill>
              </a:rPr>
              <a:t>a second process requests under this clientId</a:t>
            </a:r>
          </a:p>
        </p:txBody>
      </p:sp>
      <p:sp>
        <p:nvSpPr>
          <p:cNvPr id="9080" name="Text 770"/>
          <p:cNvSpPr txBox="1"/>
          <p:nvPr/>
        </p:nvSpPr>
        <p:spPr>
          <a:xfrm>
            <a:off x="3794760" y="4151376"/>
            <a:ext cx="3840480" cy="228600"/>
          </a:xfrm>
          <a:prstGeom prst="rect">
            <a:avLst/>
          </a:prstGeom>
          <a:noFill/>
        </p:spPr>
        <p:txBody>
          <a:bodyPr wrap="square" anchor="b" lIns="0" rIns="0" tIns="0" bIns="0">
            <a:spAutoFit/>
          </a:bodyPr>
          <a:lstStyle/>
          <a:p>
            <a:pPr algn="ctr"/>
            <a:r>
              <a:rPr sz="1100" b="0">
                <a:solidFill>
                  <a:schemeClr val="tx1"/>
                </a:solidFill>
              </a:rPr>
              <a:t>ReplayClientIdInUse, to both</a:t>
            </a:r>
          </a:p>
        </p:txBody>
      </p:sp>
      <p:cxnSp>
        <p:nvCxnSpPr>
          <p:cNvPr id="9081" name="Arrow 771"/>
          <p:cNvCxnSpPr/>
          <p:nvPr/>
        </p:nvCxnSpPr>
        <p:spPr>
          <a:xfrm flipH="1">
            <a:off x="3749040" y="4398264"/>
            <a:ext cx="393192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82" name="Note 772"/>
          <p:cNvSpPr/>
          <p:nvPr/>
        </p:nvSpPr>
        <p:spPr>
          <a:xfrm>
            <a:off x="3822192" y="4443984"/>
            <a:ext cx="37490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83" name="Text 773"/>
          <p:cNvSpPr txBox="1"/>
          <p:nvPr/>
        </p:nvSpPr>
        <p:spPr>
          <a:xfrm>
            <a:off x="3895344" y="4443984"/>
            <a:ext cx="3602736" cy="274320"/>
          </a:xfrm>
          <a:prstGeom prst="rect">
            <a:avLst/>
          </a:prstGeom>
          <a:noFill/>
        </p:spPr>
        <p:txBody>
          <a:bodyPr wrap="square" anchor="ctr" lIns="0" rIns="0" tIns="0" bIns="0">
            <a:spAutoFit/>
          </a:bodyPr>
          <a:lstStyle/>
          <a:p>
            <a:pPr algn="l"/>
            <a:r>
              <a:rPr sz="1100" b="0">
                <a:solidFill>
                  <a:schemeClr val="tx1"/>
                </a:solidFill>
              </a:rPr>
              <a:t>stop: raised from the duty cycle</a:t>
            </a:r>
          </a:p>
        </p:txBody>
      </p:sp>
      <p:sp>
        <p:nvSpPr>
          <p:cNvPr id="9084" name="Frame 774"/>
          <p:cNvSpPr/>
          <p:nvPr/>
        </p:nvSpPr>
        <p:spPr>
          <a:xfrm>
            <a:off x="548640" y="2267712"/>
            <a:ext cx="11094415" cy="2532888"/>
          </a:xfrm>
          <a:prstGeom prst="rect">
            <a:avLst/>
          </a:prstGeom>
          <a:noFill/>
          <a:ln w="12700">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5" name="Frame tag 775"/>
          <p:cNvSpPr/>
          <p:nvPr/>
        </p:nvSpPr>
        <p:spPr>
          <a:xfrm>
            <a:off x="548640" y="4910328"/>
            <a:ext cx="566928" cy="21945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chemeClr val="tx1"/>
                </a:solidFill>
              </a:rPr>
              <a:t>ALT</a:t>
            </a:r>
          </a:p>
        </p:txBody>
      </p:sp>
      <p:sp>
        <p:nvSpPr>
          <p:cNvPr id="9086" name="Frame guard 776"/>
          <p:cNvSpPr/>
          <p:nvPr/>
        </p:nvSpPr>
        <p:spPr>
          <a:xfrm>
            <a:off x="1152144" y="4910328"/>
            <a:ext cx="5047488" cy="21945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7" name="Text 777"/>
          <p:cNvSpPr txBox="1"/>
          <p:nvPr/>
        </p:nvSpPr>
        <p:spPr>
          <a:xfrm>
            <a:off x="1207008" y="4910328"/>
            <a:ext cx="4937760" cy="219456"/>
          </a:xfrm>
          <a:prstGeom prst="rect">
            <a:avLst/>
          </a:prstGeom>
          <a:noFill/>
        </p:spPr>
        <p:txBody>
          <a:bodyPr wrap="none" anchor="ctr" lIns="0" rIns="0" tIns="0" bIns="0">
            <a:spAutoFit/>
          </a:bodyPr>
          <a:lstStyle/>
          <a:p>
            <a:pPr algn="l"/>
            <a:r>
              <a:rPr sz="1000" b="0" i="1">
                <a:solidFill>
                  <a:schemeClr val="accent5"/>
                </a:solidFill>
              </a:rPr>
              <a:t>an established replay stops: no progress for 5 s, or its image closes short</a:t>
            </a:r>
          </a:p>
        </p:txBody>
      </p:sp>
      <p:sp>
        <p:nvSpPr>
          <p:cNvPr id="9088" name="Text 778"/>
          <p:cNvSpPr txBox="1"/>
          <p:nvPr/>
        </p:nvSpPr>
        <p:spPr>
          <a:xfrm>
            <a:off x="3794760" y="5093208"/>
            <a:ext cx="3840480" cy="228600"/>
          </a:xfrm>
          <a:prstGeom prst="rect">
            <a:avLst/>
          </a:prstGeom>
          <a:noFill/>
        </p:spPr>
        <p:txBody>
          <a:bodyPr wrap="square" anchor="b" lIns="0" rIns="0" tIns="0" bIns="0">
            <a:spAutoFit/>
          </a:bodyPr>
          <a:lstStyle/>
          <a:p>
            <a:pPr algn="ctr"/>
            <a:r>
              <a:rPr sz="1100" b="0">
                <a:solidFill>
                  <a:schemeClr val="tx1"/>
                </a:solidFill>
              </a:rPr>
              <a:t>ReplayRequest(new requestId); a resume re-anchors</a:t>
            </a:r>
          </a:p>
        </p:txBody>
      </p:sp>
      <p:cxnSp>
        <p:nvCxnSpPr>
          <p:cNvPr id="9089" name="Arrow 779"/>
          <p:cNvCxnSpPr/>
          <p:nvPr/>
        </p:nvCxnSpPr>
        <p:spPr>
          <a:xfrm>
            <a:off x="3749040" y="5340096"/>
            <a:ext cx="39319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90" name="Frame 780"/>
          <p:cNvSpPr/>
          <p:nvPr/>
        </p:nvSpPr>
        <p:spPr>
          <a:xfrm>
            <a:off x="548640" y="4910328"/>
            <a:ext cx="11094415" cy="539496"/>
          </a:xfrm>
          <a:prstGeom prst="rect">
            <a:avLst/>
          </a:prstGeom>
          <a:noFill/>
          <a:ln w="12700">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1" name="Note 781"/>
          <p:cNvSpPr/>
          <p:nvPr/>
        </p:nvSpPr>
        <p:spPr>
          <a:xfrm>
            <a:off x="3822192" y="5495544"/>
            <a:ext cx="37490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92" name="Text 782"/>
          <p:cNvSpPr txBox="1"/>
          <p:nvPr/>
        </p:nvSpPr>
        <p:spPr>
          <a:xfrm>
            <a:off x="3895344" y="5495544"/>
            <a:ext cx="3602736" cy="274320"/>
          </a:xfrm>
          <a:prstGeom prst="rect">
            <a:avLst/>
          </a:prstGeom>
          <a:noFill/>
        </p:spPr>
        <p:txBody>
          <a:bodyPr wrap="square" anchor="ctr" lIns="0" rIns="0" tIns="0" bIns="0">
            <a:spAutoFit/>
          </a:bodyPr>
          <a:lstStyle/>
          <a:p>
            <a:pPr algn="l"/>
            <a:r>
              <a:rPr sz="1100" b="0">
                <a:solidFill>
                  <a:schemeClr val="tx1"/>
                </a:solidFill>
              </a:rPr>
              <a:t>30 s with nothing dispatched: recoveryStalled gauge</a:t>
            </a:r>
          </a:p>
        </p:txBody>
      </p:sp>
      <p:sp>
        <p:nvSpPr>
          <p:cNvPr id="9093" name="Note 783"/>
          <p:cNvSpPr/>
          <p:nvPr/>
        </p:nvSpPr>
        <p:spPr>
          <a:xfrm>
            <a:off x="3822192" y="5788152"/>
            <a:ext cx="3749040" cy="27432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94" name="Text 784"/>
          <p:cNvSpPr txBox="1"/>
          <p:nvPr/>
        </p:nvSpPr>
        <p:spPr>
          <a:xfrm>
            <a:off x="3895344" y="5788152"/>
            <a:ext cx="3602736" cy="274320"/>
          </a:xfrm>
          <a:prstGeom prst="rect">
            <a:avLst/>
          </a:prstGeom>
          <a:noFill/>
        </p:spPr>
        <p:txBody>
          <a:bodyPr wrap="square" anchor="ctr" lIns="0" rIns="0" tIns="0" bIns="0">
            <a:spAutoFit/>
          </a:bodyPr>
          <a:lstStyle/>
          <a:p>
            <a:pPr algn="l"/>
            <a:r>
              <a:rPr sz="1100" b="0">
                <a:solidFill>
                  <a:schemeClr val="tx1"/>
                </a:solidFill>
              </a:rPr>
              <a:t>60 s: the façade fences RECOVERY_STALLED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Replay sequence: a snapshot restore</a:t>
            </a:r>
          </a:p>
        </p:txBody>
      </p:sp>
      <p:sp>
        <p:nvSpPr>
          <p:cNvPr id="3" name="Text 785"/>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Restore what the log confirms, then resume after the cut</a:t>
            </a:r>
          </a:p>
        </p:txBody>
      </p:sp>
      <p:sp>
        <p:nvSpPr>
          <p:cNvPr id="9043" name="Slide number"/>
          <p:cNvSpPr txBox="1"/>
          <p:nvPr userDrawn="1"/>
        </p:nvSpPr>
        <p:spPr>
          <a:xfrm>
            <a:off x="10728655" y="6400800"/>
            <a:ext cx="914400" cy="274320"/>
          </a:xfrm>
          <a:prstGeom prst="rect">
            <a:avLst/>
          </a:prstGeom>
          <a:noFill/>
        </p:spPr>
        <p:txBody>
          <a:bodyPr wrap="none" lIns="0" tIns="0" rIns="0" bIns="0" anchor="ctr"/>
          <a:lstStyle/>
          <a:p>
            <a:pPr algn="r"/>
            <a:fld id="{808dd74d-2a20-4e1c-b253-4edb45f789bc}" type="slidenum">
              <a:rPr lang="en-US" sz="1000" dirty="0">
                <a:solidFill>
                  <a:schemeClr val="accent5"/>
                </a:solidFill>
              </a:rPr>
              <a:t>43</a:t>
            </a:fld>
          </a:p>
        </p:txBody>
      </p:sp>
      <p:sp>
        <p:nvSpPr>
          <p:cNvPr id="9044" name="Lane 786"/>
          <p:cNvSpPr/>
          <p:nvPr/>
        </p:nvSpPr>
        <p:spPr>
          <a:xfrm>
            <a:off x="594360" y="1444752"/>
            <a:ext cx="1920240" cy="4206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Snapshot files</a:t>
            </a:r>
          </a:p>
          <a:p>
            <a:pPr algn="ctr"/>
            <a:r>
              <a:rPr sz="900" b="0">
                <a:solidFill>
                  <a:schemeClr val="accent5"/>
                </a:solidFill>
              </a:rPr>
              <a:t>SnapshotStore, local</a:t>
            </a:r>
          </a:p>
        </p:txBody>
      </p:sp>
      <p:sp>
        <p:nvSpPr>
          <p:cNvPr id="9045" name="Lane 787"/>
          <p:cNvSpPr/>
          <p:nvPr/>
        </p:nvSpPr>
        <p:spPr>
          <a:xfrm>
            <a:off x="2788920" y="1444752"/>
            <a:ext cx="1920240" cy="42062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Client</a:t>
            </a:r>
          </a:p>
          <a:p>
            <a:pPr algn="ctr"/>
            <a:r>
              <a:rPr sz="900" b="0">
                <a:solidFill>
                  <a:schemeClr val="accent5"/>
                </a:solidFill>
              </a:rPr>
              <a:t>ReplayerStreamReceiver</a:t>
            </a:r>
          </a:p>
        </p:txBody>
      </p:sp>
      <p:sp>
        <p:nvSpPr>
          <p:cNvPr id="9046" name="Lane 788"/>
          <p:cNvSpPr/>
          <p:nvPr/>
        </p:nvSpPr>
        <p:spPr>
          <a:xfrm>
            <a:off x="6720840" y="1444752"/>
            <a:ext cx="1920240" cy="420624"/>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ReplayerService</a:t>
            </a:r>
          </a:p>
          <a:p>
            <a:pPr algn="ctr"/>
            <a:r>
              <a:rPr sz="900" b="0">
                <a:solidFill>
                  <a:schemeClr val="accent5"/>
                </a:solidFill>
              </a:rPr>
              <a:t>requests 202 · replies 203</a:t>
            </a:r>
          </a:p>
        </p:txBody>
      </p:sp>
      <p:sp>
        <p:nvSpPr>
          <p:cNvPr id="9047" name="Lane 789"/>
          <p:cNvSpPr/>
          <p:nvPr/>
        </p:nvSpPr>
        <p:spPr>
          <a:xfrm>
            <a:off x="9692640" y="1444752"/>
            <a:ext cx="1920240" cy="42062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Archive</a:t>
            </a:r>
          </a:p>
          <a:p>
            <a:pPr algn="ctr"/>
            <a:r>
              <a:rPr sz="900" b="0">
                <a:solidFill>
                  <a:schemeClr val="accent5"/>
                </a:solidFill>
              </a:rPr>
              <a:t>active tap recording</a:t>
            </a:r>
          </a:p>
        </p:txBody>
      </p:sp>
      <p:cxnSp>
        <p:nvCxnSpPr>
          <p:cNvPr id="9048" name="Arrow 790"/>
          <p:cNvCxnSpPr/>
          <p:nvPr/>
        </p:nvCxnSpPr>
        <p:spPr>
          <a:xfrm>
            <a:off x="155448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49" name="Arrow 791"/>
          <p:cNvCxnSpPr/>
          <p:nvPr/>
        </p:nvCxnSpPr>
        <p:spPr>
          <a:xfrm>
            <a:off x="374904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0" name="Arrow 792"/>
          <p:cNvCxnSpPr/>
          <p:nvPr/>
        </p:nvCxnSpPr>
        <p:spPr>
          <a:xfrm>
            <a:off x="76809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1" name="Arrow 793"/>
          <p:cNvCxnSpPr/>
          <p:nvPr/>
        </p:nvCxnSpPr>
        <p:spPr>
          <a:xfrm>
            <a:off x="106527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2" name="Arrow 794"/>
          <p:cNvCxnSpPr/>
          <p:nvPr/>
        </p:nvCxnSpPr>
        <p:spPr>
          <a:xfrm>
            <a:off x="7619695" y="1197864"/>
            <a:ext cx="32004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3" name="Text 795"/>
          <p:cNvSpPr txBox="1"/>
          <p:nvPr/>
        </p:nvSpPr>
        <p:spPr>
          <a:xfrm>
            <a:off x="8003743" y="1088136"/>
            <a:ext cx="621792" cy="219456"/>
          </a:xfrm>
          <a:prstGeom prst="rect">
            <a:avLst/>
          </a:prstGeom>
          <a:noFill/>
        </p:spPr>
        <p:txBody>
          <a:bodyPr wrap="square" anchor="ctr" lIns="0" rIns="0" tIns="0" bIns="0">
            <a:spAutoFit/>
          </a:bodyPr>
          <a:lstStyle/>
          <a:p>
            <a:pPr algn="l"/>
            <a:r>
              <a:rPr sz="1000" b="0">
                <a:solidFill>
                  <a:schemeClr val="accent5"/>
                </a:solidFill>
              </a:rPr>
              <a:t>live tap</a:t>
            </a:r>
          </a:p>
        </p:txBody>
      </p:sp>
      <p:cxnSp>
        <p:nvCxnSpPr>
          <p:cNvPr id="9054" name="Arrow 796"/>
          <p:cNvCxnSpPr/>
          <p:nvPr/>
        </p:nvCxnSpPr>
        <p:spPr>
          <a:xfrm>
            <a:off x="8625535" y="1197864"/>
            <a:ext cx="320040" cy="0"/>
          </a:xfrm>
          <a:prstGeom prst="line">
            <a:avLst/>
          </a:prstGeom>
          <a:ln w="22225">
            <a:solidFill>
              <a:schemeClr val="accent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5" name="Text 797"/>
          <p:cNvSpPr txBox="1"/>
          <p:nvPr/>
        </p:nvSpPr>
        <p:spPr>
          <a:xfrm>
            <a:off x="9009583" y="1088136"/>
            <a:ext cx="621792" cy="219456"/>
          </a:xfrm>
          <a:prstGeom prst="rect">
            <a:avLst/>
          </a:prstGeom>
          <a:noFill/>
        </p:spPr>
        <p:txBody>
          <a:bodyPr wrap="square" anchor="ctr" lIns="0" rIns="0" tIns="0" bIns="0">
            <a:spAutoFit/>
          </a:bodyPr>
          <a:lstStyle/>
          <a:p>
            <a:pPr algn="l"/>
            <a:r>
              <a:rPr sz="1000" b="0">
                <a:solidFill>
                  <a:schemeClr val="accent5"/>
                </a:solidFill>
              </a:rPr>
              <a:t>replay 201</a:t>
            </a:r>
          </a:p>
        </p:txBody>
      </p:sp>
      <p:cxnSp>
        <p:nvCxnSpPr>
          <p:cNvPr id="9056" name="Arrow 798"/>
          <p:cNvCxnSpPr/>
          <p:nvPr/>
        </p:nvCxnSpPr>
        <p:spPr>
          <a:xfrm>
            <a:off x="9631375" y="1197864"/>
            <a:ext cx="32004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7" name="Text 799"/>
          <p:cNvSpPr txBox="1"/>
          <p:nvPr/>
        </p:nvSpPr>
        <p:spPr>
          <a:xfrm>
            <a:off x="10015423" y="1088136"/>
            <a:ext cx="621792" cy="219456"/>
          </a:xfrm>
          <a:prstGeom prst="rect">
            <a:avLst/>
          </a:prstGeom>
          <a:noFill/>
        </p:spPr>
        <p:txBody>
          <a:bodyPr wrap="square" anchor="ctr" lIns="0" rIns="0" tIns="0" bIns="0">
            <a:spAutoFit/>
          </a:bodyPr>
          <a:lstStyle/>
          <a:p>
            <a:pPr algn="l"/>
            <a:r>
              <a:rPr sz="1000" b="0">
                <a:solidFill>
                  <a:schemeClr val="accent5"/>
                </a:solidFill>
              </a:rPr>
              <a:t>request</a:t>
            </a:r>
          </a:p>
        </p:txBody>
      </p:sp>
      <p:cxnSp>
        <p:nvCxnSpPr>
          <p:cNvPr id="9058" name="Arrow 800"/>
          <p:cNvCxnSpPr/>
          <p:nvPr/>
        </p:nvCxnSpPr>
        <p:spPr>
          <a:xfrm>
            <a:off x="10637215" y="1197864"/>
            <a:ext cx="32004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59" name="Text 801"/>
          <p:cNvSpPr txBox="1"/>
          <p:nvPr/>
        </p:nvSpPr>
        <p:spPr>
          <a:xfrm>
            <a:off x="11021263" y="1088136"/>
            <a:ext cx="621792" cy="219456"/>
          </a:xfrm>
          <a:prstGeom prst="rect">
            <a:avLst/>
          </a:prstGeom>
          <a:noFill/>
        </p:spPr>
        <p:txBody>
          <a:bodyPr wrap="square" anchor="ctr" lIns="0" rIns="0" tIns="0" bIns="0">
            <a:spAutoFit/>
          </a:bodyPr>
          <a:lstStyle/>
          <a:p>
            <a:pPr algn="l"/>
            <a:r>
              <a:rPr sz="1000" b="0">
                <a:solidFill>
                  <a:schemeClr val="accent5"/>
                </a:solidFill>
              </a:rPr>
              <a:t>reply</a:t>
            </a:r>
          </a:p>
        </p:txBody>
      </p:sp>
      <p:sp>
        <p:nvSpPr>
          <p:cNvPr id="9060" name="Text 802"/>
          <p:cNvSpPr txBox="1"/>
          <p:nvPr/>
        </p:nvSpPr>
        <p:spPr>
          <a:xfrm>
            <a:off x="1600200" y="1911096"/>
            <a:ext cx="2103120" cy="228600"/>
          </a:xfrm>
          <a:prstGeom prst="rect">
            <a:avLst/>
          </a:prstGeom>
          <a:noFill/>
        </p:spPr>
        <p:txBody>
          <a:bodyPr wrap="square" anchor="b" lIns="0" rIns="0" tIns="0" bIns="0">
            <a:spAutoFit/>
          </a:bodyPr>
          <a:lstStyle/>
          <a:p>
            <a:pPr algn="ctr"/>
            <a:r>
              <a:rPr sz="1100" b="0">
                <a:solidFill>
                  <a:schemeClr val="tx1"/>
                </a:solidFill>
              </a:rPr>
              <a:t>latestRound() → round r</a:t>
            </a:r>
          </a:p>
        </p:txBody>
      </p:sp>
      <p:cxnSp>
        <p:nvCxnSpPr>
          <p:cNvPr id="9061" name="Arrow 803"/>
          <p:cNvCxnSpPr/>
          <p:nvPr/>
        </p:nvCxnSpPr>
        <p:spPr>
          <a:xfrm flipH="1">
            <a:off x="1554480" y="2157984"/>
            <a:ext cx="219456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2" name="Text 804"/>
          <p:cNvSpPr txBox="1"/>
          <p:nvPr/>
        </p:nvSpPr>
        <p:spPr>
          <a:xfrm>
            <a:off x="3794760" y="2203704"/>
            <a:ext cx="3840480" cy="228600"/>
          </a:xfrm>
          <a:prstGeom prst="rect">
            <a:avLst/>
          </a:prstGeom>
          <a:noFill/>
        </p:spPr>
        <p:txBody>
          <a:bodyPr wrap="square" anchor="b" lIns="0" rIns="0" tIns="0" bIns="0">
            <a:spAutoFit/>
          </a:bodyPr>
          <a:lstStyle/>
          <a:p>
            <a:pPr algn="ctr"/>
            <a:r>
              <a:rPr sz="1100" b="0">
                <a:solidFill>
                  <a:schemeClr val="tx1"/>
                </a:solidFill>
              </a:rPr>
              <a:t>SnapshotQuery(requestId, sourceId, round r)</a:t>
            </a:r>
          </a:p>
        </p:txBody>
      </p:sp>
      <p:cxnSp>
        <p:nvCxnSpPr>
          <p:cNvPr id="9063" name="Arrow 805"/>
          <p:cNvCxnSpPr/>
          <p:nvPr/>
        </p:nvCxnSpPr>
        <p:spPr>
          <a:xfrm>
            <a:off x="3749040" y="2450592"/>
            <a:ext cx="39319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4" name="Note 806"/>
          <p:cNvSpPr/>
          <p:nvPr/>
        </p:nvSpPr>
        <p:spPr>
          <a:xfrm>
            <a:off x="7754112" y="2496312"/>
            <a:ext cx="28346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65" name="Text 807"/>
          <p:cNvSpPr txBox="1"/>
          <p:nvPr/>
        </p:nvSpPr>
        <p:spPr>
          <a:xfrm>
            <a:off x="7827264" y="2496312"/>
            <a:ext cx="2688336" cy="274320"/>
          </a:xfrm>
          <a:prstGeom prst="rect">
            <a:avLst/>
          </a:prstGeom>
          <a:noFill/>
        </p:spPr>
        <p:txBody>
          <a:bodyPr wrap="square" anchor="ctr" lIns="0" rIns="0" tIns="0" bIns="0">
            <a:spAutoFit/>
          </a:bodyPr>
          <a:lstStyle/>
          <a:p>
            <a:pPr algn="l"/>
            <a:r>
              <a:rPr sz="1100" b="0">
                <a:solidFill>
                  <a:schemeClr val="tx1"/>
                </a:solidFill>
              </a:rPr>
              <a:t>index: the SnapshotEnd sequenced for r</a:t>
            </a:r>
          </a:p>
        </p:txBody>
      </p:sp>
      <p:sp>
        <p:nvSpPr>
          <p:cNvPr id="9066" name="Text 808"/>
          <p:cNvSpPr txBox="1"/>
          <p:nvPr/>
        </p:nvSpPr>
        <p:spPr>
          <a:xfrm>
            <a:off x="3794760" y="2788920"/>
            <a:ext cx="3840480" cy="228600"/>
          </a:xfrm>
          <a:prstGeom prst="rect">
            <a:avLst/>
          </a:prstGeom>
          <a:noFill/>
        </p:spPr>
        <p:txBody>
          <a:bodyPr wrap="square" anchor="b" lIns="0" rIns="0" tIns="0" bIns="0">
            <a:spAutoFit/>
          </a:bodyPr>
          <a:lstStyle/>
          <a:p>
            <a:pPr algn="ctr"/>
            <a:r>
              <a:rPr sz="1100" b="0">
                <a:solidFill>
                  <a:schemeClr val="tx1"/>
                </a:solidFill>
              </a:rPr>
              <a:t>SnapshotLocation(cut, position, count, length, crc)</a:t>
            </a:r>
          </a:p>
        </p:txBody>
      </p:sp>
      <p:cxnSp>
        <p:nvCxnSpPr>
          <p:cNvPr id="9067" name="Arrow 809"/>
          <p:cNvCxnSpPr/>
          <p:nvPr/>
        </p:nvCxnSpPr>
        <p:spPr>
          <a:xfrm flipH="1">
            <a:off x="3749040" y="3035808"/>
            <a:ext cx="393192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68" name="Frame tag 810"/>
          <p:cNvSpPr/>
          <p:nvPr/>
        </p:nvSpPr>
        <p:spPr>
          <a:xfrm>
            <a:off x="548640" y="3145536"/>
            <a:ext cx="566928" cy="21945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chemeClr val="tx1"/>
                </a:solidFill>
              </a:rPr>
              <a:t>ALT</a:t>
            </a:r>
          </a:p>
        </p:txBody>
      </p:sp>
      <p:sp>
        <p:nvSpPr>
          <p:cNvPr id="9069" name="Frame guard 811"/>
          <p:cNvSpPr/>
          <p:nvPr/>
        </p:nvSpPr>
        <p:spPr>
          <a:xfrm>
            <a:off x="1152144" y="3145536"/>
            <a:ext cx="4323283" cy="21945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0" name="Text 812"/>
          <p:cNvSpPr txBox="1"/>
          <p:nvPr/>
        </p:nvSpPr>
        <p:spPr>
          <a:xfrm>
            <a:off x="1207008" y="3145536"/>
            <a:ext cx="4213555" cy="219456"/>
          </a:xfrm>
          <a:prstGeom prst="rect">
            <a:avLst/>
          </a:prstGeom>
          <a:noFill/>
        </p:spPr>
        <p:txBody>
          <a:bodyPr wrap="none" anchor="ctr" lIns="0" rIns="0" tIns="0" bIns="0">
            <a:spAutoFit/>
          </a:bodyPr>
          <a:lstStyle/>
          <a:p>
            <a:pPr algn="l"/>
            <a:r>
              <a:rPr sz="1000" b="0" i="1">
                <a:solidFill>
                  <a:schemeClr val="accent5"/>
                </a:solidFill>
              </a:rPr>
              <a:t>r not in the index, or its file missing or not the one sequenced</a:t>
            </a:r>
          </a:p>
        </p:txBody>
      </p:sp>
      <p:sp>
        <p:nvSpPr>
          <p:cNvPr id="9071" name="Text 813"/>
          <p:cNvSpPr txBox="1"/>
          <p:nvPr/>
        </p:nvSpPr>
        <p:spPr>
          <a:xfrm>
            <a:off x="1600200" y="3328416"/>
            <a:ext cx="2103120" cy="228600"/>
          </a:xfrm>
          <a:prstGeom prst="rect">
            <a:avLst/>
          </a:prstGeom>
          <a:noFill/>
        </p:spPr>
        <p:txBody>
          <a:bodyPr wrap="square" anchor="b" lIns="0" rIns="0" tIns="0" bIns="0">
            <a:spAutoFit/>
          </a:bodyPr>
          <a:lstStyle/>
          <a:p>
            <a:pPr algn="ctr"/>
            <a:r>
              <a:rPr sz="1100" b="0">
                <a:solidFill>
                  <a:schemeClr val="tx1"/>
                </a:solidFill>
              </a:rPr>
              <a:t>the next older round</a:t>
            </a:r>
          </a:p>
        </p:txBody>
      </p:sp>
      <p:cxnSp>
        <p:nvCxnSpPr>
          <p:cNvPr id="9072" name="Arrow 814"/>
          <p:cNvCxnSpPr/>
          <p:nvPr/>
        </p:nvCxnSpPr>
        <p:spPr>
          <a:xfrm flipH="1">
            <a:off x="1554480" y="3575304"/>
            <a:ext cx="219456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73" name="Note 815"/>
          <p:cNvSpPr/>
          <p:nvPr/>
        </p:nvSpPr>
        <p:spPr>
          <a:xfrm>
            <a:off x="3822192" y="3621024"/>
            <a:ext cx="37490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74" name="Text 816"/>
          <p:cNvSpPr txBox="1"/>
          <p:nvPr/>
        </p:nvSpPr>
        <p:spPr>
          <a:xfrm>
            <a:off x="3895344" y="3621024"/>
            <a:ext cx="3602736" cy="274320"/>
          </a:xfrm>
          <a:prstGeom prst="rect">
            <a:avLst/>
          </a:prstGeom>
          <a:noFill/>
        </p:spPr>
        <p:txBody>
          <a:bodyPr wrap="square" anchor="ctr" lIns="0" rIns="0" tIns="0" bIns="0">
            <a:spAutoFit/>
          </a:bodyPr>
          <a:lstStyle/>
          <a:p>
            <a:pPr algn="l"/>
            <a:r>
              <a:rPr sz="1100" b="0">
                <a:solidFill>
                  <a:schemeClr val="tx1"/>
                </a:solidFill>
              </a:rPr>
              <a:t>none left: ReplayRequest(FROM_START), a walk</a:t>
            </a:r>
          </a:p>
        </p:txBody>
      </p:sp>
      <p:sp>
        <p:nvSpPr>
          <p:cNvPr id="9075" name="Frame 817"/>
          <p:cNvSpPr/>
          <p:nvPr/>
        </p:nvSpPr>
        <p:spPr>
          <a:xfrm>
            <a:off x="548640" y="3145536"/>
            <a:ext cx="11094415" cy="832104"/>
          </a:xfrm>
          <a:prstGeom prst="rect">
            <a:avLst/>
          </a:prstGeom>
          <a:noFill/>
          <a:ln w="12700">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6" name="Text 818"/>
          <p:cNvSpPr txBox="1"/>
          <p:nvPr/>
        </p:nvSpPr>
        <p:spPr>
          <a:xfrm>
            <a:off x="1600200" y="4023360"/>
            <a:ext cx="2103120" cy="228600"/>
          </a:xfrm>
          <a:prstGeom prst="rect">
            <a:avLst/>
          </a:prstGeom>
          <a:noFill/>
        </p:spPr>
        <p:txBody>
          <a:bodyPr wrap="square" anchor="b" lIns="0" rIns="0" tIns="0" bIns="0">
            <a:spAutoFit/>
          </a:bodyPr>
          <a:lstStyle/>
          <a:p>
            <a:pPr algn="ctr"/>
            <a:r>
              <a:rPr sz="1100" b="0">
                <a:solidFill>
                  <a:schemeClr val="tx1"/>
                </a:solidFill>
              </a:rPr>
              <a:t>records, ≤ 1,024 per poll</a:t>
            </a:r>
          </a:p>
        </p:txBody>
      </p:sp>
      <p:cxnSp>
        <p:nvCxnSpPr>
          <p:cNvPr id="9077" name="Arrow 819"/>
          <p:cNvCxnSpPr/>
          <p:nvPr/>
        </p:nvCxnSpPr>
        <p:spPr>
          <a:xfrm>
            <a:off x="1554480" y="4270248"/>
            <a:ext cx="219456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78" name="Note 820"/>
          <p:cNvSpPr/>
          <p:nvPr/>
        </p:nvSpPr>
        <p:spPr>
          <a:xfrm>
            <a:off x="3822192" y="4315968"/>
            <a:ext cx="374904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79" name="Text 821"/>
          <p:cNvSpPr txBox="1"/>
          <p:nvPr/>
        </p:nvSpPr>
        <p:spPr>
          <a:xfrm>
            <a:off x="3895344" y="4315968"/>
            <a:ext cx="3602736" cy="274320"/>
          </a:xfrm>
          <a:prstGeom prst="rect">
            <a:avLst/>
          </a:prstGeom>
          <a:noFill/>
        </p:spPr>
        <p:txBody>
          <a:bodyPr wrap="square" anchor="ctr" lIns="0" rIns="0" tIns="0" bIns="0">
            <a:spAutoFit/>
          </a:bodyPr>
          <a:lstStyle/>
          <a:p>
            <a:pPr algn="l"/>
            <a:r>
              <a:rPr sz="1100" b="0">
                <a:solidFill>
                  <a:schemeClr val="tx1"/>
                </a:solidFill>
              </a:rPr>
              <a:t>lastGlobalSeqNo = cut; leadership from the header</a:t>
            </a:r>
          </a:p>
        </p:txBody>
      </p:sp>
      <p:sp>
        <p:nvSpPr>
          <p:cNvPr id="9080" name="Text 822"/>
          <p:cNvSpPr txBox="1"/>
          <p:nvPr/>
        </p:nvSpPr>
        <p:spPr>
          <a:xfrm>
            <a:off x="3794760" y="4608576"/>
            <a:ext cx="3840480" cy="228600"/>
          </a:xfrm>
          <a:prstGeom prst="rect">
            <a:avLst/>
          </a:prstGeom>
          <a:noFill/>
        </p:spPr>
        <p:txBody>
          <a:bodyPr wrap="square" anchor="b" lIns="0" rIns="0" tIns="0" bIns="0">
            <a:spAutoFit/>
          </a:bodyPr>
          <a:lstStyle/>
          <a:p>
            <a:pPr algn="ctr"/>
            <a:r>
              <a:rPr sz="1100" b="0">
                <a:solidFill>
                  <a:schemeClr val="tx1"/>
                </a:solidFill>
              </a:rPr>
              <a:t>ReplayRequest(asOfPosition), anchor = the cut</a:t>
            </a:r>
          </a:p>
        </p:txBody>
      </p:sp>
      <p:cxnSp>
        <p:nvCxnSpPr>
          <p:cNvPr id="9081" name="Arrow 823"/>
          <p:cNvCxnSpPr/>
          <p:nvPr/>
        </p:nvCxnSpPr>
        <p:spPr>
          <a:xfrm>
            <a:off x="3749040" y="4855464"/>
            <a:ext cx="393192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82" name="Text 824"/>
          <p:cNvSpPr txBox="1"/>
          <p:nvPr/>
        </p:nvSpPr>
        <p:spPr>
          <a:xfrm>
            <a:off x="3794760" y="4901184"/>
            <a:ext cx="3840480" cy="228600"/>
          </a:xfrm>
          <a:prstGeom prst="rect">
            <a:avLst/>
          </a:prstGeom>
          <a:noFill/>
        </p:spPr>
        <p:txBody>
          <a:bodyPr wrap="square" anchor="b" lIns="0" rIns="0" tIns="0" bIns="0">
            <a:spAutoFit/>
          </a:bodyPr>
          <a:lstStyle/>
          <a:p>
            <a:pPr algn="ctr"/>
            <a:r>
              <a:rPr sz="1100" b="0">
                <a:solidFill>
                  <a:schemeClr val="tx1"/>
                </a:solidFill>
              </a:rPr>
              <a:t>Replaying(session, catchUpPosition = last recorded)</a:t>
            </a:r>
          </a:p>
        </p:txBody>
      </p:sp>
      <p:cxnSp>
        <p:nvCxnSpPr>
          <p:cNvPr id="9083" name="Arrow 825"/>
          <p:cNvCxnSpPr/>
          <p:nvPr/>
        </p:nvCxnSpPr>
        <p:spPr>
          <a:xfrm flipH="1">
            <a:off x="3749040" y="5148072"/>
            <a:ext cx="3931920" cy="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84" name="Text 826"/>
          <p:cNvSpPr txBox="1"/>
          <p:nvPr/>
        </p:nvSpPr>
        <p:spPr>
          <a:xfrm>
            <a:off x="3794760" y="5193792"/>
            <a:ext cx="6812280" cy="228600"/>
          </a:xfrm>
          <a:prstGeom prst="rect">
            <a:avLst/>
          </a:prstGeom>
          <a:noFill/>
        </p:spPr>
        <p:txBody>
          <a:bodyPr wrap="square" anchor="b" lIns="0" rIns="0" tIns="0" bIns="0">
            <a:spAutoFit/>
          </a:bodyPr>
          <a:lstStyle/>
          <a:p>
            <a:pPr algn="ctr"/>
            <a:r>
              <a:rPr sz="1100" b="0">
                <a:solidFill>
                  <a:schemeClr val="tx1"/>
                </a:solidFill>
              </a:rPr>
              <a:t>SnapshotStarted (the cut, dropped), then the frames after it</a:t>
            </a:r>
          </a:p>
        </p:txBody>
      </p:sp>
      <p:cxnSp>
        <p:nvCxnSpPr>
          <p:cNvPr id="9085" name="Arrow 827"/>
          <p:cNvCxnSpPr/>
          <p:nvPr/>
        </p:nvCxnSpPr>
        <p:spPr>
          <a:xfrm flipH="1">
            <a:off x="3749040" y="5440680"/>
            <a:ext cx="6903720" cy="0"/>
          </a:xfrm>
          <a:prstGeom prst="line">
            <a:avLst/>
          </a:prstGeom>
          <a:ln w="22225">
            <a:solidFill>
              <a:schemeClr val="accent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86" name="Note 828"/>
          <p:cNvSpPr/>
          <p:nvPr/>
        </p:nvSpPr>
        <p:spPr>
          <a:xfrm>
            <a:off x="3822192" y="5486400"/>
            <a:ext cx="3749040" cy="27432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87" name="Text 829"/>
          <p:cNvSpPr txBox="1"/>
          <p:nvPr/>
        </p:nvSpPr>
        <p:spPr>
          <a:xfrm>
            <a:off x="3895344" y="5486400"/>
            <a:ext cx="3602736" cy="274320"/>
          </a:xfrm>
          <a:prstGeom prst="rect">
            <a:avLst/>
          </a:prstGeom>
          <a:noFill/>
        </p:spPr>
        <p:txBody>
          <a:bodyPr wrap="square" anchor="ctr" lIns="0" rIns="0" tIns="0" bIns="0">
            <a:spAutoFit/>
          </a:bodyPr>
          <a:lstStyle/>
          <a:p>
            <a:pPr algn="l"/>
            <a:r>
              <a:rPr sz="1100" b="0">
                <a:solidFill>
                  <a:schemeClr val="tx1"/>
                </a:solidFill>
              </a:rPr>
              <a:t>ReplayComplete, drain the FIFO → caught up</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Snapshot sequence: a round</a:t>
            </a:r>
          </a:p>
        </p:txBody>
      </p:sp>
      <p:sp>
        <p:nvSpPr>
          <p:cNvPr id="3" name="Text 830"/>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Cut, serialize, end, compare; the records never enter the log</a:t>
            </a:r>
          </a:p>
        </p:txBody>
      </p:sp>
      <p:sp>
        <p:nvSpPr>
          <p:cNvPr id="9044" name="Slide number"/>
          <p:cNvSpPr txBox="1"/>
          <p:nvPr userDrawn="1"/>
        </p:nvSpPr>
        <p:spPr>
          <a:xfrm>
            <a:off x="10728655" y="6400800"/>
            <a:ext cx="914400" cy="274320"/>
          </a:xfrm>
          <a:prstGeom prst="rect">
            <a:avLst/>
          </a:prstGeom>
          <a:noFill/>
        </p:spPr>
        <p:txBody>
          <a:bodyPr wrap="none" lIns="0" tIns="0" rIns="0" bIns="0" anchor="ctr"/>
          <a:lstStyle/>
          <a:p>
            <a:pPr algn="r"/>
            <a:fld id="{78324355-5e7d-4679-929f-a3562899c55b}" type="slidenum">
              <a:rPr lang="en-US" sz="1000" dirty="0">
                <a:solidFill>
                  <a:schemeClr val="accent5"/>
                </a:solidFill>
              </a:rPr>
              <a:t>44</a:t>
            </a:fld>
          </a:p>
        </p:txBody>
      </p:sp>
      <p:sp>
        <p:nvSpPr>
          <p:cNvPr id="9045" name="Lane 831"/>
          <p:cNvSpPr/>
          <p:nvPr/>
        </p:nvSpPr>
        <p:spPr>
          <a:xfrm>
            <a:off x="548640" y="1444752"/>
            <a:ext cx="1920240" cy="420624"/>
          </a:xfrm>
          <a:prstGeom prst="rect">
            <a:avLst/>
          </a:prstGeom>
          <a:solidFill>
            <a:schemeClr val="bg1"/>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clusterctl</a:t>
            </a:r>
          </a:p>
          <a:p>
            <a:pPr algn="ctr"/>
            <a:r>
              <a:rPr sz="900" b="0">
                <a:solidFill>
                  <a:schemeClr val="accent5"/>
                </a:solidFill>
              </a:rPr>
              <a:t>request-snapshot</a:t>
            </a:r>
          </a:p>
        </p:txBody>
      </p:sp>
      <p:sp>
        <p:nvSpPr>
          <p:cNvPr id="9046" name="Lane 832"/>
          <p:cNvSpPr/>
          <p:nvPr/>
        </p:nvSpPr>
        <p:spPr>
          <a:xfrm>
            <a:off x="2834640" y="1444752"/>
            <a:ext cx="1920240" cy="420624"/>
          </a:xfrm>
          <a:prstGeom prst="rect">
            <a:avLst/>
          </a:prstGeom>
          <a:solidFill>
            <a:schemeClr val="bg1"/>
          </a:solidFill>
          <a:ln w="317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Sequencer</a:t>
            </a:r>
          </a:p>
          <a:p>
            <a:pPr algn="ctr"/>
            <a:r>
              <a:rPr sz="900" b="0">
                <a:solidFill>
                  <a:schemeClr val="accent5"/>
                </a:solidFill>
              </a:rPr>
              <a:t>every member</a:t>
            </a:r>
          </a:p>
        </p:txBody>
      </p:sp>
      <p:sp>
        <p:nvSpPr>
          <p:cNvPr id="9047" name="Lane 833"/>
          <p:cNvSpPr/>
          <p:nvPr/>
        </p:nvSpPr>
        <p:spPr>
          <a:xfrm>
            <a:off x="5120640" y="1444752"/>
            <a:ext cx="1920240" cy="420624"/>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ReplayerService</a:t>
            </a:r>
          </a:p>
          <a:p>
            <a:pPr algn="ctr"/>
            <a:r>
              <a:rPr sz="900" b="0">
                <a:solidFill>
                  <a:schemeClr val="accent5"/>
                </a:solidFill>
              </a:rPr>
              <a:t>SnapshotIndex</a:t>
            </a:r>
          </a:p>
        </p:txBody>
      </p:sp>
      <p:sp>
        <p:nvSpPr>
          <p:cNvPr id="9048" name="Lane 834"/>
          <p:cNvSpPr/>
          <p:nvPr/>
        </p:nvSpPr>
        <p:spPr>
          <a:xfrm>
            <a:off x="7406640" y="1444752"/>
            <a:ext cx="1920240" cy="42062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Instance A</a:t>
            </a:r>
          </a:p>
          <a:p>
            <a:pPr algn="ctr"/>
            <a:r>
              <a:rPr sz="900" b="0">
                <a:solidFill>
                  <a:schemeClr val="accent5"/>
                </a:solidFill>
              </a:rPr>
              <a:t>gate open: publishes</a:t>
            </a:r>
          </a:p>
        </p:txBody>
      </p:sp>
      <p:sp>
        <p:nvSpPr>
          <p:cNvPr id="9049" name="Lane 835"/>
          <p:cNvSpPr/>
          <p:nvPr/>
        </p:nvSpPr>
        <p:spPr>
          <a:xfrm>
            <a:off x="9692640" y="1444752"/>
            <a:ext cx="1920240" cy="420624"/>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chemeClr val="tx1"/>
                </a:solidFill>
              </a:rPr>
              <a:t>Instance B</a:t>
            </a:r>
          </a:p>
          <a:p>
            <a:pPr algn="ctr"/>
            <a:r>
              <a:rPr sz="900" b="0">
                <a:solidFill>
                  <a:schemeClr val="accent5"/>
                </a:solidFill>
              </a:rPr>
              <a:t>every other instance</a:t>
            </a:r>
          </a:p>
        </p:txBody>
      </p:sp>
      <p:cxnSp>
        <p:nvCxnSpPr>
          <p:cNvPr id="9050" name="Arrow 836"/>
          <p:cNvCxnSpPr/>
          <p:nvPr/>
        </p:nvCxnSpPr>
        <p:spPr>
          <a:xfrm>
            <a:off x="15087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1" name="Arrow 837"/>
          <p:cNvCxnSpPr/>
          <p:nvPr/>
        </p:nvCxnSpPr>
        <p:spPr>
          <a:xfrm>
            <a:off x="37947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2" name="Arrow 838"/>
          <p:cNvCxnSpPr/>
          <p:nvPr/>
        </p:nvCxnSpPr>
        <p:spPr>
          <a:xfrm>
            <a:off x="60807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3" name="Arrow 839"/>
          <p:cNvCxnSpPr/>
          <p:nvPr/>
        </p:nvCxnSpPr>
        <p:spPr>
          <a:xfrm>
            <a:off x="83667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4" name="Arrow 840"/>
          <p:cNvCxnSpPr/>
          <p:nvPr/>
        </p:nvCxnSpPr>
        <p:spPr>
          <a:xfrm>
            <a:off x="10652760" y="1865376"/>
            <a:ext cx="0" cy="4398264"/>
          </a:xfrm>
          <a:prstGeom prst="line">
            <a:avLst/>
          </a:prstGeom>
          <a:ln w="15875">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055" name="Arrow 841"/>
          <p:cNvCxnSpPr/>
          <p:nvPr/>
        </p:nvCxnSpPr>
        <p:spPr>
          <a:xfrm>
            <a:off x="9631375" y="1197864"/>
            <a:ext cx="32004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6" name="Text 842"/>
          <p:cNvSpPr txBox="1"/>
          <p:nvPr/>
        </p:nvSpPr>
        <p:spPr>
          <a:xfrm>
            <a:off x="10015423" y="1088136"/>
            <a:ext cx="621792" cy="219456"/>
          </a:xfrm>
          <a:prstGeom prst="rect">
            <a:avLst/>
          </a:prstGeom>
          <a:noFill/>
        </p:spPr>
        <p:txBody>
          <a:bodyPr wrap="square" anchor="ctr" lIns="0" rIns="0" tIns="0" bIns="0">
            <a:spAutoFit/>
          </a:bodyPr>
          <a:lstStyle/>
          <a:p>
            <a:pPr algn="l"/>
            <a:r>
              <a:rPr sz="1000" b="0">
                <a:solidFill>
                  <a:schemeClr val="accent5"/>
                </a:solidFill>
              </a:rPr>
              <a:t>tap</a:t>
            </a:r>
          </a:p>
        </p:txBody>
      </p:sp>
      <p:cxnSp>
        <p:nvCxnSpPr>
          <p:cNvPr id="9057" name="Arrow 843"/>
          <p:cNvCxnSpPr/>
          <p:nvPr/>
        </p:nvCxnSpPr>
        <p:spPr>
          <a:xfrm>
            <a:off x="10637215" y="1197864"/>
            <a:ext cx="32004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58" name="Text 844"/>
          <p:cNvSpPr txBox="1"/>
          <p:nvPr/>
        </p:nvSpPr>
        <p:spPr>
          <a:xfrm>
            <a:off x="11021263" y="1088136"/>
            <a:ext cx="621792" cy="219456"/>
          </a:xfrm>
          <a:prstGeom prst="rect">
            <a:avLst/>
          </a:prstGeom>
          <a:noFill/>
        </p:spPr>
        <p:txBody>
          <a:bodyPr wrap="square" anchor="ctr" lIns="0" rIns="0" tIns="0" bIns="0">
            <a:spAutoFit/>
          </a:bodyPr>
          <a:lstStyle/>
          <a:p>
            <a:pPr algn="l"/>
            <a:r>
              <a:rPr sz="1000" b="0">
                <a:solidFill>
                  <a:schemeClr val="accent5"/>
                </a:solidFill>
              </a:rPr>
              <a:t>ingress</a:t>
            </a:r>
          </a:p>
        </p:txBody>
      </p:sp>
      <p:sp>
        <p:nvSpPr>
          <p:cNvPr id="9059" name="Text 845"/>
          <p:cNvSpPr txBox="1"/>
          <p:nvPr/>
        </p:nvSpPr>
        <p:spPr>
          <a:xfrm>
            <a:off x="1554480" y="1911096"/>
            <a:ext cx="2194560" cy="228600"/>
          </a:xfrm>
          <a:prstGeom prst="rect">
            <a:avLst/>
          </a:prstGeom>
          <a:noFill/>
        </p:spPr>
        <p:txBody>
          <a:bodyPr wrap="square" anchor="b" lIns="0" rIns="0" tIns="0" bIns="0">
            <a:spAutoFit/>
          </a:bodyPr>
          <a:lstStyle/>
          <a:p>
            <a:pPr algn="ctr"/>
            <a:r>
              <a:rPr sz="1100" b="0">
                <a:solidFill>
                  <a:schemeClr val="tx1"/>
                </a:solidFill>
              </a:rPr>
              <a:t>SnapshotRequested</a:t>
            </a:r>
          </a:p>
        </p:txBody>
      </p:sp>
      <p:cxnSp>
        <p:nvCxnSpPr>
          <p:cNvPr id="9060" name="Arrow 846"/>
          <p:cNvCxnSpPr/>
          <p:nvPr/>
        </p:nvCxnSpPr>
        <p:spPr>
          <a:xfrm>
            <a:off x="1508760" y="2157984"/>
            <a:ext cx="228600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1" name="Note 847"/>
          <p:cNvSpPr/>
          <p:nvPr/>
        </p:nvSpPr>
        <p:spPr>
          <a:xfrm>
            <a:off x="3867912" y="2203704"/>
            <a:ext cx="219456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62" name="Text 848"/>
          <p:cNvSpPr txBox="1"/>
          <p:nvPr/>
        </p:nvSpPr>
        <p:spPr>
          <a:xfrm>
            <a:off x="3941064" y="2203704"/>
            <a:ext cx="2048256" cy="274320"/>
          </a:xfrm>
          <a:prstGeom prst="rect">
            <a:avLst/>
          </a:prstGeom>
          <a:noFill/>
        </p:spPr>
        <p:txBody>
          <a:bodyPr wrap="square" anchor="ctr" lIns="0" rIns="0" tIns="0" bIns="0">
            <a:spAutoFit/>
          </a:bodyPr>
          <a:lstStyle/>
          <a:p>
            <a:pPr algn="l"/>
            <a:r>
              <a:rPr sz="1100" b="0">
                <a:solidFill>
                  <a:schemeClr val="tx1"/>
                </a:solidFill>
              </a:rPr>
              <a:t>or: interval, at a heartbeat</a:t>
            </a:r>
          </a:p>
        </p:txBody>
      </p:sp>
      <p:sp>
        <p:nvSpPr>
          <p:cNvPr id="9063" name="Text 849"/>
          <p:cNvSpPr txBox="1"/>
          <p:nvPr/>
        </p:nvSpPr>
        <p:spPr>
          <a:xfrm>
            <a:off x="3840480" y="2496312"/>
            <a:ext cx="6766560" cy="228600"/>
          </a:xfrm>
          <a:prstGeom prst="rect">
            <a:avLst/>
          </a:prstGeom>
          <a:noFill/>
        </p:spPr>
        <p:txBody>
          <a:bodyPr wrap="square" anchor="b" lIns="0" rIns="0" tIns="0" bIns="0">
            <a:spAutoFit/>
          </a:bodyPr>
          <a:lstStyle/>
          <a:p>
            <a:pPr algn="ctr"/>
            <a:r>
              <a:rPr sz="1100" b="0">
                <a:solidFill>
                  <a:schemeClr val="tx1"/>
                </a:solidFill>
              </a:rPr>
              <a:t>SnapshotStarted(r) on every tap: the cut R</a:t>
            </a:r>
          </a:p>
        </p:txBody>
      </p:sp>
      <p:cxnSp>
        <p:nvCxnSpPr>
          <p:cNvPr id="9064" name="Arrow 850"/>
          <p:cNvCxnSpPr/>
          <p:nvPr/>
        </p:nvCxnSpPr>
        <p:spPr>
          <a:xfrm>
            <a:off x="3794760" y="2743200"/>
            <a:ext cx="685800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65" name="Note 851"/>
          <p:cNvSpPr/>
          <p:nvPr/>
        </p:nvSpPr>
        <p:spPr>
          <a:xfrm>
            <a:off x="6153912" y="2788920"/>
            <a:ext cx="219456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66" name="Text 852"/>
          <p:cNvSpPr txBox="1"/>
          <p:nvPr/>
        </p:nvSpPr>
        <p:spPr>
          <a:xfrm>
            <a:off x="6227064" y="2788920"/>
            <a:ext cx="2048256" cy="274320"/>
          </a:xfrm>
          <a:prstGeom prst="rect">
            <a:avLst/>
          </a:prstGeom>
          <a:noFill/>
        </p:spPr>
        <p:txBody>
          <a:bodyPr wrap="square" anchor="ctr" lIns="0" rIns="0" tIns="0" bIns="0">
            <a:spAutoFit/>
          </a:bodyPr>
          <a:lstStyle/>
          <a:p>
            <a:pPr algn="l"/>
            <a:r>
              <a:rPr sz="1100" b="0">
                <a:solidFill>
                  <a:schemeClr val="tx1"/>
                </a:solidFill>
              </a:rPr>
              <a:t>notes R and its position</a:t>
            </a:r>
          </a:p>
        </p:txBody>
      </p:sp>
      <p:sp>
        <p:nvSpPr>
          <p:cNvPr id="9067" name="Note 853"/>
          <p:cNvSpPr/>
          <p:nvPr/>
        </p:nvSpPr>
        <p:spPr>
          <a:xfrm>
            <a:off x="8439912" y="3081528"/>
            <a:ext cx="320040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68" name="Text 854"/>
          <p:cNvSpPr txBox="1"/>
          <p:nvPr/>
        </p:nvSpPr>
        <p:spPr>
          <a:xfrm>
            <a:off x="8513064" y="3081528"/>
            <a:ext cx="3054096" cy="274320"/>
          </a:xfrm>
          <a:prstGeom prst="rect">
            <a:avLst/>
          </a:prstGeom>
          <a:noFill/>
        </p:spPr>
        <p:txBody>
          <a:bodyPr wrap="square" anchor="ctr" lIns="0" rIns="0" tIns="0" bIns="0">
            <a:spAutoFit/>
          </a:bodyPr>
          <a:lstStyle/>
          <a:p>
            <a:pPr algn="l"/>
            <a:r>
              <a:rPr sz="1100" b="0">
                <a:solidFill>
                  <a:schemeClr val="tx1"/>
                </a:solidFill>
              </a:rPr>
              <a:t>each serializes at R to its own file</a:t>
            </a:r>
          </a:p>
        </p:txBody>
      </p:sp>
      <p:sp>
        <p:nvSpPr>
          <p:cNvPr id="9069" name="Text 855"/>
          <p:cNvSpPr txBox="1"/>
          <p:nvPr/>
        </p:nvSpPr>
        <p:spPr>
          <a:xfrm>
            <a:off x="3840480" y="3374136"/>
            <a:ext cx="4480560" cy="228600"/>
          </a:xfrm>
          <a:prstGeom prst="rect">
            <a:avLst/>
          </a:prstGeom>
          <a:noFill/>
        </p:spPr>
        <p:txBody>
          <a:bodyPr wrap="square" anchor="b" lIns="0" rIns="0" tIns="0" bIns="0">
            <a:spAutoFit/>
          </a:bodyPr>
          <a:lstStyle/>
          <a:p>
            <a:pPr algn="ctr"/>
            <a:r>
              <a:rPr sz="1100" b="0">
                <a:solidFill>
                  <a:schemeClr val="tx1"/>
                </a:solidFill>
              </a:rPr>
              <a:t>SnapshotEnd(r, count, length, crc)</a:t>
            </a:r>
          </a:p>
        </p:txBody>
      </p:sp>
      <p:cxnSp>
        <p:nvCxnSpPr>
          <p:cNvPr id="9070" name="Arrow 856"/>
          <p:cNvCxnSpPr/>
          <p:nvPr/>
        </p:nvCxnSpPr>
        <p:spPr>
          <a:xfrm flipH="1">
            <a:off x="3794760" y="3621024"/>
            <a:ext cx="457200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71" name="Text 857"/>
          <p:cNvSpPr txBox="1"/>
          <p:nvPr/>
        </p:nvSpPr>
        <p:spPr>
          <a:xfrm>
            <a:off x="3840480" y="3666744"/>
            <a:ext cx="6766560" cy="228600"/>
          </a:xfrm>
          <a:prstGeom prst="rect">
            <a:avLst/>
          </a:prstGeom>
          <a:noFill/>
        </p:spPr>
        <p:txBody>
          <a:bodyPr wrap="square" anchor="b" lIns="0" rIns="0" tIns="0" bIns="0">
            <a:spAutoFit/>
          </a:bodyPr>
          <a:lstStyle/>
          <a:p>
            <a:pPr algn="ctr"/>
            <a:r>
              <a:rPr sz="1100" b="0">
                <a:solidFill>
                  <a:schemeClr val="tx1"/>
                </a:solidFill>
              </a:rPr>
              <a:t>SnapshotEnd sequenced, on every tap</a:t>
            </a:r>
          </a:p>
        </p:txBody>
      </p:sp>
      <p:cxnSp>
        <p:nvCxnSpPr>
          <p:cNvPr id="9072" name="Arrow 858"/>
          <p:cNvCxnSpPr/>
          <p:nvPr/>
        </p:nvCxnSpPr>
        <p:spPr>
          <a:xfrm>
            <a:off x="3794760" y="3913632"/>
            <a:ext cx="6858000" cy="0"/>
          </a:xfrm>
          <a:prstGeom prst="line">
            <a:avLst/>
          </a:prstGeom>
          <a:ln w="22225">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73" name="Note 859"/>
          <p:cNvSpPr/>
          <p:nvPr/>
        </p:nvSpPr>
        <p:spPr>
          <a:xfrm>
            <a:off x="6153912" y="3959352"/>
            <a:ext cx="219456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74" name="Text 860"/>
          <p:cNvSpPr txBox="1"/>
          <p:nvPr/>
        </p:nvSpPr>
        <p:spPr>
          <a:xfrm>
            <a:off x="6227064" y="3959352"/>
            <a:ext cx="2048256" cy="274320"/>
          </a:xfrm>
          <a:prstGeom prst="rect">
            <a:avLst/>
          </a:prstGeom>
          <a:noFill/>
        </p:spPr>
        <p:txBody>
          <a:bodyPr wrap="square" anchor="ctr" lIns="0" rIns="0" tIns="0" bIns="0">
            <a:spAutoFit/>
          </a:bodyPr>
          <a:lstStyle/>
          <a:p>
            <a:pPr algn="l"/>
            <a:r>
              <a:rPr sz="1100" b="0">
                <a:solidFill>
                  <a:schemeClr val="tx1"/>
                </a:solidFill>
              </a:rPr>
              <a:t>index: first end of r wins</a:t>
            </a:r>
          </a:p>
        </p:txBody>
      </p:sp>
      <p:sp>
        <p:nvSpPr>
          <p:cNvPr id="9075" name="Note 861"/>
          <p:cNvSpPr/>
          <p:nvPr/>
        </p:nvSpPr>
        <p:spPr>
          <a:xfrm>
            <a:off x="8439912" y="4251960"/>
            <a:ext cx="3200400"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76" name="Text 862"/>
          <p:cNvSpPr txBox="1"/>
          <p:nvPr/>
        </p:nvSpPr>
        <p:spPr>
          <a:xfrm>
            <a:off x="8513064" y="4251960"/>
            <a:ext cx="3054096" cy="274320"/>
          </a:xfrm>
          <a:prstGeom prst="rect">
            <a:avLst/>
          </a:prstGeom>
          <a:noFill/>
        </p:spPr>
        <p:txBody>
          <a:bodyPr wrap="square" anchor="ctr" lIns="0" rIns="0" tIns="0" bIns="0">
            <a:spAutoFit/>
          </a:bodyPr>
          <a:lstStyle/>
          <a:p>
            <a:pPr algn="l"/>
            <a:r>
              <a:rPr sz="1100" b="0">
                <a:solidFill>
                  <a:schemeClr val="tx1"/>
                </a:solidFill>
              </a:rPr>
              <a:t>each compares its own file with the end</a:t>
            </a:r>
          </a:p>
        </p:txBody>
      </p:sp>
      <p:sp>
        <p:nvSpPr>
          <p:cNvPr id="9077" name="Frame tag 863"/>
          <p:cNvSpPr/>
          <p:nvPr/>
        </p:nvSpPr>
        <p:spPr>
          <a:xfrm>
            <a:off x="548640" y="4608576"/>
            <a:ext cx="566928" cy="219456"/>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chemeClr val="tx1"/>
                </a:solidFill>
              </a:rPr>
              <a:t>ALT</a:t>
            </a:r>
          </a:p>
        </p:txBody>
      </p:sp>
      <p:sp>
        <p:nvSpPr>
          <p:cNvPr id="9078" name="Frame guard 864"/>
          <p:cNvSpPr/>
          <p:nvPr/>
        </p:nvSpPr>
        <p:spPr>
          <a:xfrm>
            <a:off x="1152144" y="4608576"/>
            <a:ext cx="2677363" cy="21945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9" name="Text 865"/>
          <p:cNvSpPr txBox="1"/>
          <p:nvPr/>
        </p:nvSpPr>
        <p:spPr>
          <a:xfrm>
            <a:off x="1207008" y="4608576"/>
            <a:ext cx="2567635" cy="219456"/>
          </a:xfrm>
          <a:prstGeom prst="rect">
            <a:avLst/>
          </a:prstGeom>
          <a:noFill/>
        </p:spPr>
        <p:txBody>
          <a:bodyPr wrap="none" anchor="ctr" lIns="0" rIns="0" tIns="0" bIns="0">
            <a:spAutoFit/>
          </a:bodyPr>
          <a:lstStyle/>
          <a:p>
            <a:pPr algn="l"/>
            <a:r>
              <a:rPr sz="1000" b="0" i="1">
                <a:solidFill>
                  <a:schemeClr val="accent5"/>
                </a:solidFill>
              </a:rPr>
              <a:t>an instance's file differs from the end</a:t>
            </a:r>
          </a:p>
        </p:txBody>
      </p:sp>
      <p:sp>
        <p:nvSpPr>
          <p:cNvPr id="9080" name="Note 866"/>
          <p:cNvSpPr/>
          <p:nvPr/>
        </p:nvSpPr>
        <p:spPr>
          <a:xfrm>
            <a:off x="8439912" y="4791456"/>
            <a:ext cx="3200400" cy="27432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p>
        </p:txBody>
      </p:sp>
      <p:sp>
        <p:nvSpPr>
          <p:cNvPr id="9081" name="Text 867"/>
          <p:cNvSpPr txBox="1"/>
          <p:nvPr/>
        </p:nvSpPr>
        <p:spPr>
          <a:xfrm>
            <a:off x="8513064" y="4791456"/>
            <a:ext cx="3054096" cy="274320"/>
          </a:xfrm>
          <a:prstGeom prst="rect">
            <a:avLst/>
          </a:prstGeom>
          <a:noFill/>
        </p:spPr>
        <p:txBody>
          <a:bodyPr wrap="square" anchor="ctr" lIns="0" rIns="0" tIns="0" bIns="0">
            <a:spAutoFit/>
          </a:bodyPr>
          <a:lstStyle/>
          <a:p>
            <a:pPr algn="l"/>
            <a:r>
              <a:rPr sz="1100" b="0">
                <a:solidFill>
                  <a:schemeClr val="tx1"/>
                </a:solidFill>
              </a:rPr>
              <a:t>it fences: SNAPSHOT_DIVERGED</a:t>
            </a:r>
          </a:p>
        </p:txBody>
      </p:sp>
      <p:sp>
        <p:nvSpPr>
          <p:cNvPr id="9082" name="Frame 868"/>
          <p:cNvSpPr/>
          <p:nvPr/>
        </p:nvSpPr>
        <p:spPr>
          <a:xfrm>
            <a:off x="548640" y="4608576"/>
            <a:ext cx="11094415" cy="539496"/>
          </a:xfrm>
          <a:prstGeom prst="rect">
            <a:avLst/>
          </a:prstGeom>
          <a:noFill/>
          <a:ln w="12700">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The replay protocol</a:t>
            </a:r>
          </a:p>
        </p:txBody>
      </p:sp>
      <p:sp>
        <p:nvSpPr>
          <p:cNvPr id="3" name="Text 869"/>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Nine node-local messages; never sequenced, never recorded</a:t>
            </a:r>
          </a:p>
        </p:txBody>
      </p:sp>
      <p:sp>
        <p:nvSpPr>
          <p:cNvPr id="9045" name="Slide number"/>
          <p:cNvSpPr txBox="1"/>
          <p:nvPr userDrawn="1"/>
        </p:nvSpPr>
        <p:spPr>
          <a:xfrm>
            <a:off x="10728655" y="6400800"/>
            <a:ext cx="914400" cy="274320"/>
          </a:xfrm>
          <a:prstGeom prst="rect">
            <a:avLst/>
          </a:prstGeom>
          <a:noFill/>
        </p:spPr>
        <p:txBody>
          <a:bodyPr wrap="none" lIns="0" tIns="0" rIns="0" bIns="0" anchor="ctr"/>
          <a:lstStyle/>
          <a:p>
            <a:pPr algn="r"/>
            <a:fld id="{8b66c179-026d-4d44-9ca6-bfde5b272350}" type="slidenum">
              <a:rPr lang="en-US" sz="1000" dirty="0">
                <a:solidFill>
                  <a:schemeClr val="accent5"/>
                </a:solidFill>
              </a:rPr>
              <a:t>45</a:t>
            </a:fld>
          </a:p>
        </p:txBody>
      </p:sp>
      <p:graphicFrame>
        <p:nvGraphicFramePr>
          <p:cNvPr id="9046" name="Table 870"/>
          <p:cNvGraphicFramePr>
            <a:graphicFrameLocks noGrp="1"/>
          </p:cNvGraphicFramePr>
          <p:nvPr/>
        </p:nvGraphicFramePr>
        <p:xfrm>
          <a:off x="548640" y="1691640"/>
          <a:ext cx="11091672" cy="4023360"/>
        </p:xfrm>
        <a:graphic>
          <a:graphicData uri="http://schemas.openxmlformats.org/drawingml/2006/table">
            <a:tbl>
              <a:tblPr firstRow="1">
                <a:tableStyleId>{5C22544A-7EE6-4342-B048-85BDC9FD1C3A}</a:tableStyleId>
              </a:tblPr>
              <a:tblGrid>
                <a:gridCol w="3566160"/>
                <a:gridCol w="2011680"/>
                <a:gridCol w="5513832"/>
              </a:tblGrid>
              <a:tr h="502920">
                <a:tc>
                  <a:txBody>
                    <a:bodyPr/>
                    <a:lstStyle/>
                    <a:p>
                      <a:pPr algn="l"/>
                      <a:r>
                        <a:rPr sz="1300" b="1">
                          <a:solidFill>
                            <a:schemeClr val="bg1"/>
                          </a:solidFill>
                        </a:rPr>
                        <a:t>Message</a:t>
                      </a:r>
                    </a:p>
                  </a:txBody>
                  <a:tcPr marL="91440" marR="91440" marT="45720" marB="45720" anchor="ctr">
                    <a:solidFill>
                      <a:schemeClr val="accent1"/>
                    </a:solidFill>
                  </a:tcPr>
                </a:tc>
                <a:tc>
                  <a:txBody>
                    <a:bodyPr/>
                    <a:lstStyle/>
                    <a:p>
                      <a:pPr algn="l"/>
                      <a:r>
                        <a:rPr sz="1300" b="1">
                          <a:solidFill>
                            <a:schemeClr val="bg1"/>
                          </a:solidFill>
                        </a:rPr>
                        <a:t>Direction</a:t>
                      </a:r>
                    </a:p>
                  </a:txBody>
                  <a:tcPr marL="91440" marR="91440" marT="45720" marB="45720" anchor="ctr">
                    <a:solidFill>
                      <a:schemeClr val="accent1"/>
                    </a:solidFill>
                  </a:tcPr>
                </a:tc>
                <a:tc>
                  <a:txBody>
                    <a:bodyPr/>
                    <a:lstStyle/>
                    <a:p>
                      <a:pPr algn="l"/>
                      <a:r>
                        <a:rPr sz="1300" b="1">
                          <a:solidFill>
                            <a:schemeClr val="bg1"/>
                          </a:solidFill>
                        </a:rPr>
                        <a:t>Meaning</a:t>
                      </a:r>
                    </a:p>
                  </a:txBody>
                  <a:tcPr marL="91440" marR="91440" marT="45720" marB="45720" anchor="ctr">
                    <a:solidFill>
                      <a:schemeClr val="accent1"/>
                    </a:solidFill>
                  </a:tcPr>
                </a:tc>
              </a:tr>
              <a:tr h="502920">
                <a:tc>
                  <a:txBody>
                    <a:bodyPr/>
                    <a:lstStyle/>
                    <a:p>
                      <a:pPr algn="l"/>
                      <a:r>
                        <a:rPr sz="1400" b="1">
                          <a:solidFill>
                            <a:schemeClr val="tx1"/>
                          </a:solidFill>
                        </a:rPr>
                        <a:t>ReplayRequest</a:t>
                      </a:r>
                    </a:p>
                  </a:txBody>
                  <a:tcPr marL="91440" marR="91440" marT="45720" marB="45720" anchor="ctr">
                    <a:solidFill>
                      <a:schemeClr val="bg1"/>
                    </a:solidFill>
                  </a:tcPr>
                </a:tc>
                <a:tc>
                  <a:txBody>
                    <a:bodyPr/>
                    <a:lstStyle/>
                    <a:p>
                      <a:pPr algn="l"/>
                      <a:r>
                        <a:rPr sz="1400" b="0">
                          <a:solidFill>
                            <a:schemeClr val="tx1"/>
                          </a:solidFill>
                        </a:rPr>
                        <a:t>client → replayer</a:t>
                      </a:r>
                    </a:p>
                  </a:txBody>
                  <a:tcPr marL="91440" marR="91440" marT="45720" marB="45720" anchor="ctr">
                    <a:solidFill>
                      <a:schemeClr val="bg1"/>
                    </a:solidFill>
                  </a:tcPr>
                </a:tc>
                <a:tc>
                  <a:txBody>
                    <a:bodyPr/>
                    <a:lstStyle/>
                    <a:p>
                      <a:pPr algn="l"/>
                      <a:r>
                        <a:rPr sz="1400" b="0">
                          <a:solidFill>
                            <a:schemeClr val="tx1"/>
                          </a:solidFill>
                        </a:rPr>
                        <a:t>From the start, or resume at a recording position</a:t>
                      </a:r>
                    </a:p>
                  </a:txBody>
                  <a:tcPr marL="91440" marR="91440" marT="45720" marB="45720" anchor="ctr">
                    <a:solidFill>
                      <a:schemeClr val="bg1"/>
                    </a:solidFill>
                  </a:tcPr>
                </a:tc>
              </a:tr>
              <a:tr h="502920">
                <a:tc>
                  <a:txBody>
                    <a:bodyPr/>
                    <a:lstStyle/>
                    <a:p>
                      <a:pPr algn="l"/>
                      <a:r>
                        <a:rPr sz="1400" b="1">
                          <a:solidFill>
                            <a:schemeClr val="tx1"/>
                          </a:solidFill>
                        </a:rPr>
                        <a:t>Replaying</a:t>
                      </a:r>
                    </a:p>
                  </a:txBody>
                  <a:tcPr marL="91440" marR="91440" marT="45720" marB="45720" anchor="ctr">
                    <a:solidFill>
                      <a:schemeClr val="bg2"/>
                    </a:solidFill>
                  </a:tcPr>
                </a:tc>
                <a:tc>
                  <a:txBody>
                    <a:bodyPr/>
                    <a:lstStyle/>
                    <a:p>
                      <a:pPr algn="l"/>
                      <a:r>
                        <a:rPr sz="1400" b="0">
                          <a:solidFill>
                            <a:schemeClr val="tx1"/>
                          </a:solidFill>
                        </a:rPr>
                        <a:t>replayer → client</a:t>
                      </a:r>
                    </a:p>
                  </a:txBody>
                  <a:tcPr marL="91440" marR="91440" marT="45720" marB="45720" anchor="ctr">
                    <a:solidFill>
                      <a:schemeClr val="bg2"/>
                    </a:solidFill>
                  </a:tcPr>
                </a:tc>
                <a:tc>
                  <a:txBody>
                    <a:bodyPr/>
                    <a:lstStyle/>
                    <a:p>
                      <a:pPr algn="l"/>
                      <a:r>
                        <a:rPr sz="1400" b="0">
                          <a:solidFill>
                            <a:schemeClr val="tx1"/>
                          </a:solidFill>
                        </a:rPr>
                        <a:t>Follow this replay session to catchUpPosition</a:t>
                      </a:r>
                    </a:p>
                  </a:txBody>
                  <a:tcPr marL="91440" marR="91440" marT="45720" marB="45720" anchor="ctr">
                    <a:solidFill>
                      <a:schemeClr val="bg2"/>
                    </a:solidFill>
                  </a:tcPr>
                </a:tc>
              </a:tr>
              <a:tr h="502920">
                <a:tc>
                  <a:txBody>
                    <a:bodyPr/>
                    <a:lstStyle/>
                    <a:p>
                      <a:pPr algn="l"/>
                      <a:r>
                        <a:rPr sz="1400" b="1">
                          <a:solidFill>
                            <a:schemeClr val="tx1"/>
                          </a:solidFill>
                        </a:rPr>
                        <a:t>ReplayPending</a:t>
                      </a:r>
                    </a:p>
                  </a:txBody>
                  <a:tcPr marL="91440" marR="91440" marT="45720" marB="45720" anchor="ctr">
                    <a:solidFill>
                      <a:schemeClr val="bg1"/>
                    </a:solidFill>
                  </a:tcPr>
                </a:tc>
                <a:tc>
                  <a:txBody>
                    <a:bodyPr/>
                    <a:lstStyle/>
                    <a:p>
                      <a:pPr algn="l"/>
                      <a:r>
                        <a:rPr sz="1400" b="0">
                          <a:solidFill>
                            <a:schemeClr val="tx1"/>
                          </a:solidFill>
                        </a:rPr>
                        <a:t>replayer → client</a:t>
                      </a:r>
                    </a:p>
                  </a:txBody>
                  <a:tcPr marL="91440" marR="91440" marT="45720" marB="45720" anchor="ctr">
                    <a:solidFill>
                      <a:schemeClr val="bg1"/>
                    </a:solidFill>
                  </a:tcPr>
                </a:tc>
                <a:tc>
                  <a:txBody>
                    <a:bodyPr/>
                    <a:lstStyle/>
                    <a:p>
                      <a:pPr algn="l"/>
                      <a:r>
                        <a:rPr sz="1400" b="0">
                          <a:solidFill>
                            <a:schemeClr val="tx1"/>
                          </a:solidFill>
                        </a:rPr>
                        <a:t>No free slot: hold at the gap</a:t>
                      </a:r>
                    </a:p>
                  </a:txBody>
                  <a:tcPr marL="91440" marR="91440" marT="45720" marB="45720" anchor="ctr">
                    <a:solidFill>
                      <a:schemeClr val="bg1"/>
                    </a:solidFill>
                  </a:tcPr>
                </a:tc>
              </a:tr>
              <a:tr h="502920">
                <a:tc>
                  <a:txBody>
                    <a:bodyPr/>
                    <a:lstStyle/>
                    <a:p>
                      <a:pPr algn="l"/>
                      <a:r>
                        <a:rPr sz="1400" b="1">
                          <a:solidFill>
                            <a:schemeClr val="tx1"/>
                          </a:solidFill>
                        </a:rPr>
                        <a:t>ReplayHeartbeat · Complete</a:t>
                      </a:r>
                    </a:p>
                  </a:txBody>
                  <a:tcPr marL="91440" marR="91440" marT="45720" marB="45720" anchor="ctr">
                    <a:solidFill>
                      <a:schemeClr val="bg2"/>
                    </a:solidFill>
                  </a:tcPr>
                </a:tc>
                <a:tc>
                  <a:txBody>
                    <a:bodyPr/>
                    <a:lstStyle/>
                    <a:p>
                      <a:pPr algn="l"/>
                      <a:r>
                        <a:rPr sz="1400" b="0">
                          <a:solidFill>
                            <a:schemeClr val="tx1"/>
                          </a:solidFill>
                        </a:rPr>
                        <a:t>client → replayer</a:t>
                      </a:r>
                    </a:p>
                  </a:txBody>
                  <a:tcPr marL="91440" marR="91440" marT="45720" marB="45720" anchor="ctr">
                    <a:solidFill>
                      <a:schemeClr val="bg2"/>
                    </a:solidFill>
                  </a:tcPr>
                </a:tc>
                <a:tc>
                  <a:txBody>
                    <a:bodyPr/>
                    <a:lstStyle/>
                    <a:p>
                      <a:pPr algn="l"/>
                      <a:r>
                        <a:rPr sz="1400" b="0">
                          <a:solidFill>
                            <a:schemeClr val="tx1"/>
                          </a:solidFill>
                        </a:rPr>
                        <a:t>Keep the slot · free it now</a:t>
                      </a:r>
                    </a:p>
                  </a:txBody>
                  <a:tcPr marL="91440" marR="91440" marT="45720" marB="45720" anchor="ctr">
                    <a:solidFill>
                      <a:schemeClr val="bg2"/>
                    </a:solidFill>
                  </a:tcPr>
                </a:tc>
              </a:tr>
              <a:tr h="502920">
                <a:tc>
                  <a:txBody>
                    <a:bodyPr/>
                    <a:lstStyle/>
                    <a:p>
                      <a:pPr algn="l"/>
                      <a:r>
                        <a:rPr sz="1400" b="1">
                          <a:solidFill>
                            <a:schemeClr val="tx1"/>
                          </a:solidFill>
                        </a:rPr>
                        <a:t>ReplayUnavailable</a:t>
                      </a:r>
                    </a:p>
                  </a:txBody>
                  <a:tcPr marL="91440" marR="91440" marT="45720" marB="45720" anchor="ctr">
                    <a:solidFill>
                      <a:schemeClr val="bg1"/>
                    </a:solidFill>
                  </a:tcPr>
                </a:tc>
                <a:tc>
                  <a:txBody>
                    <a:bodyPr/>
                    <a:lstStyle/>
                    <a:p>
                      <a:pPr algn="l"/>
                      <a:r>
                        <a:rPr sz="1400" b="0">
                          <a:solidFill>
                            <a:schemeClr val="tx1"/>
                          </a:solidFill>
                        </a:rPr>
                        <a:t>replayer → client</a:t>
                      </a:r>
                    </a:p>
                  </a:txBody>
                  <a:tcPr marL="91440" marR="91440" marT="45720" marB="45720" anchor="ctr">
                    <a:solidFill>
                      <a:schemeClr val="bg1"/>
                    </a:solidFill>
                  </a:tcPr>
                </a:tc>
                <a:tc>
                  <a:txBody>
                    <a:bodyPr/>
                    <a:lstStyle/>
                    <a:p>
                      <a:pPr algn="l"/>
                      <a:r>
                        <a:rPr sz="1400" b="0">
                          <a:solidFill>
                            <a:schemeClr val="tx1"/>
                          </a:solidFill>
                        </a:rPr>
                        <a:t>This node cannot serve history</a:t>
                      </a:r>
                    </a:p>
                  </a:txBody>
                  <a:tcPr marL="91440" marR="91440" marT="45720" marB="45720" anchor="ctr">
                    <a:solidFill>
                      <a:schemeClr val="bg1"/>
                    </a:solidFill>
                  </a:tcPr>
                </a:tc>
              </a:tr>
              <a:tr h="502920">
                <a:tc>
                  <a:txBody>
                    <a:bodyPr/>
                    <a:lstStyle/>
                    <a:p>
                      <a:pPr algn="l"/>
                      <a:r>
                        <a:rPr sz="1400" b="1">
                          <a:solidFill>
                            <a:schemeClr val="tx1"/>
                          </a:solidFill>
                        </a:rPr>
                        <a:t>ReplayClientIdInUse</a:t>
                      </a:r>
                    </a:p>
                  </a:txBody>
                  <a:tcPr marL="91440" marR="91440" marT="45720" marB="45720" anchor="ctr">
                    <a:solidFill>
                      <a:schemeClr val="bg2"/>
                    </a:solidFill>
                  </a:tcPr>
                </a:tc>
                <a:tc>
                  <a:txBody>
                    <a:bodyPr/>
                    <a:lstStyle/>
                    <a:p>
                      <a:pPr algn="l"/>
                      <a:r>
                        <a:rPr sz="1400" b="0">
                          <a:solidFill>
                            <a:schemeClr val="tx1"/>
                          </a:solidFill>
                        </a:rPr>
                        <a:t>replayer → client</a:t>
                      </a:r>
                    </a:p>
                  </a:txBody>
                  <a:tcPr marL="91440" marR="91440" marT="45720" marB="45720" anchor="ctr">
                    <a:solidFill>
                      <a:schemeClr val="bg2"/>
                    </a:solidFill>
                  </a:tcPr>
                </a:tc>
                <a:tc>
                  <a:txBody>
                    <a:bodyPr/>
                    <a:lstStyle/>
                    <a:p>
                      <a:pPr algn="l"/>
                      <a:r>
                        <a:rPr sz="1400" b="0">
                          <a:solidFill>
                            <a:schemeClr val="tx1"/>
                          </a:solidFill>
                        </a:rPr>
                        <a:t>Two processes share a client id: stop</a:t>
                      </a:r>
                    </a:p>
                  </a:txBody>
                  <a:tcPr marL="91440" marR="91440" marT="45720" marB="45720" anchor="ctr">
                    <a:solidFill>
                      <a:schemeClr val="bg2"/>
                    </a:solidFill>
                  </a:tcPr>
                </a:tc>
              </a:tr>
              <a:tr h="502920">
                <a:tc>
                  <a:txBody>
                    <a:bodyPr/>
                    <a:lstStyle/>
                    <a:p>
                      <a:pPr algn="l"/>
                      <a:r>
                        <a:rPr sz="1400" b="1">
                          <a:solidFill>
                            <a:schemeClr val="tx1"/>
                          </a:solidFill>
                        </a:rPr>
                        <a:t>SnapshotQuery · Location</a:t>
                      </a:r>
                    </a:p>
                  </a:txBody>
                  <a:tcPr marL="91440" marR="91440" marT="45720" marB="45720" anchor="ctr">
                    <a:solidFill>
                      <a:schemeClr val="bg1"/>
                    </a:solidFill>
                  </a:tcPr>
                </a:tc>
                <a:tc>
                  <a:txBody>
                    <a:bodyPr/>
                    <a:lstStyle/>
                    <a:p>
                      <a:pPr algn="l"/>
                      <a:r>
                        <a:rPr sz="1400" b="0">
                          <a:solidFill>
                            <a:schemeClr val="tx1"/>
                          </a:solidFill>
                        </a:rPr>
                        <a:t>both</a:t>
                      </a:r>
                    </a:p>
                  </a:txBody>
                  <a:tcPr marL="91440" marR="91440" marT="45720" marB="45720" anchor="ctr">
                    <a:solidFill>
                      <a:schemeClr val="bg1"/>
                    </a:solidFill>
                  </a:tcPr>
                </a:tc>
                <a:tc>
                  <a:txBody>
                    <a:bodyPr/>
                    <a:lstStyle/>
                    <a:p>
                      <a:pPr algn="l"/>
                      <a:r>
                        <a:rPr sz="1400" b="0">
                          <a:solidFill>
                            <a:schemeClr val="tx1"/>
                          </a:solidFill>
                        </a:rPr>
                        <a:t>Is this snapshot round on the log, and where</a:t>
                      </a:r>
                    </a:p>
                  </a:txBody>
                  <a:tcPr marL="91440" marR="91440" marT="45720" marB="45720" anchor="ctr">
                    <a:solidFill>
                      <a:schemeClr val="bg1"/>
                    </a:solidFill>
                  </a:tcPr>
                </a:tc>
              </a:tr>
            </a:tbl>
          </a:graphicData>
        </a:graphic>
      </p:graphicFrame>
      <p:sp>
        <p:nvSpPr>
          <p:cNvPr id="9047" name="Text 871"/>
          <p:cNvSpPr txBox="1"/>
          <p:nvPr/>
        </p:nvSpPr>
        <p:spPr>
          <a:xfrm>
            <a:off x="548640" y="5852160"/>
            <a:ext cx="11094415" cy="365760"/>
          </a:xfrm>
          <a:prstGeom prst="rect">
            <a:avLst/>
          </a:prstGeom>
          <a:noFill/>
        </p:spPr>
        <p:txBody>
          <a:bodyPr wrap="square" anchor="t" lIns="0" rIns="0" tIns="0" bIns="0">
            <a:spAutoFit/>
          </a:bodyPr>
          <a:lstStyle/>
          <a:p>
            <a:pPr algn="l"/>
            <a:r>
              <a:rPr sz="1300" b="0">
                <a:solidFill>
                  <a:schemeClr val="accent5"/>
                </a:solidFill>
              </a:rPr>
              <a:t>requestId is echoed on every reply; a client ignores replies to anything but its current request.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The gateway protocol</a:t>
            </a:r>
          </a:p>
        </p:txBody>
      </p:sp>
      <p:sp>
        <p:nvSpPr>
          <p:cNvPr id="3" name="Text 872"/>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Six system frames; only the sequencer designates</a:t>
            </a:r>
          </a:p>
        </p:txBody>
      </p:sp>
      <p:sp>
        <p:nvSpPr>
          <p:cNvPr id="9046" name="Slide number"/>
          <p:cNvSpPr txBox="1"/>
          <p:nvPr userDrawn="1"/>
        </p:nvSpPr>
        <p:spPr>
          <a:xfrm>
            <a:off x="10728655" y="6400800"/>
            <a:ext cx="914400" cy="274320"/>
          </a:xfrm>
          <a:prstGeom prst="rect">
            <a:avLst/>
          </a:prstGeom>
          <a:noFill/>
        </p:spPr>
        <p:txBody>
          <a:bodyPr wrap="none" lIns="0" tIns="0" rIns="0" bIns="0" anchor="ctr"/>
          <a:lstStyle/>
          <a:p>
            <a:pPr algn="r"/>
            <a:fld id="{a116223b-dda7-448a-9574-1d054bc1f69b}" type="slidenum">
              <a:rPr lang="en-US" sz="1000" dirty="0">
                <a:solidFill>
                  <a:schemeClr val="accent5"/>
                </a:solidFill>
              </a:rPr>
              <a:t>46</a:t>
            </a:fld>
          </a:p>
        </p:txBody>
      </p:sp>
      <p:graphicFrame>
        <p:nvGraphicFramePr>
          <p:cNvPr id="9047" name="Table 873"/>
          <p:cNvGraphicFramePr>
            <a:graphicFrameLocks noGrp="1"/>
          </p:cNvGraphicFramePr>
          <p:nvPr/>
        </p:nvGraphicFramePr>
        <p:xfrm>
          <a:off x="548640" y="1691640"/>
          <a:ext cx="11091672" cy="3328416"/>
        </p:xfrm>
        <a:graphic>
          <a:graphicData uri="http://schemas.openxmlformats.org/drawingml/2006/table">
            <a:tbl>
              <a:tblPr firstRow="1">
                <a:tableStyleId>{5C22544A-7EE6-4342-B048-85BDC9FD1C3A}</a:tableStyleId>
              </a:tblPr>
              <a:tblGrid>
                <a:gridCol w="2697480"/>
                <a:gridCol w="2286000"/>
                <a:gridCol w="2743200"/>
                <a:gridCol w="3364992"/>
              </a:tblGrid>
              <a:tr h="475488">
                <a:tc>
                  <a:txBody>
                    <a:bodyPr/>
                    <a:lstStyle/>
                    <a:p>
                      <a:pPr algn="l"/>
                      <a:r>
                        <a:rPr sz="1200" b="1">
                          <a:solidFill>
                            <a:schemeClr val="bg1"/>
                          </a:solidFill>
                        </a:rPr>
                        <a:t>Frame</a:t>
                      </a:r>
                    </a:p>
                  </a:txBody>
                  <a:tcPr marL="91440" marR="91440" marT="45720" marB="45720" anchor="ctr">
                    <a:solidFill>
                      <a:schemeClr val="accent1"/>
                    </a:solidFill>
                  </a:tcPr>
                </a:tc>
                <a:tc>
                  <a:txBody>
                    <a:bodyPr/>
                    <a:lstStyle/>
                    <a:p>
                      <a:pPr algn="l"/>
                      <a:r>
                        <a:rPr sz="1200" b="1">
                          <a:solidFill>
                            <a:schemeClr val="bg1"/>
                          </a:solidFill>
                        </a:rPr>
                        <a:t>Sent by</a:t>
                      </a:r>
                    </a:p>
                  </a:txBody>
                  <a:tcPr marL="91440" marR="91440" marT="45720" marB="45720" anchor="ctr">
                    <a:solidFill>
                      <a:schemeClr val="accent1"/>
                    </a:solidFill>
                  </a:tcPr>
                </a:tc>
                <a:tc>
                  <a:txBody>
                    <a:bodyPr/>
                    <a:lstStyle/>
                    <a:p>
                      <a:pPr algn="l"/>
                      <a:r>
                        <a:rPr sz="1200" b="1">
                          <a:solidFill>
                            <a:schemeClr val="bg1"/>
                          </a:solidFill>
                        </a:rPr>
                        <a:t>Fields</a:t>
                      </a:r>
                    </a:p>
                  </a:txBody>
                  <a:tcPr marL="91440" marR="91440" marT="45720" marB="45720" anchor="ctr">
                    <a:solidFill>
                      <a:schemeClr val="accent1"/>
                    </a:solidFill>
                  </a:tcPr>
                </a:tc>
                <a:tc>
                  <a:txBody>
                    <a:bodyPr/>
                    <a:lstStyle/>
                    <a:p>
                      <a:pPr algn="l"/>
                      <a:r>
                        <a:rPr sz="1200" b="1">
                          <a:solidFill>
                            <a:schemeClr val="bg1"/>
                          </a:solidFill>
                        </a:rPr>
                        <a:t>The sequencer</a:t>
                      </a:r>
                    </a:p>
                  </a:txBody>
                  <a:tcPr marL="91440" marR="91440" marT="45720" marB="45720" anchor="ctr">
                    <a:solidFill>
                      <a:schemeClr val="accent1"/>
                    </a:solidFill>
                  </a:tcPr>
                </a:tc>
              </a:tr>
              <a:tr h="475488">
                <a:tc>
                  <a:txBody>
                    <a:bodyPr/>
                    <a:lstStyle/>
                    <a:p>
                      <a:pPr algn="l"/>
                      <a:r>
                        <a:rPr sz="1300" b="1">
                          <a:solidFill>
                            <a:schemeClr val="tx1"/>
                          </a:solidFill>
                        </a:rPr>
                        <a:t>GatewayRegistered</a:t>
                      </a:r>
                    </a:p>
                  </a:txBody>
                  <a:tcPr marL="91440" marR="91440" marT="45720" marB="45720" anchor="ctr">
                    <a:solidFill>
                      <a:schemeClr val="bg1"/>
                    </a:solidFill>
                  </a:tcPr>
                </a:tc>
                <a:tc>
                  <a:txBody>
                    <a:bodyPr/>
                    <a:lstStyle/>
                    <a:p>
                      <a:pPr algn="l"/>
                      <a:r>
                        <a:rPr sz="1300" b="0">
                          <a:solidFill>
                            <a:schemeClr val="tx1"/>
                          </a:solidFill>
                        </a:rPr>
                        <a:t>clusterctl load-topology</a:t>
                      </a:r>
                    </a:p>
                  </a:txBody>
                  <a:tcPr marL="91440" marR="91440" marT="45720" marB="45720" anchor="ctr">
                    <a:solidFill>
                      <a:schemeClr val="bg1"/>
                    </a:solidFill>
                  </a:tcPr>
                </a:tc>
                <a:tc>
                  <a:txBody>
                    <a:bodyPr/>
                    <a:lstStyle/>
                    <a:p>
                      <a:pPr algn="l"/>
                      <a:r>
                        <a:rPr sz="1300" b="0">
                          <a:solidFill>
                            <a:schemeClr val="tx1"/>
                          </a:solidFill>
                        </a:rPr>
                        <a:t>gatewayId, sourceId, name, rank, remaining</a:t>
                      </a:r>
                    </a:p>
                  </a:txBody>
                  <a:tcPr marL="91440" marR="91440" marT="45720" marB="45720" anchor="ctr">
                    <a:solidFill>
                      <a:schemeClr val="bg1"/>
                    </a:solidFill>
                  </a:tcPr>
                </a:tc>
                <a:tc>
                  <a:txBody>
                    <a:bodyPr/>
                    <a:lstStyle/>
                    <a:p>
                      <a:pPr algn="l"/>
                      <a:r>
                        <a:rPr sz="1300" b="0">
                          <a:solidFill>
                            <a:schemeClr val="tx1"/>
                          </a:solidFill>
                        </a:rPr>
                        <a:t>Builds the list; remaining 0 bootstraps rank 0</a:t>
                      </a:r>
                    </a:p>
                  </a:txBody>
                  <a:tcPr marL="91440" marR="91440" marT="45720" marB="45720" anchor="ctr">
                    <a:solidFill>
                      <a:schemeClr val="bg1"/>
                    </a:solidFill>
                  </a:tcPr>
                </a:tc>
              </a:tr>
              <a:tr h="475488">
                <a:tc>
                  <a:txBody>
                    <a:bodyPr/>
                    <a:lstStyle/>
                    <a:p>
                      <a:pPr algn="l"/>
                      <a:r>
                        <a:rPr sz="1300" b="1">
                          <a:solidFill>
                            <a:schemeClr val="tx1"/>
                          </a:solidFill>
                        </a:rPr>
                        <a:t>GatewayActive</a:t>
                      </a:r>
                    </a:p>
                  </a:txBody>
                  <a:tcPr marL="91440" marR="91440" marT="45720" marB="45720" anchor="ctr">
                    <a:solidFill>
                      <a:schemeClr val="bg2"/>
                    </a:solidFill>
                  </a:tcPr>
                </a:tc>
                <a:tc>
                  <a:txBody>
                    <a:bodyPr/>
                    <a:lstStyle/>
                    <a:p>
                      <a:pPr algn="l"/>
                      <a:r>
                        <a:rPr sz="1300" b="0">
                          <a:solidFill>
                            <a:schemeClr val="tx1"/>
                          </a:solidFill>
                        </a:rPr>
                        <a:t>the sequencer only</a:t>
                      </a:r>
                    </a:p>
                  </a:txBody>
                  <a:tcPr marL="91440" marR="91440" marT="45720" marB="45720" anchor="ctr">
                    <a:solidFill>
                      <a:schemeClr val="bg2"/>
                    </a:solidFill>
                  </a:tcPr>
                </a:tc>
                <a:tc>
                  <a:txBody>
                    <a:bodyPr/>
                    <a:lstStyle/>
                    <a:p>
                      <a:pPr algn="l"/>
                      <a:r>
                        <a:rPr sz="1300" b="0">
                          <a:solidFill>
                            <a:schemeClr val="tx1"/>
                          </a:solidFill>
                        </a:rPr>
                        <a:t>gatewayId</a:t>
                      </a:r>
                    </a:p>
                  </a:txBody>
                  <a:tcPr marL="91440" marR="91440" marT="45720" marB="45720" anchor="ctr">
                    <a:solidFill>
                      <a:schemeClr val="bg2"/>
                    </a:solidFill>
                  </a:tcPr>
                </a:tc>
                <a:tc>
                  <a:txBody>
                    <a:bodyPr/>
                    <a:lstStyle/>
                    <a:p>
                      <a:pPr algn="l"/>
                      <a:r>
                        <a:rPr sz="1300" b="0">
                          <a:solidFill>
                            <a:schemeClr val="tx1"/>
                          </a:solidFill>
                        </a:rPr>
                        <a:t>Designates one instance; arms a 5 s deadline</a:t>
                      </a:r>
                    </a:p>
                  </a:txBody>
                  <a:tcPr marL="91440" marR="91440" marT="45720" marB="45720" anchor="ctr">
                    <a:solidFill>
                      <a:schemeClr val="bg2"/>
                    </a:solidFill>
                  </a:tcPr>
                </a:tc>
              </a:tr>
              <a:tr h="475488">
                <a:tc>
                  <a:txBody>
                    <a:bodyPr/>
                    <a:lstStyle/>
                    <a:p>
                      <a:pPr algn="l"/>
                      <a:r>
                        <a:rPr sz="1300" b="1">
                          <a:solidFill>
                            <a:schemeClr val="tx1"/>
                          </a:solidFill>
                        </a:rPr>
                        <a:t>GatewayStarted</a:t>
                      </a:r>
                    </a:p>
                  </a:txBody>
                  <a:tcPr marL="91440" marR="91440" marT="45720" marB="45720" anchor="ctr">
                    <a:solidFill>
                      <a:schemeClr val="bg1"/>
                    </a:solidFill>
                  </a:tcPr>
                </a:tc>
                <a:tc>
                  <a:txBody>
                    <a:bodyPr/>
                    <a:lstStyle/>
                    <a:p>
                      <a:pPr algn="l"/>
                      <a:r>
                        <a:rPr sz="1300" b="0">
                          <a:solidFill>
                            <a:schemeClr val="tx1"/>
                          </a:solidFill>
                        </a:rPr>
                        <a:t>the designated instance</a:t>
                      </a:r>
                    </a:p>
                  </a:txBody>
                  <a:tcPr marL="91440" marR="91440" marT="45720" marB="45720" anchor="ctr">
                    <a:solidFill>
                      <a:schemeClr val="bg1"/>
                    </a:solidFill>
                  </a:tcPr>
                </a:tc>
                <a:tc>
                  <a:txBody>
                    <a:bodyPr/>
                    <a:lstStyle/>
                    <a:p>
                      <a:pPr algn="l"/>
                      <a:r>
                        <a:rPr sz="1300" b="0">
                          <a:solidFill>
                            <a:schemeClr val="tx1"/>
                          </a:solidFill>
                        </a:rPr>
                        <a:t>gatewayId, firstConnectionId</a:t>
                      </a:r>
                    </a:p>
                  </a:txBody>
                  <a:tcPr marL="91440" marR="91440" marT="45720" marB="45720" anchor="ctr">
                    <a:solidFill>
                      <a:schemeClr val="bg1"/>
                    </a:solidFill>
                  </a:tcPr>
                </a:tc>
                <a:tc>
                  <a:txBody>
                    <a:bodyPr/>
                    <a:lstStyle/>
                    <a:p>
                      <a:pPr algn="l"/>
                      <a:r>
                        <a:rPr sz="1300" b="0">
                          <a:solidFill>
                            <a:schemeClr val="tx1"/>
                          </a:solidFill>
                        </a:rPr>
                        <a:t>Binds its session; releases the pair's open connections</a:t>
                      </a:r>
                    </a:p>
                  </a:txBody>
                  <a:tcPr marL="91440" marR="91440" marT="45720" marB="45720" anchor="ctr">
                    <a:solidFill>
                      <a:schemeClr val="bg1"/>
                    </a:solidFill>
                  </a:tcPr>
                </a:tc>
              </a:tr>
              <a:tr h="475488">
                <a:tc>
                  <a:txBody>
                    <a:bodyPr/>
                    <a:lstStyle/>
                    <a:p>
                      <a:pPr algn="l"/>
                      <a:r>
                        <a:rPr sz="1300" b="1">
                          <a:solidFill>
                            <a:schemeClr val="tx1"/>
                          </a:solidFill>
                        </a:rPr>
                        <a:t>GatewayActivationRequested</a:t>
                      </a:r>
                    </a:p>
                  </a:txBody>
                  <a:tcPr marL="91440" marR="91440" marT="45720" marB="45720" anchor="ctr">
                    <a:solidFill>
                      <a:schemeClr val="bg2"/>
                    </a:solidFill>
                  </a:tcPr>
                </a:tc>
                <a:tc>
                  <a:txBody>
                    <a:bodyPr/>
                    <a:lstStyle/>
                    <a:p>
                      <a:pPr algn="l"/>
                      <a:r>
                        <a:rPr sz="1300" b="0">
                          <a:solidFill>
                            <a:schemeClr val="tx1"/>
                          </a:solidFill>
                        </a:rPr>
                        <a:t>clusterctl activate</a:t>
                      </a:r>
                    </a:p>
                  </a:txBody>
                  <a:tcPr marL="91440" marR="91440" marT="45720" marB="45720" anchor="ctr">
                    <a:solidFill>
                      <a:schemeClr val="bg2"/>
                    </a:solidFill>
                  </a:tcPr>
                </a:tc>
                <a:tc>
                  <a:txBody>
                    <a:bodyPr/>
                    <a:lstStyle/>
                    <a:p>
                      <a:pPr algn="l"/>
                      <a:r>
                        <a:rPr sz="1300" b="0">
                          <a:solidFill>
                            <a:schemeClr val="tx1"/>
                          </a:solidFill>
                        </a:rPr>
                        <a:t>gatewayId</a:t>
                      </a:r>
                    </a:p>
                  </a:txBody>
                  <a:tcPr marL="91440" marR="91440" marT="45720" marB="45720" anchor="ctr">
                    <a:solidFill>
                      <a:schemeClr val="bg2"/>
                    </a:solidFill>
                  </a:tcPr>
                </a:tc>
                <a:tc>
                  <a:txBody>
                    <a:bodyPr/>
                    <a:lstStyle/>
                    <a:p>
                      <a:pPr algn="l"/>
                      <a:r>
                        <a:rPr sz="1300" b="0">
                          <a:solidFill>
                            <a:schemeClr val="tx1"/>
                          </a:solidFill>
                        </a:rPr>
                        <a:t>Validates it, then a GatewayActive at the next number</a:t>
                      </a:r>
                    </a:p>
                  </a:txBody>
                  <a:tcPr marL="91440" marR="91440" marT="45720" marB="45720" anchor="ctr">
                    <a:solidFill>
                      <a:schemeClr val="bg2"/>
                    </a:solidFill>
                  </a:tcPr>
                </a:tc>
              </a:tr>
              <a:tr h="475488">
                <a:tc>
                  <a:txBody>
                    <a:bodyPr/>
                    <a:lstStyle/>
                    <a:p>
                      <a:pPr algn="l"/>
                      <a:r>
                        <a:rPr sz="1300" b="1">
                          <a:solidFill>
                            <a:schemeClr val="tx1"/>
                          </a:solidFill>
                        </a:rPr>
                        <a:t>ConnectionOpened</a:t>
                      </a:r>
                    </a:p>
                  </a:txBody>
                  <a:tcPr marL="91440" marR="91440" marT="45720" marB="45720" anchor="ctr">
                    <a:solidFill>
                      <a:schemeClr val="bg1"/>
                    </a:solidFill>
                  </a:tcPr>
                </a:tc>
                <a:tc>
                  <a:txBody>
                    <a:bodyPr/>
                    <a:lstStyle/>
                    <a:p>
                      <a:pPr algn="l"/>
                      <a:r>
                        <a:rPr sz="1300" b="0">
                          <a:solidFill>
                            <a:schemeClr val="tx1"/>
                          </a:solidFill>
                        </a:rPr>
                        <a:t>the active instance</a:t>
                      </a:r>
                    </a:p>
                  </a:txBody>
                  <a:tcPr marL="91440" marR="91440" marT="45720" marB="45720" anchor="ctr">
                    <a:solidFill>
                      <a:schemeClr val="bg1"/>
                    </a:solidFill>
                  </a:tcPr>
                </a:tc>
                <a:tc>
                  <a:txBody>
                    <a:bodyPr/>
                    <a:lstStyle/>
                    <a:p>
                      <a:pPr algn="l"/>
                      <a:r>
                        <a:rPr sz="1300" b="0">
                          <a:solidFill>
                            <a:schemeClr val="tx1"/>
                          </a:solidFill>
                        </a:rPr>
                        <a:t>connectionData, opaque</a:t>
                      </a:r>
                    </a:p>
                  </a:txBody>
                  <a:tcPr marL="91440" marR="91440" marT="45720" marB="45720" anchor="ctr">
                    <a:solidFill>
                      <a:schemeClr val="bg1"/>
                    </a:solidFill>
                  </a:tcPr>
                </a:tc>
                <a:tc>
                  <a:txBody>
                    <a:bodyPr/>
                    <a:lstStyle/>
                    <a:p>
                      <a:pPr algn="l"/>
                      <a:r>
                        <a:rPr sz="1300" b="0">
                          <a:solidFill>
                            <a:schemeClr val="tx1"/>
                          </a:solidFill>
                        </a:rPr>
                        <a:t>Opens (sourceId, connectionId)</a:t>
                      </a:r>
                    </a:p>
                  </a:txBody>
                  <a:tcPr marL="91440" marR="91440" marT="45720" marB="45720" anchor="ctr">
                    <a:solidFill>
                      <a:schemeClr val="bg1"/>
                    </a:solidFill>
                  </a:tcPr>
                </a:tc>
              </a:tr>
              <a:tr h="475488">
                <a:tc>
                  <a:txBody>
                    <a:bodyPr/>
                    <a:lstStyle/>
                    <a:p>
                      <a:pPr algn="l"/>
                      <a:r>
                        <a:rPr sz="1300" b="1">
                          <a:solidFill>
                            <a:schemeClr val="tx1"/>
                          </a:solidFill>
                        </a:rPr>
                        <a:t>ConnectionClosed</a:t>
                      </a:r>
                    </a:p>
                  </a:txBody>
                  <a:tcPr marL="91440" marR="91440" marT="45720" marB="45720" anchor="ctr">
                    <a:solidFill>
                      <a:schemeClr val="bg2"/>
                    </a:solidFill>
                  </a:tcPr>
                </a:tc>
                <a:tc>
                  <a:txBody>
                    <a:bodyPr/>
                    <a:lstStyle/>
                    <a:p>
                      <a:pPr algn="l"/>
                      <a:r>
                        <a:rPr sz="1300" b="0">
                          <a:solidFill>
                            <a:schemeClr val="tx1"/>
                          </a:solidFill>
                        </a:rPr>
                        <a:t>the active instance</a:t>
                      </a:r>
                    </a:p>
                  </a:txBody>
                  <a:tcPr marL="91440" marR="91440" marT="45720" marB="45720" anchor="ctr">
                    <a:solidFill>
                      <a:schemeClr val="bg2"/>
                    </a:solidFill>
                  </a:tcPr>
                </a:tc>
                <a:tc>
                  <a:txBody>
                    <a:bodyPr/>
                    <a:lstStyle/>
                    <a:p>
                      <a:pPr algn="l"/>
                      <a:r>
                        <a:rPr sz="1300" b="0">
                          <a:solidFill>
                            <a:schemeClr val="tx1"/>
                          </a:solidFill>
                        </a:rPr>
                        <a:t>none</a:t>
                      </a:r>
                    </a:p>
                  </a:txBody>
                  <a:tcPr marL="91440" marR="91440" marT="45720" marB="45720" anchor="ctr">
                    <a:solidFill>
                      <a:schemeClr val="bg2"/>
                    </a:solidFill>
                  </a:tcPr>
                </a:tc>
                <a:tc>
                  <a:txBody>
                    <a:bodyPr/>
                    <a:lstStyle/>
                    <a:p>
                      <a:pPr algn="l"/>
                      <a:r>
                        <a:rPr sz="1300" b="0">
                          <a:solidFill>
                            <a:schemeClr val="tx1"/>
                          </a:solidFill>
                        </a:rPr>
                        <a:t>Closes it</a:t>
                      </a:r>
                    </a:p>
                  </a:txBody>
                  <a:tcPr marL="91440" marR="91440" marT="45720" marB="45720" anchor="ctr">
                    <a:solidFill>
                      <a:schemeClr val="bg2"/>
                    </a:solidFill>
                  </a:tcPr>
                </a:tc>
              </a:tr>
            </a:tbl>
          </a:graphicData>
        </a:graphic>
      </p:graphicFrame>
      <p:sp>
        <p:nvSpPr>
          <p:cNvPr id="9048" name="Card 874"/>
          <p:cNvSpPr/>
          <p:nvPr/>
        </p:nvSpPr>
        <p:spPr>
          <a:xfrm>
            <a:off x="548640" y="5257800"/>
            <a:ext cx="11094415"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201168" bIns="201168"/>
          <a:lstStyle/>
          <a:p>
            <a:pPr algn="l"/>
            <a:r>
              <a:rPr sz="1400" b="1">
                <a:solidFill>
                  <a:schemeClr val="tx1"/>
                </a:solidFill>
              </a:rPr>
              <a:t>The log is the judge (S-6). </a:t>
            </a:r>
            <a:r>
              <a:rPr sz="1400" b="0">
                <a:solidFill>
                  <a:schemeClr val="tx1"/>
                </a:solidFill>
              </a:rPr>
              <a:t>A GatewayStarted must name the instance the latest GatewayActive designated. Once a GatewayActive names a sibling, nothing from the old instance's session is sequenced, even while that session stays open.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The application protocol</a:t>
            </a:r>
          </a:p>
        </p:txBody>
      </p:sp>
      <p:sp>
        <p:nvSpPr>
          <p:cNvPr id="3" name="Text 875"/>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What one replica reads and submits</a:t>
            </a:r>
          </a:p>
        </p:txBody>
      </p:sp>
      <p:sp>
        <p:nvSpPr>
          <p:cNvPr id="9047" name="Slide number"/>
          <p:cNvSpPr txBox="1"/>
          <p:nvPr userDrawn="1"/>
        </p:nvSpPr>
        <p:spPr>
          <a:xfrm>
            <a:off x="10728655" y="6400800"/>
            <a:ext cx="914400" cy="274320"/>
          </a:xfrm>
          <a:prstGeom prst="rect">
            <a:avLst/>
          </a:prstGeom>
          <a:noFill/>
        </p:spPr>
        <p:txBody>
          <a:bodyPr wrap="none" lIns="0" tIns="0" rIns="0" bIns="0" anchor="ctr"/>
          <a:lstStyle/>
          <a:p>
            <a:pPr algn="r"/>
            <a:fld id="{33c647a0-0d17-4ced-8186-a662ec645043}" type="slidenum">
              <a:rPr lang="en-US" sz="1000" dirty="0">
                <a:solidFill>
                  <a:schemeClr val="accent5"/>
                </a:solidFill>
              </a:rPr>
              <a:t>47</a:t>
            </a:fld>
          </a:p>
        </p:txBody>
      </p:sp>
      <p:graphicFrame>
        <p:nvGraphicFramePr>
          <p:cNvPr id="9048" name="Table 876"/>
          <p:cNvGraphicFramePr>
            <a:graphicFrameLocks noGrp="1"/>
          </p:cNvGraphicFramePr>
          <p:nvPr/>
        </p:nvGraphicFramePr>
        <p:xfrm>
          <a:off x="548640" y="1691640"/>
          <a:ext cx="11091672" cy="2057400"/>
        </p:xfrm>
        <a:graphic>
          <a:graphicData uri="http://schemas.openxmlformats.org/drawingml/2006/table">
            <a:tbl>
              <a:tblPr firstRow="1">
                <a:tableStyleId>{5C22544A-7EE6-4342-B048-85BDC9FD1C3A}</a:tableStyleId>
              </a:tblPr>
              <a:tblGrid>
                <a:gridCol w="2697480"/>
                <a:gridCol w="1097280"/>
                <a:gridCol w="7296912"/>
              </a:tblGrid>
              <a:tr h="411480">
                <a:tc>
                  <a:txBody>
                    <a:bodyPr/>
                    <a:lstStyle/>
                    <a:p>
                      <a:pPr algn="l"/>
                      <a:r>
                        <a:rPr sz="1300" b="1">
                          <a:solidFill>
                            <a:schemeClr val="bg1"/>
                          </a:solidFill>
                        </a:rPr>
                        <a:t>Frame</a:t>
                      </a:r>
                    </a:p>
                  </a:txBody>
                  <a:tcPr marL="91440" marR="91440" marT="45720" marB="45720" anchor="ctr">
                    <a:solidFill>
                      <a:schemeClr val="accent1"/>
                    </a:solidFill>
                  </a:tcPr>
                </a:tc>
                <a:tc>
                  <a:txBody>
                    <a:bodyPr/>
                    <a:lstStyle/>
                    <a:p>
                      <a:pPr algn="l"/>
                      <a:r>
                        <a:rPr sz="1300" b="1">
                          <a:solidFill>
                            <a:schemeClr val="bg1"/>
                          </a:solidFill>
                        </a:rPr>
                        <a:t>Direction</a:t>
                      </a:r>
                    </a:p>
                  </a:txBody>
                  <a:tcPr marL="91440" marR="91440" marT="45720" marB="45720" anchor="ctr">
                    <a:solidFill>
                      <a:schemeClr val="accent1"/>
                    </a:solidFill>
                  </a:tcPr>
                </a:tc>
                <a:tc>
                  <a:txBody>
                    <a:bodyPr/>
                    <a:lstStyle/>
                    <a:p>
                      <a:pPr algn="l"/>
                      <a:r>
                        <a:rPr sz="1300" b="1">
                          <a:solidFill>
                            <a:schemeClr val="bg1"/>
                          </a:solidFill>
                        </a:rPr>
                        <a:t>The façade</a:t>
                      </a:r>
                    </a:p>
                  </a:txBody>
                  <a:tcPr marL="91440" marR="91440" marT="45720" marB="45720" anchor="ctr">
                    <a:solidFill>
                      <a:schemeClr val="accent1"/>
                    </a:solidFill>
                  </a:tcPr>
                </a:tc>
              </a:tr>
              <a:tr h="411480">
                <a:tc>
                  <a:txBody>
                    <a:bodyPr/>
                    <a:lstStyle/>
                    <a:p>
                      <a:pPr algn="l"/>
                      <a:r>
                        <a:rPr sz="1400" b="1">
                          <a:solidFill>
                            <a:schemeClr val="tx1"/>
                          </a:solidFill>
                        </a:rPr>
                        <a:t>Sequenced</a:t>
                      </a:r>
                    </a:p>
                  </a:txBody>
                  <a:tcPr marL="91440" marR="91440" marT="45720" marB="45720" anchor="ctr">
                    <a:solidFill>
                      <a:schemeClr val="bg1"/>
                    </a:solidFill>
                  </a:tcPr>
                </a:tc>
                <a:tc>
                  <a:txBody>
                    <a:bodyPr/>
                    <a:lstStyle/>
                    <a:p>
                      <a:pPr algn="l"/>
                      <a:r>
                        <a:rPr sz="1400" b="0">
                          <a:solidFill>
                            <a:schemeClr val="tx1"/>
                          </a:solidFill>
                        </a:rPr>
                        <a:t>reads</a:t>
                      </a:r>
                    </a:p>
                  </a:txBody>
                  <a:tcPr marL="91440" marR="91440" marT="45720" marB="45720" anchor="ctr">
                    <a:solidFill>
                      <a:schemeClr val="bg1"/>
                    </a:solidFill>
                  </a:tcPr>
                </a:tc>
                <a:tc>
                  <a:txBody>
                    <a:bodyPr/>
                    <a:lstStyle/>
                    <a:p>
                      <a:pPr algn="l"/>
                      <a:r>
                        <a:rPr sz="1400" b="0">
                          <a:solidFill>
                            <a:schemeClr val="tx1"/>
                          </a:solidFill>
                        </a:rPr>
                        <a:t>onSequenced, in sequence number order; its own frames confirm its sends</a:t>
                      </a:r>
                    </a:p>
                  </a:txBody>
                  <a:tcPr marL="91440" marR="91440" marT="45720" marB="45720" anchor="ctr">
                    <a:solidFill>
                      <a:schemeClr val="bg1"/>
                    </a:solidFill>
                  </a:tcPr>
                </a:tc>
              </a:tr>
              <a:tr h="411480">
                <a:tc>
                  <a:txBody>
                    <a:bodyPr/>
                    <a:lstStyle/>
                    <a:p>
                      <a:pPr algn="l"/>
                      <a:r>
                        <a:rPr sz="1400" b="1">
                          <a:solidFill>
                            <a:schemeClr val="tx1"/>
                          </a:solidFill>
                        </a:rPr>
                        <a:t>Unsequenced</a:t>
                      </a:r>
                    </a:p>
                  </a:txBody>
                  <a:tcPr marL="91440" marR="91440" marT="45720" marB="45720" anchor="ctr">
                    <a:solidFill>
                      <a:schemeClr val="bg2"/>
                    </a:solidFill>
                  </a:tcPr>
                </a:tc>
                <a:tc>
                  <a:txBody>
                    <a:bodyPr/>
                    <a:lstStyle/>
                    <a:p>
                      <a:pPr algn="l"/>
                      <a:r>
                        <a:rPr sz="1400" b="0">
                          <a:solidFill>
                            <a:schemeClr val="tx1"/>
                          </a:solidFill>
                        </a:rPr>
                        <a:t>submits</a:t>
                      </a:r>
                    </a:p>
                  </a:txBody>
                  <a:tcPr marL="91440" marR="91440" marT="45720" marB="45720" anchor="ctr">
                    <a:solidFill>
                      <a:schemeClr val="bg2"/>
                    </a:solidFill>
                  </a:tcPr>
                </a:tc>
                <a:tc>
                  <a:txBody>
                    <a:bodyPr/>
                    <a:lstStyle/>
                    <a:p>
                      <a:pPr algn="l"/>
                      <a:r>
                        <a:rPr sz="1400" b="0">
                          <a:solidFill>
                            <a:schemeClr val="tx1"/>
                          </a:solidFill>
                        </a:rPr>
                        <a:t>publish under its own sourceId; reply under the requester's. Only while the gate is open</a:t>
                      </a:r>
                    </a:p>
                  </a:txBody>
                  <a:tcPr marL="91440" marR="91440" marT="45720" marB="45720" anchor="ctr">
                    <a:solidFill>
                      <a:schemeClr val="bg2"/>
                    </a:solidFill>
                  </a:tcPr>
                </a:tc>
              </a:tr>
              <a:tr h="411480">
                <a:tc>
                  <a:txBody>
                    <a:bodyPr/>
                    <a:lstStyle/>
                    <a:p>
                      <a:pPr algn="l"/>
                      <a:r>
                        <a:rPr sz="1400" b="1">
                          <a:solidFill>
                            <a:schemeClr val="tx1"/>
                          </a:solidFill>
                        </a:rPr>
                        <a:t>LeadershipChanged</a:t>
                      </a:r>
                    </a:p>
                  </a:txBody>
                  <a:tcPr marL="91440" marR="91440" marT="45720" marB="45720" anchor="ctr">
                    <a:solidFill>
                      <a:schemeClr val="bg1"/>
                    </a:solidFill>
                  </a:tcPr>
                </a:tc>
                <a:tc>
                  <a:txBody>
                    <a:bodyPr/>
                    <a:lstStyle/>
                    <a:p>
                      <a:pPr algn="l"/>
                      <a:r>
                        <a:rPr sz="1400" b="0">
                          <a:solidFill>
                            <a:schemeClr val="tx1"/>
                          </a:solidFill>
                        </a:rPr>
                        <a:t>reads</a:t>
                      </a:r>
                    </a:p>
                  </a:txBody>
                  <a:tcPr marL="91440" marR="91440" marT="45720" marB="45720" anchor="ctr">
                    <a:solidFill>
                      <a:schemeClr val="bg1"/>
                    </a:solidFill>
                  </a:tcPr>
                </a:tc>
                <a:tc>
                  <a:txBody>
                    <a:bodyPr/>
                    <a:lstStyle/>
                    <a:p>
                      <a:pPr algn="l"/>
                      <a:r>
                        <a:rPr sz="1400" b="0">
                          <a:solidFill>
                            <a:schemeClr val="tx1"/>
                          </a:solidFill>
                        </a:rPr>
                        <a:t>Closes the leader gate; a newer term resends what the old leader lost</a:t>
                      </a:r>
                    </a:p>
                  </a:txBody>
                  <a:tcPr marL="91440" marR="91440" marT="45720" marB="45720" anchor="ctr">
                    <a:solidFill>
                      <a:schemeClr val="bg1"/>
                    </a:solidFill>
                  </a:tcPr>
                </a:tc>
              </a:tr>
              <a:tr h="411480">
                <a:tc>
                  <a:txBody>
                    <a:bodyPr/>
                    <a:lstStyle/>
                    <a:p>
                      <a:pPr algn="l"/>
                      <a:r>
                        <a:rPr sz="1400" b="1">
                          <a:solidFill>
                            <a:schemeClr val="tx1"/>
                          </a:solidFill>
                        </a:rPr>
                        <a:t>ClusterHeartbeat</a:t>
                      </a:r>
                    </a:p>
                  </a:txBody>
                  <a:tcPr marL="91440" marR="91440" marT="45720" marB="45720" anchor="ctr">
                    <a:solidFill>
                      <a:schemeClr val="bg2"/>
                    </a:solidFill>
                  </a:tcPr>
                </a:tc>
                <a:tc>
                  <a:txBody>
                    <a:bodyPr/>
                    <a:lstStyle/>
                    <a:p>
                      <a:pPr algn="l"/>
                      <a:r>
                        <a:rPr sz="1400" b="0">
                          <a:solidFill>
                            <a:schemeClr val="tx1"/>
                          </a:solidFill>
                        </a:rPr>
                        <a:t>reads</a:t>
                      </a:r>
                    </a:p>
                  </a:txBody>
                  <a:tcPr marL="91440" marR="91440" marT="45720" marB="45720" anchor="ctr">
                    <a:solidFill>
                      <a:schemeClr val="bg2"/>
                    </a:solidFill>
                  </a:tcPr>
                </a:tc>
                <a:tc>
                  <a:txBody>
                    <a:bodyPr/>
                    <a:lstStyle/>
                    <a:p>
                      <a:pPr algn="l"/>
                      <a:r>
                        <a:rPr sz="1400" b="0">
                          <a:solidFill>
                            <a:schemeClr val="tx1"/>
                          </a:solidFill>
                        </a:rPr>
                        <a:t>onClusterHeartbeat, on consensus time; resets the tap-stall fence</a:t>
                      </a:r>
                    </a:p>
                  </a:txBody>
                  <a:tcPr marL="91440" marR="91440" marT="45720" marB="45720" anchor="ctr">
                    <a:solidFill>
                      <a:schemeClr val="bg2"/>
                    </a:solidFill>
                  </a:tcPr>
                </a:tc>
              </a:tr>
            </a:tbl>
          </a:graphicData>
        </a:graphic>
      </p:graphicFrame>
      <p:sp>
        <p:nvSpPr>
          <p:cNvPr id="9049" name="Text 877"/>
          <p:cNvSpPr txBox="1"/>
          <p:nvPr/>
        </p:nvSpPr>
        <p:spPr>
          <a:xfrm>
            <a:off x="548640" y="3858768"/>
            <a:ext cx="11094415" cy="365760"/>
          </a:xfrm>
          <a:prstGeom prst="rect">
            <a:avLst/>
          </a:prstGeom>
          <a:noFill/>
        </p:spPr>
        <p:txBody>
          <a:bodyPr wrap="square" anchor="t" lIns="0" rIns="0" tIns="0" bIns="0">
            <a:spAutoFit/>
          </a:bodyPr>
          <a:lstStyle/>
          <a:p>
            <a:pPr algn="l"/>
            <a:r>
              <a:rPr sz="1300" b="0">
                <a:solidFill>
                  <a:schemeClr val="accent5"/>
                </a:solidFill>
              </a:rPr>
              <a:t>Snapshot frames are covered under the snapshot protocol. Every other system frame is skipped (P-2).</a:t>
            </a:r>
          </a:p>
        </p:txBody>
      </p:sp>
      <p:sp>
        <p:nvSpPr>
          <p:cNvPr id="9050" name="Card 878"/>
          <p:cNvSpPr/>
          <p:nvPr/>
        </p:nvSpPr>
        <p:spPr>
          <a:xfrm>
            <a:off x="548640" y="4297680"/>
            <a:ext cx="3511296"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500" b="1" cap="none">
                <a:solidFill>
                  <a:schemeClr val="tx1"/>
                </a:solidFill>
                <a:latin typeface="+mj-lt"/>
              </a:rPr>
              <a:t>payloadId names a protocol</a:t>
            </a:r>
          </a:p>
          <a:p>
            <a:pPr algn="l"/>
            <a:r>
              <a:rPr sz="1300" b="0">
                <a:solidFill>
                  <a:schemeClr val="tx1"/>
                </a:solidFill>
              </a:rPr>
              <a:t>One schema or encoding, never one message: SBE, protobuf, raw FIX. Encoded once by its producer and copied through unopened. Versioning is the application's.</a:t>
            </a:r>
          </a:p>
        </p:txBody>
      </p:sp>
      <p:sp>
        <p:nvSpPr>
          <p:cNvPr id="9051" name="Card 879"/>
          <p:cNvSpPr/>
          <p:nvPr/>
        </p:nvSpPr>
        <p:spPr>
          <a:xfrm>
            <a:off x="4338828" y="4297680"/>
            <a:ext cx="3511296"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500" b="1" cap="none">
                <a:solidFill>
                  <a:schemeClr val="tx1"/>
                </a:solidFill>
                <a:latin typeface="+mj-lt"/>
              </a:rPr>
              <a:t>Consumers skip what they do not know</a:t>
            </a:r>
          </a:p>
          <a:p>
            <a:pPr algn="l"/>
            <a:r>
              <a:rPr sz="1300" b="0">
                <a:solidFill>
                  <a:schemeClr val="tx1"/>
                </a:solidFill>
              </a:rPr>
              <a:t>An unknown protocol or an unsupported version is skipped, not an error. Continuity uses the sequence number, so a skip hides no gap. Check the payload's own framing, an SBE schemaId, before decoding.</a:t>
            </a:r>
          </a:p>
        </p:txBody>
      </p:sp>
      <p:sp>
        <p:nvSpPr>
          <p:cNvPr id="9052" name="Card 880"/>
          <p:cNvSpPr/>
          <p:nvPr/>
        </p:nvSpPr>
        <p:spPr>
          <a:xfrm>
            <a:off x="8129016" y="4297680"/>
            <a:ext cx="3511296"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82880" bIns="182880"/>
          <a:lstStyle/>
          <a:p>
            <a:pPr algn="l">
              <a:spcAft>
                <a:spcPts val="600"/>
              </a:spcAft>
            </a:pPr>
            <a:r>
              <a:rPr sz="1500" b="1" cap="none">
                <a:solidFill>
                  <a:schemeClr val="tx1"/>
                </a:solidFill>
                <a:latin typeface="+mj-lt"/>
              </a:rPr>
              <a:t>Registration labels; it does not admit</a:t>
            </a:r>
          </a:p>
          <a:p>
            <a:pPr algn="l"/>
            <a:r>
              <a:rPr sz="1300" b="0">
                <a:solidFill>
                  <a:schemeClr val="tx1"/>
                </a:solidFill>
              </a:rPr>
              <a:t>PayloadIdRegistered names a protocol for SbeLogPrinter. The sequencer rejects nothing for lacking a row. A protocol shared by applications needs a row and one owning repository.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Fences</a:t>
            </a:r>
          </a:p>
        </p:txBody>
      </p:sp>
      <p:sp>
        <p:nvSpPr>
          <p:cNvPr id="3" name="Text 881"/>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An instance that cannot trust its view stops before it acts on stale state</a:t>
            </a:r>
          </a:p>
        </p:txBody>
      </p:sp>
      <p:sp>
        <p:nvSpPr>
          <p:cNvPr id="9048" name="Slide number"/>
          <p:cNvSpPr txBox="1"/>
          <p:nvPr userDrawn="1"/>
        </p:nvSpPr>
        <p:spPr>
          <a:xfrm>
            <a:off x="10728655" y="6400800"/>
            <a:ext cx="914400" cy="274320"/>
          </a:xfrm>
          <a:prstGeom prst="rect">
            <a:avLst/>
          </a:prstGeom>
          <a:noFill/>
        </p:spPr>
        <p:txBody>
          <a:bodyPr wrap="none" lIns="0" tIns="0" rIns="0" bIns="0" anchor="ctr"/>
          <a:lstStyle/>
          <a:p>
            <a:pPr algn="r"/>
            <a:fld id="{2a158c4e-968d-41cb-8958-b94ef148b084}" type="slidenum">
              <a:rPr lang="en-US" sz="1000" dirty="0">
                <a:solidFill>
                  <a:schemeClr val="accent5"/>
                </a:solidFill>
              </a:rPr>
              <a:t>48</a:t>
            </a:fld>
          </a:p>
        </p:txBody>
      </p:sp>
      <p:graphicFrame>
        <p:nvGraphicFramePr>
          <p:cNvPr id="9049" name="Table 882"/>
          <p:cNvGraphicFramePr>
            <a:graphicFrameLocks noGrp="1"/>
          </p:cNvGraphicFramePr>
          <p:nvPr/>
        </p:nvGraphicFramePr>
        <p:xfrm>
          <a:off x="548640" y="1691640"/>
          <a:ext cx="11091672" cy="3712464"/>
        </p:xfrm>
        <a:graphic>
          <a:graphicData uri="http://schemas.openxmlformats.org/drawingml/2006/table">
            <a:tbl>
              <a:tblPr firstRow="1">
                <a:tableStyleId>{5C22544A-7EE6-4342-B048-85BDC9FD1C3A}</a:tableStyleId>
              </a:tblPr>
              <a:tblGrid>
                <a:gridCol w="3566160"/>
                <a:gridCol w="7525512"/>
              </a:tblGrid>
              <a:tr h="530352">
                <a:tc>
                  <a:txBody>
                    <a:bodyPr/>
                    <a:lstStyle/>
                    <a:p>
                      <a:pPr algn="l"/>
                      <a:r>
                        <a:rPr sz="1300" b="1">
                          <a:solidFill>
                            <a:schemeClr val="bg1"/>
                          </a:solidFill>
                        </a:rPr>
                        <a:t>Fence</a:t>
                      </a:r>
                    </a:p>
                  </a:txBody>
                  <a:tcPr marL="91440" marR="91440" marT="45720" marB="45720" anchor="ctr">
                    <a:solidFill>
                      <a:schemeClr val="accent1"/>
                    </a:solidFill>
                  </a:tcPr>
                </a:tc>
                <a:tc>
                  <a:txBody>
                    <a:bodyPr/>
                    <a:lstStyle/>
                    <a:p>
                      <a:pPr algn="l"/>
                      <a:r>
                        <a:rPr sz="1300" b="1">
                          <a:solidFill>
                            <a:schemeClr val="bg1"/>
                          </a:solidFill>
                        </a:rPr>
                        <a:t>Condition</a:t>
                      </a:r>
                    </a:p>
                  </a:txBody>
                  <a:tcPr marL="91440" marR="91440" marT="45720" marB="45720" anchor="ctr">
                    <a:solidFill>
                      <a:schemeClr val="accent1"/>
                    </a:solidFill>
                  </a:tcPr>
                </a:tc>
              </a:tr>
              <a:tr h="530352">
                <a:tc>
                  <a:txBody>
                    <a:bodyPr/>
                    <a:lstStyle/>
                    <a:p>
                      <a:pPr algn="l"/>
                      <a:r>
                        <a:rPr sz="1400" b="1">
                          <a:solidFill>
                            <a:schemeClr val="tx1"/>
                          </a:solidFill>
                        </a:rPr>
                        <a:t>CLUSTER_SESSION_LOST</a:t>
                      </a:r>
                    </a:p>
                  </a:txBody>
                  <a:tcPr marL="91440" marR="91440" marT="45720" marB="45720" anchor="ctr">
                    <a:solidFill>
                      <a:schemeClr val="bg1"/>
                    </a:solidFill>
                  </a:tcPr>
                </a:tc>
                <a:tc>
                  <a:txBody>
                    <a:bodyPr/>
                    <a:lstStyle/>
                    <a:p>
                      <a:pPr algn="l"/>
                      <a:r>
                        <a:rPr sz="1400" b="0">
                          <a:solidFill>
                            <a:schemeClr val="tx1"/>
                          </a:solidFill>
                        </a:rPr>
                        <a:t>Lost on a gateway instance that announced on it; elsewhere, not replaced in 20 s</a:t>
                      </a:r>
                    </a:p>
                  </a:txBody>
                  <a:tcPr marL="91440" marR="91440" marT="45720" marB="45720" anchor="ctr">
                    <a:solidFill>
                      <a:schemeClr val="bg1"/>
                    </a:solidFill>
                  </a:tcPr>
                </a:tc>
              </a:tr>
              <a:tr h="530352">
                <a:tc>
                  <a:txBody>
                    <a:bodyPr/>
                    <a:lstStyle/>
                    <a:p>
                      <a:pPr algn="l"/>
                      <a:r>
                        <a:rPr sz="1400" b="1">
                          <a:solidFill>
                            <a:schemeClr val="tx1"/>
                          </a:solidFill>
                        </a:rPr>
                        <a:t>TAP_STALLED</a:t>
                      </a:r>
                    </a:p>
                  </a:txBody>
                  <a:tcPr marL="91440" marR="91440" marT="45720" marB="45720" anchor="ctr">
                    <a:solidFill>
                      <a:schemeClr val="bg2"/>
                    </a:solidFill>
                  </a:tcPr>
                </a:tc>
                <a:tc>
                  <a:txBody>
                    <a:bodyPr/>
                    <a:lstStyle/>
                    <a:p>
                      <a:pPr algn="l"/>
                      <a:r>
                        <a:rPr sz="1400" b="0">
                          <a:solidFill>
                            <a:schemeClr val="tx1"/>
                          </a:solidFill>
                        </a:rPr>
                        <a:t>No ClusterHeartbeat for 20 s while caught up, on an instance that acts</a:t>
                      </a:r>
                    </a:p>
                  </a:txBody>
                  <a:tcPr marL="91440" marR="91440" marT="45720" marB="45720" anchor="ctr">
                    <a:solidFill>
                      <a:schemeClr val="bg2"/>
                    </a:solidFill>
                  </a:tcPr>
                </a:tc>
              </a:tr>
              <a:tr h="530352">
                <a:tc>
                  <a:txBody>
                    <a:bodyPr/>
                    <a:lstStyle/>
                    <a:p>
                      <a:pPr algn="l"/>
                      <a:r>
                        <a:rPr sz="1400" b="1">
                          <a:solidFill>
                            <a:schemeClr val="tx1"/>
                          </a:solidFill>
                        </a:rPr>
                        <a:t>RECOVERY_STALLED</a:t>
                      </a:r>
                    </a:p>
                  </a:txBody>
                  <a:tcPr marL="91440" marR="91440" marT="45720" marB="45720" anchor="ctr">
                    <a:solidFill>
                      <a:schemeClr val="bg1"/>
                    </a:solidFill>
                  </a:tcPr>
                </a:tc>
                <a:tc>
                  <a:txBody>
                    <a:bodyPr/>
                    <a:lstStyle/>
                    <a:p>
                      <a:pPr algn="l"/>
                      <a:r>
                        <a:rPr sz="1400" b="0">
                          <a:solidFill>
                            <a:schemeClr val="tx1"/>
                          </a:solidFill>
                        </a:rPr>
                        <a:t>Nothing recovered for 60 s after a first catch-up, on an instance that acts</a:t>
                      </a:r>
                    </a:p>
                  </a:txBody>
                  <a:tcPr marL="91440" marR="91440" marT="45720" marB="45720" anchor="ctr">
                    <a:solidFill>
                      <a:schemeClr val="bg1"/>
                    </a:solidFill>
                  </a:tcPr>
                </a:tc>
              </a:tr>
              <a:tr h="530352">
                <a:tc>
                  <a:txBody>
                    <a:bodyPr/>
                    <a:lstStyle/>
                    <a:p>
                      <a:pPr algn="l"/>
                      <a:r>
                        <a:rPr sz="1400" b="1">
                          <a:solidFill>
                            <a:schemeClr val="tx1"/>
                          </a:solidFill>
                        </a:rPr>
                        <a:t>INGRESS_CONFIRM_FAULTED</a:t>
                      </a:r>
                    </a:p>
                  </a:txBody>
                  <a:tcPr marL="91440" marR="91440" marT="45720" marB="45720" anchor="ctr">
                    <a:solidFill>
                      <a:schemeClr val="bg2"/>
                    </a:solidFill>
                  </a:tcPr>
                </a:tc>
                <a:tc>
                  <a:txBody>
                    <a:bodyPr/>
                    <a:lstStyle/>
                    <a:p>
                      <a:pPr algn="l"/>
                      <a:r>
                        <a:rPr sz="1400" b="0">
                          <a:solidFill>
                            <a:schemeClr val="tx1"/>
                          </a:solidFill>
                        </a:rPr>
                        <a:t>An own frame on the tap differs from the oldest pending one</a:t>
                      </a:r>
                    </a:p>
                  </a:txBody>
                  <a:tcPr marL="91440" marR="91440" marT="45720" marB="45720" anchor="ctr">
                    <a:solidFill>
                      <a:schemeClr val="bg2"/>
                    </a:solidFill>
                  </a:tcPr>
                </a:tc>
              </a:tr>
              <a:tr h="530352">
                <a:tc>
                  <a:txBody>
                    <a:bodyPr/>
                    <a:lstStyle/>
                    <a:p>
                      <a:pPr algn="l"/>
                      <a:r>
                        <a:rPr sz="1400" b="1">
                          <a:solidFill>
                            <a:schemeClr val="tx1"/>
                          </a:solidFill>
                        </a:rPr>
                        <a:t>SNAPSHOT_DIVERGED</a:t>
                      </a:r>
                    </a:p>
                  </a:txBody>
                  <a:tcPr marL="91440" marR="91440" marT="45720" marB="45720" anchor="ctr">
                    <a:solidFill>
                      <a:schemeClr val="bg1"/>
                    </a:solidFill>
                  </a:tcPr>
                </a:tc>
                <a:tc>
                  <a:txBody>
                    <a:bodyPr/>
                    <a:lstStyle/>
                    <a:p>
                      <a:pPr algn="l"/>
                      <a:r>
                        <a:rPr sz="1400" b="0">
                          <a:solidFill>
                            <a:schemeClr val="tx1"/>
                          </a:solidFill>
                        </a:rPr>
                        <a:t>Own snapshot differs from the one its source sequenced</a:t>
                      </a:r>
                    </a:p>
                  </a:txBody>
                  <a:tcPr marL="91440" marR="91440" marT="45720" marB="45720" anchor="ctr">
                    <a:solidFill>
                      <a:schemeClr val="bg1"/>
                    </a:solidFill>
                  </a:tcPr>
                </a:tc>
              </a:tr>
              <a:tr h="530352">
                <a:tc>
                  <a:txBody>
                    <a:bodyPr/>
                    <a:lstStyle/>
                    <a:p>
                      <a:pPr algn="l"/>
                      <a:r>
                        <a:rPr sz="1400" b="1">
                          <a:solidFill>
                            <a:schemeClr val="tx1"/>
                          </a:solidFill>
                        </a:rPr>
                        <a:t>SNAPSHOT_UNRESTORABLE</a:t>
                      </a:r>
                    </a:p>
                  </a:txBody>
                  <a:tcPr marL="91440" marR="91440" marT="45720" marB="45720" anchor="ctr">
                    <a:solidFill>
                      <a:schemeClr val="bg2"/>
                    </a:solidFill>
                  </a:tcPr>
                </a:tc>
                <a:tc>
                  <a:txBody>
                    <a:bodyPr/>
                    <a:lstStyle/>
                    <a:p>
                      <a:pPr algn="l"/>
                      <a:r>
                        <a:rPr sz="1400" b="0">
                          <a:solidFill>
                            <a:schemeClr val="tx1"/>
                          </a:solidFill>
                        </a:rPr>
                        <a:t>Newest confirmed snapshot cannot be restored</a:t>
                      </a:r>
                    </a:p>
                  </a:txBody>
                  <a:tcPr marL="91440" marR="91440" marT="45720" marB="45720" anchor="ctr">
                    <a:solidFill>
                      <a:schemeClr val="bg2"/>
                    </a:solidFill>
                  </a:tcPr>
                </a:tc>
              </a:tr>
            </a:tbl>
          </a:graphicData>
        </a:graphic>
      </p:graphicFrame>
      <p:sp>
        <p:nvSpPr>
          <p:cNvPr id="9050" name="Text 883"/>
          <p:cNvSpPr txBox="1"/>
          <p:nvPr/>
        </p:nvSpPr>
        <p:spPr>
          <a:xfrm>
            <a:off x="548640" y="5577840"/>
            <a:ext cx="11094415" cy="457200"/>
          </a:xfrm>
          <a:prstGeom prst="rect">
            <a:avLst/>
          </a:prstGeom>
          <a:noFill/>
        </p:spPr>
        <p:txBody>
          <a:bodyPr wrap="square" anchor="t" lIns="0" rIns="0" tIns="0" bIns="0">
            <a:spAutoFit/>
          </a:bodyPr>
          <a:lstStyle/>
          <a:p>
            <a:pPr algn="l"/>
            <a:r>
              <a:rPr sz="1300" b="0">
                <a:solidFill>
                  <a:schemeClr val="accent5"/>
                </a:solidFill>
              </a:rPr>
              <a:t>An instance that acts: the designated gateway instance, or the leader's replica. Any other logs a stall and keeps following.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lstStyle/>
          <a:p>
            <a:pPr algn="l"/>
            <a:r>
              <a:rPr sz="3400" b="1" cap="none">
                <a:solidFill>
                  <a:schemeClr val="tx1"/>
                </a:solidFill>
                <a:latin typeface="+mj-lt"/>
              </a:rPr>
              <a:t>faulteron</a:t>
            </a:r>
          </a:p>
        </p:txBody>
      </p:sp>
      <p:sp>
        <p:nvSpPr>
          <p:cNvPr id="3" name="Text 884"/>
          <p:cNvSpPr txBox="1"/>
          <p:nvPr/>
        </p:nvSpPr>
        <p:spPr>
          <a:xfrm>
            <a:off x="548640" y="987552"/>
            <a:ext cx="11094415" cy="411480"/>
          </a:xfrm>
          <a:prstGeom prst="rect">
            <a:avLst/>
          </a:prstGeom>
          <a:noFill/>
        </p:spPr>
        <p:txBody>
          <a:bodyPr wrap="square" anchor="t" lIns="0" rIns="0" tIns="0" bIns="0">
            <a:spAutoFit/>
          </a:bodyPr>
          <a:lstStyle/>
          <a:p>
            <a:pPr algn="l"/>
            <a:r>
              <a:rPr sz="1600" b="0">
                <a:solidFill>
                  <a:schemeClr val="accent5"/>
                </a:solidFill>
              </a:rPr>
              <a:t>Network faults for Aeron, injected in eBPF</a:t>
            </a:r>
          </a:p>
        </p:txBody>
      </p:sp>
      <p:sp>
        <p:nvSpPr>
          <p:cNvPr id="9049" name="Slide number"/>
          <p:cNvSpPr txBox="1"/>
          <p:nvPr userDrawn="1"/>
        </p:nvSpPr>
        <p:spPr>
          <a:xfrm>
            <a:off x="10728655" y="6400800"/>
            <a:ext cx="914400" cy="274320"/>
          </a:xfrm>
          <a:prstGeom prst="rect">
            <a:avLst/>
          </a:prstGeom>
          <a:noFill/>
        </p:spPr>
        <p:txBody>
          <a:bodyPr wrap="none" lIns="0" tIns="0" rIns="0" bIns="0" anchor="ctr"/>
          <a:lstStyle/>
          <a:p>
            <a:pPr algn="r"/>
            <a:fld id="{c728aa9d-165c-4cec-8b27-4b6995ce619c}" type="slidenum">
              <a:rPr lang="en-US" sz="1000" dirty="0">
                <a:solidFill>
                  <a:schemeClr val="accent5"/>
                </a:solidFill>
              </a:rPr>
              <a:t>49</a:t>
            </a:fld>
          </a:p>
        </p:txBody>
      </p:sp>
      <p:sp>
        <p:nvSpPr>
          <p:cNvPr id="9050" name="Shape 885"/>
          <p:cNvSpPr/>
          <p:nvPr/>
        </p:nvSpPr>
        <p:spPr>
          <a:xfrm>
            <a:off x="548640" y="1691640"/>
            <a:ext cx="6537960" cy="3931920"/>
          </a:xfrm>
          <a:prstGeom prst="rect">
            <a:avLst/>
          </a:prstGeom>
          <a:noFill/>
          <a:ln w="12700">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1" name="Text 886"/>
          <p:cNvSpPr txBox="1"/>
          <p:nvPr/>
        </p:nvSpPr>
        <p:spPr>
          <a:xfrm>
            <a:off x="685800" y="1737360"/>
            <a:ext cx="4572000" cy="274320"/>
          </a:xfrm>
          <a:prstGeom prst="rect">
            <a:avLst/>
          </a:prstGeom>
          <a:noFill/>
        </p:spPr>
        <p:txBody>
          <a:bodyPr wrap="square" anchor="t" lIns="0" rIns="0" tIns="0" bIns="0">
            <a:spAutoFit/>
          </a:bodyPr>
          <a:lstStyle/>
          <a:p>
            <a:pPr algn="l"/>
            <a:r>
              <a:rPr sz="1100" b="0">
                <a:solidFill>
                  <a:schemeClr val="accent5"/>
                </a:solidFill>
              </a:rPr>
              <a:t>One container's network namespace</a:t>
            </a:r>
          </a:p>
        </p:txBody>
      </p:sp>
      <p:sp>
        <p:nvSpPr>
          <p:cNvPr id="9052" name="Box 887"/>
          <p:cNvSpPr/>
          <p:nvPr/>
        </p:nvSpPr>
        <p:spPr>
          <a:xfrm>
            <a:off x="777240" y="2148840"/>
            <a:ext cx="1554480" cy="3063240"/>
          </a:xfrm>
          <a:prstGeom prst="rect">
            <a:avLst/>
          </a:prstGeom>
          <a:solidFill>
            <a:schemeClr val="bg1"/>
          </a:solidFill>
          <a:ln w="12700">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seqeron member</a:t>
            </a:r>
          </a:p>
          <a:p>
            <a:pPr algn="ctr"/>
            <a:r>
              <a:rPr sz="1100" b="0">
                <a:solidFill>
                  <a:schemeClr val="accent5"/>
                </a:solidFill>
              </a:rPr>
              <a:t>Aeron UDP: Raft, archive, ingress</a:t>
            </a:r>
          </a:p>
        </p:txBody>
      </p:sp>
      <p:sp>
        <p:nvSpPr>
          <p:cNvPr id="9053" name="Box 888"/>
          <p:cNvSpPr/>
          <p:nvPr/>
        </p:nvSpPr>
        <p:spPr>
          <a:xfrm>
            <a:off x="2697480" y="3291840"/>
            <a:ext cx="1645920" cy="77724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faulteron CLI</a:t>
            </a:r>
          </a:p>
          <a:p>
            <a:pPr algn="ctr"/>
            <a:r>
              <a:rPr sz="1100" b="0">
                <a:solidFill>
                  <a:schemeClr val="accent5"/>
                </a:solidFill>
              </a:rPr>
              <a:t>privileged; bpftool</a:t>
            </a:r>
          </a:p>
        </p:txBody>
      </p:sp>
      <p:sp>
        <p:nvSpPr>
          <p:cNvPr id="9054" name="Box 889"/>
          <p:cNvSpPr/>
          <p:nvPr/>
        </p:nvSpPr>
        <p:spPr>
          <a:xfrm>
            <a:off x="4709160" y="2148840"/>
            <a:ext cx="1828800" cy="7772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tc egress</a:t>
            </a:r>
          </a:p>
          <a:p>
            <a:pPr algn="ctr"/>
            <a:r>
              <a:rPr sz="1100" b="0">
                <a:solidFill>
                  <a:schemeClr val="accent5"/>
                </a:solidFill>
              </a:rPr>
              <a:t>drop, duplicate, delay</a:t>
            </a:r>
          </a:p>
        </p:txBody>
      </p:sp>
      <p:sp>
        <p:nvSpPr>
          <p:cNvPr id="9055" name="Box 890"/>
          <p:cNvSpPr/>
          <p:nvPr/>
        </p:nvSpPr>
        <p:spPr>
          <a:xfrm>
            <a:off x="4709160" y="3291840"/>
            <a:ext cx="1828800" cy="777240"/>
          </a:xfrm>
          <a:prstGeom prst="rect">
            <a:avLst/>
          </a:prstGeom>
          <a:solidFill>
            <a:schemeClr val="accent4"/>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rules map</a:t>
            </a:r>
          </a:p>
          <a:p>
            <a:pPr algn="ctr"/>
            <a:r>
              <a:rPr sz="1100" b="0">
                <a:solidFill>
                  <a:schemeClr val="accent5"/>
                </a:solidFill>
              </a:rPr>
              <a:t>peer, port, type, message</a:t>
            </a:r>
          </a:p>
        </p:txBody>
      </p:sp>
      <p:sp>
        <p:nvSpPr>
          <p:cNvPr id="9056" name="Box 891"/>
          <p:cNvSpPr/>
          <p:nvPr/>
        </p:nvSpPr>
        <p:spPr>
          <a:xfrm>
            <a:off x="4709160" y="4434840"/>
            <a:ext cx="1828800" cy="777240"/>
          </a:xfrm>
          <a:prstGeom prst="rect">
            <a:avLst/>
          </a:prstGeom>
          <a:solidFill>
            <a:schemeClr val="accent3"/>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a:solidFill>
                  <a:schemeClr val="tx1"/>
                </a:solidFill>
              </a:rPr>
              <a:t>tc ingress</a:t>
            </a:r>
          </a:p>
          <a:p>
            <a:pPr algn="ctr"/>
            <a:r>
              <a:rPr sz="1100" b="0">
                <a:solidFill>
                  <a:schemeClr val="accent5"/>
                </a:solidFill>
              </a:rPr>
              <a:t>drop, duplicate</a:t>
            </a:r>
          </a:p>
        </p:txBody>
      </p:sp>
      <p:sp>
        <p:nvSpPr>
          <p:cNvPr id="9057" name="Box 892"/>
          <p:cNvSpPr/>
          <p:nvPr/>
        </p:nvSpPr>
        <p:spPr>
          <a:xfrm>
            <a:off x="6858000" y="2148840"/>
            <a:ext cx="457200" cy="3063240"/>
          </a:xfrm>
          <a:prstGeom prst="rect">
            <a:avLst/>
          </a:prstGeom>
          <a:solidFill>
            <a:schemeClr val="bg2"/>
          </a:solidFill>
          <a:ln w="15875">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chemeClr val="tx1"/>
                </a:solidFill>
              </a:rPr>
              <a:t>eth0</a:t>
            </a:r>
          </a:p>
        </p:txBody>
      </p:sp>
      <p:cxnSp>
        <p:nvCxnSpPr>
          <p:cNvPr id="9058" name="Arrow 893"/>
          <p:cNvCxnSpPr/>
          <p:nvPr/>
        </p:nvCxnSpPr>
        <p:spPr>
          <a:xfrm>
            <a:off x="2331720" y="2537460"/>
            <a:ext cx="237744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59" name="Arrow 894"/>
          <p:cNvCxnSpPr/>
          <p:nvPr/>
        </p:nvCxnSpPr>
        <p:spPr>
          <a:xfrm>
            <a:off x="6537960" y="2537460"/>
            <a:ext cx="32004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60" name="Arrow 895"/>
          <p:cNvCxnSpPr/>
          <p:nvPr/>
        </p:nvCxnSpPr>
        <p:spPr>
          <a:xfrm flipH="1">
            <a:off x="6537960" y="4823460"/>
            <a:ext cx="32004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61" name="Arrow 896"/>
          <p:cNvCxnSpPr/>
          <p:nvPr/>
        </p:nvCxnSpPr>
        <p:spPr>
          <a:xfrm flipH="1">
            <a:off x="2331720" y="4823460"/>
            <a:ext cx="2377440" cy="0"/>
          </a:xfrm>
          <a:prstGeom prst="line">
            <a:avLst/>
          </a:prstGeom>
          <a:ln w="15875">
            <a:solidFill>
              <a:schemeClr val="tx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62" name="Arrow 897"/>
          <p:cNvCxnSpPr/>
          <p:nvPr/>
        </p:nvCxnSpPr>
        <p:spPr>
          <a:xfrm>
            <a:off x="4343400" y="3680460"/>
            <a:ext cx="365760" cy="0"/>
          </a:xfrm>
          <a:prstGeom prst="line">
            <a:avLst/>
          </a:prstGeom>
          <a:ln w="22225">
            <a:solidFill>
              <a:schemeClr val="accent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63" name="Arrow 898"/>
          <p:cNvCxnSpPr/>
          <p:nvPr/>
        </p:nvCxnSpPr>
        <p:spPr>
          <a:xfrm flipV="1">
            <a:off x="5623560" y="2926080"/>
            <a:ext cx="0" cy="36576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9064" name="Arrow 899"/>
          <p:cNvCxnSpPr/>
          <p:nvPr/>
        </p:nvCxnSpPr>
        <p:spPr>
          <a:xfrm>
            <a:off x="5623560" y="4069080"/>
            <a:ext cx="0" cy="365760"/>
          </a:xfrm>
          <a:prstGeom prst="line">
            <a:avLst/>
          </a:prstGeom>
          <a:ln w="15875">
            <a:solidFill>
              <a:schemeClr val="accent5"/>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9065" name="Arrow 900"/>
          <p:cNvCxnSpPr/>
          <p:nvPr/>
        </p:nvCxnSpPr>
        <p:spPr>
          <a:xfrm>
            <a:off x="7315200" y="3680460"/>
            <a:ext cx="365760" cy="0"/>
          </a:xfrm>
          <a:prstGeom prst="line">
            <a:avLst/>
          </a:prstGeom>
          <a:ln w="15875">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9066" name="Text 901"/>
          <p:cNvSpPr txBox="1"/>
          <p:nvPr/>
        </p:nvSpPr>
        <p:spPr>
          <a:xfrm>
            <a:off x="2697480" y="2240280"/>
            <a:ext cx="1645920" cy="274320"/>
          </a:xfrm>
          <a:prstGeom prst="rect">
            <a:avLst/>
          </a:prstGeom>
          <a:noFill/>
        </p:spPr>
        <p:txBody>
          <a:bodyPr wrap="square" anchor="t" lIns="0" rIns="0" tIns="0" bIns="0">
            <a:spAutoFit/>
          </a:bodyPr>
          <a:lstStyle/>
          <a:p>
            <a:pPr algn="ctr"/>
            <a:r>
              <a:rPr sz="1100" b="0">
                <a:solidFill>
                  <a:schemeClr val="accent5"/>
                </a:solidFill>
              </a:rPr>
              <a:t>out</a:t>
            </a:r>
          </a:p>
        </p:txBody>
      </p:sp>
      <p:sp>
        <p:nvSpPr>
          <p:cNvPr id="9067" name="Text 902"/>
          <p:cNvSpPr txBox="1"/>
          <p:nvPr/>
        </p:nvSpPr>
        <p:spPr>
          <a:xfrm>
            <a:off x="2697480" y="4526280"/>
            <a:ext cx="1645920" cy="274320"/>
          </a:xfrm>
          <a:prstGeom prst="rect">
            <a:avLst/>
          </a:prstGeom>
          <a:noFill/>
        </p:spPr>
        <p:txBody>
          <a:bodyPr wrap="square" anchor="t" lIns="0" rIns="0" tIns="0" bIns="0">
            <a:spAutoFit/>
          </a:bodyPr>
          <a:lstStyle/>
          <a:p>
            <a:pPr algn="ctr"/>
            <a:r>
              <a:rPr sz="1100" b="0">
                <a:solidFill>
                  <a:schemeClr val="accent5"/>
                </a:solidFill>
              </a:rPr>
              <a:t>in</a:t>
            </a:r>
          </a:p>
        </p:txBody>
      </p:sp>
      <p:sp>
        <p:nvSpPr>
          <p:cNvPr id="9068" name="Text 903"/>
          <p:cNvSpPr txBox="1"/>
          <p:nvPr/>
        </p:nvSpPr>
        <p:spPr>
          <a:xfrm>
            <a:off x="7726680" y="3520440"/>
            <a:ext cx="685800" cy="320040"/>
          </a:xfrm>
          <a:prstGeom prst="rect">
            <a:avLst/>
          </a:prstGeom>
          <a:noFill/>
        </p:spPr>
        <p:txBody>
          <a:bodyPr wrap="square" anchor="ctr" lIns="0" rIns="0" tIns="0" bIns="0">
            <a:spAutoFit/>
          </a:bodyPr>
          <a:lstStyle/>
          <a:p>
            <a:pPr algn="l"/>
            <a:r>
              <a:rPr sz="1200" b="0">
                <a:solidFill>
                  <a:schemeClr val="tx1"/>
                </a:solidFill>
              </a:rPr>
              <a:t>peers</a:t>
            </a:r>
          </a:p>
        </p:txBody>
      </p:sp>
      <p:sp>
        <p:nvSpPr>
          <p:cNvPr id="9069" name="Card 904"/>
          <p:cNvSpPr/>
          <p:nvPr/>
        </p:nvSpPr>
        <p:spPr>
          <a:xfrm>
            <a:off x="8503920" y="1691640"/>
            <a:ext cx="3139135" cy="3931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201168" bIns="201168"/>
          <a:lstStyle/>
          <a:p>
            <a:pPr algn="l">
              <a:spcAft>
                <a:spcPts val="800"/>
              </a:spcAft>
            </a:pPr>
            <a:r>
              <a:rPr sz="1600" b="1" cap="none">
                <a:solidFill>
                  <a:schemeClr val="tx1"/>
                </a:solidFill>
                <a:latin typeface="+mj-lt"/>
              </a:rPr>
              <a:t>What it can do</a:t>
            </a:r>
          </a:p>
          <a:p>
            <a:pPr algn="l" marL="228600" indent="-228600">
              <a:spcAft>
                <a:spcPts val="600"/>
              </a:spcAft>
              <a:buClr>
                <a:schemeClr val="accent1"/>
              </a:buClr>
              <a:buChar char="•"/>
            </a:pPr>
            <a:r>
              <a:rPr sz="1300" b="0">
                <a:solidFill>
                  <a:schemeClr val="tx1"/>
                </a:solidFill>
              </a:rPr>
              <a:t>Cut one link, or a member off from its peers while its clients stay connected</a:t>
            </a:r>
          </a:p>
          <a:p>
            <a:pPr algn="l" marL="228600" indent="-228600">
              <a:spcAft>
                <a:spcPts val="600"/>
              </a:spcAft>
              <a:buClr>
                <a:schemeClr val="accent1"/>
              </a:buClr>
              <a:buChar char="•"/>
            </a:pPr>
            <a:r>
              <a:rPr sz="1300" b="0">
                <a:solidFill>
                  <a:schemeClr val="tx1"/>
                </a:solidFill>
              </a:rPr>
              <a:t>Take away one half of loss repair: NAKs or retransmissions</a:t>
            </a:r>
          </a:p>
          <a:p>
            <a:pPr algn="l" marL="228600" indent="-228600">
              <a:spcAft>
                <a:spcPts val="600"/>
              </a:spcAft>
              <a:buClr>
                <a:schemeClr val="accent1"/>
              </a:buClr>
              <a:buChar char="•"/>
            </a:pPr>
            <a:r>
              <a:rPr sz="1300" b="0">
                <a:solidFill>
                  <a:schemeClr val="tx1"/>
                </a:solidFill>
              </a:rPr>
              <a:t>Delay, jitter, reorder and duplicate a link</a:t>
            </a:r>
          </a:p>
          <a:p>
            <a:pPr algn="l" marL="228600" indent="-228600">
              <a:spcAft>
                <a:spcPts val="600"/>
              </a:spcAft>
              <a:buClr>
                <a:schemeClr val="accent1"/>
              </a:buClr>
              <a:buChar char="•"/>
            </a:pPr>
            <a:r>
              <a:rPr sz="1300" b="0">
                <a:solidFill>
                  <a:schemeClr val="tx1"/>
                </a:solidFill>
              </a:rPr>
              <a:t>Silence one member's votes and nothing else</a:t>
            </a:r>
          </a:p>
          <a:p>
            <a:pPr algn="l" marL="228600" indent="-228600">
              <a:spcAft>
                <a:spcPts val="600"/>
              </a:spcAft>
              <a:buClr>
                <a:schemeClr val="accent1"/>
              </a:buClr>
              <a:buChar char="•"/>
            </a:pPr>
            <a:r>
              <a:rPr sz="1300" b="0">
                <a:solidFill>
                  <a:schemeClr val="tx1"/>
                </a:solidFill>
              </a:rPr>
              <a:t>Not aeron:ipc, which never reaches an interface</a:t>
            </a:r>
          </a:p>
        </p:txBody>
      </p:sp>
      <p:sp>
        <p:nvSpPr>
          <p:cNvPr id="9070" name="Text 905">
            <a:hlinkClick r:id="rId3"/>
          </p:cNvPr>
          <p:cNvSpPr txBox="1"/>
          <p:nvPr/>
        </p:nvSpPr>
        <p:spPr>
          <a:xfrm>
            <a:off x="548640" y="5806440"/>
            <a:ext cx="11094415" cy="365760"/>
          </a:xfrm>
          <a:prstGeom prst="rect">
            <a:avLst/>
          </a:prstGeom>
          <a:noFill/>
        </p:spPr>
        <p:txBody>
          <a:bodyPr wrap="square" anchor="t" lIns="0" rIns="0" tIns="0" bIns="0">
            <a:spAutoFit/>
          </a:bodyPr>
          <a:lstStyle/>
          <a:p>
            <a:pPr algn="l"/>
            <a:r>
              <a:rPr sz="1400" b="1">
                <a:solidFill>
                  <a:schemeClr val="accent1"/>
                </a:solidFill>
              </a:rPr>
              <a:t>github.com/FredrikJDahlberg/faulteron</a:t>
            </a:r>
            <a:r>
              <a:rPr sz="1400" b="0">
                <a:solidFill>
                  <a:schemeClr val="accent5"/>
                </a:solidFill>
              </a:rPr>
              <a:t>   Apache 2.0  ·  Linux 5.18 or later  ·  IPv4</a:t>
            </a:r>
          </a:p>
        </p:txBody>
      </p:sp>
    </p:spTree>
  </p:cSld>
  <p:clrMapOvr>
    <a:masterClrMapping/>
  </p:clrMapOvr>
</p:sld>
</file>

<file path=ppt/theme/theme1.xml><?xml version="1.0" encoding="utf-8"?>
<a:theme xmlns:a="http://schemas.openxmlformats.org/drawingml/2006/main" name="seqeron">
  <a:themeElements>
    <a:clrScheme name="seqeron">
      <a:dk1>
        <a:srgbClr val="15202B"/>
      </a:dk1>
      <a:lt1>
        <a:srgbClr val="FFFFFF"/>
      </a:lt1>
      <a:dk2>
        <a:srgbClr val="0F2A37"/>
      </a:dk2>
      <a:lt2>
        <a:srgbClr val="EEF2F5"/>
      </a:lt2>
      <a:accent1>
        <a:srgbClr val="0D5C78"/>
      </a:accent1>
      <a:accent2>
        <a:srgbClr val="B0601C"/>
      </a:accent2>
      <a:accent3>
        <a:srgbClr val="D9EAF0"/>
      </a:accent3>
      <a:accent4>
        <a:srgbClr val="F6E5D4"/>
      </a:accent4>
      <a:accent5>
        <a:srgbClr val="56636F"/>
      </a:accent5>
      <a:accent6>
        <a:srgbClr val="C9D2DA"/>
      </a:accent6>
      <a:hlink>
        <a:srgbClr val="0D5C78"/>
      </a:hlink>
      <a:folHlink>
        <a:srgbClr val="56636F"/>
      </a:folHlink>
    </a:clrScheme>
    <a:fontScheme name="seqeron">
      <a:majorFont>
        <a:latin typeface="Georg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seqeron architecture briefing</dc:title>
  <dc:subject/>
  <dc:creator>Fredrik Dahlberg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
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E9E6C67-88EB-4A70-9695-500350344A6B}">
          <p14:sldIdLst>
            <p14:sldId id="256"/>
            <p14:sldId id="257"/>
            <p14:sldId id="258"/>
            <p14:sldId id="259"/>
          </p14:sldIdLst>
        </p14:section>
        <p14:section name="Aeron and Aeron Cluster" id="{CC9E2E8E-A891-4480-98A7-BF7211D57E2A}">
          <p14:sldIdLst>
            <p14:sldId id="260"/>
            <p14:sldId id="261"/>
            <p14:sldId id="262"/>
          </p14:sldIdLst>
        </p14:section>
        <p14:section name="seqeron overview" id="{7A79A375-ACBC-4533-B8CA-84016A1E7CD8}">
          <p14:sldIdLst>
            <p14:sldId id="263"/>
            <p14:sldId id="264"/>
            <p14:sldId id="265"/>
            <p14:sldId id="266"/>
            <p14:sldId id="267"/>
            <p14:sldId id="268"/>
          </p14:sldIdLst>
        </p14:section>
        <p14:section name="Gateways and applications" id="{017FF6B3-4D26-4B12-8075-32301AABB82F}">
          <p14:sldIdLst>
            <p14:sldId id="269"/>
            <p14:sldId id="270"/>
            <p14:sldId id="271"/>
            <p14:sldId id="272"/>
            <p14:sldId id="273"/>
            <p14:sldId id="274"/>
          </p14:sldIdLst>
        </p14:section>
        <p14:section name="Failures and verification" id="{CA891CD1-8562-4E22-8D04-F4711E041906}">
          <p14:sldIdLst>
            <p14:sldId id="275"/>
            <p14:sldId id="276"/>
            <p14:sldId id="277"/>
          </p14:sldIdLst>
        </p14:section>
        <p14:section name="Building on Aeron" id="{0445D37B-8BDB-452C-8B74-19A63EFB1AAD}">
          <p14:sldIdLst>
            <p14:sldId id="278"/>
            <p14:sldId id="279"/>
          </p14:sldIdLst>
        </p14:section>
        <p14:section name="Appendix" id="{6D15A7B2-2E36-4D23-9AD5-A51A63356363}">
          <p14:sldIdLst>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 id="30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seqeron is the sequencing tier: an Aeron Cluster replicated state machine that gives messages from any number of producers one global, gap-free total order, plus the replay service and client library that deliver that order to every consumer. The row of cells is the deck's motif: the log, numbered by globalSeqNo.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one-minute version. seqeron gives every producer's messages one global, gap-free order and every consumer the same complete history on its own host. Its correctness properties are built in and tested against a live cluster. Confirmed ingress is exactly once while the producer runs; a restarted producer starts with nothing pending, and leader-only replies are at least once across a failover, deduplicated by key. A client programs against one façade per kind and writes only its own logic: the session, recovery, confirmation and failure handling are behind it, the same in Java, C++ and C#. It can be evaluated hands-on: a release runs a one-member cluster, the examples cover each kind of client and measure a round trip on your own hardware, and the failure harnesses run against a live cluster. What a production deployment needs beyond that, performance figures, a bounded archive, wire security and disaster recovery, is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sequencer architecture: services never coordinate with each other. Two replicas that apply the same stream hold the same state; a hot standby is a replica that does not publish; an audit is a replay; a restart is a replay from a known point. The sequencer then becomes the component everything depends on, so seqeron makes it a Raft-replicated state machine that survives the loss of a minority of nodes and continues under a new leader with no gap and no renumbering. Payloads are opaque: the cluster copies them through unopened.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alternatives are compared on properties. Kafka on one partition gives a total order and mature tooling, but no clock that advances while producers are silent and no active/standby producer election. Aeron without clustering gives reliable UDP and IPC transport with recording and replay, but no replication: the sequencer is one process and a single point of failure. Aeron Cluster used directly gives the same consensus and log, but each cluster then rebuilds the queue, replay, the election, confirmed ingress and the fences; the slide Aeron Cluster used directly is that list. A database sequence is familiar and transactional, but sequences skip values on rollback, so the order is not gap-free, and every message is a database write.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member runs a consensus module, an archive and a clustered service container. A client opens a session and sends on ingress to the leader; responses come back on egress. The leader appends each message to the Raft log, a stream every member's archive records; followers report append positions and an entry commits at a majority. Every cluster member's service consumes committed entries in the same order. Session events, timers and the leader's timestamp travel in the log, so time is deterministic too. A restarting member normally loads a snapshot and replays the log after it; seqeron disables snapshots, as the Decisions slide in the appendix covers. Aeron's transport model, media driver and archive are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land: everything in the rest of the talk is built from these three. Explicit back-pressure lets the queue be reliable but bounded. Local recording with replay by position makes every member a complete history server. A replicated log with deterministic time makes the order, the clock and the gateway election the same on every node. Aeron, Agrona and SBE are open source under Apache 2.0.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case for seqeron to an Aeron user: what a team building directly on Aeron Cluster writes itself, row by row. An offer result says the frame reached the leader's ingress, nothing more, and a failover loses whatever the old leader had not committed while the session survives. The archive replays bytes from a position and knows nothing of gaps or of catching up, so joining the live stream from history without a gap is a state machine to design and prove: ReplayerRecovery, with seeded property tests, in each language. Cluster timers exist only inside the clustered service, so a client has no clock while producers are silent. Aeron has no notion of an active/standby producer pair, and no way for a client to know its view of the log is stale. Its cluster clients are Java and, trailing it, Aeron.NET; the C++ one here is written against the wire protocol, and C# runs on Aeron.NET's with every timeout set explicitly.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member is one JVM: consensus module, sequencer, embedded media driver, archive and Replayer. Live data reaches a client straight off the queue, untethered. History comes from the member's own recording through the Replayer on stream 201, with requests on 202 and control replies on 203. Ingress is IPC when this member leads and UDP otherwise. Other members run the same pipeline and produce a byte-identical queue. The client tier is Java, C++ and C#, with C# deployed on Windows too; the member is Java 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IngressPublisher wraps the producer's own encoding in an Unsequenced frame and offers it. 2. The leader appends it to the Raft log; it commits at a majority. 3. Every cluster member's sequencer validates it and assigns the next globalSeqNo and consensus timestamp. 4. Every archive records it. 5. Each client reads it off its local queue, checks continuity, dispatches. 6. The producer sees its own frame on its queue; only then is the message known to be sequenced. A cold start runs steps 5 and 6 against a replay first.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members apply the same committed log in the same order with the same state, so their queues are byte-identical frame for frame. Each archive therefore holds complete history: no cross-node replication of recordings and no leader-only archive. The queue is created once at start and never re-created on a leadership change, so a recording is one continuous run across every leader tenure. The offer is reliable because a dropped frame is a permanent hole, and bounded because only the archive, the one tethered subscriber, can hold it back. A slow archive that still advances is never timed out. One that makes no progress for 200 ms raises the stall gauge, and after 1 s the member exits with code 70 rather than throw: a throwing cluster callback has already had its log position advanced.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Consumers read the queue directly and untethered: one that falls a window behind is dropped by its driver within about 0.2 s and heals by replay. History for a cold start or a gap is served by the co-located ReplayerService; nothing reads the archive except through it. It serves only the active recording, which holds the whole log because every member start replays from globalSeqNo 1. The Replayer checks nothing itself: each client checks that its first frame is globalSeqNo 1 and that a resume opens on the frame it asked for, and stops otherwise. Four replays at once; a slot frees when its replay's publication leaves the driver, at once when the client closes its replay subscription, within the driver's 10 s liveness timeout when the client died, below the client's 60 s recovery-stall fence. While the queue's recording trails the queue by more than a quarter of the publication window, a new replay starts only when none is running: replays compete with the recorder for the disk, and the recorder is what holds the sequencer back. seqeron_replayer_throttled_requests_total counts the requests held for that reason, and a member warns at start on Linux when its Aeron directory is not on tmpfs. Control replies are retried briefly and dropped, never blocked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210, two families. The application family carries an opaque payload named by payloadId: Unsequenced on ingress, Sequenced on the queue. The system family is seqeron's own vocabulary, named by systemEventType at the same offset 16. Every field is at the same offset in all eight templates, so a consumer tracks continuity without branching on message type. sessionId is overwritten by the sequencer with the session the frame arrived on; the other ingress fields are copied. Consumers split by family first, then dispatch on (payloadId, templateId), never templateId alone. On the wire the 8-byte SBE message header comes first and the payload's 2-byte length prefix after the header, so a frame carries 8 + 18 + 2 = 28 bytes besides its payload on ingress, and 8 + 34 + 2 = 44 on the queue.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live frame ahead of the next expected number clears isCaughtUp and requests a resume at the position where the last delivered frame ended. The resumed replay's first frame must be the expected number; if not, the recording does not match the positions the client holds, and the client stops. Live frames past the gap go into a bounded FIFO, 65,536 frames or 16 MiB, and drain when the replay reaches them, so recovery ends without a second gap; past either bound it drops them and resumes again at its last delivered frame. A replay with no progress for 5 s is requested again. A cold start is the same walk from the start. All of it is ReplayerRecovery, a pure state machine with case-for-case tests and seeded property tests in Java, C++ and 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gateway is an edge producer deployed as an active/hot-standby pair named in the topology; the cluster designates the active instance. An application runs one instance on every member, and a member can host several applications; LeadershipChanged already picks one instance of each, so only the one on the leader's host publishes. Or it runs remote, as the one instance on its own host: its gate opens once caught up, whoever leads, and it submits over UDP. Nothing elects between two remote instances, so a remote service that needs a standby is a gateway. Both façades run one single-threaded duty cycle on the caller's thread: doWork() returns a work count for the caller's idle strategy. The client tier starts no threads, and dispatch and confirmed publish allocate nothing once warm, which the C# suite tests; Java and C++ have no such test. The deployment is declared in one XML topology document that clusterctl load-topology puts on the log.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are from getting-started.md, trimmed to seqeron's part: connecting to the media driver is one Aeron call before them, and the idle strategy is Agrona's. The consumer is one object, ReplayerStreamReceiver, and one poll per duty cycle: it asks its member's Replayer for the history, delivers it, and switches to the live queue when the two meet, every frame once and in globalSeqNo order. The producer takes a façade, here Application: it holds the cluster session, follows the stream, confirms its own messages and resends what a failover lost, and opens its gate only on the leader's member, so the loop is the application's own logic. Published means placed: the message is sequenced when it comes back through onSequenced. onFenced means stop: the façade has already closed the gate and released the session, and the examples exit with 70, the repository's convention for fenced, restart me. Nothing here starts a thread: doWork() and poll() return a work count for the caller's idle strategy. C++ and C# have the same façades; C# takes an options class where Java takes a builder.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tape left to right. The topology rows arrive; the last one has remaining 0, which is the completeness edge, and the sequencer synthesizes GatewayActive for each rank-0 instance. GW-A announces itself with GatewayStarted, which binds its cluster session, and opens connections. When A's session closes, through a crash, network loss or shutdown, the sequencer designates B. B's GatewayStarted carries a first connection id above the highest it saw, and a consumer treats it as closing every connection still open under the pair, since a crashed instance never closes them. B rebuilt A's connections from the log while it was a hot standby.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application instance records a request as outstanding from its sequenced request until its sequenced reply. Only the leader's instance dispatches; it replies under the requester's sourceId and connectionId so the originating gateway can route it. The request is discharged when the reply is sequenced, not when it is sent. Every LeadershipChanged closes the gate, including one naming the same member, because a reply sent during the election may have been lost with the old leader's uncommitted log. A newly opened gate dispatches every outstanding request in globalSeqNo order. Delivery is at least once across a failover; a reply that is a pure function of its request is byte-identical on re-emission and deduplicated by key.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send returns once the frame is on the leader's ingress publication; the cluster confirms nothing. Frames the old leader had not committed are lost, and the session survives, so neither side sees a fault: about 5,500 frames at 100 µs pacing in the failover harness. PendingSends holds each placed frame until the producer's own queue shows it, matched by cluster session. A LeadershipChanged with a newer term identifies exactly which were lost: the newest frames stamped with the old term that have not appeared. Nothing new is placed until they are resent, oldest first. Each frame is then sequenced exactly once, in order. The limit: this is in memory, so a restarted producer or a promoted standby starts with nothing pending, and a replaced session or a superseded gateway instance drops what was pending.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sequencer sequences SnapshotStarted as a round's cut, on an operator request or the policy interval. Every instance of a participating source serializes its state at that cut into its own local file. The instance that may publish submits SnapshotEnd with record count, length and CRC32C. Every instance compares its own file with the sequenced end and fences on a difference, which also makes each round a divergence check across instances; a match confirms the file, which replaces every older one. A restarting instance restores its confirmed file once a replay from the file's cut position opens on that cut, and replays only what follows; with no such file it replays from 1. The Replayer holds no snapshot state. This shortens an application's restart, not a member's.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table top to bottom. Note what is absent: there is no recovery procedure that is not a replay. globalSeqNo, the gateway list and the active instance are all functions of the log. The timings are the defaults. A follower starts an election after 200 ms without a leader heartbeat; how long the election takes is not measured. A member exits after 1 s of back-pressure with no recording progress, and a stopped recording is caught by the 1 Hz heartbeat's liveness check. A slow consumer's driver drops it within about 0.2 s. A missed frame shows at the next frame, which the heartbeat bounds at about a second. The cluster closes a silent client's session after the 1 s session timeout, which is what promotes a crashed gateway's standby. A fence on a mismatch is immediate; the stall fences wait 20 s on the queue and 60 s in recovery, and only on an instance that acts. A fenced gateway's standby takes over at once, but nothing replaces a fenced leader's application replica: that application's leader-only work waits until the replica restarts and catches up, or leadership moves. A gateway host's relay moves after 3 s, three heartbeats, with no frame.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failure in the table has an end-to-end harness against a live cluster. chaos-runner injects randomized faults from a printed seed and ends by checking every member's recording is gap-free and at the same high mark; every member kill also kills the media driver its clients share, and they must exit. Network faults are injected with eBPF against the containerized cluster. The harnesses drive the Java client, and the C# client in two of its own. Beneath them, the Java, C++ and C# unit suites test the same decisions case for case, and their property tests draw the same fault sequence from a seed. The C++ client is covered by its unit suite alone: no harness runs it against a live cluster. Killing a standalone aeronmd is not exercised either.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exporter runs beside each member, sharing its Aeron directory, and serves the member's counters over HTTP in Prometheus text format, read live from the CnC file; it needs no cluster session. Prometheus pulls every exporter from a static target list, and its own up metric is the member's reachability. Grafana is provisioned from files with one dashboard: a panel per metric family plus node apply lag, now minus the last ClusterHeartbeat, which is the one place a member publishing a contiguous but stale queue shows up. Clients publish counters too: recovery stalled, a gateway instance's open connections, an instance's confirmed snapshot round, and an application's own in type ids 5201 to 5297, labelled by member and client. Not provided: alert rules, service discovery, authentication on the metrics endpoint.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a behavior of Aeron that is correct by its own contract and easy to build on wrongly, and each is already on a slide. Confirmed ingress answers the first; the queue's bounded, reliable offer the fourth and fifth; the replay sequences the seventh. A cluster callback that throws has had its log position advanced by Image.boundedControlledPoll and AgentRunner keeps the agent alive, so the frame is dropped and nothing stops; a member that cannot continue exits with code 70 instead. The client side is the same: Image.poll gives a handler's exception to the error handler and advances, so a client records the fault and raises it from its own duty cycle. CLOSED from an ingress offer is an election in progress, not a dead session. Aeron.NET's defaults are Aeron's, whose new-leader timeout is shorter than an election, which csharp-client-test.sh catches on every pull request.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slide presented; the appendix is backup, for questions or a meeting that runs long. Open the floor. The decisions slide, after failover at the start of the appendix, is the natural place to return to.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 tier's own failover, the Raft election and a member that exits rather than lose its recording, is on the failure model slide. These are the client tier's. Ingress: a co-located producer uses IPC to its own member and UDP to the leader otherwise; Java and C# replace the session when leadership moves off the co-located member, C++ swaps only its publication and follows a follower's redirect. A send spins through an election rather than dropping the frame. A session the cluster closed is replaced, one attempt a second, and the instance fences after 20 s without one; a gateway instance that announced itself on the lost session fences at once, since its sibling may already be designated. PendingSends resends what the old leader lost, exactly once and in order. The gateway pair and the leader-only work of applications move with the log. A gateway host's relay moves to the next member's archive and resumes at the same position, valid because every member's active recording starts at globalSeqNo 1. A client's own Replayer, queue and media driver have no alternative: an instance that acts fences. A fenced gateway instance's standby takes over at once; nothing replaces a fenced leader's application replica, so that application's leader-only work waits until the replica restarts and catches up, or leadership moves to another member.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the discussion here. The most consequential is no cluster snapshots: it buys complete local history on every member and costs member recovery time and archive size that grow with uptime; the 1 Hz heartbeat alone is about 86,400 frames a day. The single stream is the other: one order for everything with no coordination, at the price of one sequencer's throughput for all producers.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members is bounded by the 70-port cluster block. Payloads above 8,884 bytes are split by the application, which keeps a frame within one IPC MTU. Four concurrent replays per member, one while the recording trails the queue; more wait. Nothing on the wire is authenticated or encrypted: the network is the access control, so the port block belongs inside a trusted network. No latency, throughput or sizing figures have been measured on production hardware yet. A change to seqeron's own protocol moves every member, gateway host and client together on purged archives; applications upgrade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what the design and the harnesses establish. Latency and throughput have never been measured on production hardware; a deployment benchmarks on its own, at its peak rather than its daily volume. A full day of Nasdaq's US ITCH feed peaks at 988,711 messages in the closing second, about 65 times its 15,162 a second over regular hours; at the same ratio, the Nordic cash-equity market's estimated average of 800 a second (the sizing slide) peaks near 50,000 a second. That is an estimate, not a requirement anyone has set. Failover starts after 200 ms without a leader heartbeat by default (sequencer.leaderHeartbeatTimeoutMs); how long the election and the producers' resend take is not measured. Data loss is nil for any minority's crash, and for every member process crashing, because the page cache survives a process; a power loss across a majority of hosts before write-back can lose committed messages, since nothing is fsynced.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message, every member writes the Raft log entry and the queue frame, each in a 32-byte-aligned Aeron frame with a 32-byte header. The log entry carries Aeron Cluster's 32-byte session header and seqeron's 28-byte ingress envelope; the queue frame carries the 44-byte sequenced envelope. The illustration is an estimate of Nasdaq's Nordic cash-equity market on INET, and arithmetic, not a measurement. Nasdaq's May 2024 statistics report 611,613 share trades a trading day across the Nordic and Baltic exchanges. Order messages per trade (entries, amends, cancels) were measured at 11 to 16 on the 50 most-traded Nordic stocks in 2010 to 2012; assuming 40 today gives about 25 million messages a day, some 800 a second averaged over the trading day, with the open and the close far above that. The payload is 32 bytes: a full day of Nasdaq's US ITCH 5.0 feed averages 28.5 bytes a message, and Nordic OUCH 5's order entry messages, weighted by that day's mix, 28 to 37 (Enter Order 41 bytes before optional fields, Replace 25, Cancel 15). That is 128 plus 128 bytes a message: 6.4 GB a day on each member, 1.6 TB over 250 trading days. At these sizes the 32-byte alignment dominates: a 64-byte payload would make it 8 GB. Derivatives, ETFs and warrants are not included. Every start of a member replays the log from globalSeqNo 1 into a new queue recording, and the earlier recordings stay on disk unread, so restarts add a full copy each. A member's restart time is its Raft log divided by the replay rate, which is not measured. Cluster snapshots and truncation (snapshot.md, section 10) would bound both, and are designed, not built.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member host runs one JVM and needs local disk for the archive and the Raft log, and on Linux a tmpfs Aeron directory. Placement follows from Raft: a member per failure domain, so no single rack, power feed or zone holds a majority. That is also the mitigation for the no-fsync durability model, which loses committed messages only when a majority of hosts lose power together. Spreading members further apart adds the round trip between them to every message, since a commit waits for a majority. Archives can be copied off site with Aeron Cluster Backup, which nothing in seqeron exercises yet. The rest of disaster recovery is not designed: whether a second site is a stretched cluster or a standby, how a restore is verified, and the RTO and RPO for losing a site, are all open.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threat model is crash faults. The cluster checks that a message is well formed, not who sent it, and authentication belongs at the system's external edges. The one identity check is the gateway rule S-6: once designated, an instance is held to the cluster session it announced itself on. Everything else follows from the network: whoever reaches the port block can submit, including the operator's events, read and delete recordings, and send Raft traffic. Payloads are stored unencrypted on every member and never deleted short of a purge, so personal data in a payload cannot be erased individually.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three matter most for a production deployment: unmeasured performance, an archive that grows without bound, and history lost on a framing protocol upgrade. A site loss would be covered by copying the archives off site with Aeron Cluster Backup, which nothing in seqeron exercises yet. Several clusters can scale out throughput, but nothing orders messages across them.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for the whole deck. Rule ids cite seqeron-protocol-spec.md, whose letters are F frame, T transport, S sequencer, P payload, C registration, R replay, V versioning, E encoding and A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publication writes into a log buffer: a memory-mapped file of three rotating terms. Offering is a copy into the current term plus an ordered write, with no lock and no system call. Position is the byte offset into the stream; flow control, loss detection, recording and replay all speak in positions. When the slowest subscriber the publication must wait for is a full window behind, offer returns back-pressured and the publisher decides what to do. Tethered versus untethered matters to seqeron: its archive is the queue's one tethered subscriber; every client is untethered.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Embedded in a process or standalone (aeronmd). Clients reach it through the command-and-control file in a shared Aeron directory. Conductor: client commands, log buffer lifecycle, counters, timeouts. Sender: reads publication terms, sends data frames, retransmits on NAK, respects the receivers' window. Receiver: reassembles frames into an image per remote publisher, NAKs gaps, sends status messages that advertise the window. Over IPC there is no sender or receiver: the subscriber reads the publisher's log buffer directly. Each seqeron member embeds its driver; clients on the host attach to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archive records any stream to segment files and keeps a catalog of recordings with ids and start and stop positions. A replay starts from any position onto any channel and stream as a new session, and a replay of a recording that is still being written follows it live. The RecordingPos counter shows how far a recording has got: seqeron's queue publisher watches exactly that counter to decide whether its archive is slow, stalled or gone.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Sequencer owns globalSeqNo, the gateway list and session bindings, promotion deadlines and the snapshot policy; it validates and encodes every frame and hands each to a sink in globalSeqNo order, the event's own frame first and whatever it triggered behind it. SequencerService is the ClusteredService adapter: the sink is the queue, and it holds no replicated state and decides no frame order. QueuePublisher is the reliable-offer discipline for the queue. The rule underneath all of it is spec S-3: every reject decision and every byte of every synthesized frame is a function of the committed log alone.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carry sourceId, connectionId and sessionId of −1 and the consensus timestamp. ClusterHeartbeat is driven by a cluster timer, so it is the same on every member and advances while every producer is silent, which is exactly when a watchdog needs a clock. LeadershipChanged is emitted per term even when the same member wins again. GatewayActive is the election's decision. SnapshotStarted is the cut of an application snapshot round.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Requests on stream 202, replies on 203, replay data on 201. A client addresses itself by a clientId it draws once from its media driver, so no two clients share one. Every request carries a requestId the client increments on every send, including an unchanged resend, and the replayer echoes; a client ignores any reply that is not for its current request. The client detects completion by reaching catchUpPosition, not by the replay image closing, because a bounded replay of an active recording does not close at the bound. There is no heartbeat and no completion message: the Replayer frees a slot when the replay's publication leaves the driver's counters, which the client's closing its replay subscription does at once, and the driver's liveness timeout does for a client that died.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Replayer is ready once its active recording is visible. A client's cold start asks for the active recording FROM_START, under the clientId it drew from its media driver; the Replayer starts a replay bounded at the recording's end as it is now and answers Replaying with the replay session and catchUpPosition, echoing the requestId. The client subscribes to stream 201 for that session only, so it never holds up another client's replay. Its first frame must be globalSeqNo 1, or the client stops: the recording is short. Live queue frames past the end arrive meanwhile and go into the retained FIFO. Completion is by position, not by the image closing: a bounded replay of a recording still being written does not close at its bound. Closing the replay subscription frees the slot; the FIFO drains, de-duplicated on globalSeqNo, and the client is caught up. An empty recording answers NO_REPLAY_NEEDED and the client follows the queue at once.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slow consumer is dropped by its driver and misses 105. Frame 106 arrives ahead of the next expected number: isCaughtUp() clears, 106 is retained, and the client asks to resume at the position where 104 ended, the last frame it delivered. The resumed replay's first frame must be 105, the anchor. If it is any other frame, or the Replayer refuses the position with NO_REPLAY_NEEDED, the client stops: positions follow from the frames, and the recording changes only with the member, whose restart takes the client's driver with it. A position not recorded yet is answered ReplayPending. Live frames keep arriving into the FIFO, bounded at 65,536 frames or 16 MiB; past either bound the client drops them and resumes again at its last delivered frame when the replay ends. On reaching catchUpPosition the client closes the replay, the FIFO drains 106 onward and the client is caught up, with no second gap.</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rule: the lowest preference rank among siblings, excluding the instance that lost the role, so a pair whose instances were all down converges on whichever starts first. The activation timeout arms at the GatewayActive's timestamp plus 5 s on the consensus clock and is evaluated on each heartbeat, which hands over every overdue deadline, each gateway at most once, so repeated failures move down the list. Being superseded is not a failure: the instance closes its edge, keeps its session and keeps following the queue so it can be designated again. From the GatewayActive that superseded it the sequencer sequences nothing from its session (rule S-6), so it drops what it still had unconfirmed, and its session closing later promotes nothing. A fence is different: the instance no longer trusts its own view: its façade closes the edge through onStandby, releases its session, reports once and does nothing more, which promotes the standby at the fence. The application decides when to exit; the repository's convention is code 70.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application runs one instance on every member, attached to that member's media driver, and a member can host several applications, each with its own sourceId and client id. Every instance follows its own member's queue and so holds the same state. LeadershipChanged picks the instance that acts: only the one on the leader's member publishes, over IPC ingress to its own consensus module, and every leadership change closes its gate, so a reply lost in the election is dispatched again. Remote, the application is the one instance on its own host, with no member there. Like a remote gateway's host, that host runs a local ReplayerService whose QueueRelay copies a member's queue onto the host's own queue and archive. The application's gate opens once caught up, whoever leads, and it submits over UDP. Nothing elects between two remote instances, so a remote service that needs a standby is a gateway.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gateway or application host, with clients but no member, runs its own ReplayerServer with a media driver and archive. One archive replay over UDP follows a member's active recording live and republishes it on the host's own queue. QueueRelay republishes only the frame after the last one it published, so the host's queue is the log frame for frame whichever member it came from. After 3 s with no frame (three heartbeats), or a failed read, it fails over to the next member archive in replayer.archiveEndpoints, round robin; any member serves, leader or not. It resumes at the same recording position, valid because every member's active recording starts at globalSeqNo 1 and positions follow from the frames; if the frame there is not the next one it replays that recording from its start and skips what it has. A restarted relay relays from 1 into a new local recording.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 closes a client's session when its keep-alives stop: a paused process, a lost quorum. Closing the session a designated instance's GatewayStarted bound is what promotes its sibling, and the queue carries no frame for that close, so a new session could act before the instance knew whether it had been superseded. That instance fences. Every other client, an application, a standby, or an instance designated after its session was lost, opens a new session the way it opened the first: an attempt at most once a second, advanced a step per doWork(), so the duty cycle never waits on an unreachable cluster. It fences only if no session opens within 20 s and the attempt then under way fails. What was unconfirmed on the old session is dropped, not resent. session-replace-test.sh drives it through a paused client, a lost quorum and a paused gateway pair, in Java.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topology turns rounds on: SnapshotPolicyRegistered sets the interval, 0 meaning operator requests only, and each source's row says whether it takes part, which its façades read and the sequencer does not. The sequencer decodes the policy alone and answers a SnapshotRequested with SnapshotStarted at the next globalSeqNo, as a GatewayActive follows a GatewayActivationRequested. SnapshotEnd belongs to the frame's sourceId, one per application or logical gateway per round; the sequencer checks only its format, since rejecting a late or superseded end would fence its producer. Each instance confirms its own file against the sequenced end, and the file's trailer records the round's cut, which a restore checks against the recording. The Replayer holds no snapshot state, and the records themselves never enter the log.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reply echoes the requestId; a client ignores any reply that is not for its current request. ReplayPending means the request is pending or the Replayer cannot start it yet: four replays at most, one while the queue's recording trails the queue by more than a quarter of the publication window, not ready before its active recording is visible, a resume position the recording has not reached yet, or an archive call that threw, which is counted. The client's resend every 500 ms is the retry, and a pending request starts once a slot frees. A resume the Replayer refuses, NO_REPLAY_NEEDED for a position, means the recording does not match the positions the client holds, and the client stops, as it does when a resume opens on the wrong frame. A replay that stops under the client, no progress for 5 s or an image closed short of catchUpPosition, is requested again; a resume re-anchors. Nothing dispatched for 30 s raises the recoveryStalled gauge; a façade fences RECOVERY_STALLED after 60 s on a designated instance or the leader's replica, above the driver's 10 s liveness timeout that frees a dead client's slot.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client whose façade has a SnapshotListener restores before it dispatches anything. It opens its confirmed file, whose trailer records the round's cut: globalSeqNo, recording position and timestamp. It replays from that position, and the first frame must be the round's SnapshotStarted at that globalSeqNo and timestamp. Any other frame, or NO_REPLAY_NEEDED, means the file was cut from another log, after a purge for example, and it gives way to an older file; with none left the client walks from globalSeqNo 1. ReplayPending holds it while a restarted member re-records. The records are read from the local file, at most 1,024 per poll. A format or header version the build does not read, or records that fail the trailer, halt recovery: restoreFailure, and the façade fences SNAPSHOT_UNRESTORABLE. The resume after it is an ordinary one, anchored on the cut, which is dropped as already delivered.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round starts on an operator's SnapshotRequested or when the policy interval elapses at a heartbeat; either way the sequencer synthesizes SnapshotStarted, and its globalSeqNo is the cut. Every instance of a participating source serializes its state there into its own directory, standby and follower replicas included. Only the instance whose gate is open, the designated gateway instance or the leader's replica, submits SnapshotEnd, and the sequencer checks only its format. Every instance then compares its own serialization with the sequenced end; one that differs no longer holds the state the log implies and fences; a match confirms its file, which is forced to disk, renamed &lt;round&gt;.snapshot and replaces every older one. A new round supersedes this one: an end not yet placed is abandoned.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seqeron's vocabulary, not any edge protocol's. clusterctl load-topology puts the list on the log, one GatewayRegistered per instance; an instance finds its own row by name and publishes nothing before it has. GatewayActive is never submitted: the sequencer synthesizes it, and an operator's activate is a request it validates first. The designated instance answers with GatewayStarted, which binds its cluster session and carries the first connection id it will allocate, above any it saw, so ids never repeat across a restart. Connection frames are the generic half: ConnectionOpened carries the producer's own connection data, opaque to the cluster, so a standby can map an id to its session before that connection's first message. The sequencer keeps no connection state: a consumer treats GatewayStarted as closing the pair's open connections. S-6 is condition 10 of validation, and every input to it comes from the log.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application brings its own protocol in the application family. payloadId names one schema or encoding, allocated by the deployment from 2 up; 0 is invalid and 1 is retired. The producer encodes the payload once and nothing re-encodes it, so any encoding works and its versioning is the application's own. The table is what Application does on the application's behalf, in every language. It submits application frames only while its leader gate is open; a reply goes out under the requester's sourceId and connectionId so the gateway that took the request can route it. Every frame on the queue also passes confirmed ingress, which matches the replica's own frames by cluster session. LeadershipChanged reaches the gate and confirmed ingress, never the application directly; the listener sees only the gate's edges. The consumer rules keep applications independent: a consumer skips what it does not recognise, and since continuity rests on globalSeqNo, skipping can neither create nor hide a gap. A PayloadIdRegistered row in the topology is a label for SbeLogPrinter, not permission; a per-node allowlist would let nodes diverge. The snapshot frames it reads and submits are on the snapshot protocol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fence is reported once through onFenced. Before it, the façade closes what lets the instance act, a serving gateway's edge through onStandby or an application's open gate through onLeadershipChanged(false), and releases its cluster session, so a designated instance's standby is promoted at the fence. At the end of that duty cycle it releases its queue and replay subscriptions, so a fenced instance holds no Replayer slot. Exiting is the application's decision; the examples exit with 70, the repository's convention for fenced, restart me. The queue-stall timer runs on local monotonic time because consensus time arrives in the very heartbeats being watched for. A replay is not a stall: the queue-stall check is suspended while not caught up, and the recovery-stall fence covers that time, armed only after the first catch-up because a cold start has no useful bound. 60 s exceeds the driver's 10 s liveness timeout, the longest a dead client holds a replay slot, so a correct Replayer cannot trip it. A stall fences only an instance that acts, the designated gateway instance or the leader's replica; any other logs it once, keeps following the queue and logs when it clears, since it cannot begin to act while stalled. A lost session fences only a gateway instance that announced itself on it; the slide on lost sessions covers the rest. Losing the media driver is not a fence; it raises from doWork().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faulteron is the injector behind the network-fault harnesses on the verification slide, in a repository of its own under Apache 2.0. A privileged container joins a member's network namespace and attaches two tc programs to its interface, one at egress and one at ingress, which share one rules map. The CLI writes rules into that map with bpftool. Each UDP packet goes to the most specific rule matching its peer, port, Aeron frame type, retransmission, or SBE schema and template; the rule drops a percentage, duplicates a percentage of the rest, and stamps a delay that the fq qdisc holds it to, so delay applies only on the way out. Process kills and pauses cannot produce these faults. Traffic over aeron:ipc never reaches an interface, so no rule touches it. Linux 5.18 or later, IPv4. seqeron's failover workflow runs its tests at a pinned commit.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31520" y="1828800"/>
            <a:ext cx="10698480" cy="1280160"/>
          </a:xfrm>
        </p:spPr>
        <p:txBody>
          <a:bodyPr/>
          <a:lstStyle/>
          <a:p>
            <a:r>
              <a:rPr lang="en-US" smtClean="0"/>
              <a:t>Click to edit Master title style</a:t>
            </a:r>
            <a:endParaRPr lang="en-US"/>
          </a:p>
        </p:txBody>
      </p:sp>
      <p:sp>
        <p:nvSpPr>
          <p:cNvPr id="3" name="Subtitle 2"/>
          <p:cNvSpPr>
            <a:spLocks noGrp="1"/>
          </p:cNvSpPr>
          <p:nvPr>
            <p:ph type="subTitle" idx="1"/>
          </p:nvPr>
        </p:nvSpPr>
        <p:spPr>
          <a:xfrm>
            <a:off x="731520" y="3154680"/>
            <a:ext cx="10698480" cy="91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1520" y="2743200"/>
            <a:ext cx="10698480" cy="1005840"/>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31520" y="3794760"/>
            <a:ext cx="10698480" cy="73152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320040"/>
            <a:ext cx="11094415" cy="68580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901" name="Footer"/>
          <p:cNvSpPr txBox="1"/>
          <p:nvPr userDrawn="1"/>
        </p:nvSpPr>
        <p:spPr>
          <a:xfrm>
            <a:off x="548640" y="6400800"/>
            <a:ext cx="5486400" cy="274320"/>
          </a:xfrm>
          <a:prstGeom prst="rect">
            <a:avLst/>
          </a:prstGeom>
          <a:noFill/>
        </p:spPr>
        <p:txBody>
          <a:bodyPr wrap="none" lIns="0" tIns="0" rIns="0" bIns="0" anchor="ctr"/>
          <a:lstStyle/>
          <a:p>
            <a:r>
              <a:rPr lang="en-US" sz="1000" dirty="0">
                <a:solidFill>
                  <a:schemeClr val="accent5"/>
                </a:solidFill>
              </a:rPr>
              <a:t>seqeron</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FredrikJDahlberg/seqeron"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hyperlink" Target="https://github.com/FredrikJDahlberg/faultero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lIns="0" rIns="0"/>
          <a:lstStyle/>
          <a:p>
            <a:pPr algn="l"/>
            <a:r>
              <a:rPr sz="6600" b="1" cap="none">
                <a:solidFill>
                  <a:schemeClr val="bg1"/>
                </a:solidFill>
                <a:latin typeface="+mj-lt"/>
              </a:rPr>
              <a:t>seqeron</a:t>
            </a:r>
          </a:p>
        </p:txBody>
      </p:sp>
      <p:sp>
        <p:nvSpPr>
          <p:cNvPr id="3" name="Subtitle 2"/>
          <p:cNvSpPr>
            <a:spLocks noGrp="1"/>
          </p:cNvSpPr>
          <p:nvPr>
            <p:ph type="subTitle" idx="1"/>
          </p:nvPr>
        </p:nvSpPr>
        <p:spPr/>
        <p:txBody>
          <a:bodyPr lIns="0" rIns="0"/>
          <a:lstStyle/>
          <a:p>
            <a:pPr algn="l"/>
            <a:r>
              <a:rPr sz="2600" b="0">
                <a:solidFill>
                  <a:schemeClr val="accent3"/>
                </a:solidFill>
              </a:rPr>
              <a:t>A replicated sequencer on Aeron Cluster</a:t>
            </a:r>
          </a:p>
        </p:txBody>
      </p:sp>
      <p:sp>
        <p:nvSpPr>
          <p:cNvPr id="4" name="Tape cell 1"/>
          <p:cNvSpPr/>
          <p:nvPr/>
        </p:nvSpPr>
        <p:spPr>
          <a:xfrm>
            <a:off x="731520" y="4754880"/>
            <a:ext cx="475488" cy="47548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1</a:t>
            </a:r>
          </a:p>
        </p:txBody>
      </p:sp>
      <p:sp>
        <p:nvSpPr>
          <p:cNvPr id="5" name="Tape cell 2"/>
          <p:cNvSpPr/>
          <p:nvPr/>
        </p:nvSpPr>
        <p:spPr>
          <a:xfrm>
            <a:off x="1280160" y="4754880"/>
            <a:ext cx="475488" cy="47548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2</a:t>
            </a:r>
          </a:p>
        </p:txBody>
      </p:sp>
      <p:sp>
        <p:nvSpPr>
          <p:cNvPr id="6" name="Tape cell 3"/>
          <p:cNvSpPr/>
          <p:nvPr/>
        </p:nvSpPr>
        <p:spPr>
          <a:xfrm>
            <a:off x="1828800" y="4754880"/>
            <a:ext cx="475488" cy="47548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3</a:t>
            </a:r>
          </a:p>
        </p:txBody>
      </p:sp>
      <p:sp>
        <p:nvSpPr>
          <p:cNvPr id="7" name="Tape cell 4"/>
          <p:cNvSpPr/>
          <p:nvPr/>
        </p:nvSpPr>
        <p:spPr>
          <a:xfrm>
            <a:off x="2377440" y="4754880"/>
            <a:ext cx="475488" cy="47548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4</a:t>
            </a:r>
          </a:p>
        </p:txBody>
      </p:sp>
      <p:sp>
        <p:nvSpPr>
          <p:cNvPr id="8" name="Tape cell 5"/>
          <p:cNvSpPr/>
          <p:nvPr/>
        </p:nvSpPr>
        <p:spPr>
          <a:xfrm>
            <a:off x="2926080" y="4754880"/>
            <a:ext cx="475488" cy="47548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5</a:t>
            </a:r>
          </a:p>
        </p:txBody>
      </p:sp>
      <p:sp>
        <p:nvSpPr>
          <p:cNvPr id="9" name="Tape cell 6"/>
          <p:cNvSpPr/>
          <p:nvPr/>
        </p:nvSpPr>
        <p:spPr>
          <a:xfrm>
            <a:off x="3474720" y="4754880"/>
            <a:ext cx="475488" cy="47548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6</a:t>
            </a:r>
          </a:p>
        </p:txBody>
      </p:sp>
      <p:sp>
        <p:nvSpPr>
          <p:cNvPr id="10" name="Tape cell 7"/>
          <p:cNvSpPr/>
          <p:nvPr/>
        </p:nvSpPr>
        <p:spPr>
          <a:xfrm>
            <a:off x="4023360" y="4754880"/>
            <a:ext cx="475488" cy="4754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chemeClr val="bg1"/>
                </a:solidFill>
              </a:rPr>
              <a:t>7</a:t>
            </a:r>
          </a:p>
        </p:txBody>
      </p:sp>
      <p:sp>
        <p:nvSpPr>
          <p:cNvPr id="11" name="Tape cell 8"/>
          <p:cNvSpPr/>
          <p:nvPr/>
        </p:nvSpPr>
        <p:spPr>
          <a:xfrm>
            <a:off x="4572000" y="4754880"/>
            <a:ext cx="475488" cy="47548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8</a:t>
            </a:r>
          </a:p>
        </p:txBody>
      </p:sp>
      <p:sp>
        <p:nvSpPr>
          <p:cNvPr id="12" name="Tape cell 9"/>
          <p:cNvSpPr/>
          <p:nvPr/>
        </p:nvSpPr>
        <p:spPr>
          <a:xfrm>
            <a:off x="5120640" y="4754880"/>
            <a:ext cx="475488" cy="47548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9</a:t>
            </a:r>
          </a:p>
        </p:txBody>
      </p:sp>
      <p:sp>
        <p:nvSpPr>
          <p:cNvPr id="13" name="Tape cell 10"/>
          <p:cNvSpPr/>
          <p:nvPr/>
        </p:nvSpPr>
        <p:spPr>
          <a:xfrm>
            <a:off x="5669280" y="4754880"/>
            <a:ext cx="475488" cy="47548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10</a:t>
            </a:r>
          </a:p>
        </p:txBody>
      </p:sp>
      <p:sp>
        <p:nvSpPr>
          <p:cNvPr id="14" name="Tape cell 11"/>
          <p:cNvSpPr/>
          <p:nvPr/>
        </p:nvSpPr>
        <p:spPr>
          <a:xfrm>
            <a:off x="6217920" y="4754880"/>
            <a:ext cx="475488" cy="47548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11</a:t>
            </a:r>
          </a:p>
        </p:txBody>
      </p:sp>
      <p:sp>
        <p:nvSpPr>
          <p:cNvPr id="15" name="Tape cell 12"/>
          <p:cNvSpPr/>
          <p:nvPr/>
        </p:nvSpPr>
        <p:spPr>
          <a:xfrm>
            <a:off x="6766560" y="4754880"/>
            <a:ext cx="475488" cy="47548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12</a:t>
            </a:r>
          </a:p>
        </p:txBody>
      </p:sp>
      <p:sp>
        <p:nvSpPr>
          <p:cNvPr id="16" name="Text 13"/>
          <p:cNvSpPr txBox="1"/>
          <p:nvPr/>
        </p:nvSpPr>
        <p:spPr>
          <a:xfrm>
            <a:off x="731520" y="5349240"/>
            <a:ext cx="10698480" cy="365760"/>
          </a:xfrm>
          <a:prstGeom prst="rect">
            <a:avLst/>
          </a:prstGeom>
          <a:noFill/>
        </p:spPr>
        <p:txBody>
          <a:bodyPr wrap="square" anchor="t" lIns="0" rIns="0" tIns="0" bIns="0">
            <a:spAutoFit/>
          </a:bodyPr>
          <a:lstStyle/>
          <a:p>
            <a:pPr algn="l"/>
            <a:r>
              <a:rPr sz="1400" b="0">
                <a:solidFill>
                  <a:schemeClr val="accent3"/>
                </a:solidFill>
              </a:rPr>
              <a:t>Architecture briefing  ·  seqeron 0.13.0  ·  Aeron 1.53.2</a:t>
            </a:r>
          </a:p>
        </p:txBody>
      </p:sp>
      <p:sp>
        <p:nvSpPr>
          <p:cNvPr id="17" name="Text 14">
            <a:hlinkClick r:id="rId2"/>
          </p:cNvPr>
          <p:cNvSpPr txBox="1"/>
          <p:nvPr/>
        </p:nvSpPr>
        <p:spPr>
          <a:xfrm>
            <a:off x="731520" y="5715000"/>
            <a:ext cx="10698480" cy="365760"/>
          </a:xfrm>
          <a:prstGeom prst="rect">
            <a:avLst/>
          </a:prstGeom>
          <a:noFill/>
        </p:spPr>
        <p:txBody>
          <a:bodyPr wrap="square" anchor="t" lIns="0" rIns="0" tIns="0" bIns="0">
            <a:spAutoFit/>
          </a:bodyPr>
          <a:lstStyle/>
          <a:p>
            <a:pPr algn="l"/>
            <a:r>
              <a:rPr sz="1400" b="0">
                <a:solidFill>
                  <a:schemeClr val="accent3"/>
                </a:solidFill>
              </a:rPr>
              <a:t>github.com/FredrikJDahlberg/seqeron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Summary</a:t>
            </a:r>
          </a:p>
        </p:txBody>
      </p:sp>
      <p:sp>
        <p:nvSpPr>
          <p:cNvPr id="3" name="Text 15"/>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What seqeron is, what is proven, what a client gets, and how to try it</a:t>
            </a:r>
          </a:p>
        </p:txBody>
      </p:sp>
      <p:sp>
        <p:nvSpPr>
          <p:cNvPr id="9002" name="Slide number"/>
          <p:cNvSpPr txBox="1"/>
          <p:nvPr userDrawn="1"/>
        </p:nvSpPr>
        <p:spPr>
          <a:xfrm>
            <a:off x="10728655" y="6400800"/>
            <a:ext cx="914400" cy="274320"/>
          </a:xfrm>
          <a:prstGeom prst="rect">
            <a:avLst/>
          </a:prstGeom>
          <a:noFill/>
        </p:spPr>
        <p:txBody>
          <a:bodyPr wrap="none" lIns="0" tIns="0" rIns="0" bIns="0" anchor="ctr"/>
          <a:lstStyle/>
          <a:p>
            <a:pPr algn="r"/>
            <a:fld id="{a37dc5ff-a8d5-441e-8a9a-9da3c0626272}" type="slidenum">
              <a:rPr lang="en-US" sz="1000" dirty="0">
                <a:solidFill>
                  <a:schemeClr val="accent5"/>
                </a:solidFill>
              </a:rPr>
              <a:t>2</a:t>
            </a:fld>
          </a:p>
        </p:txBody>
      </p:sp>
      <p:sp>
        <p:nvSpPr>
          <p:cNvPr id="9003" name="Text 16"/>
          <p:cNvSpPr txBox="1"/>
          <p:nvPr/>
        </p:nvSpPr>
        <p:spPr>
          <a:xfrm>
            <a:off x="548640" y="1600200"/>
            <a:ext cx="11094415" cy="731520"/>
          </a:xfrm>
          <a:prstGeom prst="rect">
            <a:avLst/>
          </a:prstGeom>
          <a:noFill/>
        </p:spPr>
        <p:txBody>
          <a:bodyPr wrap="square" anchor="t" lIns="0" rIns="0" tIns="0" bIns="0">
            <a:spAutoFit/>
          </a:bodyPr>
          <a:lstStyle/>
          <a:p>
            <a:pPr algn="l"/>
            <a:r>
              <a:rPr sz="1700" b="0">
                <a:solidFill>
                  <a:schemeClr val="tx1"/>
                </a:solidFill>
              </a:rPr>
              <a:t>A Raft-replicated sequencer on Aeron Cluster: one global, gap-free order for every producer's messages, and the same complete history on every consumer's host. The cluster is Java; clients are Java, C++ and C#. Open source, Apache 2.0.</a:t>
            </a:r>
          </a:p>
        </p:txBody>
      </p:sp>
      <p:sp>
        <p:nvSpPr>
          <p:cNvPr id="9004" name="Card 17"/>
          <p:cNvSpPr/>
          <p:nvPr/>
        </p:nvSpPr>
        <p:spPr>
          <a:xfrm>
            <a:off x="548640" y="2651760"/>
            <a:ext cx="3511296" cy="3200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800" b="1" cap="none">
                <a:solidFill>
                  <a:schemeClr val="accent1"/>
                </a:solidFill>
                <a:latin typeface="+mj-lt"/>
              </a:rPr>
              <a:t>Proven</a:t>
            </a:r>
          </a:p>
          <a:p>
            <a:pPr algn="l" marL="228600" indent="-228600">
              <a:spcAft>
                <a:spcPts val="600"/>
              </a:spcAft>
              <a:buClr>
                <a:schemeClr val="accent1"/>
              </a:buClr>
              <a:buChar char="•"/>
            </a:pPr>
            <a:r>
              <a:rPr sz="1400" b="0">
                <a:solidFill>
                  <a:schemeClr val="tx1"/>
                </a:solidFill>
              </a:rPr>
              <a:t>Determinism: every decision is a function of the log (S-3)</a:t>
            </a:r>
          </a:p>
          <a:p>
            <a:pPr algn="l" marL="228600" indent="-228600">
              <a:spcAft>
                <a:spcPts val="600"/>
              </a:spcAft>
              <a:buClr>
                <a:schemeClr val="accent1"/>
              </a:buClr>
              <a:buChar char="•"/>
            </a:pPr>
            <a:r>
              <a:rPr sz="1400" b="0">
                <a:solidFill>
                  <a:schemeClr val="tx1"/>
                </a:solidFill>
              </a:rPr>
              <a:t>A minority of members can crash with no gap and no renumbering</a:t>
            </a:r>
          </a:p>
          <a:p>
            <a:pPr algn="l" marL="228600" indent="-228600">
              <a:spcAft>
                <a:spcPts val="600"/>
              </a:spcAft>
              <a:buClr>
                <a:schemeClr val="accent1"/>
              </a:buClr>
              <a:buChar char="•"/>
            </a:pPr>
            <a:r>
              <a:rPr sz="1400" b="0">
                <a:solidFill>
                  <a:schemeClr val="tx1"/>
                </a:solidFill>
              </a:rPr>
              <a:t>Confirmed ingress: exactly once, in order, while its producer runs</a:t>
            </a:r>
          </a:p>
          <a:p>
            <a:pPr algn="l" marL="228600" indent="-228600">
              <a:spcAft>
                <a:spcPts val="600"/>
              </a:spcAft>
              <a:buClr>
                <a:schemeClr val="accent1"/>
              </a:buClr>
              <a:buChar char="•"/>
            </a:pPr>
            <a:r>
              <a:rPr sz="1400" b="0">
                <a:solidFill>
                  <a:schemeClr val="tx1"/>
                </a:solidFill>
              </a:rPr>
              <a:t>A live-cluster harness for every failure in the model, run in CI</a:t>
            </a:r>
          </a:p>
        </p:txBody>
      </p:sp>
      <p:sp>
        <p:nvSpPr>
          <p:cNvPr id="9005" name="Card 18"/>
          <p:cNvSpPr/>
          <p:nvPr/>
        </p:nvSpPr>
        <p:spPr>
          <a:xfrm>
            <a:off x="4338828" y="2651760"/>
            <a:ext cx="3511296" cy="3200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800" b="1" cap="none">
                <a:solidFill>
                  <a:schemeClr val="accent2"/>
                </a:solidFill>
                <a:latin typeface="+mj-lt"/>
              </a:rPr>
              <a:t>What a client gets</a:t>
            </a:r>
          </a:p>
          <a:p>
            <a:pPr algn="l" marL="228600" indent="-228600">
              <a:spcAft>
                <a:spcPts val="600"/>
              </a:spcAft>
              <a:buClr>
                <a:schemeClr val="accent1"/>
              </a:buClr>
              <a:buChar char="•"/>
            </a:pPr>
            <a:r>
              <a:rPr sz="1400" b="0">
                <a:solidFill>
                  <a:schemeClr val="tx1"/>
                </a:solidFill>
              </a:rPr>
              <a:t>One façade, one call per duty cycle, on the caller's thread</a:t>
            </a:r>
          </a:p>
          <a:p>
            <a:pPr algn="l" marL="228600" indent="-228600">
              <a:spcAft>
                <a:spcPts val="600"/>
              </a:spcAft>
              <a:buClr>
                <a:schemeClr val="accent1"/>
              </a:buClr>
              <a:buChar char="•"/>
            </a:pPr>
            <a:r>
              <a:rPr sz="1400" b="0">
                <a:solidFill>
                  <a:schemeClr val="tx1"/>
                </a:solidFill>
              </a:rPr>
              <a:t>History then live, gap-free, from its own host</a:t>
            </a:r>
          </a:p>
          <a:p>
            <a:pPr algn="l" marL="228600" indent="-228600">
              <a:spcAft>
                <a:spcPts val="600"/>
              </a:spcAft>
              <a:buClr>
                <a:schemeClr val="accent1"/>
              </a:buClr>
              <a:buChar char="•"/>
            </a:pPr>
            <a:r>
              <a:rPr sz="1400" b="0">
                <a:solidFill>
                  <a:schemeClr val="tx1"/>
                </a:solidFill>
              </a:rPr>
              <a:t>Its own messages confirmed, and resent across a failover</a:t>
            </a:r>
          </a:p>
          <a:p>
            <a:pPr algn="l" marL="228600" indent="-228600">
              <a:spcAft>
                <a:spcPts val="600"/>
              </a:spcAft>
              <a:buClr>
                <a:schemeClr val="accent1"/>
              </a:buClr>
              <a:buChar char="•"/>
            </a:pPr>
            <a:r>
              <a:rPr sz="1400" b="0">
                <a:solidFill>
                  <a:schemeClr val="tx1"/>
                </a:solidFill>
              </a:rPr>
              <a:t>An elected standby or a leader gate, decided from the log</a:t>
            </a:r>
          </a:p>
        </p:txBody>
      </p:sp>
      <p:sp>
        <p:nvSpPr>
          <p:cNvPr id="9006" name="Card 19"/>
          <p:cNvSpPr/>
          <p:nvPr/>
        </p:nvSpPr>
        <p:spPr>
          <a:xfrm>
            <a:off x="8129016" y="2651760"/>
            <a:ext cx="3511296" cy="3200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800" b="1" cap="none">
                <a:solidFill>
                  <a:schemeClr val="tx1"/>
                </a:solidFill>
                <a:latin typeface="+mj-lt"/>
              </a:rPr>
              <a:t>How to evaluate it</a:t>
            </a:r>
          </a:p>
          <a:p>
            <a:pPr algn="l" marL="228600" indent="-228600">
              <a:spcAft>
                <a:spcPts val="600"/>
              </a:spcAft>
              <a:buClr>
                <a:schemeClr val="accent1"/>
              </a:buClr>
              <a:buChar char="•"/>
            </a:pPr>
            <a:r>
              <a:rPr sz="1400" b="0">
                <a:solidFill>
                  <a:schemeClr val="tx1"/>
                </a:solidFill>
              </a:rPr>
              <a:t>A release runs a one-member cluster; getting-started.md adds a consumer and a producer</a:t>
            </a:r>
          </a:p>
          <a:p>
            <a:pPr algn="l" marL="228600" indent="-228600">
              <a:spcAft>
                <a:spcPts val="600"/>
              </a:spcAft>
              <a:buClr>
                <a:schemeClr val="accent1"/>
              </a:buClr>
              <a:buChar char="•"/>
            </a:pPr>
            <a:r>
              <a:rPr sz="1400" b="0">
                <a:solidFill>
                  <a:schemeClr val="tx1"/>
                </a:solidFill>
              </a:rPr>
              <a:t>Examples of each kind in Java, C++ and C#; a snapshot restore in Java and C++</a:t>
            </a:r>
          </a:p>
          <a:p>
            <a:pPr algn="l" marL="228600" indent="-228600">
              <a:spcAft>
                <a:spcPts val="600"/>
              </a:spcAft>
              <a:buClr>
                <a:schemeClr val="accent1"/>
              </a:buClr>
              <a:buChar char="•"/>
            </a:pPr>
            <a:r>
              <a:rPr sz="1400" b="0">
                <a:solidFill>
                  <a:schemeClr val="tx1"/>
                </a:solidFill>
              </a:rPr>
              <a:t>The examples ping through the cluster: a round trip measured on your own hardware</a:t>
            </a:r>
          </a:p>
          <a:p>
            <a:pPr algn="l" marL="228600" indent="-228600">
              <a:spcAft>
                <a:spcPts val="600"/>
              </a:spcAft>
              <a:buClr>
                <a:schemeClr val="accent1"/>
              </a:buClr>
              <a:buChar char="•"/>
            </a:pPr>
            <a:r>
              <a:rPr sz="1400" b="0">
                <a:solidFill>
                  <a:schemeClr val="tx1"/>
                </a:solidFill>
              </a:rPr>
              <a:t>The failure harnesses: leader kills, chaos, a containerized soak</a:t>
            </a:r>
          </a:p>
        </p:txBody>
      </p:sp>
      <p:sp>
        <p:nvSpPr>
          <p:cNvPr id="9007" name="Text 20"/>
          <p:cNvSpPr txBox="1"/>
          <p:nvPr/>
        </p:nvSpPr>
        <p:spPr>
          <a:xfrm>
            <a:off x="548640" y="5989320"/>
            <a:ext cx="11094415" cy="365760"/>
          </a:xfrm>
          <a:prstGeom prst="rect">
            <a:avLst/>
          </a:prstGeom>
          <a:noFill/>
        </p:spPr>
        <p:txBody>
          <a:bodyPr wrap="square" anchor="t" lIns="0" rIns="0" tIns="0" bIns="0">
            <a:spAutoFit/>
          </a:bodyPr>
          <a:lstStyle/>
          <a:p>
            <a:pPr algn="l"/>
            <a:r>
              <a:rPr sz="1400" b="1">
                <a:solidFill>
                  <a:schemeClr val="accent2"/>
                </a:solidFill>
              </a:rPr>
              <a:t>Not yet established: </a:t>
            </a:r>
            <a:r>
              <a:rPr sz="1400" b="0">
                <a:solidFill>
                  <a:schemeClr val="tx1"/>
                </a:solidFill>
              </a:rPr>
              <a:t>performance figures, a bounded archive, wire security, disaster recovery. The appendix covers each.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One replicated order</a:t>
            </a:r>
          </a:p>
        </p:txBody>
      </p:sp>
      <p:sp>
        <p:nvSpPr>
          <p:cNvPr id="3" name="Text 21"/>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Every input is stamped once; every service is a deterministic state machine over the result</a:t>
            </a:r>
          </a:p>
        </p:txBody>
      </p:sp>
      <p:sp>
        <p:nvSpPr>
          <p:cNvPr id="9003" name="Slide number"/>
          <p:cNvSpPr txBox="1"/>
          <p:nvPr userDrawn="1"/>
        </p:nvSpPr>
        <p:spPr>
          <a:xfrm>
            <a:off x="10728655" y="6400800"/>
            <a:ext cx="914400" cy="274320"/>
          </a:xfrm>
          <a:prstGeom prst="rect">
            <a:avLst/>
          </a:prstGeom>
          <a:noFill/>
        </p:spPr>
        <p:txBody>
          <a:bodyPr wrap="none" lIns="0" tIns="0" rIns="0" bIns="0" anchor="ctr"/>
          <a:lstStyle/>
          <a:p>
            <a:pPr algn="r"/>
            <a:fld id="{7a91b470-ab8b-4d81-83c3-f6ffa72f5213}" type="slidenum">
              <a:rPr lang="en-US" sz="1000" dirty="0">
                <a:solidFill>
                  <a:schemeClr val="accent5"/>
                </a:solidFill>
              </a:rPr>
              <a:t>3</a:t>
            </a:fld>
          </a:p>
        </p:txBody>
      </p:sp>
      <p:sp>
        <p:nvSpPr>
          <p:cNvPr id="9004" name="Box 22"/>
          <p:cNvSpPr/>
          <p:nvPr/>
        </p:nvSpPr>
        <p:spPr>
          <a:xfrm>
            <a:off x="548640" y="1783080"/>
            <a:ext cx="2286000" cy="5486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Gateway pairs</a:t>
            </a:r>
          </a:p>
        </p:txBody>
      </p:sp>
      <p:cxnSp>
        <p:nvCxnSpPr>
          <p:cNvPr id="9005" name="Arrow 23"/>
          <p:cNvCxnSpPr/>
          <p:nvPr/>
        </p:nvCxnSpPr>
        <p:spPr>
          <a:xfrm>
            <a:off x="2834640" y="2057400"/>
            <a:ext cx="502920" cy="73152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06" name="Box 24"/>
          <p:cNvSpPr/>
          <p:nvPr/>
        </p:nvSpPr>
        <p:spPr>
          <a:xfrm>
            <a:off x="548640" y="2514600"/>
            <a:ext cx="2286000" cy="5486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Applications</a:t>
            </a:r>
          </a:p>
        </p:txBody>
      </p:sp>
      <p:cxnSp>
        <p:nvCxnSpPr>
          <p:cNvPr id="9007" name="Arrow 25"/>
          <p:cNvCxnSpPr/>
          <p:nvPr/>
        </p:nvCxnSpPr>
        <p:spPr>
          <a:xfrm>
            <a:off x="2834640" y="2788920"/>
            <a:ext cx="50292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08" name="Box 26"/>
          <p:cNvSpPr/>
          <p:nvPr/>
        </p:nvSpPr>
        <p:spPr>
          <a:xfrm>
            <a:off x="548640" y="3246120"/>
            <a:ext cx="2286000" cy="5486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Operator (clusterctl)</a:t>
            </a:r>
          </a:p>
        </p:txBody>
      </p:sp>
      <p:cxnSp>
        <p:nvCxnSpPr>
          <p:cNvPr id="9009" name="Arrow 27"/>
          <p:cNvCxnSpPr/>
          <p:nvPr/>
        </p:nvCxnSpPr>
        <p:spPr>
          <a:xfrm flipV="1">
            <a:off x="2834640" y="2788920"/>
            <a:ext cx="502920" cy="73152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0" name="Box 28"/>
          <p:cNvSpPr/>
          <p:nvPr/>
        </p:nvSpPr>
        <p:spPr>
          <a:xfrm>
            <a:off x="3383280" y="1965960"/>
            <a:ext cx="2377440" cy="1645920"/>
          </a:xfrm>
          <a:prstGeom prst="rect">
            <a:avLst/>
          </a:prstGeom>
          <a:solidFill>
            <a:schemeClr val="bg1"/>
          </a:solidFill>
          <a:ln w="317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chemeClr val="tx1"/>
                </a:solidFill>
              </a:rPr>
              <a:t>Sequencer cluster</a:t>
            </a:r>
          </a:p>
          <a:p>
            <a:pPr algn="ctr"/>
            <a:r>
              <a:rPr sz="1200" b="0">
                <a:solidFill>
                  <a:schemeClr val="accent5"/>
                </a:solidFill>
              </a:rPr>
              <a:t>Raft · 3 to 7 cluster members</a:t>
            </a:r>
          </a:p>
        </p:txBody>
      </p:sp>
      <p:cxnSp>
        <p:nvCxnSpPr>
          <p:cNvPr id="9011" name="Arrow 29"/>
          <p:cNvCxnSpPr/>
          <p:nvPr/>
        </p:nvCxnSpPr>
        <p:spPr>
          <a:xfrm>
            <a:off x="5760720" y="2788920"/>
            <a:ext cx="41148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2" name="Box 30"/>
          <p:cNvSpPr/>
          <p:nvPr/>
        </p:nvSpPr>
        <p:spPr>
          <a:xfrm>
            <a:off x="6217920" y="2542032"/>
            <a:ext cx="493776" cy="493776"/>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101</a:t>
            </a:r>
          </a:p>
        </p:txBody>
      </p:sp>
      <p:sp>
        <p:nvSpPr>
          <p:cNvPr id="9013" name="Box 31"/>
          <p:cNvSpPr/>
          <p:nvPr/>
        </p:nvSpPr>
        <p:spPr>
          <a:xfrm>
            <a:off x="6766560" y="2542032"/>
            <a:ext cx="493776" cy="493776"/>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102</a:t>
            </a:r>
          </a:p>
        </p:txBody>
      </p:sp>
      <p:sp>
        <p:nvSpPr>
          <p:cNvPr id="9014" name="Box 32"/>
          <p:cNvSpPr/>
          <p:nvPr/>
        </p:nvSpPr>
        <p:spPr>
          <a:xfrm>
            <a:off x="7315200" y="2542032"/>
            <a:ext cx="493776" cy="493776"/>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103</a:t>
            </a:r>
          </a:p>
        </p:txBody>
      </p:sp>
      <p:sp>
        <p:nvSpPr>
          <p:cNvPr id="9015" name="Box 33"/>
          <p:cNvSpPr/>
          <p:nvPr/>
        </p:nvSpPr>
        <p:spPr>
          <a:xfrm>
            <a:off x="7863840" y="2542032"/>
            <a:ext cx="493776" cy="493776"/>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104</a:t>
            </a:r>
          </a:p>
        </p:txBody>
      </p:sp>
      <p:sp>
        <p:nvSpPr>
          <p:cNvPr id="9016" name="Box 34"/>
          <p:cNvSpPr/>
          <p:nvPr/>
        </p:nvSpPr>
        <p:spPr>
          <a:xfrm>
            <a:off x="8412480" y="2542032"/>
            <a:ext cx="493776" cy="493776"/>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105</a:t>
            </a:r>
          </a:p>
        </p:txBody>
      </p:sp>
      <p:sp>
        <p:nvSpPr>
          <p:cNvPr id="9017" name="Box 35"/>
          <p:cNvSpPr/>
          <p:nvPr/>
        </p:nvSpPr>
        <p:spPr>
          <a:xfrm>
            <a:off x="8961120" y="2542032"/>
            <a:ext cx="493776" cy="493776"/>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106</a:t>
            </a:r>
          </a:p>
        </p:txBody>
      </p:sp>
      <p:sp>
        <p:nvSpPr>
          <p:cNvPr id="9018" name="Text 36"/>
          <p:cNvSpPr txBox="1"/>
          <p:nvPr/>
        </p:nvSpPr>
        <p:spPr>
          <a:xfrm>
            <a:off x="6217920" y="2057400"/>
            <a:ext cx="3291840" cy="365760"/>
          </a:xfrm>
          <a:prstGeom prst="rect">
            <a:avLst/>
          </a:prstGeom>
          <a:noFill/>
        </p:spPr>
        <p:txBody>
          <a:bodyPr wrap="square" anchor="t" lIns="0" rIns="0" tIns="0" bIns="0">
            <a:spAutoFit/>
          </a:bodyPr>
          <a:lstStyle/>
          <a:p>
            <a:pPr algn="l"/>
            <a:r>
              <a:rPr sz="1200" b="0">
                <a:solidFill>
                  <a:schemeClr val="accent5"/>
                </a:solidFill>
              </a:rPr>
              <a:t>globalSeqNo: no gaps, no reuse</a:t>
            </a:r>
          </a:p>
        </p:txBody>
      </p:sp>
      <p:cxnSp>
        <p:nvCxnSpPr>
          <p:cNvPr id="9019" name="Arrow 37"/>
          <p:cNvCxnSpPr/>
          <p:nvPr/>
        </p:nvCxnSpPr>
        <p:spPr>
          <a:xfrm>
            <a:off x="9473184" y="2788920"/>
            <a:ext cx="448056"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0" name="Card 38"/>
          <p:cNvSpPr/>
          <p:nvPr/>
        </p:nvSpPr>
        <p:spPr>
          <a:xfrm>
            <a:off x="9966960" y="1783080"/>
            <a:ext cx="1673352" cy="201168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9728" bIns="109728"/>
          <a:lstStyle/>
          <a:p>
            <a:pPr algn="l"/>
            <a:r>
              <a:rPr sz="1300" b="1">
                <a:solidFill>
                  <a:schemeClr val="tx1"/>
                </a:solidFill>
              </a:rPr>
              <a:t>Every consumer</a:t>
            </a:r>
          </a:p>
          <a:p>
            <a:pPr algn="l" marL="228600" indent="-228600">
              <a:buClr>
                <a:schemeClr val="accent1"/>
              </a:buClr>
              <a:buChar char="•"/>
            </a:pPr>
            <a:r>
              <a:rPr sz="1300" b="0">
                <a:solidFill>
                  <a:schemeClr val="tx1"/>
                </a:solidFill>
              </a:rPr>
              <a:t>applications</a:t>
            </a:r>
          </a:p>
          <a:p>
            <a:pPr algn="l" marL="228600" indent="-228600">
              <a:buClr>
                <a:schemeClr val="accent1"/>
              </a:buClr>
              <a:buChar char="•"/>
            </a:pPr>
            <a:r>
              <a:rPr sz="1300" b="0">
                <a:solidFill>
                  <a:schemeClr val="tx1"/>
                </a:solidFill>
              </a:rPr>
              <a:t>gateways</a:t>
            </a:r>
          </a:p>
          <a:p>
            <a:pPr algn="l" marL="228600" indent="-228600">
              <a:buClr>
                <a:schemeClr val="accent1"/>
              </a:buClr>
              <a:buChar char="•"/>
            </a:pPr>
            <a:r>
              <a:rPr sz="1300" b="0">
                <a:solidFill>
                  <a:schemeClr val="tx1"/>
                </a:solidFill>
              </a:rPr>
              <a:t>audit, risk</a:t>
            </a:r>
          </a:p>
        </p:txBody>
      </p:sp>
      <p:sp>
        <p:nvSpPr>
          <p:cNvPr id="9021" name="Card 39"/>
          <p:cNvSpPr/>
          <p:nvPr/>
        </p:nvSpPr>
        <p:spPr>
          <a:xfrm>
            <a:off x="548640" y="4343400"/>
            <a:ext cx="260604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r>
              <a:rPr sz="3600" b="1" cap="none">
                <a:solidFill>
                  <a:schemeClr val="accent1"/>
                </a:solidFill>
                <a:latin typeface="+mj-lt"/>
              </a:rPr>
              <a:t>1</a:t>
            </a:r>
            <a:r>
              <a:rPr sz="1400" b="1">
                <a:solidFill>
                  <a:schemeClr val="tx1"/>
                </a:solidFill>
              </a:rPr>
              <a:t>  stream</a:t>
            </a:r>
          </a:p>
          <a:p>
            <a:pPr algn="l"/>
            <a:r>
              <a:rPr sz="1300" b="0">
                <a:solidFill>
                  <a:schemeClr val="accent5"/>
                </a:solidFill>
              </a:rPr>
              <a:t>one total order across every producer</a:t>
            </a:r>
          </a:p>
        </p:txBody>
      </p:sp>
      <p:sp>
        <p:nvSpPr>
          <p:cNvPr id="9022" name="Card 40"/>
          <p:cNvSpPr/>
          <p:nvPr/>
        </p:nvSpPr>
        <p:spPr>
          <a:xfrm>
            <a:off x="3376879" y="4343400"/>
            <a:ext cx="260604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r>
              <a:rPr sz="3600" b="1" cap="none">
                <a:solidFill>
                  <a:schemeClr val="accent1"/>
                </a:solidFill>
                <a:latin typeface="+mj-lt"/>
              </a:rPr>
              <a:t>3–7</a:t>
            </a:r>
            <a:r>
              <a:rPr sz="1400" b="1">
                <a:solidFill>
                  <a:schemeClr val="tx1"/>
                </a:solidFill>
              </a:rPr>
              <a:t>  members</a:t>
            </a:r>
          </a:p>
          <a:p>
            <a:pPr algn="l"/>
            <a:r>
              <a:rPr sz="1300" b="0">
                <a:solidFill>
                  <a:schemeClr val="accent5"/>
                </a:solidFill>
              </a:rPr>
              <a:t>a minority can fail with no gap and no renumbering</a:t>
            </a:r>
          </a:p>
        </p:txBody>
      </p:sp>
      <p:sp>
        <p:nvSpPr>
          <p:cNvPr id="9023" name="Card 41"/>
          <p:cNvSpPr/>
          <p:nvPr/>
        </p:nvSpPr>
        <p:spPr>
          <a:xfrm>
            <a:off x="6205118" y="4343400"/>
            <a:ext cx="260604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r>
              <a:rPr sz="3600" b="1" cap="none">
                <a:solidFill>
                  <a:schemeClr val="accent1"/>
                </a:solidFill>
                <a:latin typeface="+mj-lt"/>
              </a:rPr>
              <a:t>44 B</a:t>
            </a:r>
            <a:r>
              <a:rPr sz="1400" b="1">
                <a:solidFill>
                  <a:schemeClr val="tx1"/>
                </a:solidFill>
              </a:rPr>
              <a:t>  envelope</a:t>
            </a:r>
          </a:p>
          <a:p>
            <a:pPr algn="l"/>
            <a:r>
              <a:rPr sz="1300" b="0">
                <a:solidFill>
                  <a:schemeClr val="accent5"/>
                </a:solidFill>
              </a:rPr>
              <a:t>on a sequenced message; payload never decoded</a:t>
            </a:r>
          </a:p>
        </p:txBody>
      </p:sp>
      <p:sp>
        <p:nvSpPr>
          <p:cNvPr id="9024" name="Card 42"/>
          <p:cNvSpPr/>
          <p:nvPr/>
        </p:nvSpPr>
        <p:spPr>
          <a:xfrm>
            <a:off x="9033358" y="4343400"/>
            <a:ext cx="260604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r>
              <a:rPr sz="3600" b="1" cap="none">
                <a:solidFill>
                  <a:schemeClr val="accent1"/>
                </a:solidFill>
                <a:latin typeface="+mj-lt"/>
              </a:rPr>
              <a:t>1 Hz</a:t>
            </a:r>
            <a:r>
              <a:rPr sz="1400" b="1">
                <a:solidFill>
                  <a:schemeClr val="tx1"/>
                </a:solidFill>
              </a:rPr>
              <a:t>  cluster clock</a:t>
            </a:r>
          </a:p>
          <a:p>
            <a:pPr algn="l"/>
            <a:r>
              <a:rPr sz="1300" b="0">
                <a:solidFill>
                  <a:schemeClr val="accent5"/>
                </a:solidFill>
              </a:rPr>
              <a:t>a heartbeat on consensus time every client agrees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Context and alternatives</a:t>
            </a:r>
          </a:p>
        </p:txBody>
      </p:sp>
      <p:sp>
        <p:nvSpPr>
          <p:cNvPr id="3" name="Text 43"/>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The problem it solves, and the options it is weighed against</a:t>
            </a:r>
          </a:p>
        </p:txBody>
      </p:sp>
      <p:sp>
        <p:nvSpPr>
          <p:cNvPr id="9004" name="Slide number"/>
          <p:cNvSpPr txBox="1"/>
          <p:nvPr userDrawn="1"/>
        </p:nvSpPr>
        <p:spPr>
          <a:xfrm>
            <a:off x="10728655" y="6400800"/>
            <a:ext cx="914400" cy="274320"/>
          </a:xfrm>
          <a:prstGeom prst="rect">
            <a:avLst/>
          </a:prstGeom>
          <a:noFill/>
        </p:spPr>
        <p:txBody>
          <a:bodyPr wrap="none" lIns="0" tIns="0" rIns="0" bIns="0" anchor="ctr"/>
          <a:lstStyle/>
          <a:p>
            <a:pPr algn="r"/>
            <a:fld id="{18408195-ac31-4a59-9274-ced3b26b0e53}" type="slidenum">
              <a:rPr lang="en-US" sz="1000" dirty="0">
                <a:solidFill>
                  <a:schemeClr val="accent5"/>
                </a:solidFill>
              </a:rPr>
              <a:t>4</a:t>
            </a:fld>
          </a:p>
        </p:txBody>
      </p:sp>
      <p:sp>
        <p:nvSpPr>
          <p:cNvPr id="9005" name="Card 44"/>
          <p:cNvSpPr/>
          <p:nvPr/>
        </p:nvSpPr>
        <p:spPr>
          <a:xfrm>
            <a:off x="548640" y="1600200"/>
            <a:ext cx="11094415" cy="1005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r>
              <a:rPr sz="1500" b="0">
                <a:solidFill>
                  <a:schemeClr val="tx1"/>
                </a:solidFill>
              </a:rPr>
              <a:t>Services that must agree on what happened, and in what order: a trading venue, an order management system, a risk engine. The sequencer architecture settles the order once, in one place, and every service becomes a deterministic replica of one stream.</a:t>
            </a:r>
          </a:p>
        </p:txBody>
      </p:sp>
      <p:graphicFrame>
        <p:nvGraphicFramePr>
          <p:cNvPr id="9006" name="Table 45"/>
          <p:cNvGraphicFramePr>
            <a:graphicFrameLocks noGrp="1"/>
          </p:cNvGraphicFramePr>
          <p:nvPr/>
        </p:nvGraphicFramePr>
        <p:xfrm>
          <a:off x="548640" y="2834640"/>
          <a:ext cx="11091672" cy="2514600"/>
        </p:xfrm>
        <a:graphic>
          <a:graphicData uri="http://schemas.openxmlformats.org/drawingml/2006/table">
            <a:tbl>
              <a:tblPr firstRow="1">
                <a:tableStyleId>{5C22544A-7EE6-4342-B048-85BDC9FD1C3A}</a:tableStyleId>
              </a:tblPr>
              <a:tblGrid>
                <a:gridCol w="2377440"/>
                <a:gridCol w="4023360"/>
                <a:gridCol w="4690872"/>
              </a:tblGrid>
              <a:tr h="502920">
                <a:tc>
                  <a:txBody>
                    <a:bodyPr/>
                    <a:lstStyle/>
                    <a:p>
                      <a:pPr algn="l"/>
                      <a:r>
                        <a:rPr sz="1300" b="1">
                          <a:solidFill>
                            <a:schemeClr val="bg1"/>
                          </a:solidFill>
                        </a:rPr>
                        <a:t>Option</a:t>
                      </a:r>
                    </a:p>
                  </a:txBody>
                  <a:tcPr marL="91440" marR="91440" marT="45720" marB="45720" anchor="ctr">
                    <a:solidFill>
                      <a:schemeClr val="accent1"/>
                    </a:solidFill>
                  </a:tcPr>
                </a:tc>
                <a:tc>
                  <a:txBody>
                    <a:bodyPr/>
                    <a:lstStyle/>
                    <a:p>
                      <a:pPr algn="l"/>
                      <a:r>
                        <a:rPr sz="1300" b="1">
                          <a:solidFill>
                            <a:schemeClr val="bg1"/>
                          </a:solidFill>
                        </a:rPr>
                        <a:t>Gives</a:t>
                      </a:r>
                    </a:p>
                  </a:txBody>
                  <a:tcPr marL="91440" marR="91440" marT="45720" marB="45720" anchor="ctr">
                    <a:solidFill>
                      <a:schemeClr val="accent1"/>
                    </a:solidFill>
                  </a:tcPr>
                </a:tc>
                <a:tc>
                  <a:txBody>
                    <a:bodyPr/>
                    <a:lstStyle/>
                    <a:p>
                      <a:pPr algn="l"/>
                      <a:r>
                        <a:rPr sz="1300" b="1">
                          <a:solidFill>
                            <a:schemeClr val="bg1"/>
                          </a:solidFill>
                        </a:rPr>
                        <a:t>Drawback</a:t>
                      </a:r>
                    </a:p>
                  </a:txBody>
                  <a:tcPr marL="91440" marR="91440" marT="45720" marB="45720" anchor="ctr">
                    <a:solidFill>
                      <a:schemeClr val="accent1"/>
                    </a:solidFill>
                  </a:tcPr>
                </a:tc>
              </a:tr>
              <a:tr h="502920">
                <a:tc>
                  <a:txBody>
                    <a:bodyPr/>
                    <a:lstStyle/>
                    <a:p>
                      <a:pPr algn="l"/>
                      <a:r>
                        <a:rPr sz="1400" b="1">
                          <a:solidFill>
                            <a:schemeClr val="tx1"/>
                          </a:solidFill>
                        </a:rPr>
                        <a:t>Kafka, one partition</a:t>
                      </a:r>
                    </a:p>
                  </a:txBody>
                  <a:tcPr marL="91440" marR="91440" marT="45720" marB="45720" anchor="ctr">
                    <a:solidFill>
                      <a:schemeClr val="bg1"/>
                    </a:solidFill>
                  </a:tcPr>
                </a:tc>
                <a:tc>
                  <a:txBody>
                    <a:bodyPr/>
                    <a:lstStyle/>
                    <a:p>
                      <a:pPr algn="l"/>
                      <a:r>
                        <a:rPr sz="1400" b="0">
                          <a:solidFill>
                            <a:schemeClr val="tx1"/>
                          </a:solidFill>
                        </a:rPr>
                        <a:t>Total order, retention, mature tooling</a:t>
                      </a:r>
                    </a:p>
                  </a:txBody>
                  <a:tcPr marL="91440" marR="91440" marT="45720" marB="45720" anchor="ctr">
                    <a:solidFill>
                      <a:schemeClr val="bg1"/>
                    </a:solidFill>
                  </a:tcPr>
                </a:tc>
                <a:tc>
                  <a:txBody>
                    <a:bodyPr/>
                    <a:lstStyle/>
                    <a:p>
                      <a:pPr algn="l"/>
                      <a:r>
                        <a:rPr sz="1400" b="0">
                          <a:solidFill>
                            <a:schemeClr val="tx1"/>
                          </a:solidFill>
                        </a:rPr>
                        <a:t>No cluster clock or producer election</a:t>
                      </a:r>
                    </a:p>
                  </a:txBody>
                  <a:tcPr marL="91440" marR="91440" marT="45720" marB="45720" anchor="ctr">
                    <a:solidFill>
                      <a:schemeClr val="bg1"/>
                    </a:solidFill>
                  </a:tcPr>
                </a:tc>
              </a:tr>
              <a:tr h="502920">
                <a:tc>
                  <a:txBody>
                    <a:bodyPr/>
                    <a:lstStyle/>
                    <a:p>
                      <a:pPr algn="l"/>
                      <a:r>
                        <a:rPr sz="1400" b="1">
                          <a:solidFill>
                            <a:schemeClr val="tx1"/>
                          </a:solidFill>
                        </a:rPr>
                        <a:t>Aeron</a:t>
                      </a:r>
                    </a:p>
                  </a:txBody>
                  <a:tcPr marL="91440" marR="91440" marT="45720" marB="45720" anchor="ctr">
                    <a:solidFill>
                      <a:schemeClr val="bg2"/>
                    </a:solidFill>
                  </a:tcPr>
                </a:tc>
                <a:tc>
                  <a:txBody>
                    <a:bodyPr/>
                    <a:lstStyle/>
                    <a:p>
                      <a:pPr algn="l"/>
                      <a:r>
                        <a:rPr sz="1400" b="0">
                          <a:solidFill>
                            <a:schemeClr val="tx1"/>
                          </a:solidFill>
                        </a:rPr>
                        <a:t>Reliable UDP and IPC; recording, replay</a:t>
                      </a:r>
                    </a:p>
                  </a:txBody>
                  <a:tcPr marL="91440" marR="91440" marT="45720" marB="45720" anchor="ctr">
                    <a:solidFill>
                      <a:schemeClr val="bg2"/>
                    </a:solidFill>
                  </a:tcPr>
                </a:tc>
                <a:tc>
                  <a:txBody>
                    <a:bodyPr/>
                    <a:lstStyle/>
                    <a:p>
                      <a:pPr algn="l"/>
                      <a:r>
                        <a:rPr sz="1400" b="0">
                          <a:solidFill>
                            <a:schemeClr val="tx1"/>
                          </a:solidFill>
                        </a:rPr>
                        <a:t>No replication: one sequencer, one point of failure</a:t>
                      </a:r>
                    </a:p>
                  </a:txBody>
                  <a:tcPr marL="91440" marR="91440" marT="45720" marB="45720" anchor="ctr">
                    <a:solidFill>
                      <a:schemeClr val="bg2"/>
                    </a:solidFill>
                  </a:tcPr>
                </a:tc>
              </a:tr>
              <a:tr h="502920">
                <a:tc>
                  <a:txBody>
                    <a:bodyPr/>
                    <a:lstStyle/>
                    <a:p>
                      <a:pPr algn="l"/>
                      <a:r>
                        <a:rPr sz="1400" b="1">
                          <a:solidFill>
                            <a:schemeClr val="tx1"/>
                          </a:solidFill>
                        </a:rPr>
                        <a:t>Aeron Cluster alone</a:t>
                      </a:r>
                    </a:p>
                  </a:txBody>
                  <a:tcPr marL="91440" marR="91440" marT="45720" marB="45720" anchor="ctr">
                    <a:solidFill>
                      <a:schemeClr val="bg1"/>
                    </a:solidFill>
                  </a:tcPr>
                </a:tc>
                <a:tc>
                  <a:txBody>
                    <a:bodyPr/>
                    <a:lstStyle/>
                    <a:p>
                      <a:pPr algn="l"/>
                      <a:r>
                        <a:rPr sz="1400" b="0">
                          <a:solidFill>
                            <a:schemeClr val="tx1"/>
                          </a:solidFill>
                        </a:rPr>
                        <a:t>The same consensus and log</a:t>
                      </a:r>
                    </a:p>
                  </a:txBody>
                  <a:tcPr marL="91440" marR="91440" marT="45720" marB="45720" anchor="ctr">
                    <a:solidFill>
                      <a:schemeClr val="bg1"/>
                    </a:solidFill>
                  </a:tcPr>
                </a:tc>
                <a:tc>
                  <a:txBody>
                    <a:bodyPr/>
                    <a:lstStyle/>
                    <a:p>
                      <a:pPr algn="l"/>
                      <a:r>
                        <a:rPr sz="1400" b="0">
                          <a:solidFill>
                            <a:schemeClr val="tx1"/>
                          </a:solidFill>
                        </a:rPr>
                        <a:t>Replay, election and confirmed ingress rebuilt per cluster</a:t>
                      </a:r>
                    </a:p>
                  </a:txBody>
                  <a:tcPr marL="91440" marR="91440" marT="45720" marB="45720" anchor="ctr">
                    <a:solidFill>
                      <a:schemeClr val="bg1"/>
                    </a:solidFill>
                  </a:tcPr>
                </a:tc>
              </a:tr>
              <a:tr h="502920">
                <a:tc>
                  <a:txBody>
                    <a:bodyPr/>
                    <a:lstStyle/>
                    <a:p>
                      <a:pPr algn="l"/>
                      <a:r>
                        <a:rPr sz="1400" b="1">
                          <a:solidFill>
                            <a:schemeClr val="tx1"/>
                          </a:solidFill>
                        </a:rPr>
                        <a:t>Database sequence</a:t>
                      </a:r>
                    </a:p>
                  </a:txBody>
                  <a:tcPr marL="91440" marR="91440" marT="45720" marB="45720" anchor="ctr">
                    <a:solidFill>
                      <a:schemeClr val="bg2"/>
                    </a:solidFill>
                  </a:tcPr>
                </a:tc>
                <a:tc>
                  <a:txBody>
                    <a:bodyPr/>
                    <a:lstStyle/>
                    <a:p>
                      <a:pPr algn="l"/>
                      <a:r>
                        <a:rPr sz="1400" b="0">
                          <a:solidFill>
                            <a:schemeClr val="tx1"/>
                          </a:solidFill>
                        </a:rPr>
                        <a:t>Familiar and transactional</a:t>
                      </a:r>
                    </a:p>
                  </a:txBody>
                  <a:tcPr marL="91440" marR="91440" marT="45720" marB="45720" anchor="ctr">
                    <a:solidFill>
                      <a:schemeClr val="bg2"/>
                    </a:solidFill>
                  </a:tcPr>
                </a:tc>
                <a:tc>
                  <a:txBody>
                    <a:bodyPr/>
                    <a:lstStyle/>
                    <a:p>
                      <a:pPr algn="l"/>
                      <a:r>
                        <a:rPr sz="1400" b="0">
                          <a:solidFill>
                            <a:schemeClr val="tx1"/>
                          </a:solidFill>
                        </a:rPr>
                        <a:t>Skips values on rollback; a write per message</a:t>
                      </a:r>
                    </a:p>
                  </a:txBody>
                  <a:tcPr marL="91440" marR="91440" marT="45720" marB="45720" anchor="ctr">
                    <a:solidFill>
                      <a:schemeClr val="bg2"/>
                    </a:solidFill>
                  </a:tcPr>
                </a:tc>
              </a:tr>
            </a:tbl>
          </a:graphicData>
        </a:graphic>
      </p:graphicFrame>
      <p:sp>
        <p:nvSpPr>
          <p:cNvPr id="9007" name="Text 46"/>
          <p:cNvSpPr txBox="1"/>
          <p:nvPr/>
        </p:nvSpPr>
        <p:spPr>
          <a:xfrm>
            <a:off x="548640" y="5577840"/>
            <a:ext cx="11094415" cy="365760"/>
          </a:xfrm>
          <a:prstGeom prst="rect">
            <a:avLst/>
          </a:prstGeom>
          <a:noFill/>
        </p:spPr>
        <p:txBody>
          <a:bodyPr wrap="square" anchor="t" lIns="0" rIns="0" tIns="0" bIns="0">
            <a:spAutoFit/>
          </a:bodyPr>
          <a:lstStyle/>
          <a:p>
            <a:pPr algn="l"/>
            <a:r>
              <a:rPr sz="1400" b="1">
                <a:solidFill>
                  <a:schemeClr val="accent5"/>
                </a:solidFill>
              </a:rPr>
              <a:t>A total order is one serialization point </a:t>
            </a:r>
            <a:r>
              <a:rPr sz="1400" b="0">
                <a:solidFill>
                  <a:schemeClr val="accent5"/>
                </a:solidFill>
              </a:rPr>
              <a:t>in every option, seqeron's included: its throughput ceiling is the same in kind.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Aeron Cluster</a:t>
            </a:r>
          </a:p>
        </p:txBody>
      </p:sp>
      <p:sp>
        <p:nvSpPr>
          <p:cNvPr id="3" name="Text 47"/>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Raft over Aeron's transport and archive: replicated log, deterministic services</a:t>
            </a:r>
          </a:p>
        </p:txBody>
      </p:sp>
      <p:sp>
        <p:nvSpPr>
          <p:cNvPr id="9005" name="Slide number"/>
          <p:cNvSpPr txBox="1"/>
          <p:nvPr userDrawn="1"/>
        </p:nvSpPr>
        <p:spPr>
          <a:xfrm>
            <a:off x="10728655" y="6400800"/>
            <a:ext cx="914400" cy="274320"/>
          </a:xfrm>
          <a:prstGeom prst="rect">
            <a:avLst/>
          </a:prstGeom>
          <a:noFill/>
        </p:spPr>
        <p:txBody>
          <a:bodyPr wrap="none" lIns="0" tIns="0" rIns="0" bIns="0" anchor="ctr"/>
          <a:lstStyle/>
          <a:p>
            <a:pPr algn="r"/>
            <a:fld id="{a535fc2a-d467-4666-bd0b-e637f94450a9}" type="slidenum">
              <a:rPr lang="en-US" sz="1000" dirty="0">
                <a:solidFill>
                  <a:schemeClr val="accent5"/>
                </a:solidFill>
              </a:rPr>
              <a:t>5</a:t>
            </a:fld>
          </a:p>
        </p:txBody>
      </p:sp>
      <p:sp>
        <p:nvSpPr>
          <p:cNvPr id="9006" name="Host 48"/>
          <p:cNvSpPr/>
          <p:nvPr/>
        </p:nvSpPr>
        <p:spPr>
          <a:xfrm>
            <a:off x="664207" y="2987002"/>
            <a:ext cx="1964636" cy="1271235"/>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ctr"/>
            <a:r>
              <a:rPr sz="1100" b="1">
                <a:solidFill>
                  <a:schemeClr val="accent5"/>
                </a:solidFill>
              </a:rPr>
              <a:t>CLUSTER CLIENT</a:t>
            </a:r>
          </a:p>
        </p:txBody>
      </p:sp>
      <p:sp>
        <p:nvSpPr>
          <p:cNvPr id="9007" name="Text 49"/>
          <p:cNvSpPr txBox="1"/>
          <p:nvPr/>
        </p:nvSpPr>
        <p:spPr>
          <a:xfrm>
            <a:off x="664207" y="3449269"/>
            <a:ext cx="1964636" cy="277360"/>
          </a:xfrm>
          <a:prstGeom prst="rect">
            <a:avLst/>
          </a:prstGeom>
          <a:noFill/>
        </p:spPr>
        <p:txBody>
          <a:bodyPr wrap="square" anchor="ctr" lIns="0" rIns="0" tIns="0" bIns="0">
            <a:spAutoFit/>
          </a:bodyPr>
          <a:lstStyle/>
          <a:p>
            <a:pPr algn="ctr"/>
            <a:r>
              <a:rPr sz="1200" b="1">
                <a:solidFill>
                  <a:schemeClr val="tx1"/>
                </a:solidFill>
              </a:rPr>
              <a:t>AeronCluster</a:t>
            </a:r>
          </a:p>
        </p:txBody>
      </p:sp>
      <p:sp>
        <p:nvSpPr>
          <p:cNvPr id="9008" name="Text 50"/>
          <p:cNvSpPr txBox="1"/>
          <p:nvPr/>
        </p:nvSpPr>
        <p:spPr>
          <a:xfrm>
            <a:off x="664207" y="3749743"/>
            <a:ext cx="1964636" cy="277360"/>
          </a:xfrm>
          <a:prstGeom prst="rect">
            <a:avLst/>
          </a:prstGeom>
          <a:noFill/>
        </p:spPr>
        <p:txBody>
          <a:bodyPr wrap="square" anchor="ctr" lIns="0" rIns="0" tIns="0" bIns="0">
            <a:spAutoFit/>
          </a:bodyPr>
          <a:lstStyle/>
          <a:p>
            <a:pPr algn="ctr"/>
            <a:r>
              <a:rPr sz="1000" b="0">
                <a:solidFill>
                  <a:schemeClr val="accent5"/>
                </a:solidFill>
              </a:rPr>
              <a:t>one session</a:t>
            </a:r>
          </a:p>
        </p:txBody>
      </p:sp>
      <p:sp>
        <p:nvSpPr>
          <p:cNvPr id="9009" name="Host 51"/>
          <p:cNvSpPr/>
          <p:nvPr/>
        </p:nvSpPr>
        <p:spPr>
          <a:xfrm>
            <a:off x="3322244" y="1831334"/>
            <a:ext cx="3813705" cy="3929272"/>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l"/>
            <a:r>
              <a:rPr sz="1100" b="1">
                <a:solidFill>
                  <a:schemeClr val="accent5"/>
                </a:solidFill>
              </a:rPr>
              <a:t>LEADER</a:t>
            </a:r>
          </a:p>
        </p:txBody>
      </p:sp>
      <p:sp>
        <p:nvSpPr>
          <p:cNvPr id="9010" name="Box 52"/>
          <p:cNvSpPr/>
          <p:nvPr/>
        </p:nvSpPr>
        <p:spPr>
          <a:xfrm>
            <a:off x="3553377" y="2293601"/>
            <a:ext cx="3351438" cy="693401"/>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Consensus module</a:t>
            </a:r>
          </a:p>
          <a:p>
            <a:pPr algn="ctr"/>
            <a:r>
              <a:rPr sz="1000" b="0">
                <a:solidFill>
                  <a:schemeClr val="accent5"/>
                </a:solidFill>
              </a:rPr>
              <a:t>election · append · commit · cluster time</a:t>
            </a:r>
          </a:p>
        </p:txBody>
      </p:sp>
      <p:sp>
        <p:nvSpPr>
          <p:cNvPr id="9011" name="Box 53"/>
          <p:cNvSpPr/>
          <p:nvPr/>
        </p:nvSpPr>
        <p:spPr>
          <a:xfrm>
            <a:off x="3553377" y="3333702"/>
            <a:ext cx="1502369" cy="693401"/>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Archive</a:t>
            </a:r>
          </a:p>
          <a:p>
            <a:pPr algn="ctr"/>
            <a:r>
              <a:rPr sz="1000" b="0">
                <a:solidFill>
                  <a:schemeClr val="accent5"/>
                </a:solidFill>
              </a:rPr>
              <a:t>records the log</a:t>
            </a:r>
          </a:p>
        </p:txBody>
      </p:sp>
      <p:sp>
        <p:nvSpPr>
          <p:cNvPr id="9012" name="Box 54"/>
          <p:cNvSpPr/>
          <p:nvPr/>
        </p:nvSpPr>
        <p:spPr>
          <a:xfrm>
            <a:off x="5286880" y="3333702"/>
            <a:ext cx="1617936" cy="693401"/>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Clustered service</a:t>
            </a:r>
          </a:p>
          <a:p>
            <a:pPr algn="ctr"/>
            <a:r>
              <a:rPr sz="1000" b="0">
                <a:solidFill>
                  <a:schemeClr val="accent5"/>
                </a:solidFill>
              </a:rPr>
              <a:t>applies committed log</a:t>
            </a:r>
          </a:p>
        </p:txBody>
      </p:sp>
      <p:cxnSp>
        <p:nvCxnSpPr>
          <p:cNvPr id="9013" name="Arrow 55"/>
          <p:cNvCxnSpPr/>
          <p:nvPr/>
        </p:nvCxnSpPr>
        <p:spPr>
          <a:xfrm>
            <a:off x="4304562" y="2987002"/>
            <a:ext cx="0" cy="34670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14" name="Arrow 56"/>
          <p:cNvCxnSpPr/>
          <p:nvPr/>
        </p:nvCxnSpPr>
        <p:spPr>
          <a:xfrm>
            <a:off x="6095848" y="2987002"/>
            <a:ext cx="0" cy="34670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5" name="Text 57"/>
          <p:cNvSpPr txBox="1"/>
          <p:nvPr/>
        </p:nvSpPr>
        <p:spPr>
          <a:xfrm>
            <a:off x="3530264" y="4165784"/>
            <a:ext cx="2889171" cy="254247"/>
          </a:xfrm>
          <a:prstGeom prst="rect">
            <a:avLst/>
          </a:prstGeom>
          <a:noFill/>
        </p:spPr>
        <p:txBody>
          <a:bodyPr wrap="square" anchor="ctr" lIns="0" rIns="0" tIns="0" bIns="0">
            <a:spAutoFit/>
          </a:bodyPr>
          <a:lstStyle/>
          <a:p>
            <a:pPr algn="l"/>
            <a:r>
              <a:rPr sz="1000" b="0">
                <a:solidFill>
                  <a:schemeClr val="accent5"/>
                </a:solidFill>
              </a:rPr>
              <a:t>commit = a majority has appended</a:t>
            </a:r>
          </a:p>
        </p:txBody>
      </p:sp>
      <p:sp>
        <p:nvSpPr>
          <p:cNvPr id="9016" name="Text 58"/>
          <p:cNvSpPr txBox="1"/>
          <p:nvPr/>
        </p:nvSpPr>
        <p:spPr>
          <a:xfrm>
            <a:off x="3530264" y="4420031"/>
            <a:ext cx="2889171" cy="392927"/>
          </a:xfrm>
          <a:prstGeom prst="rect">
            <a:avLst/>
          </a:prstGeom>
          <a:noFill/>
        </p:spPr>
        <p:txBody>
          <a:bodyPr wrap="square" anchor="ctr" lIns="0" rIns="0" tIns="0" bIns="0">
            <a:spAutoFit/>
          </a:bodyPr>
          <a:lstStyle/>
          <a:p>
            <a:pPr algn="l"/>
            <a:r>
              <a:rPr sz="1000" b="0">
                <a:solidFill>
                  <a:schemeClr val="accent5"/>
                </a:solidFill>
              </a:rPr>
              <a:t>timers, session events and timestamps ride the log</a:t>
            </a:r>
          </a:p>
        </p:txBody>
      </p:sp>
      <p:cxnSp>
        <p:nvCxnSpPr>
          <p:cNvPr id="9017" name="Arrow 59"/>
          <p:cNvCxnSpPr/>
          <p:nvPr/>
        </p:nvCxnSpPr>
        <p:spPr>
          <a:xfrm flipV="1">
            <a:off x="2628843" y="2698085"/>
            <a:ext cx="924534" cy="751184"/>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8" name="Text 60"/>
          <p:cNvSpPr txBox="1"/>
          <p:nvPr/>
        </p:nvSpPr>
        <p:spPr>
          <a:xfrm>
            <a:off x="2282142" y="2894548"/>
            <a:ext cx="924535" cy="231134"/>
          </a:xfrm>
          <a:prstGeom prst="rect">
            <a:avLst/>
          </a:prstGeom>
          <a:noFill/>
        </p:spPr>
        <p:txBody>
          <a:bodyPr wrap="square" anchor="ctr" lIns="0" rIns="0" tIns="0" bIns="0">
            <a:spAutoFit/>
          </a:bodyPr>
          <a:lstStyle/>
          <a:p>
            <a:pPr algn="ctr"/>
            <a:r>
              <a:rPr sz="1000" b="0">
                <a:solidFill>
                  <a:schemeClr val="accent1"/>
                </a:solidFill>
              </a:rPr>
              <a:t>ingress</a:t>
            </a:r>
          </a:p>
        </p:txBody>
      </p:sp>
      <p:sp>
        <p:nvSpPr>
          <p:cNvPr id="4" name="Path 61"/>
          <p:cNvSpPr/>
          <p:nvPr/>
        </p:nvSpPr>
        <p:spPr>
          <a:xfrm>
            <a:off x="1646525" y="4027103"/>
            <a:ext cx="5027157" cy="1040102"/>
          </a:xfrm>
          <a:custGeom>
            <a:avLst/>
            <a:gdLst/>
            <a:ahLst/>
            <a:cxnLst/>
            <a:rect l="l" t="t" r="r" b="b"/>
            <a:pathLst>
              <a:path w="5027157" h="1040102">
                <a:moveTo>
                  <a:pt x="5027157" y="0"/>
                </a:moveTo>
                <a:lnTo>
                  <a:pt x="5027157" y="1040102"/>
                </a:lnTo>
                <a:lnTo>
                  <a:pt x="0" y="1040102"/>
                </a:lnTo>
                <a:lnTo>
                  <a:pt x="0" y="231134"/>
                </a:lnTo>
              </a:path>
            </a:pathLst>
          </a:custGeom>
          <a:noFill/>
          <a:ln w="15875">
            <a:solidFill>
              <a:schemeClr val="accent5"/>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9" name="Text 62"/>
          <p:cNvSpPr txBox="1"/>
          <p:nvPr/>
        </p:nvSpPr>
        <p:spPr>
          <a:xfrm>
            <a:off x="2282142" y="5113431"/>
            <a:ext cx="3467005" cy="254247"/>
          </a:xfrm>
          <a:prstGeom prst="rect">
            <a:avLst/>
          </a:prstGeom>
          <a:noFill/>
        </p:spPr>
        <p:txBody>
          <a:bodyPr wrap="square" anchor="ctr" lIns="0" rIns="0" tIns="0" bIns="0">
            <a:spAutoFit/>
          </a:bodyPr>
          <a:lstStyle/>
          <a:p>
            <a:pPr algn="ctr"/>
            <a:r>
              <a:rPr sz="1000" b="0">
                <a:solidFill>
                  <a:schemeClr val="accent5"/>
                </a:solidFill>
              </a:rPr>
              <a:t>egress: responses and session events</a:t>
            </a:r>
          </a:p>
        </p:txBody>
      </p:sp>
      <p:sp>
        <p:nvSpPr>
          <p:cNvPr id="9020" name="Host 63"/>
          <p:cNvSpPr/>
          <p:nvPr/>
        </p:nvSpPr>
        <p:spPr>
          <a:xfrm>
            <a:off x="7829350" y="1831334"/>
            <a:ext cx="3698138" cy="1849069"/>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l"/>
            <a:r>
              <a:rPr sz="1100" b="1">
                <a:solidFill>
                  <a:schemeClr val="accent5"/>
                </a:solidFill>
              </a:rPr>
              <a:t>FOLLOWER</a:t>
            </a:r>
          </a:p>
        </p:txBody>
      </p:sp>
      <p:sp>
        <p:nvSpPr>
          <p:cNvPr id="9021" name="Box 64"/>
          <p:cNvSpPr/>
          <p:nvPr/>
        </p:nvSpPr>
        <p:spPr>
          <a:xfrm>
            <a:off x="8060484" y="2235818"/>
            <a:ext cx="1502369" cy="531607"/>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Consensus module</a:t>
            </a:r>
          </a:p>
        </p:txBody>
      </p:sp>
      <p:sp>
        <p:nvSpPr>
          <p:cNvPr id="9022" name="Box 65"/>
          <p:cNvSpPr/>
          <p:nvPr/>
        </p:nvSpPr>
        <p:spPr>
          <a:xfrm>
            <a:off x="9793986" y="2235818"/>
            <a:ext cx="1502369" cy="531607"/>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Archive</a:t>
            </a:r>
          </a:p>
        </p:txBody>
      </p:sp>
      <p:sp>
        <p:nvSpPr>
          <p:cNvPr id="9023" name="Box 66"/>
          <p:cNvSpPr/>
          <p:nvPr/>
        </p:nvSpPr>
        <p:spPr>
          <a:xfrm>
            <a:off x="8060484" y="2929218"/>
            <a:ext cx="3235871" cy="531607"/>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Clustered service</a:t>
            </a:r>
          </a:p>
          <a:p>
            <a:pPr algn="ctr"/>
            <a:r>
              <a:rPr sz="1000" b="0">
                <a:solidFill>
                  <a:schemeClr val="accent5"/>
                </a:solidFill>
              </a:rPr>
              <a:t>same input, same state</a:t>
            </a:r>
          </a:p>
        </p:txBody>
      </p:sp>
      <p:sp>
        <p:nvSpPr>
          <p:cNvPr id="9024" name="Host 67"/>
          <p:cNvSpPr/>
          <p:nvPr/>
        </p:nvSpPr>
        <p:spPr>
          <a:xfrm>
            <a:off x="7829350" y="3911536"/>
            <a:ext cx="3698138" cy="1849069"/>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l"/>
            <a:r>
              <a:rPr sz="1100" b="1">
                <a:solidFill>
                  <a:schemeClr val="accent5"/>
                </a:solidFill>
              </a:rPr>
              <a:t>FOLLOWER</a:t>
            </a:r>
          </a:p>
        </p:txBody>
      </p:sp>
      <p:sp>
        <p:nvSpPr>
          <p:cNvPr id="9025" name="Box 68"/>
          <p:cNvSpPr/>
          <p:nvPr/>
        </p:nvSpPr>
        <p:spPr>
          <a:xfrm>
            <a:off x="8060484" y="4316020"/>
            <a:ext cx="1502369" cy="531607"/>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Consensus module</a:t>
            </a:r>
          </a:p>
        </p:txBody>
      </p:sp>
      <p:sp>
        <p:nvSpPr>
          <p:cNvPr id="9026" name="Box 69"/>
          <p:cNvSpPr/>
          <p:nvPr/>
        </p:nvSpPr>
        <p:spPr>
          <a:xfrm>
            <a:off x="9793986" y="4316020"/>
            <a:ext cx="1502369" cy="531607"/>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Archive</a:t>
            </a:r>
          </a:p>
        </p:txBody>
      </p:sp>
      <p:sp>
        <p:nvSpPr>
          <p:cNvPr id="9027" name="Box 70"/>
          <p:cNvSpPr/>
          <p:nvPr/>
        </p:nvSpPr>
        <p:spPr>
          <a:xfrm>
            <a:off x="8060484" y="5009421"/>
            <a:ext cx="3235871" cy="531607"/>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Clustered service</a:t>
            </a:r>
          </a:p>
          <a:p>
            <a:pPr algn="ctr"/>
            <a:r>
              <a:rPr sz="1000" b="0">
                <a:solidFill>
                  <a:schemeClr val="accent5"/>
                </a:solidFill>
              </a:rPr>
              <a:t>same input, same state</a:t>
            </a:r>
          </a:p>
        </p:txBody>
      </p:sp>
      <p:cxnSp>
        <p:nvCxnSpPr>
          <p:cNvPr id="9028" name="Arrow 71"/>
          <p:cNvCxnSpPr/>
          <p:nvPr/>
        </p:nvCxnSpPr>
        <p:spPr>
          <a:xfrm flipV="1">
            <a:off x="6904815" y="2501621"/>
            <a:ext cx="1155669" cy="46227"/>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29" name="Arrow 72"/>
          <p:cNvCxnSpPr/>
          <p:nvPr/>
        </p:nvCxnSpPr>
        <p:spPr>
          <a:xfrm>
            <a:off x="6904815" y="2709642"/>
            <a:ext cx="1155669" cy="1872182"/>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30" name="Text 73"/>
          <p:cNvSpPr txBox="1"/>
          <p:nvPr/>
        </p:nvSpPr>
        <p:spPr>
          <a:xfrm>
            <a:off x="7020382" y="2201147"/>
            <a:ext cx="924535" cy="231134"/>
          </a:xfrm>
          <a:prstGeom prst="rect">
            <a:avLst/>
          </a:prstGeom>
          <a:noFill/>
        </p:spPr>
        <p:txBody>
          <a:bodyPr wrap="square" anchor="ctr" lIns="0" rIns="0" tIns="0" bIns="0">
            <a:spAutoFit/>
          </a:bodyPr>
          <a:lstStyle/>
          <a:p>
            <a:pPr algn="ctr"/>
            <a:r>
              <a:rPr sz="1000" b="0">
                <a:solidFill>
                  <a:schemeClr val="accent1"/>
                </a:solidFill>
              </a:rPr>
              <a:t>log</a:t>
            </a:r>
          </a:p>
        </p:txBody>
      </p:sp>
      <p:sp>
        <p:nvSpPr>
          <p:cNvPr id="9031" name="Text 74"/>
          <p:cNvSpPr txBox="1"/>
          <p:nvPr/>
        </p:nvSpPr>
        <p:spPr>
          <a:xfrm>
            <a:off x="548640" y="5852160"/>
            <a:ext cx="11094415" cy="365760"/>
          </a:xfrm>
          <a:prstGeom prst="rect">
            <a:avLst/>
          </a:prstGeom>
          <a:noFill/>
        </p:spPr>
        <p:txBody>
          <a:bodyPr wrap="square" anchor="t" lIns="0" rIns="0" tIns="0" bIns="0">
            <a:spAutoFit/>
          </a:bodyPr>
          <a:lstStyle/>
          <a:p>
            <a:pPr algn="l"/>
            <a:r>
              <a:rPr sz="1400" b="1">
                <a:solidFill>
                  <a:schemeClr val="tx1"/>
                </a:solidFill>
              </a:rPr>
              <a:t>Member: </a:t>
            </a:r>
            <a:r>
              <a:rPr sz="1400" b="0">
                <a:solidFill>
                  <a:schemeClr val="tx1"/>
                </a:solidFill>
              </a:rPr>
              <a:t>one node of the cluster: consensus module, archive, clustered service. In this deck, always a cluster member.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What seqeron takes from Aeron</a:t>
            </a:r>
          </a:p>
        </p:txBody>
      </p:sp>
      <p:sp>
        <p:nvSpPr>
          <p:cNvPr id="3" name="Text 75"/>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Three properties it builds on rather than reimplements</a:t>
            </a:r>
          </a:p>
        </p:txBody>
      </p:sp>
      <p:sp>
        <p:nvSpPr>
          <p:cNvPr id="9006" name="Slide number"/>
          <p:cNvSpPr txBox="1"/>
          <p:nvPr userDrawn="1"/>
        </p:nvSpPr>
        <p:spPr>
          <a:xfrm>
            <a:off x="10728655" y="6400800"/>
            <a:ext cx="914400" cy="274320"/>
          </a:xfrm>
          <a:prstGeom prst="rect">
            <a:avLst/>
          </a:prstGeom>
          <a:noFill/>
        </p:spPr>
        <p:txBody>
          <a:bodyPr wrap="none" lIns="0" tIns="0" rIns="0" bIns="0" anchor="ctr"/>
          <a:lstStyle/>
          <a:p>
            <a:pPr algn="r"/>
            <a:fld id="{dfcac94b-478d-4c82-be36-1a5c24752895}" type="slidenum">
              <a:rPr lang="en-US" sz="1000" dirty="0">
                <a:solidFill>
                  <a:schemeClr val="accent5"/>
                </a:solidFill>
              </a:rPr>
              <a:t>6</a:t>
            </a:fld>
          </a:p>
        </p:txBody>
      </p:sp>
      <p:sp>
        <p:nvSpPr>
          <p:cNvPr id="9007" name="Column 76"/>
          <p:cNvSpPr/>
          <p:nvPr/>
        </p:nvSpPr>
        <p:spPr>
          <a:xfrm>
            <a:off x="548640" y="1691640"/>
            <a:ext cx="3511296" cy="3977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8" name="Number 77"/>
          <p:cNvSpPr/>
          <p:nvPr/>
        </p:nvSpPr>
        <p:spPr>
          <a:xfrm>
            <a:off x="777240" y="192024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chemeClr val="bg1"/>
                </a:solidFill>
              </a:rPr>
              <a:t>1</a:t>
            </a:r>
          </a:p>
        </p:txBody>
      </p:sp>
      <p:sp>
        <p:nvSpPr>
          <p:cNvPr id="9009" name="Text 78"/>
          <p:cNvSpPr txBox="1"/>
          <p:nvPr/>
        </p:nvSpPr>
        <p:spPr>
          <a:xfrm>
            <a:off x="777240" y="2560320"/>
            <a:ext cx="3054096" cy="822960"/>
          </a:xfrm>
          <a:prstGeom prst="rect">
            <a:avLst/>
          </a:prstGeom>
          <a:noFill/>
        </p:spPr>
        <p:txBody>
          <a:bodyPr wrap="square" anchor="t" lIns="0" rIns="0" tIns="0" bIns="0">
            <a:spAutoFit/>
          </a:bodyPr>
          <a:lstStyle/>
          <a:p>
            <a:pPr algn="l"/>
            <a:r>
              <a:rPr sz="1800" b="1" cap="none">
                <a:solidFill>
                  <a:schemeClr val="tx1"/>
                </a:solidFill>
                <a:latin typeface="+mj-lt"/>
              </a:rPr>
              <a:t>Explicit back-pressure</a:t>
            </a:r>
          </a:p>
        </p:txBody>
      </p:sp>
      <p:sp>
        <p:nvSpPr>
          <p:cNvPr id="9010" name="Text 79"/>
          <p:cNvSpPr txBox="1"/>
          <p:nvPr/>
        </p:nvSpPr>
        <p:spPr>
          <a:xfrm>
            <a:off x="777240" y="3429000"/>
            <a:ext cx="3054096" cy="274320"/>
          </a:xfrm>
          <a:prstGeom prst="rect">
            <a:avLst/>
          </a:prstGeom>
          <a:noFill/>
        </p:spPr>
        <p:txBody>
          <a:bodyPr wrap="square" anchor="t" lIns="0" rIns="0" tIns="0" bIns="0">
            <a:spAutoFit/>
          </a:bodyPr>
          <a:lstStyle/>
          <a:p>
            <a:pPr algn="l"/>
            <a:r>
              <a:rPr sz="1100" b="1">
                <a:solidFill>
                  <a:schemeClr val="accent5"/>
                </a:solidFill>
              </a:rPr>
              <a:t>AERON GIVES</a:t>
            </a:r>
          </a:p>
        </p:txBody>
      </p:sp>
      <p:sp>
        <p:nvSpPr>
          <p:cNvPr id="9011" name="Text 80"/>
          <p:cNvSpPr txBox="1"/>
          <p:nvPr/>
        </p:nvSpPr>
        <p:spPr>
          <a:xfrm>
            <a:off x="777240" y="3703320"/>
            <a:ext cx="3054096" cy="731520"/>
          </a:xfrm>
          <a:prstGeom prst="rect">
            <a:avLst/>
          </a:prstGeom>
          <a:noFill/>
        </p:spPr>
        <p:txBody>
          <a:bodyPr wrap="square" anchor="t" lIns="0" rIns="0" tIns="0" bIns="0">
            <a:spAutoFit/>
          </a:bodyPr>
          <a:lstStyle/>
          <a:p>
            <a:pPr algn="l"/>
            <a:r>
              <a:rPr sz="1400" b="0">
                <a:solidFill>
                  <a:schemeClr val="tx1"/>
                </a:solidFill>
              </a:rPr>
              <a:t>Offers fail visibly instead of queuing.</a:t>
            </a:r>
          </a:p>
        </p:txBody>
      </p:sp>
      <p:sp>
        <p:nvSpPr>
          <p:cNvPr id="9012" name="Text 81"/>
          <p:cNvSpPr txBox="1"/>
          <p:nvPr/>
        </p:nvSpPr>
        <p:spPr>
          <a:xfrm>
            <a:off x="777240" y="4526280"/>
            <a:ext cx="3054096" cy="274320"/>
          </a:xfrm>
          <a:prstGeom prst="rect">
            <a:avLst/>
          </a:prstGeom>
          <a:noFill/>
        </p:spPr>
        <p:txBody>
          <a:bodyPr wrap="square" anchor="t" lIns="0" rIns="0" tIns="0" bIns="0">
            <a:spAutoFit/>
          </a:bodyPr>
          <a:lstStyle/>
          <a:p>
            <a:pPr algn="l"/>
            <a:r>
              <a:rPr sz="1100" b="1">
                <a:solidFill>
                  <a:schemeClr val="accent1"/>
                </a:solidFill>
              </a:rPr>
              <a:t>SEQERON BUILDS</a:t>
            </a:r>
          </a:p>
        </p:txBody>
      </p:sp>
      <p:sp>
        <p:nvSpPr>
          <p:cNvPr id="9013" name="Text 82"/>
          <p:cNvSpPr txBox="1"/>
          <p:nvPr/>
        </p:nvSpPr>
        <p:spPr>
          <a:xfrm>
            <a:off x="777240" y="4800600"/>
            <a:ext cx="3054096" cy="822960"/>
          </a:xfrm>
          <a:prstGeom prst="rect">
            <a:avLst/>
          </a:prstGeom>
          <a:noFill/>
        </p:spPr>
        <p:txBody>
          <a:bodyPr wrap="square" anchor="t" lIns="0" rIns="0" tIns="0" bIns="0">
            <a:spAutoFit/>
          </a:bodyPr>
          <a:lstStyle/>
          <a:p>
            <a:pPr algn="l"/>
            <a:r>
              <a:rPr sz="1400" b="0">
                <a:solidFill>
                  <a:schemeClr val="tx1"/>
                </a:solidFill>
              </a:rPr>
              <a:t>A reliable queue that is still bounded; untethered consumers that cannot slow the sequencer.</a:t>
            </a:r>
          </a:p>
        </p:txBody>
      </p:sp>
      <p:sp>
        <p:nvSpPr>
          <p:cNvPr id="9014" name="Column 83"/>
          <p:cNvSpPr/>
          <p:nvPr/>
        </p:nvSpPr>
        <p:spPr>
          <a:xfrm>
            <a:off x="4338828" y="1691640"/>
            <a:ext cx="3511296" cy="3977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5" name="Number 84"/>
          <p:cNvSpPr/>
          <p:nvPr/>
        </p:nvSpPr>
        <p:spPr>
          <a:xfrm>
            <a:off x="4567428" y="192024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chemeClr val="bg1"/>
                </a:solidFill>
              </a:rPr>
              <a:t>2</a:t>
            </a:r>
          </a:p>
        </p:txBody>
      </p:sp>
      <p:sp>
        <p:nvSpPr>
          <p:cNvPr id="9016" name="Text 85"/>
          <p:cNvSpPr txBox="1"/>
          <p:nvPr/>
        </p:nvSpPr>
        <p:spPr>
          <a:xfrm>
            <a:off x="4567428" y="2560320"/>
            <a:ext cx="3054096" cy="822960"/>
          </a:xfrm>
          <a:prstGeom prst="rect">
            <a:avLst/>
          </a:prstGeom>
          <a:noFill/>
        </p:spPr>
        <p:txBody>
          <a:bodyPr wrap="square" anchor="t" lIns="0" rIns="0" tIns="0" bIns="0">
            <a:spAutoFit/>
          </a:bodyPr>
          <a:lstStyle/>
          <a:p>
            <a:pPr algn="l"/>
            <a:r>
              <a:rPr sz="1800" b="1" cap="none">
                <a:solidFill>
                  <a:schemeClr val="tx1"/>
                </a:solidFill>
                <a:latin typeface="+mj-lt"/>
              </a:rPr>
              <a:t>Local recording, replay by position</a:t>
            </a:r>
          </a:p>
        </p:txBody>
      </p:sp>
      <p:sp>
        <p:nvSpPr>
          <p:cNvPr id="9017" name="Text 86"/>
          <p:cNvSpPr txBox="1"/>
          <p:nvPr/>
        </p:nvSpPr>
        <p:spPr>
          <a:xfrm>
            <a:off x="4567428" y="3429000"/>
            <a:ext cx="3054096" cy="274320"/>
          </a:xfrm>
          <a:prstGeom prst="rect">
            <a:avLst/>
          </a:prstGeom>
          <a:noFill/>
        </p:spPr>
        <p:txBody>
          <a:bodyPr wrap="square" anchor="t" lIns="0" rIns="0" tIns="0" bIns="0">
            <a:spAutoFit/>
          </a:bodyPr>
          <a:lstStyle/>
          <a:p>
            <a:pPr algn="l"/>
            <a:r>
              <a:rPr sz="1100" b="1">
                <a:solidFill>
                  <a:schemeClr val="accent5"/>
                </a:solidFill>
              </a:rPr>
              <a:t>AERON GIVES</a:t>
            </a:r>
          </a:p>
        </p:txBody>
      </p:sp>
      <p:sp>
        <p:nvSpPr>
          <p:cNvPr id="9018" name="Text 87"/>
          <p:cNvSpPr txBox="1"/>
          <p:nvPr/>
        </p:nvSpPr>
        <p:spPr>
          <a:xfrm>
            <a:off x="4567428" y="3703320"/>
            <a:ext cx="3054096" cy="731520"/>
          </a:xfrm>
          <a:prstGeom prst="rect">
            <a:avLst/>
          </a:prstGeom>
          <a:noFill/>
        </p:spPr>
        <p:txBody>
          <a:bodyPr wrap="square" anchor="t" lIns="0" rIns="0" tIns="0" bIns="0">
            <a:spAutoFit/>
          </a:bodyPr>
          <a:lstStyle/>
          <a:p>
            <a:pPr algn="l"/>
            <a:r>
              <a:rPr sz="1400" b="0">
                <a:solidFill>
                  <a:schemeClr val="tx1"/>
                </a:solidFill>
              </a:rPr>
              <a:t>Each member's archive records any stream to disk, read back from any byte.</a:t>
            </a:r>
          </a:p>
        </p:txBody>
      </p:sp>
      <p:sp>
        <p:nvSpPr>
          <p:cNvPr id="9019" name="Text 88"/>
          <p:cNvSpPr txBox="1"/>
          <p:nvPr/>
        </p:nvSpPr>
        <p:spPr>
          <a:xfrm>
            <a:off x="4567428" y="4526280"/>
            <a:ext cx="3054096" cy="274320"/>
          </a:xfrm>
          <a:prstGeom prst="rect">
            <a:avLst/>
          </a:prstGeom>
          <a:noFill/>
        </p:spPr>
        <p:txBody>
          <a:bodyPr wrap="square" anchor="t" lIns="0" rIns="0" tIns="0" bIns="0">
            <a:spAutoFit/>
          </a:bodyPr>
          <a:lstStyle/>
          <a:p>
            <a:pPr algn="l"/>
            <a:r>
              <a:rPr sz="1100" b="1">
                <a:solidFill>
                  <a:schemeClr val="accent1"/>
                </a:solidFill>
              </a:rPr>
              <a:t>SEQERON BUILDS</a:t>
            </a:r>
          </a:p>
        </p:txBody>
      </p:sp>
      <p:sp>
        <p:nvSpPr>
          <p:cNvPr id="9020" name="Text 89"/>
          <p:cNvSpPr txBox="1"/>
          <p:nvPr/>
        </p:nvSpPr>
        <p:spPr>
          <a:xfrm>
            <a:off x="4567428" y="4800600"/>
            <a:ext cx="3054096" cy="822960"/>
          </a:xfrm>
          <a:prstGeom prst="rect">
            <a:avLst/>
          </a:prstGeom>
          <a:noFill/>
        </p:spPr>
        <p:txBody>
          <a:bodyPr wrap="square" anchor="t" lIns="0" rIns="0" tIns="0" bIns="0">
            <a:spAutoFit/>
          </a:bodyPr>
          <a:lstStyle/>
          <a:p>
            <a:pPr algn="l"/>
            <a:r>
              <a:rPr sz="1400" b="0">
                <a:solidFill>
                  <a:schemeClr val="tx1"/>
                </a:solidFill>
              </a:rPr>
              <a:t>Every cluster member keeps full history; every client recovers from its own host.</a:t>
            </a:r>
          </a:p>
        </p:txBody>
      </p:sp>
      <p:sp>
        <p:nvSpPr>
          <p:cNvPr id="9021" name="Column 90"/>
          <p:cNvSpPr/>
          <p:nvPr/>
        </p:nvSpPr>
        <p:spPr>
          <a:xfrm>
            <a:off x="8129016" y="1691640"/>
            <a:ext cx="3511296" cy="3977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2" name="Number 91"/>
          <p:cNvSpPr/>
          <p:nvPr/>
        </p:nvSpPr>
        <p:spPr>
          <a:xfrm>
            <a:off x="8357616" y="192024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chemeClr val="bg1"/>
                </a:solidFill>
              </a:rPr>
              <a:t>3</a:t>
            </a:r>
          </a:p>
        </p:txBody>
      </p:sp>
      <p:sp>
        <p:nvSpPr>
          <p:cNvPr id="9023" name="Text 92"/>
          <p:cNvSpPr txBox="1"/>
          <p:nvPr/>
        </p:nvSpPr>
        <p:spPr>
          <a:xfrm>
            <a:off x="8357616" y="2560320"/>
            <a:ext cx="3054096" cy="822960"/>
          </a:xfrm>
          <a:prstGeom prst="rect">
            <a:avLst/>
          </a:prstGeom>
          <a:noFill/>
        </p:spPr>
        <p:txBody>
          <a:bodyPr wrap="square" anchor="t" lIns="0" rIns="0" tIns="0" bIns="0">
            <a:spAutoFit/>
          </a:bodyPr>
          <a:lstStyle/>
          <a:p>
            <a:pPr algn="l"/>
            <a:r>
              <a:rPr sz="1800" b="1" cap="none">
                <a:solidFill>
                  <a:schemeClr val="tx1"/>
                </a:solidFill>
                <a:latin typeface="+mj-lt"/>
              </a:rPr>
              <a:t>Replicated log, deterministic time</a:t>
            </a:r>
          </a:p>
        </p:txBody>
      </p:sp>
      <p:sp>
        <p:nvSpPr>
          <p:cNvPr id="9024" name="Text 93"/>
          <p:cNvSpPr txBox="1"/>
          <p:nvPr/>
        </p:nvSpPr>
        <p:spPr>
          <a:xfrm>
            <a:off x="8357616" y="3429000"/>
            <a:ext cx="3054096" cy="274320"/>
          </a:xfrm>
          <a:prstGeom prst="rect">
            <a:avLst/>
          </a:prstGeom>
          <a:noFill/>
        </p:spPr>
        <p:txBody>
          <a:bodyPr wrap="square" anchor="t" lIns="0" rIns="0" tIns="0" bIns="0">
            <a:spAutoFit/>
          </a:bodyPr>
          <a:lstStyle/>
          <a:p>
            <a:pPr algn="l"/>
            <a:r>
              <a:rPr sz="1100" b="1">
                <a:solidFill>
                  <a:schemeClr val="accent5"/>
                </a:solidFill>
              </a:rPr>
              <a:t>AERON GIVES</a:t>
            </a:r>
          </a:p>
        </p:txBody>
      </p:sp>
      <p:sp>
        <p:nvSpPr>
          <p:cNvPr id="9025" name="Text 94"/>
          <p:cNvSpPr txBox="1"/>
          <p:nvPr/>
        </p:nvSpPr>
        <p:spPr>
          <a:xfrm>
            <a:off x="8357616" y="3703320"/>
            <a:ext cx="3054096" cy="731520"/>
          </a:xfrm>
          <a:prstGeom prst="rect">
            <a:avLst/>
          </a:prstGeom>
          <a:noFill/>
        </p:spPr>
        <p:txBody>
          <a:bodyPr wrap="square" anchor="t" lIns="0" rIns="0" tIns="0" bIns="0">
            <a:spAutoFit/>
          </a:bodyPr>
          <a:lstStyle/>
          <a:p>
            <a:pPr algn="l"/>
            <a:r>
              <a:rPr sz="1400" b="0">
                <a:solidFill>
                  <a:schemeClr val="tx1"/>
                </a:solidFill>
              </a:rPr>
              <a:t>Raft order plus the leader's timestamp in the log.</a:t>
            </a:r>
          </a:p>
        </p:txBody>
      </p:sp>
      <p:sp>
        <p:nvSpPr>
          <p:cNvPr id="9026" name="Text 95"/>
          <p:cNvSpPr txBox="1"/>
          <p:nvPr/>
        </p:nvSpPr>
        <p:spPr>
          <a:xfrm>
            <a:off x="8357616" y="4526280"/>
            <a:ext cx="3054096" cy="274320"/>
          </a:xfrm>
          <a:prstGeom prst="rect">
            <a:avLst/>
          </a:prstGeom>
          <a:noFill/>
        </p:spPr>
        <p:txBody>
          <a:bodyPr wrap="square" anchor="t" lIns="0" rIns="0" tIns="0" bIns="0">
            <a:spAutoFit/>
          </a:bodyPr>
          <a:lstStyle/>
          <a:p>
            <a:pPr algn="l"/>
            <a:r>
              <a:rPr sz="1100" b="1">
                <a:solidFill>
                  <a:schemeClr val="accent1"/>
                </a:solidFill>
              </a:rPr>
              <a:t>SEQERON BUILDS</a:t>
            </a:r>
          </a:p>
        </p:txBody>
      </p:sp>
      <p:sp>
        <p:nvSpPr>
          <p:cNvPr id="9027" name="Text 96"/>
          <p:cNvSpPr txBox="1"/>
          <p:nvPr/>
        </p:nvSpPr>
        <p:spPr>
          <a:xfrm>
            <a:off x="8357616" y="4800600"/>
            <a:ext cx="3054096" cy="822960"/>
          </a:xfrm>
          <a:prstGeom prst="rect">
            <a:avLst/>
          </a:prstGeom>
          <a:noFill/>
        </p:spPr>
        <p:txBody>
          <a:bodyPr wrap="square" anchor="t" lIns="0" rIns="0" tIns="0" bIns="0">
            <a:spAutoFit/>
          </a:bodyPr>
          <a:lstStyle/>
          <a:p>
            <a:pPr algn="l"/>
            <a:r>
              <a:rPr sz="1400" b="0">
                <a:solidFill>
                  <a:schemeClr val="tx1"/>
                </a:solidFill>
              </a:rPr>
              <a:t>One total order, a cluster clock, and an election every node decides identically.</a:t>
            </a:r>
          </a:p>
        </p:txBody>
      </p:sp>
      <p:sp>
        <p:nvSpPr>
          <p:cNvPr id="9028" name="Text 97"/>
          <p:cNvSpPr txBox="1"/>
          <p:nvPr/>
        </p:nvSpPr>
        <p:spPr>
          <a:xfrm>
            <a:off x="548640" y="5806440"/>
            <a:ext cx="11094415" cy="365760"/>
          </a:xfrm>
          <a:prstGeom prst="rect">
            <a:avLst/>
          </a:prstGeom>
          <a:noFill/>
        </p:spPr>
        <p:txBody>
          <a:bodyPr wrap="square" anchor="t" lIns="0" rIns="0" tIns="0" bIns="0">
            <a:spAutoFit/>
          </a:bodyPr>
          <a:lstStyle/>
          <a:p>
            <a:pPr algn="l"/>
            <a:r>
              <a:rPr sz="1400" b="1">
                <a:solidFill>
                  <a:schemeClr val="accent1"/>
                </a:solidFill>
              </a:rPr>
              <a:t>Open source: </a:t>
            </a:r>
            <a:r>
              <a:rPr sz="1400" b="0">
                <a:solidFill>
                  <a:schemeClr val="tx1"/>
                </a:solidFill>
              </a:rPr>
              <a:t>Aeron, Agrona and SBE, all Apache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Aeron Cluster used directly</a:t>
            </a:r>
          </a:p>
        </p:txBody>
      </p:sp>
      <p:sp>
        <p:nvSpPr>
          <p:cNvPr id="3" name="Text 98"/>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What every cluster would otherwise build for itself</a:t>
            </a:r>
          </a:p>
        </p:txBody>
      </p:sp>
      <p:sp>
        <p:nvSpPr>
          <p:cNvPr id="9007" name="Slide number"/>
          <p:cNvSpPr txBox="1"/>
          <p:nvPr userDrawn="1"/>
        </p:nvSpPr>
        <p:spPr>
          <a:xfrm>
            <a:off x="10728655" y="6400800"/>
            <a:ext cx="914400" cy="274320"/>
          </a:xfrm>
          <a:prstGeom prst="rect">
            <a:avLst/>
          </a:prstGeom>
          <a:noFill/>
        </p:spPr>
        <p:txBody>
          <a:bodyPr wrap="none" lIns="0" tIns="0" rIns="0" bIns="0" anchor="ctr"/>
          <a:lstStyle/>
          <a:p>
            <a:pPr algn="r"/>
            <a:fld id="{89ac4db8-737e-4b35-918d-10ea7bc77049}" type="slidenum">
              <a:rPr lang="en-US" sz="1000" dirty="0">
                <a:solidFill>
                  <a:schemeClr val="accent5"/>
                </a:solidFill>
              </a:rPr>
              <a:t>7</a:t>
            </a:fld>
          </a:p>
        </p:txBody>
      </p:sp>
      <p:graphicFrame>
        <p:nvGraphicFramePr>
          <p:cNvPr id="9008" name="Table 99"/>
          <p:cNvGraphicFramePr>
            <a:graphicFrameLocks noGrp="1"/>
          </p:cNvGraphicFramePr>
          <p:nvPr/>
        </p:nvGraphicFramePr>
        <p:xfrm>
          <a:off x="548640" y="1645920"/>
          <a:ext cx="11091672" cy="4096512"/>
        </p:xfrm>
        <a:graphic>
          <a:graphicData uri="http://schemas.openxmlformats.org/drawingml/2006/table">
            <a:tbl>
              <a:tblPr firstRow="1">
                <a:tableStyleId>{5C22544A-7EE6-4342-B048-85BDC9FD1C3A}</a:tableStyleId>
              </a:tblPr>
              <a:tblGrid>
                <a:gridCol w="2606040"/>
                <a:gridCol w="4023360"/>
                <a:gridCol w="4462272"/>
              </a:tblGrid>
              <a:tr h="512064">
                <a:tc>
                  <a:txBody>
                    <a:bodyPr/>
                    <a:lstStyle/>
                    <a:p>
                      <a:pPr algn="l"/>
                      <a:r>
                        <a:rPr sz="1200" b="1">
                          <a:solidFill>
                            <a:schemeClr val="bg1"/>
                          </a:solidFill>
                        </a:rPr>
                        <a:t>Need</a:t>
                      </a:r>
                    </a:p>
                  </a:txBody>
                  <a:tcPr marL="91440" marR="91440" marT="45720" marB="45720" anchor="ctr">
                    <a:solidFill>
                      <a:schemeClr val="accent1"/>
                    </a:solidFill>
                  </a:tcPr>
                </a:tc>
                <a:tc>
                  <a:txBody>
                    <a:bodyPr/>
                    <a:lstStyle/>
                    <a:p>
                      <a:pPr algn="l"/>
                      <a:r>
                        <a:rPr sz="1200" b="1">
                          <a:solidFill>
                            <a:schemeClr val="bg1"/>
                          </a:solidFill>
                        </a:rPr>
                        <a:t>Aeron Cluster gives</a:t>
                      </a:r>
                    </a:p>
                  </a:txBody>
                  <a:tcPr marL="91440" marR="91440" marT="45720" marB="45720" anchor="ctr">
                    <a:solidFill>
                      <a:schemeClr val="accent1"/>
                    </a:solidFill>
                  </a:tcPr>
                </a:tc>
                <a:tc>
                  <a:txBody>
                    <a:bodyPr/>
                    <a:lstStyle/>
                    <a:p>
                      <a:pPr algn="l"/>
                      <a:r>
                        <a:rPr sz="1200" b="1">
                          <a:solidFill>
                            <a:schemeClr val="bg1"/>
                          </a:solidFill>
                        </a:rPr>
                        <a:t>seqeron adds</a:t>
                      </a:r>
                    </a:p>
                  </a:txBody>
                  <a:tcPr marL="91440" marR="91440" marT="45720" marB="45720" anchor="ctr">
                    <a:solidFill>
                      <a:schemeClr val="accent1"/>
                    </a:solidFill>
                  </a:tcPr>
                </a:tc>
              </a:tr>
              <a:tr h="512064">
                <a:tc>
                  <a:txBody>
                    <a:bodyPr/>
                    <a:lstStyle/>
                    <a:p>
                      <a:pPr algn="l"/>
                      <a:r>
                        <a:rPr sz="1300" b="1">
                          <a:solidFill>
                            <a:schemeClr val="tx1"/>
                          </a:solidFill>
                        </a:rPr>
                        <a:t>Know a message is sequenced</a:t>
                      </a:r>
                    </a:p>
                  </a:txBody>
                  <a:tcPr marL="91440" marR="91440" marT="45720" marB="45720" anchor="ctr">
                    <a:solidFill>
                      <a:schemeClr val="bg1"/>
                    </a:solidFill>
                  </a:tcPr>
                </a:tc>
                <a:tc>
                  <a:txBody>
                    <a:bodyPr/>
                    <a:lstStyle/>
                    <a:p>
                      <a:pPr algn="l"/>
                      <a:r>
                        <a:rPr sz="1300" b="0">
                          <a:solidFill>
                            <a:schemeClr val="tx1"/>
                          </a:solidFill>
                        </a:rPr>
                        <a:t>An offer result; failover loses uncommitted ingress silently</a:t>
                      </a:r>
                    </a:p>
                  </a:txBody>
                  <a:tcPr marL="91440" marR="91440" marT="45720" marB="45720" anchor="ctr">
                    <a:solidFill>
                      <a:schemeClr val="bg1"/>
                    </a:solidFill>
                  </a:tcPr>
                </a:tc>
                <a:tc>
                  <a:txBody>
                    <a:bodyPr/>
                    <a:lstStyle/>
                    <a:p>
                      <a:pPr algn="l"/>
                      <a:r>
                        <a:rPr sz="1300" b="0">
                          <a:solidFill>
                            <a:schemeClr val="tx1"/>
                          </a:solidFill>
                        </a:rPr>
                        <a:t>Confirmed ingress: held until its own queue shows it, resent after a term change</a:t>
                      </a:r>
                    </a:p>
                  </a:txBody>
                  <a:tcPr marL="91440" marR="91440" marT="45720" marB="45720" anchor="ctr">
                    <a:solidFill>
                      <a:schemeClr val="bg1"/>
                    </a:solidFill>
                  </a:tcPr>
                </a:tc>
              </a:tr>
              <a:tr h="512064">
                <a:tc>
                  <a:txBody>
                    <a:bodyPr/>
                    <a:lstStyle/>
                    <a:p>
                      <a:pPr algn="l"/>
                      <a:r>
                        <a:rPr sz="1300" b="1">
                          <a:solidFill>
                            <a:schemeClr val="tx1"/>
                          </a:solidFill>
                        </a:rPr>
                        <a:t>Join from history</a:t>
                      </a:r>
                    </a:p>
                  </a:txBody>
                  <a:tcPr marL="91440" marR="91440" marT="45720" marB="45720" anchor="ctr">
                    <a:solidFill>
                      <a:schemeClr val="bg2"/>
                    </a:solidFill>
                  </a:tcPr>
                </a:tc>
                <a:tc>
                  <a:txBody>
                    <a:bodyPr/>
                    <a:lstStyle/>
                    <a:p>
                      <a:pPr algn="l"/>
                      <a:r>
                        <a:rPr sz="1300" b="0">
                          <a:solidFill>
                            <a:schemeClr val="tx1"/>
                          </a:solidFill>
                        </a:rPr>
                        <a:t>Archive replay by byte position; no gaps, no catching up</a:t>
                      </a:r>
                    </a:p>
                  </a:txBody>
                  <a:tcPr marL="91440" marR="91440" marT="45720" marB="45720" anchor="ctr">
                    <a:solidFill>
                      <a:schemeClr val="bg2"/>
                    </a:solidFill>
                  </a:tcPr>
                </a:tc>
                <a:tc>
                  <a:txBody>
                    <a:bodyPr/>
                    <a:lstStyle/>
                    <a:p>
                      <a:pPr algn="l"/>
                      <a:r>
                        <a:rPr sz="1300" b="0">
                          <a:solidFill>
                            <a:schemeClr val="tx1"/>
                          </a:solidFill>
                        </a:rPr>
                        <a:t>Replay-to-live with gap repair and an anchor check, property-tested</a:t>
                      </a:r>
                    </a:p>
                  </a:txBody>
                  <a:tcPr marL="91440" marR="91440" marT="45720" marB="45720" anchor="ctr">
                    <a:solidFill>
                      <a:schemeClr val="bg2"/>
                    </a:solidFill>
                  </a:tcPr>
                </a:tc>
              </a:tr>
              <a:tr h="512064">
                <a:tc>
                  <a:txBody>
                    <a:bodyPr/>
                    <a:lstStyle/>
                    <a:p>
                      <a:pPr algn="l"/>
                      <a:r>
                        <a:rPr sz="1300" b="1">
                          <a:solidFill>
                            <a:schemeClr val="tx1"/>
                          </a:solidFill>
                        </a:rPr>
                        <a:t>A clock while producers are silent</a:t>
                      </a:r>
                    </a:p>
                  </a:txBody>
                  <a:tcPr marL="91440" marR="91440" marT="45720" marB="45720" anchor="ctr">
                    <a:solidFill>
                      <a:schemeClr val="bg1"/>
                    </a:solidFill>
                  </a:tcPr>
                </a:tc>
                <a:tc>
                  <a:txBody>
                    <a:bodyPr/>
                    <a:lstStyle/>
                    <a:p>
                      <a:pPr algn="l"/>
                      <a:r>
                        <a:rPr sz="1300" b="0">
                          <a:solidFill>
                            <a:schemeClr val="tx1"/>
                          </a:solidFill>
                        </a:rPr>
                        <a:t>Timers inside the clustered service only</a:t>
                      </a:r>
                    </a:p>
                  </a:txBody>
                  <a:tcPr marL="91440" marR="91440" marT="45720" marB="45720" anchor="ctr">
                    <a:solidFill>
                      <a:schemeClr val="bg1"/>
                    </a:solidFill>
                  </a:tcPr>
                </a:tc>
                <a:tc>
                  <a:txBody>
                    <a:bodyPr/>
                    <a:lstStyle/>
                    <a:p>
                      <a:pPr algn="l"/>
                      <a:r>
                        <a:rPr sz="1300" b="0">
                          <a:solidFill>
                            <a:schemeClr val="tx1"/>
                          </a:solidFill>
                        </a:rPr>
                        <a:t>ClusterHeartbeat: 1 Hz on consensus time, on every queue</a:t>
                      </a:r>
                    </a:p>
                  </a:txBody>
                  <a:tcPr marL="91440" marR="91440" marT="45720" marB="45720" anchor="ctr">
                    <a:solidFill>
                      <a:schemeClr val="bg1"/>
                    </a:solidFill>
                  </a:tcPr>
                </a:tc>
              </a:tr>
              <a:tr h="512064">
                <a:tc>
                  <a:txBody>
                    <a:bodyPr/>
                    <a:lstStyle/>
                    <a:p>
                      <a:pPr algn="l"/>
                      <a:r>
                        <a:rPr sz="1300" b="1">
                          <a:solidFill>
                            <a:schemeClr val="tx1"/>
                          </a:solidFill>
                        </a:rPr>
                        <a:t>Active/standby producers</a:t>
                      </a:r>
                    </a:p>
                  </a:txBody>
                  <a:tcPr marL="91440" marR="91440" marT="45720" marB="45720" anchor="ctr">
                    <a:solidFill>
                      <a:schemeClr val="bg2"/>
                    </a:solidFill>
                  </a:tcPr>
                </a:tc>
                <a:tc>
                  <a:txBody>
                    <a:bodyPr/>
                    <a:lstStyle/>
                    <a:p>
                      <a:pPr algn="l"/>
                      <a:r>
                        <a:rPr sz="1300" b="0">
                          <a:solidFill>
                            <a:schemeClr val="tx1"/>
                          </a:solidFill>
                        </a:rPr>
                        <a:t>Nothing</a:t>
                      </a:r>
                    </a:p>
                  </a:txBody>
                  <a:tcPr marL="91440" marR="91440" marT="45720" marB="45720" anchor="ctr">
                    <a:solidFill>
                      <a:schemeClr val="bg2"/>
                    </a:solidFill>
                  </a:tcPr>
                </a:tc>
                <a:tc>
                  <a:txBody>
                    <a:bodyPr/>
                    <a:lstStyle/>
                    <a:p>
                      <a:pPr algn="l"/>
                      <a:r>
                        <a:rPr sz="1300" b="0">
                          <a:solidFill>
                            <a:schemeClr val="tx1"/>
                          </a:solidFill>
                        </a:rPr>
                        <a:t>The gateway election, decided from the log</a:t>
                      </a:r>
                    </a:p>
                  </a:txBody>
                  <a:tcPr marL="91440" marR="91440" marT="45720" marB="45720" anchor="ctr">
                    <a:solidFill>
                      <a:schemeClr val="bg2"/>
                    </a:solidFill>
                  </a:tcPr>
                </a:tc>
              </a:tr>
              <a:tr h="512064">
                <a:tc>
                  <a:txBody>
                    <a:bodyPr/>
                    <a:lstStyle/>
                    <a:p>
                      <a:pPr algn="l"/>
                      <a:r>
                        <a:rPr sz="1300" b="1">
                          <a:solidFill>
                            <a:schemeClr val="tx1"/>
                          </a:solidFill>
                        </a:rPr>
                        <a:t>Services outside the member</a:t>
                      </a:r>
                    </a:p>
                  </a:txBody>
                  <a:tcPr marL="91440" marR="91440" marT="45720" marB="45720" anchor="ctr">
                    <a:solidFill>
                      <a:schemeClr val="bg1"/>
                    </a:solidFill>
                  </a:tcPr>
                </a:tc>
                <a:tc>
                  <a:txBody>
                    <a:bodyPr/>
                    <a:lstStyle/>
                    <a:p>
                      <a:pPr algn="l"/>
                      <a:r>
                        <a:rPr sz="1300" b="0">
                          <a:solidFill>
                            <a:schemeClr val="tx1"/>
                          </a:solidFill>
                        </a:rPr>
                        <a:t>Clustered services, in the member's JVM</a:t>
                      </a:r>
                    </a:p>
                  </a:txBody>
                  <a:tcPr marL="91440" marR="91440" marT="45720" marB="45720" anchor="ctr">
                    <a:solidFill>
                      <a:schemeClr val="bg1"/>
                    </a:solidFill>
                  </a:tcPr>
                </a:tc>
                <a:tc>
                  <a:txBody>
                    <a:bodyPr/>
                    <a:lstStyle/>
                    <a:p>
                      <a:pPr algn="l"/>
                      <a:r>
                        <a:rPr sz="1300" b="0">
                          <a:solidFill>
                            <a:schemeClr val="tx1"/>
                          </a:solidFill>
                        </a:rPr>
                        <a:t>Applications on a member or remote, with a leader gate</a:t>
                      </a:r>
                    </a:p>
                  </a:txBody>
                  <a:tcPr marL="91440" marR="91440" marT="45720" marB="45720" anchor="ctr">
                    <a:solidFill>
                      <a:schemeClr val="bg1"/>
                    </a:solidFill>
                  </a:tcPr>
                </a:tc>
              </a:tr>
              <a:tr h="512064">
                <a:tc>
                  <a:txBody>
                    <a:bodyPr/>
                    <a:lstStyle/>
                    <a:p>
                      <a:pPr algn="l"/>
                      <a:r>
                        <a:rPr sz="1300" b="1">
                          <a:solidFill>
                            <a:schemeClr val="tx1"/>
                          </a:solidFill>
                        </a:rPr>
                        <a:t>Clients beyond Java</a:t>
                      </a:r>
                    </a:p>
                  </a:txBody>
                  <a:tcPr marL="91440" marR="91440" marT="45720" marB="45720" anchor="ctr">
                    <a:solidFill>
                      <a:schemeClr val="bg2"/>
                    </a:solidFill>
                  </a:tcPr>
                </a:tc>
                <a:tc>
                  <a:txBody>
                    <a:bodyPr/>
                    <a:lstStyle/>
                    <a:p>
                      <a:pPr algn="l"/>
                      <a:r>
                        <a:rPr sz="1300" b="0">
                          <a:solidFill>
                            <a:schemeClr val="tx1"/>
                          </a:solidFill>
                        </a:rPr>
                        <a:t>A Java cluster client; Aeron.NET trails Aeron</a:t>
                      </a:r>
                    </a:p>
                  </a:txBody>
                  <a:tcPr marL="91440" marR="91440" marT="45720" marB="45720" anchor="ctr">
                    <a:solidFill>
                      <a:schemeClr val="bg2"/>
                    </a:solidFill>
                  </a:tcPr>
                </a:tc>
                <a:tc>
                  <a:txBody>
                    <a:bodyPr/>
                    <a:lstStyle/>
                    <a:p>
                      <a:pPr algn="l"/>
                      <a:r>
                        <a:rPr sz="1300" b="0">
                          <a:solidFill>
                            <a:schemeClr val="tx1"/>
                          </a:solidFill>
                        </a:rPr>
                        <a:t>C++ cluster client (wire protocol) and C# façade</a:t>
                      </a:r>
                    </a:p>
                  </a:txBody>
                  <a:tcPr marL="91440" marR="91440" marT="45720" marB="45720" anchor="ctr">
                    <a:solidFill>
                      <a:schemeClr val="bg2"/>
                    </a:solidFill>
                  </a:tcPr>
                </a:tc>
              </a:tr>
              <a:tr h="512064">
                <a:tc>
                  <a:txBody>
                    <a:bodyPr/>
                    <a:lstStyle/>
                    <a:p>
                      <a:pPr algn="l"/>
                      <a:r>
                        <a:rPr sz="1300" b="1">
                          <a:solidFill>
                            <a:schemeClr val="tx1"/>
                          </a:solidFill>
                        </a:rPr>
                        <a:t>Stop on a stale view</a:t>
                      </a:r>
                    </a:p>
                  </a:txBody>
                  <a:tcPr marL="91440" marR="91440" marT="45720" marB="45720" anchor="ctr">
                    <a:solidFill>
                      <a:schemeClr val="bg1"/>
                    </a:solidFill>
                  </a:tcPr>
                </a:tc>
                <a:tc>
                  <a:txBody>
                    <a:bodyPr/>
                    <a:lstStyle/>
                    <a:p>
                      <a:pPr algn="l"/>
                      <a:r>
                        <a:rPr sz="1300" b="0">
                          <a:solidFill>
                            <a:schemeClr val="tx1"/>
                          </a:solidFill>
                        </a:rPr>
                        <a:t>Nothing</a:t>
                      </a:r>
                    </a:p>
                  </a:txBody>
                  <a:tcPr marL="91440" marR="91440" marT="45720" marB="45720" anchor="ctr">
                    <a:solidFill>
                      <a:schemeClr val="bg1"/>
                    </a:solidFill>
                  </a:tcPr>
                </a:tc>
                <a:tc>
                  <a:txBody>
                    <a:bodyPr/>
                    <a:lstStyle/>
                    <a:p>
                      <a:pPr algn="l"/>
                      <a:r>
                        <a:rPr sz="1300" b="0">
                          <a:solidFill>
                            <a:schemeClr val="tx1"/>
                          </a:solidFill>
                        </a:rPr>
                        <a:t>Fences: close the edge, release the session, report once</a:t>
                      </a:r>
                    </a:p>
                  </a:txBody>
                  <a:tcPr marL="91440" marR="91440" marT="45720" marB="45720" anchor="ctr">
                    <a:solidFill>
                      <a:schemeClr val="bg1"/>
                    </a:solidFill>
                  </a:tcPr>
                </a:tc>
              </a:tr>
            </a:tbl>
          </a:graphicData>
        </a:graphic>
      </p:graphicFrame>
      <p:sp>
        <p:nvSpPr>
          <p:cNvPr id="9009" name="Card 100"/>
          <p:cNvSpPr/>
          <p:nvPr/>
        </p:nvSpPr>
        <p:spPr>
          <a:xfrm>
            <a:off x="548640" y="5897880"/>
            <a:ext cx="11094415" cy="45720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r>
              <a:rPr sz="1400" b="1">
                <a:solidFill>
                  <a:schemeClr val="tx1"/>
                </a:solidFill>
              </a:rPr>
              <a:t>Aeron provides the mechanisms </a:t>
            </a:r>
            <a:r>
              <a:rPr sz="1400" b="0">
                <a:solidFill>
                  <a:schemeClr val="tx1"/>
                </a:solidFill>
              </a:rPr>
              <a:t>and almost none of the policy: </a:t>
            </a:r>
            <a:r>
              <a:rPr sz="1400" b="1">
                <a:solidFill>
                  <a:schemeClr val="tx1"/>
                </a:solidFill>
              </a:rPr>
              <a:t>confirmation, history, recovery, failure handling.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A member and a client</a:t>
            </a:r>
          </a:p>
        </p:txBody>
      </p:sp>
      <p:sp>
        <p:nvSpPr>
          <p:cNvPr id="9008" name="Slide number"/>
          <p:cNvSpPr txBox="1"/>
          <p:nvPr userDrawn="1"/>
        </p:nvSpPr>
        <p:spPr>
          <a:xfrm>
            <a:off x="10728655" y="6400800"/>
            <a:ext cx="914400" cy="274320"/>
          </a:xfrm>
          <a:prstGeom prst="rect">
            <a:avLst/>
          </a:prstGeom>
          <a:noFill/>
        </p:spPr>
        <p:txBody>
          <a:bodyPr wrap="none" lIns="0" tIns="0" rIns="0" bIns="0" anchor="ctr"/>
          <a:lstStyle/>
          <a:p>
            <a:pPr algn="r"/>
            <a:fld id="{7ca46945-e52e-4d8c-a9ad-cd6117050ae0}" type="slidenum">
              <a:rPr lang="en-US" sz="1000" dirty="0">
                <a:solidFill>
                  <a:schemeClr val="accent5"/>
                </a:solidFill>
              </a:rPr>
              <a:t>8</a:t>
            </a:fld>
          </a:p>
        </p:txBody>
      </p:sp>
      <p:sp>
        <p:nvSpPr>
          <p:cNvPr id="9009" name="Host 101"/>
          <p:cNvSpPr/>
          <p:nvPr/>
        </p:nvSpPr>
        <p:spPr>
          <a:xfrm>
            <a:off x="967934" y="2026227"/>
            <a:ext cx="1854777" cy="981941"/>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ctr"/>
            <a:r>
              <a:rPr sz="1100" b="1">
                <a:solidFill>
                  <a:schemeClr val="accent5"/>
                </a:solidFill>
              </a:rPr>
              <a:t>OTHER MEMBERS</a:t>
            </a:r>
          </a:p>
        </p:txBody>
      </p:sp>
      <p:sp>
        <p:nvSpPr>
          <p:cNvPr id="9010" name="Text 102"/>
          <p:cNvSpPr txBox="1"/>
          <p:nvPr/>
        </p:nvSpPr>
        <p:spPr>
          <a:xfrm>
            <a:off x="967934" y="2408093"/>
            <a:ext cx="1854777" cy="436418"/>
          </a:xfrm>
          <a:prstGeom prst="rect">
            <a:avLst/>
          </a:prstGeom>
          <a:noFill/>
        </p:spPr>
        <p:txBody>
          <a:bodyPr wrap="square" anchor="ctr" lIns="0" rIns="0" tIns="0" bIns="0">
            <a:spAutoFit/>
          </a:bodyPr>
          <a:lstStyle/>
          <a:p>
            <a:pPr algn="ctr"/>
            <a:r>
              <a:rPr sz="1100" b="0">
                <a:solidFill>
                  <a:schemeClr val="accent5"/>
                </a:solidFill>
              </a:rPr>
              <a:t>same pipeline, byte-identical queue</a:t>
            </a:r>
          </a:p>
        </p:txBody>
      </p:sp>
      <p:sp>
        <p:nvSpPr>
          <p:cNvPr id="3" name="Path 103"/>
          <p:cNvSpPr/>
          <p:nvPr/>
        </p:nvSpPr>
        <p:spPr>
          <a:xfrm>
            <a:off x="1895323" y="1611630"/>
            <a:ext cx="5400675" cy="632806"/>
          </a:xfrm>
          <a:custGeom>
            <a:avLst/>
            <a:gdLst/>
            <a:ahLst/>
            <a:cxnLst/>
            <a:rect l="l" t="t" r="r" b="b"/>
            <a:pathLst>
              <a:path w="5400675" h="632806">
                <a:moveTo>
                  <a:pt x="0" y="414597"/>
                </a:moveTo>
                <a:lnTo>
                  <a:pt x="0" y="0"/>
                </a:lnTo>
                <a:lnTo>
                  <a:pt x="5400675" y="0"/>
                </a:lnTo>
                <a:lnTo>
                  <a:pt x="5400675" y="632806"/>
                </a:lnTo>
              </a:path>
            </a:pathLst>
          </a:custGeom>
          <a:noFill/>
          <a:ln w="15875">
            <a:solidFill>
              <a:schemeClr val="accent5"/>
            </a:solidFill>
            <a:prstDash val="dash"/>
            <a:headEnd type="triangle" w="med" len="med"/>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1" name="Text 104"/>
          <p:cNvSpPr txBox="1"/>
          <p:nvPr/>
        </p:nvSpPr>
        <p:spPr>
          <a:xfrm>
            <a:off x="3477339" y="1371600"/>
            <a:ext cx="2182091" cy="218209"/>
          </a:xfrm>
          <a:prstGeom prst="rect">
            <a:avLst/>
          </a:prstGeom>
          <a:noFill/>
        </p:spPr>
        <p:txBody>
          <a:bodyPr wrap="square" anchor="ctr" lIns="0" rIns="0" tIns="0" bIns="0">
            <a:spAutoFit/>
          </a:bodyPr>
          <a:lstStyle/>
          <a:p>
            <a:pPr algn="ctr"/>
            <a:r>
              <a:rPr sz="1000" b="0">
                <a:solidFill>
                  <a:schemeClr val="accent5"/>
                </a:solidFill>
              </a:rPr>
              <a:t>Raft log replication</a:t>
            </a:r>
          </a:p>
        </p:txBody>
      </p:sp>
      <p:sp>
        <p:nvSpPr>
          <p:cNvPr id="9012" name="Host 105"/>
          <p:cNvSpPr/>
          <p:nvPr/>
        </p:nvSpPr>
        <p:spPr>
          <a:xfrm>
            <a:off x="3150025" y="1808018"/>
            <a:ext cx="5564332" cy="4145973"/>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l"/>
            <a:r>
              <a:rPr sz="1100" b="1">
                <a:solidFill>
                  <a:schemeClr val="accent5"/>
                </a:solidFill>
              </a:rPr>
              <a:t>CLUSTER MEMBER · ONE JVM</a:t>
            </a:r>
          </a:p>
        </p:txBody>
      </p:sp>
      <p:sp>
        <p:nvSpPr>
          <p:cNvPr id="9013" name="Box 106"/>
          <p:cNvSpPr/>
          <p:nvPr/>
        </p:nvSpPr>
        <p:spPr>
          <a:xfrm>
            <a:off x="3368234" y="2244436"/>
            <a:ext cx="2182091" cy="610985"/>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Sequencer</a:t>
            </a:r>
          </a:p>
          <a:p>
            <a:pPr algn="ctr"/>
            <a:r>
              <a:rPr sz="1000" b="0">
                <a:solidFill>
                  <a:schemeClr val="accent5"/>
                </a:solidFill>
              </a:rPr>
              <a:t>number · validate · synthesize</a:t>
            </a:r>
          </a:p>
        </p:txBody>
      </p:sp>
      <p:sp>
        <p:nvSpPr>
          <p:cNvPr id="9014" name="Box 107"/>
          <p:cNvSpPr/>
          <p:nvPr/>
        </p:nvSpPr>
        <p:spPr>
          <a:xfrm>
            <a:off x="6095848" y="2244436"/>
            <a:ext cx="2400300" cy="610985"/>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Consensus module</a:t>
            </a:r>
          </a:p>
          <a:p>
            <a:pPr algn="ctr"/>
            <a:r>
              <a:rPr sz="1000" b="0">
                <a:solidFill>
                  <a:schemeClr val="accent5"/>
                </a:solidFill>
              </a:rPr>
              <a:t>Raft log · cluster time</a:t>
            </a:r>
          </a:p>
        </p:txBody>
      </p:sp>
      <p:cxnSp>
        <p:nvCxnSpPr>
          <p:cNvPr id="9015" name="Arrow 108"/>
          <p:cNvCxnSpPr/>
          <p:nvPr/>
        </p:nvCxnSpPr>
        <p:spPr>
          <a:xfrm flipH="1">
            <a:off x="5550325" y="2549929"/>
            <a:ext cx="545523"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6" name="Text 109"/>
          <p:cNvSpPr txBox="1"/>
          <p:nvPr/>
        </p:nvSpPr>
        <p:spPr>
          <a:xfrm>
            <a:off x="3368234" y="2877243"/>
            <a:ext cx="1854777" cy="240030"/>
          </a:xfrm>
          <a:prstGeom prst="rect">
            <a:avLst/>
          </a:prstGeom>
          <a:noFill/>
        </p:spPr>
        <p:txBody>
          <a:bodyPr wrap="square" anchor="ctr" lIns="0" rIns="0" tIns="0" bIns="0">
            <a:spAutoFit/>
          </a:bodyPr>
          <a:lstStyle/>
          <a:p>
            <a:pPr algn="l"/>
            <a:r>
              <a:rPr sz="1000" b="1">
                <a:solidFill>
                  <a:schemeClr val="accent1"/>
                </a:solidFill>
              </a:rPr>
              <a:t>Queue · aeron:ipc 205</a:t>
            </a:r>
          </a:p>
        </p:txBody>
      </p:sp>
      <p:sp>
        <p:nvSpPr>
          <p:cNvPr id="9017" name="Queue cell 110"/>
          <p:cNvSpPr/>
          <p:nvPr/>
        </p:nvSpPr>
        <p:spPr>
          <a:xfrm>
            <a:off x="3368234" y="3139094"/>
            <a:ext cx="283672" cy="32731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1</a:t>
            </a:r>
          </a:p>
        </p:txBody>
      </p:sp>
      <p:sp>
        <p:nvSpPr>
          <p:cNvPr id="9018" name="Queue cell 111"/>
          <p:cNvSpPr/>
          <p:nvPr/>
        </p:nvSpPr>
        <p:spPr>
          <a:xfrm>
            <a:off x="3684637" y="3139094"/>
            <a:ext cx="283672" cy="32731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2</a:t>
            </a:r>
          </a:p>
        </p:txBody>
      </p:sp>
      <p:sp>
        <p:nvSpPr>
          <p:cNvPr id="9019" name="Queue cell 112"/>
          <p:cNvSpPr/>
          <p:nvPr/>
        </p:nvSpPr>
        <p:spPr>
          <a:xfrm>
            <a:off x="4001040" y="3139094"/>
            <a:ext cx="283672" cy="32731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3</a:t>
            </a:r>
          </a:p>
        </p:txBody>
      </p:sp>
      <p:sp>
        <p:nvSpPr>
          <p:cNvPr id="9020" name="Queue cell 113"/>
          <p:cNvSpPr/>
          <p:nvPr/>
        </p:nvSpPr>
        <p:spPr>
          <a:xfrm>
            <a:off x="4317444" y="3139094"/>
            <a:ext cx="283672" cy="32731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4</a:t>
            </a:r>
          </a:p>
        </p:txBody>
      </p:sp>
      <p:sp>
        <p:nvSpPr>
          <p:cNvPr id="9021" name="Queue cell 114"/>
          <p:cNvSpPr/>
          <p:nvPr/>
        </p:nvSpPr>
        <p:spPr>
          <a:xfrm>
            <a:off x="4633847" y="3139094"/>
            <a:ext cx="283672" cy="3273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chemeClr val="bg1"/>
                </a:solidFill>
              </a:rPr>
              <a:t>5</a:t>
            </a:r>
          </a:p>
        </p:txBody>
      </p:sp>
      <p:sp>
        <p:nvSpPr>
          <p:cNvPr id="9022" name="Queue cell 115"/>
          <p:cNvSpPr/>
          <p:nvPr/>
        </p:nvSpPr>
        <p:spPr>
          <a:xfrm>
            <a:off x="4950250" y="3139094"/>
            <a:ext cx="283672" cy="32731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23" name="Queue cell 116"/>
          <p:cNvSpPr/>
          <p:nvPr/>
        </p:nvSpPr>
        <p:spPr>
          <a:xfrm>
            <a:off x="5266653" y="3139094"/>
            <a:ext cx="283672" cy="32731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9024" name="Arrow 117"/>
          <p:cNvCxnSpPr/>
          <p:nvPr/>
        </p:nvCxnSpPr>
        <p:spPr>
          <a:xfrm>
            <a:off x="4775683" y="2855422"/>
            <a:ext cx="0" cy="283672"/>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5" name="Box 118"/>
          <p:cNvSpPr/>
          <p:nvPr/>
        </p:nvSpPr>
        <p:spPr>
          <a:xfrm>
            <a:off x="3368234" y="4317423"/>
            <a:ext cx="2182091" cy="610985"/>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Archive</a:t>
            </a:r>
          </a:p>
          <a:p>
            <a:pPr algn="ctr"/>
            <a:r>
              <a:rPr sz="1000" b="0">
                <a:solidFill>
                  <a:schemeClr val="accent5"/>
                </a:solidFill>
              </a:rPr>
              <a:t>records the queue · tethered</a:t>
            </a:r>
          </a:p>
        </p:txBody>
      </p:sp>
      <p:cxnSp>
        <p:nvCxnSpPr>
          <p:cNvPr id="9026" name="Arrow 119"/>
          <p:cNvCxnSpPr/>
          <p:nvPr/>
        </p:nvCxnSpPr>
        <p:spPr>
          <a:xfrm>
            <a:off x="4142876" y="3466407"/>
            <a:ext cx="0" cy="851016"/>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7" name="Box 120"/>
          <p:cNvSpPr/>
          <p:nvPr/>
        </p:nvSpPr>
        <p:spPr>
          <a:xfrm>
            <a:off x="6095848" y="4317423"/>
            <a:ext cx="2400300" cy="610985"/>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ReplayerService</a:t>
            </a:r>
          </a:p>
          <a:p>
            <a:pPr algn="ctr"/>
            <a:r>
              <a:rPr sz="1000" b="0">
                <a:solidFill>
                  <a:schemeClr val="accent5"/>
                </a:solidFill>
              </a:rPr>
              <a:t>history from the recording</a:t>
            </a:r>
          </a:p>
        </p:txBody>
      </p:sp>
      <p:cxnSp>
        <p:nvCxnSpPr>
          <p:cNvPr id="9028" name="Arrow 121"/>
          <p:cNvCxnSpPr/>
          <p:nvPr/>
        </p:nvCxnSpPr>
        <p:spPr>
          <a:xfrm>
            <a:off x="5550325" y="4622915"/>
            <a:ext cx="545523"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9" name="Box 122"/>
          <p:cNvSpPr/>
          <p:nvPr/>
        </p:nvSpPr>
        <p:spPr>
          <a:xfrm>
            <a:off x="3368234" y="5190259"/>
            <a:ext cx="5127914" cy="545523"/>
          </a:xfrm>
          <a:prstGeom prst="rect">
            <a:avLst/>
          </a:prstGeom>
          <a:solidFill>
            <a:schemeClr val="bg2"/>
          </a:solidFill>
          <a:ln w="12700">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Embedded media driver</a:t>
            </a:r>
          </a:p>
          <a:p>
            <a:pPr algn="ctr"/>
            <a:r>
              <a:rPr sz="1000" b="0">
                <a:solidFill>
                  <a:schemeClr val="accent5"/>
                </a:solidFill>
              </a:rPr>
              <a:t>queue 205 · replay 201 · request 202 · control 203</a:t>
            </a:r>
          </a:p>
        </p:txBody>
      </p:sp>
      <p:sp>
        <p:nvSpPr>
          <p:cNvPr id="9030" name="Host 123"/>
          <p:cNvSpPr/>
          <p:nvPr/>
        </p:nvSpPr>
        <p:spPr>
          <a:xfrm>
            <a:off x="9150775" y="2026227"/>
            <a:ext cx="2072986" cy="3164032"/>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ctr"/>
            <a:r>
              <a:rPr sz="1100" b="1">
                <a:solidFill>
                  <a:schemeClr val="accent5"/>
                </a:solidFill>
              </a:rPr>
              <a:t>CLIENT PROCESS</a:t>
            </a:r>
          </a:p>
        </p:txBody>
      </p:sp>
      <p:sp>
        <p:nvSpPr>
          <p:cNvPr id="9031" name="Box 124"/>
          <p:cNvSpPr/>
          <p:nvPr/>
        </p:nvSpPr>
        <p:spPr>
          <a:xfrm>
            <a:off x="9281700" y="2462645"/>
            <a:ext cx="1811135" cy="610985"/>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ClusterStreamSender</a:t>
            </a:r>
          </a:p>
          <a:p>
            <a:pPr algn="ctr"/>
            <a:r>
              <a:rPr sz="1000" b="0">
                <a:solidFill>
                  <a:schemeClr val="accent5"/>
                </a:solidFill>
              </a:rPr>
              <a:t>+ PendingSends</a:t>
            </a:r>
          </a:p>
        </p:txBody>
      </p:sp>
      <p:sp>
        <p:nvSpPr>
          <p:cNvPr id="9032" name="Box 125"/>
          <p:cNvSpPr/>
          <p:nvPr/>
        </p:nvSpPr>
        <p:spPr>
          <a:xfrm>
            <a:off x="9281700" y="3444586"/>
            <a:ext cx="1811135" cy="610985"/>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ReplayerStreamReceiver</a:t>
            </a:r>
          </a:p>
          <a:p>
            <a:pPr algn="ctr"/>
            <a:r>
              <a:rPr sz="1000" b="0">
                <a:solidFill>
                  <a:schemeClr val="accent5"/>
                </a:solidFill>
              </a:rPr>
              <a:t>+ ReplayerRecovery</a:t>
            </a:r>
          </a:p>
        </p:txBody>
      </p:sp>
      <p:sp>
        <p:nvSpPr>
          <p:cNvPr id="9033" name="Text 126"/>
          <p:cNvSpPr txBox="1"/>
          <p:nvPr/>
        </p:nvSpPr>
        <p:spPr>
          <a:xfrm>
            <a:off x="9150775" y="4426527"/>
            <a:ext cx="2072986" cy="501881"/>
          </a:xfrm>
          <a:prstGeom prst="rect">
            <a:avLst/>
          </a:prstGeom>
          <a:noFill/>
        </p:spPr>
        <p:txBody>
          <a:bodyPr wrap="square" anchor="ctr" lIns="0" rIns="0" tIns="0" bIns="0">
            <a:spAutoFit/>
          </a:bodyPr>
          <a:lstStyle/>
          <a:p>
            <a:pPr algn="ctr"/>
            <a:r>
              <a:rPr sz="1000" b="0">
                <a:solidFill>
                  <a:schemeClr val="accent5"/>
                </a:solidFill>
              </a:rPr>
              <a:t>inside the Gateway or Application façade</a:t>
            </a:r>
          </a:p>
        </p:txBody>
      </p:sp>
      <p:sp>
        <p:nvSpPr>
          <p:cNvPr id="9034" name="Text 127"/>
          <p:cNvSpPr txBox="1"/>
          <p:nvPr/>
        </p:nvSpPr>
        <p:spPr>
          <a:xfrm>
            <a:off x="9150775" y="4841125"/>
            <a:ext cx="2072986" cy="261851"/>
          </a:xfrm>
          <a:prstGeom prst="rect">
            <a:avLst/>
          </a:prstGeom>
          <a:noFill/>
        </p:spPr>
        <p:txBody>
          <a:bodyPr wrap="square" anchor="ctr" lIns="0" rIns="0" tIns="0" bIns="0">
            <a:spAutoFit/>
          </a:bodyPr>
          <a:lstStyle/>
          <a:p>
            <a:pPr algn="ctr"/>
            <a:r>
              <a:rPr sz="1000" b="1">
                <a:solidFill>
                  <a:schemeClr val="accent5"/>
                </a:solidFill>
              </a:rPr>
              <a:t>Java · C++ · C#</a:t>
            </a:r>
          </a:p>
        </p:txBody>
      </p:sp>
      <p:cxnSp>
        <p:nvCxnSpPr>
          <p:cNvPr id="9035" name="Arrow 128"/>
          <p:cNvCxnSpPr/>
          <p:nvPr/>
        </p:nvCxnSpPr>
        <p:spPr>
          <a:xfrm flipH="1">
            <a:off x="8496148" y="2680855"/>
            <a:ext cx="785552"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36" name="Text 129"/>
          <p:cNvSpPr txBox="1"/>
          <p:nvPr/>
        </p:nvSpPr>
        <p:spPr>
          <a:xfrm>
            <a:off x="8496148" y="2419004"/>
            <a:ext cx="785553" cy="240030"/>
          </a:xfrm>
          <a:prstGeom prst="rect">
            <a:avLst/>
          </a:prstGeom>
          <a:noFill/>
        </p:spPr>
        <p:txBody>
          <a:bodyPr wrap="square" anchor="ctr" lIns="0" rIns="0" tIns="0" bIns="0">
            <a:spAutoFit/>
          </a:bodyPr>
          <a:lstStyle/>
          <a:p>
            <a:pPr algn="ctr"/>
            <a:r>
              <a:rPr sz="1000" b="0">
                <a:solidFill>
                  <a:schemeClr val="accent5"/>
                </a:solidFill>
              </a:rPr>
              <a:t>ingress</a:t>
            </a:r>
          </a:p>
        </p:txBody>
      </p:sp>
      <p:sp>
        <p:nvSpPr>
          <p:cNvPr id="4" name="Path 130"/>
          <p:cNvSpPr/>
          <p:nvPr/>
        </p:nvSpPr>
        <p:spPr>
          <a:xfrm>
            <a:off x="4459279" y="3466407"/>
            <a:ext cx="4822421" cy="218209"/>
          </a:xfrm>
          <a:custGeom>
            <a:avLst/>
            <a:gdLst/>
            <a:ahLst/>
            <a:cxnLst/>
            <a:rect l="l" t="t" r="r" b="b"/>
            <a:pathLst>
              <a:path w="4822421" h="218209">
                <a:moveTo>
                  <a:pt x="0" y="0"/>
                </a:moveTo>
                <a:lnTo>
                  <a:pt x="0" y="218209"/>
                </a:lnTo>
                <a:lnTo>
                  <a:pt x="4822421" y="218209"/>
                </a:lnTo>
              </a:path>
            </a:pathLst>
          </a:custGeom>
          <a:noFill/>
          <a:ln w="22225">
            <a:solidFill>
              <a:schemeClr val="accent1"/>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7" name="Text 131"/>
          <p:cNvSpPr txBox="1"/>
          <p:nvPr/>
        </p:nvSpPr>
        <p:spPr>
          <a:xfrm>
            <a:off x="6095848" y="3422765"/>
            <a:ext cx="2400300" cy="240030"/>
          </a:xfrm>
          <a:prstGeom prst="rect">
            <a:avLst/>
          </a:prstGeom>
          <a:noFill/>
        </p:spPr>
        <p:txBody>
          <a:bodyPr wrap="square" anchor="ctr" lIns="0" rIns="0" tIns="0" bIns="0">
            <a:spAutoFit/>
          </a:bodyPr>
          <a:lstStyle/>
          <a:p>
            <a:pPr algn="ctr"/>
            <a:r>
              <a:rPr sz="1000" b="0">
                <a:solidFill>
                  <a:schemeClr val="accent1"/>
                </a:solidFill>
              </a:rPr>
              <a:t>live · untethered</a:t>
            </a:r>
          </a:p>
        </p:txBody>
      </p:sp>
      <p:cxnSp>
        <p:nvCxnSpPr>
          <p:cNvPr id="9038" name="Arrow 132"/>
          <p:cNvCxnSpPr/>
          <p:nvPr/>
        </p:nvCxnSpPr>
        <p:spPr>
          <a:xfrm flipV="1">
            <a:off x="8496148" y="3990109"/>
            <a:ext cx="785552" cy="567344"/>
          </a:xfrm>
          <a:prstGeom prst="line">
            <a:avLst/>
          </a:prstGeom>
          <a:ln w="2222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39" name="Text 133"/>
          <p:cNvSpPr txBox="1"/>
          <p:nvPr/>
        </p:nvSpPr>
        <p:spPr>
          <a:xfrm>
            <a:off x="8627073" y="4601095"/>
            <a:ext cx="654627" cy="240030"/>
          </a:xfrm>
          <a:prstGeom prst="rect">
            <a:avLst/>
          </a:prstGeom>
          <a:noFill/>
        </p:spPr>
        <p:txBody>
          <a:bodyPr wrap="square" anchor="ctr" lIns="0" rIns="0" tIns="0" bIns="0">
            <a:spAutoFit/>
          </a:bodyPr>
          <a:lstStyle/>
          <a:p>
            <a:pPr algn="ctr"/>
            <a:r>
              <a:rPr sz="1000" b="0">
                <a:solidFill>
                  <a:schemeClr val="accent2"/>
                </a:solidFill>
              </a:rPr>
              <a:t>replay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The life of a message</a:t>
            </a:r>
          </a:p>
        </p:txBody>
      </p:sp>
      <p:sp>
        <p:nvSpPr>
          <p:cNvPr id="3" name="Text 134"/>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Six steps from a producer's offer to its own confirmation</a:t>
            </a:r>
          </a:p>
        </p:txBody>
      </p:sp>
      <p:sp>
        <p:nvSpPr>
          <p:cNvPr id="9009" name="Slide number"/>
          <p:cNvSpPr txBox="1"/>
          <p:nvPr userDrawn="1"/>
        </p:nvSpPr>
        <p:spPr>
          <a:xfrm>
            <a:off x="10728655" y="6400800"/>
            <a:ext cx="914400" cy="274320"/>
          </a:xfrm>
          <a:prstGeom prst="rect">
            <a:avLst/>
          </a:prstGeom>
          <a:noFill/>
        </p:spPr>
        <p:txBody>
          <a:bodyPr wrap="none" lIns="0" tIns="0" rIns="0" bIns="0" anchor="ctr"/>
          <a:lstStyle/>
          <a:p>
            <a:pPr algn="r"/>
            <a:fld id="{5dff6ea5-a947-4c5f-9593-1958c6c800f1}" type="slidenum">
              <a:rPr lang="en-US" sz="1000" dirty="0">
                <a:solidFill>
                  <a:schemeClr val="accent5"/>
                </a:solidFill>
              </a:rPr>
              <a:t>9</a:t>
            </a:fld>
          </a:p>
        </p:txBody>
      </p:sp>
      <p:cxnSp>
        <p:nvCxnSpPr>
          <p:cNvPr id="9010" name="Arrow 135"/>
          <p:cNvCxnSpPr/>
          <p:nvPr/>
        </p:nvCxnSpPr>
        <p:spPr>
          <a:xfrm>
            <a:off x="1005840" y="2057400"/>
            <a:ext cx="9390888" cy="0"/>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sp>
        <p:nvSpPr>
          <p:cNvPr id="9011" name="Number 136"/>
          <p:cNvSpPr/>
          <p:nvPr/>
        </p:nvSpPr>
        <p:spPr>
          <a:xfrm>
            <a:off x="777240" y="18288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chemeClr val="bg1"/>
                </a:solidFill>
              </a:rPr>
              <a:t>1</a:t>
            </a:r>
          </a:p>
        </p:txBody>
      </p:sp>
      <p:sp>
        <p:nvSpPr>
          <p:cNvPr id="9012" name="Text 137"/>
          <p:cNvSpPr txBox="1"/>
          <p:nvPr/>
        </p:nvSpPr>
        <p:spPr>
          <a:xfrm>
            <a:off x="548640" y="2514600"/>
            <a:ext cx="1700784" cy="411480"/>
          </a:xfrm>
          <a:prstGeom prst="rect">
            <a:avLst/>
          </a:prstGeom>
          <a:noFill/>
        </p:spPr>
        <p:txBody>
          <a:bodyPr wrap="square" anchor="t" lIns="0" rIns="0" tIns="0" bIns="0">
            <a:spAutoFit/>
          </a:bodyPr>
          <a:lstStyle/>
          <a:p>
            <a:pPr algn="l"/>
            <a:r>
              <a:rPr sz="1800" b="1" cap="none">
                <a:solidFill>
                  <a:schemeClr val="tx1"/>
                </a:solidFill>
                <a:latin typeface="+mj-lt"/>
              </a:rPr>
              <a:t>Offer</a:t>
            </a:r>
          </a:p>
        </p:txBody>
      </p:sp>
      <p:sp>
        <p:nvSpPr>
          <p:cNvPr id="9013" name="Text 138"/>
          <p:cNvSpPr txBox="1"/>
          <p:nvPr/>
        </p:nvSpPr>
        <p:spPr>
          <a:xfrm>
            <a:off x="548640" y="2971800"/>
            <a:ext cx="1609344" cy="1737360"/>
          </a:xfrm>
          <a:prstGeom prst="rect">
            <a:avLst/>
          </a:prstGeom>
          <a:noFill/>
        </p:spPr>
        <p:txBody>
          <a:bodyPr wrap="square" anchor="t" lIns="0" rIns="0" tIns="0" bIns="0">
            <a:spAutoFit/>
          </a:bodyPr>
          <a:lstStyle/>
          <a:p>
            <a:pPr algn="l"/>
            <a:r>
              <a:rPr sz="1400" b="0">
                <a:solidFill>
                  <a:schemeClr val="tx1"/>
                </a:solidFill>
              </a:rPr>
              <a:t>Producer wraps its payload in a 28-byte-overhead frame.</a:t>
            </a:r>
          </a:p>
        </p:txBody>
      </p:sp>
      <p:sp>
        <p:nvSpPr>
          <p:cNvPr id="9014" name="Number 139"/>
          <p:cNvSpPr/>
          <p:nvPr/>
        </p:nvSpPr>
        <p:spPr>
          <a:xfrm>
            <a:off x="2655418" y="18288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chemeClr val="bg1"/>
                </a:solidFill>
              </a:rPr>
              <a:t>2</a:t>
            </a:r>
          </a:p>
        </p:txBody>
      </p:sp>
      <p:sp>
        <p:nvSpPr>
          <p:cNvPr id="9015" name="Text 140"/>
          <p:cNvSpPr txBox="1"/>
          <p:nvPr/>
        </p:nvSpPr>
        <p:spPr>
          <a:xfrm>
            <a:off x="2426818" y="2514600"/>
            <a:ext cx="1700784" cy="411480"/>
          </a:xfrm>
          <a:prstGeom prst="rect">
            <a:avLst/>
          </a:prstGeom>
          <a:noFill/>
        </p:spPr>
        <p:txBody>
          <a:bodyPr wrap="square" anchor="t" lIns="0" rIns="0" tIns="0" bIns="0">
            <a:spAutoFit/>
          </a:bodyPr>
          <a:lstStyle/>
          <a:p>
            <a:pPr algn="l"/>
            <a:r>
              <a:rPr sz="1800" b="1" cap="none">
                <a:solidFill>
                  <a:schemeClr val="tx1"/>
                </a:solidFill>
                <a:latin typeface="+mj-lt"/>
              </a:rPr>
              <a:t>Commit</a:t>
            </a:r>
          </a:p>
        </p:txBody>
      </p:sp>
      <p:sp>
        <p:nvSpPr>
          <p:cNvPr id="9016" name="Text 141"/>
          <p:cNvSpPr txBox="1"/>
          <p:nvPr/>
        </p:nvSpPr>
        <p:spPr>
          <a:xfrm>
            <a:off x="2426818" y="2971800"/>
            <a:ext cx="1609344" cy="1737360"/>
          </a:xfrm>
          <a:prstGeom prst="rect">
            <a:avLst/>
          </a:prstGeom>
          <a:noFill/>
        </p:spPr>
        <p:txBody>
          <a:bodyPr wrap="square" anchor="t" lIns="0" rIns="0" tIns="0" bIns="0">
            <a:spAutoFit/>
          </a:bodyPr>
          <a:lstStyle/>
          <a:p>
            <a:pPr algn="l"/>
            <a:r>
              <a:rPr sz="1400" b="0">
                <a:solidFill>
                  <a:schemeClr val="tx1"/>
                </a:solidFill>
              </a:rPr>
              <a:t>Leader appends to the Raft log; a majority holds it.</a:t>
            </a:r>
          </a:p>
        </p:txBody>
      </p:sp>
      <p:sp>
        <p:nvSpPr>
          <p:cNvPr id="9017" name="Number 142"/>
          <p:cNvSpPr/>
          <p:nvPr/>
        </p:nvSpPr>
        <p:spPr>
          <a:xfrm>
            <a:off x="4533595" y="18288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chemeClr val="bg1"/>
                </a:solidFill>
              </a:rPr>
              <a:t>3</a:t>
            </a:r>
          </a:p>
        </p:txBody>
      </p:sp>
      <p:sp>
        <p:nvSpPr>
          <p:cNvPr id="9018" name="Text 143"/>
          <p:cNvSpPr txBox="1"/>
          <p:nvPr/>
        </p:nvSpPr>
        <p:spPr>
          <a:xfrm>
            <a:off x="4304995" y="2514600"/>
            <a:ext cx="1700784" cy="411480"/>
          </a:xfrm>
          <a:prstGeom prst="rect">
            <a:avLst/>
          </a:prstGeom>
          <a:noFill/>
        </p:spPr>
        <p:txBody>
          <a:bodyPr wrap="square" anchor="t" lIns="0" rIns="0" tIns="0" bIns="0">
            <a:spAutoFit/>
          </a:bodyPr>
          <a:lstStyle/>
          <a:p>
            <a:pPr algn="l"/>
            <a:r>
              <a:rPr sz="1800" b="1" cap="none">
                <a:solidFill>
                  <a:schemeClr val="tx1"/>
                </a:solidFill>
                <a:latin typeface="+mj-lt"/>
              </a:rPr>
              <a:t>Sequence</a:t>
            </a:r>
          </a:p>
        </p:txBody>
      </p:sp>
      <p:sp>
        <p:nvSpPr>
          <p:cNvPr id="9019" name="Text 144"/>
          <p:cNvSpPr txBox="1"/>
          <p:nvPr/>
        </p:nvSpPr>
        <p:spPr>
          <a:xfrm>
            <a:off x="4304995" y="2971800"/>
            <a:ext cx="1609344" cy="1737360"/>
          </a:xfrm>
          <a:prstGeom prst="rect">
            <a:avLst/>
          </a:prstGeom>
          <a:noFill/>
        </p:spPr>
        <p:txBody>
          <a:bodyPr wrap="square" anchor="t" lIns="0" rIns="0" tIns="0" bIns="0">
            <a:spAutoFit/>
          </a:bodyPr>
          <a:lstStyle/>
          <a:p>
            <a:pPr algn="l"/>
            <a:r>
              <a:rPr sz="1400" b="0">
                <a:solidFill>
                  <a:schemeClr val="tx1"/>
                </a:solidFill>
              </a:rPr>
              <a:t>Every cluster member numbers, stamps, publishes on its queue.</a:t>
            </a:r>
          </a:p>
        </p:txBody>
      </p:sp>
      <p:sp>
        <p:nvSpPr>
          <p:cNvPr id="9020" name="Number 145"/>
          <p:cNvSpPr/>
          <p:nvPr/>
        </p:nvSpPr>
        <p:spPr>
          <a:xfrm>
            <a:off x="6411773" y="18288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chemeClr val="bg1"/>
                </a:solidFill>
              </a:rPr>
              <a:t>4</a:t>
            </a:r>
          </a:p>
        </p:txBody>
      </p:sp>
      <p:sp>
        <p:nvSpPr>
          <p:cNvPr id="9021" name="Text 146"/>
          <p:cNvSpPr txBox="1"/>
          <p:nvPr/>
        </p:nvSpPr>
        <p:spPr>
          <a:xfrm>
            <a:off x="6183173" y="2514600"/>
            <a:ext cx="1700784" cy="411480"/>
          </a:xfrm>
          <a:prstGeom prst="rect">
            <a:avLst/>
          </a:prstGeom>
          <a:noFill/>
        </p:spPr>
        <p:txBody>
          <a:bodyPr wrap="square" anchor="t" lIns="0" rIns="0" tIns="0" bIns="0">
            <a:spAutoFit/>
          </a:bodyPr>
          <a:lstStyle/>
          <a:p>
            <a:pPr algn="l"/>
            <a:r>
              <a:rPr sz="1800" b="1" cap="none">
                <a:solidFill>
                  <a:schemeClr val="tx1"/>
                </a:solidFill>
                <a:latin typeface="+mj-lt"/>
              </a:rPr>
              <a:t>Record</a:t>
            </a:r>
          </a:p>
        </p:txBody>
      </p:sp>
      <p:sp>
        <p:nvSpPr>
          <p:cNvPr id="9022" name="Text 147"/>
          <p:cNvSpPr txBox="1"/>
          <p:nvPr/>
        </p:nvSpPr>
        <p:spPr>
          <a:xfrm>
            <a:off x="6183173" y="2971800"/>
            <a:ext cx="1609344" cy="1737360"/>
          </a:xfrm>
          <a:prstGeom prst="rect">
            <a:avLst/>
          </a:prstGeom>
          <a:noFill/>
        </p:spPr>
        <p:txBody>
          <a:bodyPr wrap="square" anchor="t" lIns="0" rIns="0" tIns="0" bIns="0">
            <a:spAutoFit/>
          </a:bodyPr>
          <a:lstStyle/>
          <a:p>
            <a:pPr algn="l"/>
            <a:r>
              <a:rPr sz="1400" b="0">
                <a:solidFill>
                  <a:schemeClr val="tx1"/>
                </a:solidFill>
              </a:rPr>
              <a:t>Every cluster member's archive records the queue.</a:t>
            </a:r>
          </a:p>
        </p:txBody>
      </p:sp>
      <p:sp>
        <p:nvSpPr>
          <p:cNvPr id="9023" name="Number 148"/>
          <p:cNvSpPr/>
          <p:nvPr/>
        </p:nvSpPr>
        <p:spPr>
          <a:xfrm>
            <a:off x="8289950" y="18288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chemeClr val="bg1"/>
                </a:solidFill>
              </a:rPr>
              <a:t>5</a:t>
            </a:r>
          </a:p>
        </p:txBody>
      </p:sp>
      <p:sp>
        <p:nvSpPr>
          <p:cNvPr id="9024" name="Text 149"/>
          <p:cNvSpPr txBox="1"/>
          <p:nvPr/>
        </p:nvSpPr>
        <p:spPr>
          <a:xfrm>
            <a:off x="8061350" y="2514600"/>
            <a:ext cx="1700784" cy="411480"/>
          </a:xfrm>
          <a:prstGeom prst="rect">
            <a:avLst/>
          </a:prstGeom>
          <a:noFill/>
        </p:spPr>
        <p:txBody>
          <a:bodyPr wrap="square" anchor="t" lIns="0" rIns="0" tIns="0" bIns="0">
            <a:spAutoFit/>
          </a:bodyPr>
          <a:lstStyle/>
          <a:p>
            <a:pPr algn="l"/>
            <a:r>
              <a:rPr sz="1800" b="1" cap="none">
                <a:solidFill>
                  <a:schemeClr val="tx1"/>
                </a:solidFill>
                <a:latin typeface="+mj-lt"/>
              </a:rPr>
              <a:t>Deliver</a:t>
            </a:r>
          </a:p>
        </p:txBody>
      </p:sp>
      <p:sp>
        <p:nvSpPr>
          <p:cNvPr id="9025" name="Text 150"/>
          <p:cNvSpPr txBox="1"/>
          <p:nvPr/>
        </p:nvSpPr>
        <p:spPr>
          <a:xfrm>
            <a:off x="8061350" y="2971800"/>
            <a:ext cx="1609344" cy="1737360"/>
          </a:xfrm>
          <a:prstGeom prst="rect">
            <a:avLst/>
          </a:prstGeom>
          <a:noFill/>
        </p:spPr>
        <p:txBody>
          <a:bodyPr wrap="square" anchor="t" lIns="0" rIns="0" tIns="0" bIns="0">
            <a:spAutoFit/>
          </a:bodyPr>
          <a:lstStyle/>
          <a:p>
            <a:pPr algn="l"/>
            <a:r>
              <a:rPr sz="1400" b="0">
                <a:solidFill>
                  <a:schemeClr val="tx1"/>
                </a:solidFill>
              </a:rPr>
              <a:t>Each client reads its local queue, checks continuity.</a:t>
            </a:r>
          </a:p>
        </p:txBody>
      </p:sp>
      <p:sp>
        <p:nvSpPr>
          <p:cNvPr id="9026" name="Number 151"/>
          <p:cNvSpPr/>
          <p:nvPr/>
        </p:nvSpPr>
        <p:spPr>
          <a:xfrm>
            <a:off x="10168128" y="1828800"/>
            <a:ext cx="457200" cy="45720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chemeClr val="bg1"/>
                </a:solidFill>
              </a:rPr>
              <a:t>6</a:t>
            </a:r>
          </a:p>
        </p:txBody>
      </p:sp>
      <p:sp>
        <p:nvSpPr>
          <p:cNvPr id="9027" name="Text 152"/>
          <p:cNvSpPr txBox="1"/>
          <p:nvPr/>
        </p:nvSpPr>
        <p:spPr>
          <a:xfrm>
            <a:off x="9939528" y="2514600"/>
            <a:ext cx="1700784" cy="411480"/>
          </a:xfrm>
          <a:prstGeom prst="rect">
            <a:avLst/>
          </a:prstGeom>
          <a:noFill/>
        </p:spPr>
        <p:txBody>
          <a:bodyPr wrap="square" anchor="t" lIns="0" rIns="0" tIns="0" bIns="0">
            <a:spAutoFit/>
          </a:bodyPr>
          <a:lstStyle/>
          <a:p>
            <a:pPr algn="l"/>
            <a:r>
              <a:rPr sz="1800" b="1" cap="none">
                <a:solidFill>
                  <a:schemeClr val="tx1"/>
                </a:solidFill>
                <a:latin typeface="+mj-lt"/>
              </a:rPr>
              <a:t>Confirm</a:t>
            </a:r>
          </a:p>
        </p:txBody>
      </p:sp>
      <p:sp>
        <p:nvSpPr>
          <p:cNvPr id="9028" name="Text 153"/>
          <p:cNvSpPr txBox="1"/>
          <p:nvPr/>
        </p:nvSpPr>
        <p:spPr>
          <a:xfrm>
            <a:off x="9939528" y="2971800"/>
            <a:ext cx="1609344" cy="1737360"/>
          </a:xfrm>
          <a:prstGeom prst="rect">
            <a:avLst/>
          </a:prstGeom>
          <a:noFill/>
        </p:spPr>
        <p:txBody>
          <a:bodyPr wrap="square" anchor="t" lIns="0" rIns="0" tIns="0" bIns="0">
            <a:spAutoFit/>
          </a:bodyPr>
          <a:lstStyle/>
          <a:p>
            <a:pPr algn="l"/>
            <a:r>
              <a:rPr sz="1400" b="0">
                <a:solidFill>
                  <a:schemeClr val="tx1"/>
                </a:solidFill>
              </a:rPr>
              <a:t>The producer sees its own frame. Now it is sequenced.</a:t>
            </a:r>
          </a:p>
        </p:txBody>
      </p:sp>
      <p:sp>
        <p:nvSpPr>
          <p:cNvPr id="9029" name="Card 154"/>
          <p:cNvSpPr/>
          <p:nvPr/>
        </p:nvSpPr>
        <p:spPr>
          <a:xfrm>
            <a:off x="548640" y="4892040"/>
            <a:ext cx="11094415"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r>
              <a:rPr sz="1600" b="1">
                <a:solidFill>
                  <a:schemeClr val="tx1"/>
                </a:solidFill>
              </a:rPr>
              <a:t>A send that succeeds is not a message sequenced. </a:t>
            </a:r>
            <a:r>
              <a:rPr sz="1600" b="0">
                <a:solidFill>
                  <a:schemeClr val="tx1"/>
                </a:solidFill>
              </a:rPr>
              <a:t>The cluster confirms nothing on egress; step 6 is the producer's own confirmation, on its own queue.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The queue</a:t>
            </a:r>
          </a:p>
        </p:txBody>
      </p:sp>
      <p:sp>
        <p:nvSpPr>
          <p:cNvPr id="3" name="Text 155"/>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Every cluster member publishes and records its own copy; none is replicated</a:t>
            </a:r>
          </a:p>
        </p:txBody>
      </p:sp>
      <p:sp>
        <p:nvSpPr>
          <p:cNvPr id="9010" name="Slide number"/>
          <p:cNvSpPr txBox="1"/>
          <p:nvPr userDrawn="1"/>
        </p:nvSpPr>
        <p:spPr>
          <a:xfrm>
            <a:off x="10728655" y="6400800"/>
            <a:ext cx="914400" cy="274320"/>
          </a:xfrm>
          <a:prstGeom prst="rect">
            <a:avLst/>
          </a:prstGeom>
          <a:noFill/>
        </p:spPr>
        <p:txBody>
          <a:bodyPr wrap="none" lIns="0" tIns="0" rIns="0" bIns="0" anchor="ctr"/>
          <a:lstStyle/>
          <a:p>
            <a:pPr algn="r"/>
            <a:fld id="{8ced28fc-ef69-4e09-a67d-eb96fe5b0bed}" type="slidenum">
              <a:rPr lang="en-US" sz="1000" dirty="0">
                <a:solidFill>
                  <a:schemeClr val="accent5"/>
                </a:solidFill>
              </a:rPr>
              <a:t>10</a:t>
            </a:fld>
          </a:p>
        </p:txBody>
      </p:sp>
      <p:sp>
        <p:nvSpPr>
          <p:cNvPr id="9011" name="Text 156"/>
          <p:cNvSpPr txBox="1"/>
          <p:nvPr/>
        </p:nvSpPr>
        <p:spPr>
          <a:xfrm>
            <a:off x="548640" y="1691640"/>
            <a:ext cx="1600200" cy="320040"/>
          </a:xfrm>
          <a:prstGeom prst="rect">
            <a:avLst/>
          </a:prstGeom>
          <a:noFill/>
        </p:spPr>
        <p:txBody>
          <a:bodyPr wrap="square" anchor="t" lIns="0" rIns="0" tIns="0" bIns="0">
            <a:spAutoFit/>
          </a:bodyPr>
          <a:lstStyle/>
          <a:p>
            <a:pPr algn="ctr"/>
            <a:r>
              <a:rPr sz="1200" b="1">
                <a:solidFill>
                  <a:schemeClr val="accent5"/>
                </a:solidFill>
              </a:rPr>
              <a:t>member 0</a:t>
            </a:r>
          </a:p>
        </p:txBody>
      </p:sp>
      <p:sp>
        <p:nvSpPr>
          <p:cNvPr id="9012" name="Box 157"/>
          <p:cNvSpPr/>
          <p:nvPr/>
        </p:nvSpPr>
        <p:spPr>
          <a:xfrm>
            <a:off x="548640" y="2057400"/>
            <a:ext cx="1600200" cy="5486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Raft log</a:t>
            </a:r>
          </a:p>
        </p:txBody>
      </p:sp>
      <p:cxnSp>
        <p:nvCxnSpPr>
          <p:cNvPr id="9013" name="Arrow 158"/>
          <p:cNvCxnSpPr/>
          <p:nvPr/>
        </p:nvCxnSpPr>
        <p:spPr>
          <a:xfrm>
            <a:off x="1563624" y="2606040"/>
            <a:ext cx="0" cy="557784"/>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4" name="Text 159"/>
          <p:cNvSpPr txBox="1"/>
          <p:nvPr/>
        </p:nvSpPr>
        <p:spPr>
          <a:xfrm>
            <a:off x="548640" y="2944368"/>
            <a:ext cx="914400" cy="219456"/>
          </a:xfrm>
          <a:prstGeom prst="rect">
            <a:avLst/>
          </a:prstGeom>
          <a:noFill/>
        </p:spPr>
        <p:txBody>
          <a:bodyPr wrap="square" anchor="ctr" lIns="0" rIns="0" tIns="0" bIns="0">
            <a:spAutoFit/>
          </a:bodyPr>
          <a:lstStyle/>
          <a:p>
            <a:pPr algn="l"/>
            <a:r>
              <a:rPr sz="1000" b="1">
                <a:solidFill>
                  <a:schemeClr val="accent1"/>
                </a:solidFill>
              </a:rPr>
              <a:t>Queue 205</a:t>
            </a:r>
          </a:p>
        </p:txBody>
      </p:sp>
      <p:sp>
        <p:nvSpPr>
          <p:cNvPr id="9015" name="Queue cell 160"/>
          <p:cNvSpPr/>
          <p:nvPr/>
        </p:nvSpPr>
        <p:spPr>
          <a:xfrm>
            <a:off x="54864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1</a:t>
            </a:r>
          </a:p>
        </p:txBody>
      </p:sp>
      <p:sp>
        <p:nvSpPr>
          <p:cNvPr id="9016" name="Queue cell 161"/>
          <p:cNvSpPr/>
          <p:nvPr/>
        </p:nvSpPr>
        <p:spPr>
          <a:xfrm>
            <a:off x="77724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2</a:t>
            </a:r>
          </a:p>
        </p:txBody>
      </p:sp>
      <p:sp>
        <p:nvSpPr>
          <p:cNvPr id="9017" name="Queue cell 162"/>
          <p:cNvSpPr/>
          <p:nvPr/>
        </p:nvSpPr>
        <p:spPr>
          <a:xfrm>
            <a:off x="100584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3</a:t>
            </a:r>
          </a:p>
        </p:txBody>
      </p:sp>
      <p:sp>
        <p:nvSpPr>
          <p:cNvPr id="9018" name="Queue cell 163"/>
          <p:cNvSpPr/>
          <p:nvPr/>
        </p:nvSpPr>
        <p:spPr>
          <a:xfrm>
            <a:off x="123444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4</a:t>
            </a:r>
          </a:p>
        </p:txBody>
      </p:sp>
      <p:sp>
        <p:nvSpPr>
          <p:cNvPr id="9019" name="Queue cell 164"/>
          <p:cNvSpPr/>
          <p:nvPr/>
        </p:nvSpPr>
        <p:spPr>
          <a:xfrm>
            <a:off x="1463040" y="3163824"/>
            <a:ext cx="20116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chemeClr val="bg1"/>
                </a:solidFill>
              </a:rPr>
              <a:t>5</a:t>
            </a:r>
          </a:p>
        </p:txBody>
      </p:sp>
      <p:sp>
        <p:nvSpPr>
          <p:cNvPr id="9020" name="Queue cell 165"/>
          <p:cNvSpPr/>
          <p:nvPr/>
        </p:nvSpPr>
        <p:spPr>
          <a:xfrm>
            <a:off x="1691640" y="3163824"/>
            <a:ext cx="201168" cy="27432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21" name="Queue cell 166"/>
          <p:cNvSpPr/>
          <p:nvPr/>
        </p:nvSpPr>
        <p:spPr>
          <a:xfrm>
            <a:off x="1920240" y="3163824"/>
            <a:ext cx="201168" cy="27432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9022" name="Arrow 167"/>
          <p:cNvCxnSpPr/>
          <p:nvPr/>
        </p:nvCxnSpPr>
        <p:spPr>
          <a:xfrm>
            <a:off x="1106424" y="3438144"/>
            <a:ext cx="0" cy="356616"/>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3" name="Box 168"/>
          <p:cNvSpPr/>
          <p:nvPr/>
        </p:nvSpPr>
        <p:spPr>
          <a:xfrm>
            <a:off x="548640" y="3794760"/>
            <a:ext cx="1600200" cy="5486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Archive</a:t>
            </a:r>
          </a:p>
        </p:txBody>
      </p:sp>
      <p:sp>
        <p:nvSpPr>
          <p:cNvPr id="9024" name="Text 169"/>
          <p:cNvSpPr txBox="1"/>
          <p:nvPr/>
        </p:nvSpPr>
        <p:spPr>
          <a:xfrm>
            <a:off x="2331720" y="1691640"/>
            <a:ext cx="1600200" cy="320040"/>
          </a:xfrm>
          <a:prstGeom prst="rect">
            <a:avLst/>
          </a:prstGeom>
          <a:noFill/>
        </p:spPr>
        <p:txBody>
          <a:bodyPr wrap="square" anchor="t" lIns="0" rIns="0" tIns="0" bIns="0">
            <a:spAutoFit/>
          </a:bodyPr>
          <a:lstStyle/>
          <a:p>
            <a:pPr algn="ctr"/>
            <a:r>
              <a:rPr sz="1200" b="1">
                <a:solidFill>
                  <a:schemeClr val="accent5"/>
                </a:solidFill>
              </a:rPr>
              <a:t>member 1</a:t>
            </a:r>
          </a:p>
        </p:txBody>
      </p:sp>
      <p:sp>
        <p:nvSpPr>
          <p:cNvPr id="9025" name="Box 170"/>
          <p:cNvSpPr/>
          <p:nvPr/>
        </p:nvSpPr>
        <p:spPr>
          <a:xfrm>
            <a:off x="2331720" y="2057400"/>
            <a:ext cx="1600200" cy="5486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Raft log</a:t>
            </a:r>
          </a:p>
        </p:txBody>
      </p:sp>
      <p:cxnSp>
        <p:nvCxnSpPr>
          <p:cNvPr id="9026" name="Arrow 171"/>
          <p:cNvCxnSpPr/>
          <p:nvPr/>
        </p:nvCxnSpPr>
        <p:spPr>
          <a:xfrm>
            <a:off x="3346704" y="2606040"/>
            <a:ext cx="0" cy="557784"/>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7" name="Text 172"/>
          <p:cNvSpPr txBox="1"/>
          <p:nvPr/>
        </p:nvSpPr>
        <p:spPr>
          <a:xfrm>
            <a:off x="2331720" y="2944368"/>
            <a:ext cx="914400" cy="219456"/>
          </a:xfrm>
          <a:prstGeom prst="rect">
            <a:avLst/>
          </a:prstGeom>
          <a:noFill/>
        </p:spPr>
        <p:txBody>
          <a:bodyPr wrap="square" anchor="ctr" lIns="0" rIns="0" tIns="0" bIns="0">
            <a:spAutoFit/>
          </a:bodyPr>
          <a:lstStyle/>
          <a:p>
            <a:pPr algn="l"/>
            <a:r>
              <a:rPr sz="1000" b="1">
                <a:solidFill>
                  <a:schemeClr val="accent1"/>
                </a:solidFill>
              </a:rPr>
              <a:t>Queue 205</a:t>
            </a:r>
          </a:p>
        </p:txBody>
      </p:sp>
      <p:sp>
        <p:nvSpPr>
          <p:cNvPr id="9028" name="Queue cell 173"/>
          <p:cNvSpPr/>
          <p:nvPr/>
        </p:nvSpPr>
        <p:spPr>
          <a:xfrm>
            <a:off x="233172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1</a:t>
            </a:r>
          </a:p>
        </p:txBody>
      </p:sp>
      <p:sp>
        <p:nvSpPr>
          <p:cNvPr id="9029" name="Queue cell 174"/>
          <p:cNvSpPr/>
          <p:nvPr/>
        </p:nvSpPr>
        <p:spPr>
          <a:xfrm>
            <a:off x="256032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2</a:t>
            </a:r>
          </a:p>
        </p:txBody>
      </p:sp>
      <p:sp>
        <p:nvSpPr>
          <p:cNvPr id="9030" name="Queue cell 175"/>
          <p:cNvSpPr/>
          <p:nvPr/>
        </p:nvSpPr>
        <p:spPr>
          <a:xfrm>
            <a:off x="278892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3</a:t>
            </a:r>
          </a:p>
        </p:txBody>
      </p:sp>
      <p:sp>
        <p:nvSpPr>
          <p:cNvPr id="9031" name="Queue cell 176"/>
          <p:cNvSpPr/>
          <p:nvPr/>
        </p:nvSpPr>
        <p:spPr>
          <a:xfrm>
            <a:off x="301752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4</a:t>
            </a:r>
          </a:p>
        </p:txBody>
      </p:sp>
      <p:sp>
        <p:nvSpPr>
          <p:cNvPr id="9032" name="Queue cell 177"/>
          <p:cNvSpPr/>
          <p:nvPr/>
        </p:nvSpPr>
        <p:spPr>
          <a:xfrm>
            <a:off x="3246120" y="3163824"/>
            <a:ext cx="20116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chemeClr val="bg1"/>
                </a:solidFill>
              </a:rPr>
              <a:t>5</a:t>
            </a:r>
          </a:p>
        </p:txBody>
      </p:sp>
      <p:sp>
        <p:nvSpPr>
          <p:cNvPr id="9033" name="Queue cell 178"/>
          <p:cNvSpPr/>
          <p:nvPr/>
        </p:nvSpPr>
        <p:spPr>
          <a:xfrm>
            <a:off x="3474720" y="3163824"/>
            <a:ext cx="201168" cy="27432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34" name="Queue cell 179"/>
          <p:cNvSpPr/>
          <p:nvPr/>
        </p:nvSpPr>
        <p:spPr>
          <a:xfrm>
            <a:off x="3703320" y="3163824"/>
            <a:ext cx="201168" cy="27432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9035" name="Arrow 180"/>
          <p:cNvCxnSpPr/>
          <p:nvPr/>
        </p:nvCxnSpPr>
        <p:spPr>
          <a:xfrm>
            <a:off x="2889504" y="3438144"/>
            <a:ext cx="0" cy="356616"/>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36" name="Box 181"/>
          <p:cNvSpPr/>
          <p:nvPr/>
        </p:nvSpPr>
        <p:spPr>
          <a:xfrm>
            <a:off x="2331720" y="3794760"/>
            <a:ext cx="1600200" cy="5486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Archive</a:t>
            </a:r>
          </a:p>
        </p:txBody>
      </p:sp>
      <p:sp>
        <p:nvSpPr>
          <p:cNvPr id="9037" name="Text 182"/>
          <p:cNvSpPr txBox="1"/>
          <p:nvPr/>
        </p:nvSpPr>
        <p:spPr>
          <a:xfrm>
            <a:off x="4114800" y="1691640"/>
            <a:ext cx="1600200" cy="320040"/>
          </a:xfrm>
          <a:prstGeom prst="rect">
            <a:avLst/>
          </a:prstGeom>
          <a:noFill/>
        </p:spPr>
        <p:txBody>
          <a:bodyPr wrap="square" anchor="t" lIns="0" rIns="0" tIns="0" bIns="0">
            <a:spAutoFit/>
          </a:bodyPr>
          <a:lstStyle/>
          <a:p>
            <a:pPr algn="ctr"/>
            <a:r>
              <a:rPr sz="1200" b="1">
                <a:solidFill>
                  <a:schemeClr val="accent5"/>
                </a:solidFill>
              </a:rPr>
              <a:t>member 2</a:t>
            </a:r>
          </a:p>
        </p:txBody>
      </p:sp>
      <p:sp>
        <p:nvSpPr>
          <p:cNvPr id="9038" name="Box 183"/>
          <p:cNvSpPr/>
          <p:nvPr/>
        </p:nvSpPr>
        <p:spPr>
          <a:xfrm>
            <a:off x="4114800" y="2057400"/>
            <a:ext cx="1600200" cy="5486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Raft log</a:t>
            </a:r>
          </a:p>
        </p:txBody>
      </p:sp>
      <p:cxnSp>
        <p:nvCxnSpPr>
          <p:cNvPr id="9039" name="Arrow 184"/>
          <p:cNvCxnSpPr/>
          <p:nvPr/>
        </p:nvCxnSpPr>
        <p:spPr>
          <a:xfrm>
            <a:off x="5129784" y="2606040"/>
            <a:ext cx="0" cy="557784"/>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40" name="Text 185"/>
          <p:cNvSpPr txBox="1"/>
          <p:nvPr/>
        </p:nvSpPr>
        <p:spPr>
          <a:xfrm>
            <a:off x="4114800" y="2944368"/>
            <a:ext cx="914400" cy="219456"/>
          </a:xfrm>
          <a:prstGeom prst="rect">
            <a:avLst/>
          </a:prstGeom>
          <a:noFill/>
        </p:spPr>
        <p:txBody>
          <a:bodyPr wrap="square" anchor="ctr" lIns="0" rIns="0" tIns="0" bIns="0">
            <a:spAutoFit/>
          </a:bodyPr>
          <a:lstStyle/>
          <a:p>
            <a:pPr algn="l"/>
            <a:r>
              <a:rPr sz="1000" b="1">
                <a:solidFill>
                  <a:schemeClr val="accent1"/>
                </a:solidFill>
              </a:rPr>
              <a:t>Queue 205</a:t>
            </a:r>
          </a:p>
        </p:txBody>
      </p:sp>
      <p:sp>
        <p:nvSpPr>
          <p:cNvPr id="9041" name="Queue cell 186"/>
          <p:cNvSpPr/>
          <p:nvPr/>
        </p:nvSpPr>
        <p:spPr>
          <a:xfrm>
            <a:off x="411480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1</a:t>
            </a:r>
          </a:p>
        </p:txBody>
      </p:sp>
      <p:sp>
        <p:nvSpPr>
          <p:cNvPr id="9042" name="Queue cell 187"/>
          <p:cNvSpPr/>
          <p:nvPr/>
        </p:nvSpPr>
        <p:spPr>
          <a:xfrm>
            <a:off x="434340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2</a:t>
            </a:r>
          </a:p>
        </p:txBody>
      </p:sp>
      <p:sp>
        <p:nvSpPr>
          <p:cNvPr id="9043" name="Queue cell 188"/>
          <p:cNvSpPr/>
          <p:nvPr/>
        </p:nvSpPr>
        <p:spPr>
          <a:xfrm>
            <a:off x="457200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3</a:t>
            </a:r>
          </a:p>
        </p:txBody>
      </p:sp>
      <p:sp>
        <p:nvSpPr>
          <p:cNvPr id="9044" name="Queue cell 189"/>
          <p:cNvSpPr/>
          <p:nvPr/>
        </p:nvSpPr>
        <p:spPr>
          <a:xfrm>
            <a:off x="4800600" y="3163824"/>
            <a:ext cx="201168"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4</a:t>
            </a:r>
          </a:p>
        </p:txBody>
      </p:sp>
      <p:sp>
        <p:nvSpPr>
          <p:cNvPr id="9045" name="Queue cell 190"/>
          <p:cNvSpPr/>
          <p:nvPr/>
        </p:nvSpPr>
        <p:spPr>
          <a:xfrm>
            <a:off x="5029200" y="3163824"/>
            <a:ext cx="201168"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chemeClr val="bg1"/>
                </a:solidFill>
              </a:rPr>
              <a:t>5</a:t>
            </a:r>
          </a:p>
        </p:txBody>
      </p:sp>
      <p:sp>
        <p:nvSpPr>
          <p:cNvPr id="9046" name="Queue cell 191"/>
          <p:cNvSpPr/>
          <p:nvPr/>
        </p:nvSpPr>
        <p:spPr>
          <a:xfrm>
            <a:off x="5257800" y="3163824"/>
            <a:ext cx="201168" cy="27432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47" name="Queue cell 192"/>
          <p:cNvSpPr/>
          <p:nvPr/>
        </p:nvSpPr>
        <p:spPr>
          <a:xfrm>
            <a:off x="5486400" y="3163824"/>
            <a:ext cx="201168" cy="27432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cxnSp>
        <p:nvCxnSpPr>
          <p:cNvPr id="9048" name="Arrow 193"/>
          <p:cNvCxnSpPr/>
          <p:nvPr/>
        </p:nvCxnSpPr>
        <p:spPr>
          <a:xfrm>
            <a:off x="4672584" y="3438144"/>
            <a:ext cx="0" cy="356616"/>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49" name="Box 194"/>
          <p:cNvSpPr/>
          <p:nvPr/>
        </p:nvSpPr>
        <p:spPr>
          <a:xfrm>
            <a:off x="4114800" y="3794760"/>
            <a:ext cx="1600200" cy="5486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Archive</a:t>
            </a:r>
          </a:p>
        </p:txBody>
      </p:sp>
      <p:sp>
        <p:nvSpPr>
          <p:cNvPr id="9050" name="Text 195"/>
          <p:cNvSpPr txBox="1"/>
          <p:nvPr/>
        </p:nvSpPr>
        <p:spPr>
          <a:xfrm>
            <a:off x="548640" y="4526280"/>
            <a:ext cx="5166360" cy="1463040"/>
          </a:xfrm>
          <a:prstGeom prst="rect">
            <a:avLst/>
          </a:prstGeom>
          <a:noFill/>
        </p:spPr>
        <p:txBody>
          <a:bodyPr wrap="square" anchor="t" lIns="0" rIns="0" tIns="0" bIns="0">
            <a:spAutoFit/>
          </a:bodyPr>
          <a:lstStyle/>
          <a:p>
            <a:pPr algn="l">
              <a:spcAft>
                <a:spcPts val="600"/>
              </a:spcAft>
            </a:pPr>
            <a:r>
              <a:rPr sz="1500" b="1">
                <a:solidFill>
                  <a:schemeClr val="tx1"/>
                </a:solidFill>
              </a:rPr>
              <a:t>Same committed log → byte-identical queues → every archive holds full history.</a:t>
            </a:r>
          </a:p>
          <a:p>
            <a:pPr algn="l"/>
            <a:r>
              <a:rPr sz="1400" b="0">
                <a:solidFill>
                  <a:schemeClr val="accent5"/>
                </a:solidFill>
              </a:rPr>
              <a:t>The queue survives leadership changes: one continuous recording per member.</a:t>
            </a:r>
          </a:p>
        </p:txBody>
      </p:sp>
      <p:sp>
        <p:nvSpPr>
          <p:cNvPr id="9051" name="Text 196"/>
          <p:cNvSpPr txBox="1"/>
          <p:nvPr/>
        </p:nvSpPr>
        <p:spPr>
          <a:xfrm>
            <a:off x="6309360" y="1691640"/>
            <a:ext cx="5303520" cy="320040"/>
          </a:xfrm>
          <a:prstGeom prst="rect">
            <a:avLst/>
          </a:prstGeom>
          <a:noFill/>
        </p:spPr>
        <p:txBody>
          <a:bodyPr wrap="square" anchor="t" lIns="0" rIns="0" tIns="0" bIns="0">
            <a:spAutoFit/>
          </a:bodyPr>
          <a:lstStyle/>
          <a:p>
            <a:pPr algn="l"/>
            <a:r>
              <a:rPr sz="1200" b="1">
                <a:solidFill>
                  <a:schemeClr val="accent1"/>
                </a:solidFill>
              </a:rPr>
              <a:t>RELIABLE, AND BOUNDED</a:t>
            </a:r>
          </a:p>
        </p:txBody>
      </p:sp>
      <p:graphicFrame>
        <p:nvGraphicFramePr>
          <p:cNvPr id="9052" name="Table 197"/>
          <p:cNvGraphicFramePr>
            <a:graphicFrameLocks noGrp="1"/>
          </p:cNvGraphicFramePr>
          <p:nvPr/>
        </p:nvGraphicFramePr>
        <p:xfrm>
          <a:off x="6309360" y="2057400"/>
          <a:ext cx="5330952" cy="2743200"/>
        </p:xfrm>
        <a:graphic>
          <a:graphicData uri="http://schemas.openxmlformats.org/drawingml/2006/table">
            <a:tbl>
              <a:tblPr firstRow="1">
                <a:tableStyleId>{5C22544A-7EE6-4342-B048-85BDC9FD1C3A}</a:tableStyleId>
              </a:tblPr>
              <a:tblGrid>
                <a:gridCol w="2011680"/>
                <a:gridCol w="3319272"/>
              </a:tblGrid>
              <a:tr h="457200">
                <a:tc>
                  <a:txBody>
                    <a:bodyPr/>
                    <a:lstStyle/>
                    <a:p>
                      <a:pPr algn="l"/>
                      <a:r>
                        <a:rPr sz="1300" b="1">
                          <a:solidFill>
                            <a:schemeClr val="bg1"/>
                          </a:solidFill>
                        </a:rPr>
                        <a:t>Archive state</a:t>
                      </a:r>
                    </a:p>
                  </a:txBody>
                  <a:tcPr marL="91440" marR="91440" marT="45720" marB="45720" anchor="ctr">
                    <a:solidFill>
                      <a:schemeClr val="accent1"/>
                    </a:solidFill>
                  </a:tcPr>
                </a:tc>
                <a:tc>
                  <a:txBody>
                    <a:bodyPr/>
                    <a:lstStyle/>
                    <a:p>
                      <a:pPr algn="l"/>
                      <a:r>
                        <a:rPr sz="1300" b="1">
                          <a:solidFill>
                            <a:schemeClr val="bg1"/>
                          </a:solidFill>
                        </a:rPr>
                        <a:t>Response</a:t>
                      </a:r>
                    </a:p>
                  </a:txBody>
                  <a:tcPr marL="91440" marR="91440" marT="45720" marB="45720" anchor="ctr">
                    <a:solidFill>
                      <a:schemeClr val="accent1"/>
                    </a:solidFill>
                  </a:tcPr>
                </a:tc>
              </a:tr>
              <a:tr h="457200">
                <a:tc>
                  <a:txBody>
                    <a:bodyPr/>
                    <a:lstStyle/>
                    <a:p>
                      <a:pPr algn="l"/>
                      <a:r>
                        <a:rPr sz="1400" b="1">
                          <a:solidFill>
                            <a:schemeClr val="tx1"/>
                          </a:solidFill>
                        </a:rPr>
                        <a:t>Slow, advancing</a:t>
                      </a:r>
                    </a:p>
                  </a:txBody>
                  <a:tcPr marL="91440" marR="91440" marT="45720" marB="45720" anchor="ctr">
                    <a:solidFill>
                      <a:schemeClr val="bg1"/>
                    </a:solidFill>
                  </a:tcPr>
                </a:tc>
                <a:tc>
                  <a:txBody>
                    <a:bodyPr/>
                    <a:lstStyle/>
                    <a:p>
                      <a:pPr algn="l"/>
                      <a:r>
                        <a:rPr sz="1400" b="0">
                          <a:solidFill>
                            <a:schemeClr val="tx1"/>
                          </a:solidFill>
                        </a:rPr>
                        <a:t>Keep retrying; never timed out</a:t>
                      </a:r>
                    </a:p>
                  </a:txBody>
                  <a:tcPr marL="91440" marR="91440" marT="45720" marB="45720" anchor="ctr">
                    <a:solidFill>
                      <a:schemeClr val="bg1"/>
                    </a:solidFill>
                  </a:tcPr>
                </a:tc>
              </a:tr>
              <a:tr h="457200">
                <a:tc>
                  <a:txBody>
                    <a:bodyPr/>
                    <a:lstStyle/>
                    <a:p>
                      <a:pPr algn="l"/>
                      <a:r>
                        <a:rPr sz="1400" b="1">
                          <a:solidFill>
                            <a:schemeClr val="tx1"/>
                          </a:solidFill>
                        </a:rPr>
                        <a:t>No progress 200 ms</a:t>
                      </a:r>
                    </a:p>
                  </a:txBody>
                  <a:tcPr marL="91440" marR="91440" marT="45720" marB="45720" anchor="ctr">
                    <a:solidFill>
                      <a:schemeClr val="bg2"/>
                    </a:solidFill>
                  </a:tcPr>
                </a:tc>
                <a:tc>
                  <a:txBody>
                    <a:bodyPr/>
                    <a:lstStyle/>
                    <a:p>
                      <a:pPr algn="l"/>
                      <a:r>
                        <a:rPr sz="1400" b="0">
                          <a:solidFill>
                            <a:schemeClr val="tx1"/>
                          </a:solidFill>
                        </a:rPr>
                        <a:t>Raise the stall gauge</a:t>
                      </a:r>
                    </a:p>
                  </a:txBody>
                  <a:tcPr marL="91440" marR="91440" marT="45720" marB="45720" anchor="ctr">
                    <a:solidFill>
                      <a:schemeClr val="bg2"/>
                    </a:solidFill>
                  </a:tcPr>
                </a:tc>
              </a:tr>
              <a:tr h="457200">
                <a:tc>
                  <a:txBody>
                    <a:bodyPr/>
                    <a:lstStyle/>
                    <a:p>
                      <a:pPr algn="l"/>
                      <a:r>
                        <a:rPr sz="1400" b="1">
                          <a:solidFill>
                            <a:schemeClr val="tx1"/>
                          </a:solidFill>
                        </a:rPr>
                        <a:t>No progress 1 s</a:t>
                      </a:r>
                    </a:p>
                  </a:txBody>
                  <a:tcPr marL="91440" marR="91440" marT="45720" marB="45720" anchor="ctr">
                    <a:solidFill>
                      <a:schemeClr val="bg1"/>
                    </a:solidFill>
                  </a:tcPr>
                </a:tc>
                <a:tc>
                  <a:txBody>
                    <a:bodyPr/>
                    <a:lstStyle/>
                    <a:p>
                      <a:pPr algn="l"/>
                      <a:r>
                        <a:rPr sz="1400" b="0">
                          <a:solidFill>
                            <a:schemeClr val="tx1"/>
                          </a:solidFill>
                        </a:rPr>
                        <a:t>Terminate the member (exit 70)</a:t>
                      </a:r>
                    </a:p>
                  </a:txBody>
                  <a:tcPr marL="91440" marR="91440" marT="45720" marB="45720" anchor="ctr">
                    <a:solidFill>
                      <a:schemeClr val="bg1"/>
                    </a:solidFill>
                  </a:tcPr>
                </a:tc>
              </a:tr>
              <a:tr h="457200">
                <a:tc>
                  <a:txBody>
                    <a:bodyPr/>
                    <a:lstStyle/>
                    <a:p>
                      <a:pPr algn="l"/>
                      <a:r>
                        <a:rPr sz="1400" b="1">
                          <a:solidFill>
                            <a:schemeClr val="tx1"/>
                          </a:solidFill>
                        </a:rPr>
                        <a:t>Recording gone</a:t>
                      </a:r>
                    </a:p>
                  </a:txBody>
                  <a:tcPr marL="91440" marR="91440" marT="45720" marB="45720" anchor="ctr">
                    <a:solidFill>
                      <a:schemeClr val="bg2"/>
                    </a:solidFill>
                  </a:tcPr>
                </a:tc>
                <a:tc>
                  <a:txBody>
                    <a:bodyPr/>
                    <a:lstStyle/>
                    <a:p>
                      <a:pPr algn="l"/>
                      <a:r>
                        <a:rPr sz="1400" b="0">
                          <a:solidFill>
                            <a:schemeClr val="tx1"/>
                          </a:solidFill>
                        </a:rPr>
                        <a:t>Terminate at once</a:t>
                      </a:r>
                    </a:p>
                  </a:txBody>
                  <a:tcPr marL="91440" marR="91440" marT="45720" marB="45720" anchor="ctr">
                    <a:solidFill>
                      <a:schemeClr val="bg2"/>
                    </a:solidFill>
                  </a:tcPr>
                </a:tc>
              </a:tr>
              <a:tr h="457200">
                <a:tc>
                  <a:txBody>
                    <a:bodyPr/>
                    <a:lstStyle/>
                    <a:p>
                      <a:pPr algn="l"/>
                      <a:r>
                        <a:rPr sz="1400" b="1">
                          <a:solidFill>
                            <a:schemeClr val="tx1"/>
                          </a:solidFill>
                        </a:rPr>
                        <a:t>Stopped silently</a:t>
                      </a:r>
                    </a:p>
                  </a:txBody>
                  <a:tcPr marL="91440" marR="91440" marT="45720" marB="45720" anchor="ctr">
                    <a:solidFill>
                      <a:schemeClr val="bg1"/>
                    </a:solidFill>
                  </a:tcPr>
                </a:tc>
                <a:tc>
                  <a:txBody>
                    <a:bodyPr/>
                    <a:lstStyle/>
                    <a:p>
                      <a:pPr algn="l"/>
                      <a:r>
                        <a:rPr sz="1400" b="0">
                          <a:solidFill>
                            <a:schemeClr val="tx1"/>
                          </a:solidFill>
                        </a:rPr>
                        <a:t>Caught by the 1 Hz liveness check</a:t>
                      </a:r>
                    </a:p>
                  </a:txBody>
                  <a:tcPr marL="91440" marR="91440" marT="45720" marB="45720" anchor="ctr">
                    <a:solidFill>
                      <a:schemeClr val="bg1"/>
                    </a:solidFill>
                  </a:tcPr>
                </a:tc>
              </a:tr>
            </a:tbl>
          </a:graphicData>
        </a:graphic>
      </p:graphicFrame>
      <p:sp>
        <p:nvSpPr>
          <p:cNvPr id="9053" name="Text 198"/>
          <p:cNvSpPr txBox="1"/>
          <p:nvPr/>
        </p:nvSpPr>
        <p:spPr>
          <a:xfrm>
            <a:off x="6309360" y="4937760"/>
            <a:ext cx="5303520" cy="1097280"/>
          </a:xfrm>
          <a:prstGeom prst="rect">
            <a:avLst/>
          </a:prstGeom>
          <a:noFill/>
        </p:spPr>
        <p:txBody>
          <a:bodyPr wrap="square" anchor="t" lIns="0" rIns="0" tIns="0" bIns="0">
            <a:spAutoFit/>
          </a:bodyPr>
          <a:lstStyle/>
          <a:p>
            <a:pPr algn="l"/>
            <a:r>
              <a:rPr sz="1400" b="0">
                <a:solidFill>
                  <a:schemeClr val="accent5"/>
                </a:solidFill>
              </a:rPr>
              <a:t>A member that cannot keep history stops instead of sequencing history it cannot serve. Peers keep quorum; its restart rebuilds the recording.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Live from queue and history from archive</a:t>
            </a:r>
          </a:p>
        </p:txBody>
      </p:sp>
      <p:sp>
        <p:nvSpPr>
          <p:cNvPr id="3" name="Text 199"/>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The Replayer serves one recording to many clients</a:t>
            </a:r>
          </a:p>
        </p:txBody>
      </p:sp>
      <p:sp>
        <p:nvSpPr>
          <p:cNvPr id="9011" name="Slide number"/>
          <p:cNvSpPr txBox="1"/>
          <p:nvPr userDrawn="1"/>
        </p:nvSpPr>
        <p:spPr>
          <a:xfrm>
            <a:off x="10728655" y="6400800"/>
            <a:ext cx="914400" cy="274320"/>
          </a:xfrm>
          <a:prstGeom prst="rect">
            <a:avLst/>
          </a:prstGeom>
          <a:noFill/>
        </p:spPr>
        <p:txBody>
          <a:bodyPr wrap="none" lIns="0" tIns="0" rIns="0" bIns="0" anchor="ctr"/>
          <a:lstStyle/>
          <a:p>
            <a:pPr algn="r"/>
            <a:fld id="{f5ada086-72df-4d47-85a5-5b8734019777}" type="slidenum">
              <a:rPr lang="en-US" sz="1000" dirty="0">
                <a:solidFill>
                  <a:schemeClr val="accent5"/>
                </a:solidFill>
              </a:rPr>
              <a:t>11</a:t>
            </a:fld>
          </a:p>
        </p:txBody>
      </p:sp>
      <p:sp>
        <p:nvSpPr>
          <p:cNvPr id="9012" name="Box 200"/>
          <p:cNvSpPr/>
          <p:nvPr/>
        </p:nvSpPr>
        <p:spPr>
          <a:xfrm>
            <a:off x="1499616" y="1463040"/>
            <a:ext cx="914400" cy="292608"/>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Sequencer</a:t>
            </a:r>
          </a:p>
        </p:txBody>
      </p:sp>
      <p:cxnSp>
        <p:nvCxnSpPr>
          <p:cNvPr id="9013" name="Arrow 201"/>
          <p:cNvCxnSpPr/>
          <p:nvPr/>
        </p:nvCxnSpPr>
        <p:spPr>
          <a:xfrm>
            <a:off x="1955902" y="1755648"/>
            <a:ext cx="0" cy="301752"/>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14" name="Text 202"/>
          <p:cNvSpPr txBox="1"/>
          <p:nvPr/>
        </p:nvSpPr>
        <p:spPr>
          <a:xfrm>
            <a:off x="548640" y="1810512"/>
            <a:ext cx="1737360" cy="219456"/>
          </a:xfrm>
          <a:prstGeom prst="rect">
            <a:avLst/>
          </a:prstGeom>
          <a:noFill/>
        </p:spPr>
        <p:txBody>
          <a:bodyPr wrap="square" anchor="ctr" lIns="0" rIns="0" tIns="0" bIns="0">
            <a:spAutoFit/>
          </a:bodyPr>
          <a:lstStyle/>
          <a:p>
            <a:pPr algn="l"/>
            <a:r>
              <a:rPr sz="1000" b="1">
                <a:solidFill>
                  <a:schemeClr val="accent1"/>
                </a:solidFill>
              </a:rPr>
              <a:t>Queue · aeron:ipc 205</a:t>
            </a:r>
          </a:p>
        </p:txBody>
      </p:sp>
      <p:sp>
        <p:nvSpPr>
          <p:cNvPr id="9015" name="Queue cell 203"/>
          <p:cNvSpPr/>
          <p:nvPr/>
        </p:nvSpPr>
        <p:spPr>
          <a:xfrm>
            <a:off x="548640" y="2057400"/>
            <a:ext cx="283464" cy="32918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1</a:t>
            </a:r>
          </a:p>
        </p:txBody>
      </p:sp>
      <p:sp>
        <p:nvSpPr>
          <p:cNvPr id="9016" name="Queue cell 204"/>
          <p:cNvSpPr/>
          <p:nvPr/>
        </p:nvSpPr>
        <p:spPr>
          <a:xfrm>
            <a:off x="865022" y="2057400"/>
            <a:ext cx="283464" cy="32918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2</a:t>
            </a:r>
          </a:p>
        </p:txBody>
      </p:sp>
      <p:sp>
        <p:nvSpPr>
          <p:cNvPr id="9017" name="Queue cell 205"/>
          <p:cNvSpPr/>
          <p:nvPr/>
        </p:nvSpPr>
        <p:spPr>
          <a:xfrm>
            <a:off x="1181405" y="2057400"/>
            <a:ext cx="283464" cy="32918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3</a:t>
            </a:r>
          </a:p>
        </p:txBody>
      </p:sp>
      <p:sp>
        <p:nvSpPr>
          <p:cNvPr id="9018" name="Queue cell 206"/>
          <p:cNvSpPr/>
          <p:nvPr/>
        </p:nvSpPr>
        <p:spPr>
          <a:xfrm>
            <a:off x="1497787" y="2057400"/>
            <a:ext cx="283464" cy="32918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4</a:t>
            </a:r>
          </a:p>
        </p:txBody>
      </p:sp>
      <p:sp>
        <p:nvSpPr>
          <p:cNvPr id="9019" name="Queue cell 207"/>
          <p:cNvSpPr/>
          <p:nvPr/>
        </p:nvSpPr>
        <p:spPr>
          <a:xfrm>
            <a:off x="1814170" y="2057400"/>
            <a:ext cx="283464"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chemeClr val="bg1"/>
                </a:solidFill>
              </a:rPr>
              <a:t>5</a:t>
            </a:r>
          </a:p>
        </p:txBody>
      </p:sp>
      <p:sp>
        <p:nvSpPr>
          <p:cNvPr id="9020" name="Queue cell 208"/>
          <p:cNvSpPr/>
          <p:nvPr/>
        </p:nvSpPr>
        <p:spPr>
          <a:xfrm>
            <a:off x="2130552" y="2057400"/>
            <a:ext cx="283464" cy="32918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21" name="Queue cell 209"/>
          <p:cNvSpPr/>
          <p:nvPr/>
        </p:nvSpPr>
        <p:spPr>
          <a:xfrm>
            <a:off x="2446934" y="2057400"/>
            <a:ext cx="283464" cy="32918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22" name="Box 210"/>
          <p:cNvSpPr/>
          <p:nvPr/>
        </p:nvSpPr>
        <p:spPr>
          <a:xfrm>
            <a:off x="548640" y="3291840"/>
            <a:ext cx="2103120" cy="64008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Archive</a:t>
            </a:r>
          </a:p>
        </p:txBody>
      </p:sp>
      <p:sp>
        <p:nvSpPr>
          <p:cNvPr id="9023" name="Box 211"/>
          <p:cNvSpPr/>
          <p:nvPr/>
        </p:nvSpPr>
        <p:spPr>
          <a:xfrm>
            <a:off x="548640" y="4754880"/>
            <a:ext cx="2103120" cy="64008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ReplayerService</a:t>
            </a:r>
          </a:p>
        </p:txBody>
      </p:sp>
      <p:cxnSp>
        <p:nvCxnSpPr>
          <p:cNvPr id="9024" name="Arrow 212"/>
          <p:cNvCxnSpPr/>
          <p:nvPr/>
        </p:nvCxnSpPr>
        <p:spPr>
          <a:xfrm>
            <a:off x="1006754" y="2386584"/>
            <a:ext cx="0" cy="905256"/>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25" name="Arrow 213"/>
          <p:cNvCxnSpPr/>
          <p:nvPr/>
        </p:nvCxnSpPr>
        <p:spPr>
          <a:xfrm>
            <a:off x="1600200" y="3931920"/>
            <a:ext cx="0" cy="82296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6" name="Box 214"/>
          <p:cNvSpPr/>
          <p:nvPr/>
        </p:nvSpPr>
        <p:spPr>
          <a:xfrm>
            <a:off x="3520440" y="3291840"/>
            <a:ext cx="1737360" cy="64008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Client</a:t>
            </a:r>
          </a:p>
        </p:txBody>
      </p:sp>
      <p:sp>
        <p:nvSpPr>
          <p:cNvPr id="4" name="Path 215"/>
          <p:cNvSpPr/>
          <p:nvPr/>
        </p:nvSpPr>
        <p:spPr>
          <a:xfrm>
            <a:off x="1639519" y="2386584"/>
            <a:ext cx="2749601" cy="905256"/>
          </a:xfrm>
          <a:custGeom>
            <a:avLst/>
            <a:gdLst/>
            <a:ahLst/>
            <a:cxnLst/>
            <a:rect l="l" t="t" r="r" b="b"/>
            <a:pathLst>
              <a:path w="2749601" h="905256">
                <a:moveTo>
                  <a:pt x="0" y="0"/>
                </a:moveTo>
                <a:lnTo>
                  <a:pt x="0" y="265176"/>
                </a:lnTo>
                <a:lnTo>
                  <a:pt x="2749601" y="265176"/>
                </a:lnTo>
                <a:lnTo>
                  <a:pt x="2749601" y="905256"/>
                </a:lnTo>
              </a:path>
            </a:pathLst>
          </a:custGeom>
          <a:noFill/>
          <a:ln w="22225">
            <a:solidFill>
              <a:schemeClr val="accent1"/>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7" name="Text 216"/>
          <p:cNvSpPr txBox="1"/>
          <p:nvPr/>
        </p:nvSpPr>
        <p:spPr>
          <a:xfrm>
            <a:off x="2834640" y="2304288"/>
            <a:ext cx="1828800" cy="320040"/>
          </a:xfrm>
          <a:prstGeom prst="rect">
            <a:avLst/>
          </a:prstGeom>
          <a:noFill/>
        </p:spPr>
        <p:txBody>
          <a:bodyPr wrap="square" anchor="t" lIns="0" rIns="0" tIns="0" bIns="0">
            <a:spAutoFit/>
          </a:bodyPr>
          <a:lstStyle/>
          <a:p>
            <a:pPr algn="l"/>
            <a:r>
              <a:rPr sz="1200" b="0">
                <a:solidFill>
                  <a:schemeClr val="accent1"/>
                </a:solidFill>
              </a:rPr>
              <a:t>live, untethered</a:t>
            </a:r>
          </a:p>
        </p:txBody>
      </p:sp>
      <p:sp>
        <p:nvSpPr>
          <p:cNvPr id="5" name="Path 217"/>
          <p:cNvSpPr/>
          <p:nvPr/>
        </p:nvSpPr>
        <p:spPr>
          <a:xfrm>
            <a:off x="2651760" y="3931920"/>
            <a:ext cx="1737360" cy="1143000"/>
          </a:xfrm>
          <a:custGeom>
            <a:avLst/>
            <a:gdLst/>
            <a:ahLst/>
            <a:cxnLst/>
            <a:rect l="l" t="t" r="r" b="b"/>
            <a:pathLst>
              <a:path w="1737360" h="1143000">
                <a:moveTo>
                  <a:pt x="0" y="1143000"/>
                </a:moveTo>
                <a:lnTo>
                  <a:pt x="1737360" y="1143000"/>
                </a:lnTo>
                <a:lnTo>
                  <a:pt x="1737360" y="0"/>
                </a:lnTo>
              </a:path>
            </a:pathLst>
          </a:custGeom>
          <a:noFill/>
          <a:ln w="22225">
            <a:solidFill>
              <a:schemeClr val="accent2"/>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8" name="Text 218"/>
          <p:cNvSpPr txBox="1"/>
          <p:nvPr/>
        </p:nvSpPr>
        <p:spPr>
          <a:xfrm>
            <a:off x="2743200" y="5120640"/>
            <a:ext cx="1828800" cy="320040"/>
          </a:xfrm>
          <a:prstGeom prst="rect">
            <a:avLst/>
          </a:prstGeom>
          <a:noFill/>
        </p:spPr>
        <p:txBody>
          <a:bodyPr wrap="square" anchor="t" lIns="0" rIns="0" tIns="0" bIns="0">
            <a:spAutoFit/>
          </a:bodyPr>
          <a:lstStyle/>
          <a:p>
            <a:pPr algn="l"/>
            <a:r>
              <a:rPr sz="1200" b="0">
                <a:solidFill>
                  <a:schemeClr val="accent2"/>
                </a:solidFill>
              </a:rPr>
              <a:t>history</a:t>
            </a:r>
          </a:p>
        </p:txBody>
      </p:sp>
      <p:sp>
        <p:nvSpPr>
          <p:cNvPr id="9029" name="Number 219"/>
          <p:cNvSpPr/>
          <p:nvPr/>
        </p:nvSpPr>
        <p:spPr>
          <a:xfrm>
            <a:off x="5852160" y="17830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1</a:t>
            </a:r>
          </a:p>
        </p:txBody>
      </p:sp>
      <p:sp>
        <p:nvSpPr>
          <p:cNvPr id="9030" name="Text 220"/>
          <p:cNvSpPr txBox="1"/>
          <p:nvPr/>
        </p:nvSpPr>
        <p:spPr>
          <a:xfrm>
            <a:off x="6446520" y="1737360"/>
            <a:ext cx="5193792" cy="365760"/>
          </a:xfrm>
          <a:prstGeom prst="rect">
            <a:avLst/>
          </a:prstGeom>
          <a:noFill/>
        </p:spPr>
        <p:txBody>
          <a:bodyPr wrap="square" anchor="t" lIns="0" rIns="0" tIns="0" bIns="0">
            <a:spAutoFit/>
          </a:bodyPr>
          <a:lstStyle/>
          <a:p>
            <a:pPr algn="l"/>
            <a:r>
              <a:rPr sz="1600" b="1">
                <a:solidFill>
                  <a:schemeClr val="tx1"/>
                </a:solidFill>
              </a:rPr>
              <a:t>One recording</a:t>
            </a:r>
          </a:p>
        </p:txBody>
      </p:sp>
      <p:sp>
        <p:nvSpPr>
          <p:cNvPr id="9031" name="Text 221"/>
          <p:cNvSpPr txBox="1"/>
          <p:nvPr/>
        </p:nvSpPr>
        <p:spPr>
          <a:xfrm>
            <a:off x="6446520" y="2121408"/>
            <a:ext cx="5193792" cy="640080"/>
          </a:xfrm>
          <a:prstGeom prst="rect">
            <a:avLst/>
          </a:prstGeom>
          <a:noFill/>
        </p:spPr>
        <p:txBody>
          <a:bodyPr wrap="square" anchor="t" lIns="0" rIns="0" tIns="0" bIns="0">
            <a:spAutoFit/>
          </a:bodyPr>
          <a:lstStyle/>
          <a:p>
            <a:pPr algn="l"/>
            <a:r>
              <a:rPr sz="1400" b="0">
                <a:solidFill>
                  <a:schemeClr val="accent5"/>
                </a:solidFill>
              </a:rPr>
              <a:t>The active one holds the whole log; older ones are prefixes nothing reads.</a:t>
            </a:r>
          </a:p>
        </p:txBody>
      </p:sp>
      <p:sp>
        <p:nvSpPr>
          <p:cNvPr id="9032" name="Number 222"/>
          <p:cNvSpPr/>
          <p:nvPr/>
        </p:nvSpPr>
        <p:spPr>
          <a:xfrm>
            <a:off x="5852160" y="288036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2</a:t>
            </a:r>
          </a:p>
        </p:txBody>
      </p:sp>
      <p:sp>
        <p:nvSpPr>
          <p:cNvPr id="9033" name="Text 223"/>
          <p:cNvSpPr txBox="1"/>
          <p:nvPr/>
        </p:nvSpPr>
        <p:spPr>
          <a:xfrm>
            <a:off x="6446520" y="2834640"/>
            <a:ext cx="5193792" cy="365760"/>
          </a:xfrm>
          <a:prstGeom prst="rect">
            <a:avLst/>
          </a:prstGeom>
          <a:noFill/>
        </p:spPr>
        <p:txBody>
          <a:bodyPr wrap="square" anchor="t" lIns="0" rIns="0" tIns="0" bIns="0">
            <a:spAutoFit/>
          </a:bodyPr>
          <a:lstStyle/>
          <a:p>
            <a:pPr algn="l"/>
            <a:r>
              <a:rPr sz="1600" b="1">
                <a:solidFill>
                  <a:schemeClr val="tx1"/>
                </a:solidFill>
              </a:rPr>
              <a:t>Checked by its clients</a:t>
            </a:r>
          </a:p>
        </p:txBody>
      </p:sp>
      <p:sp>
        <p:nvSpPr>
          <p:cNvPr id="9034" name="Text 224"/>
          <p:cNvSpPr txBox="1"/>
          <p:nvPr/>
        </p:nvSpPr>
        <p:spPr>
          <a:xfrm>
            <a:off x="6446520" y="3218688"/>
            <a:ext cx="5193792" cy="640080"/>
          </a:xfrm>
          <a:prstGeom prst="rect">
            <a:avLst/>
          </a:prstGeom>
          <a:noFill/>
        </p:spPr>
        <p:txBody>
          <a:bodyPr wrap="square" anchor="t" lIns="0" rIns="0" tIns="0" bIns="0">
            <a:spAutoFit/>
          </a:bodyPr>
          <a:lstStyle/>
          <a:p>
            <a:pPr algn="l"/>
            <a:r>
              <a:rPr sz="1400" b="0">
                <a:solidFill>
                  <a:schemeClr val="accent5"/>
                </a:solidFill>
              </a:rPr>
              <a:t>First frame must be globalSeqNo 1, a resume must open where asked, or the client stops.</a:t>
            </a:r>
          </a:p>
        </p:txBody>
      </p:sp>
      <p:sp>
        <p:nvSpPr>
          <p:cNvPr id="9035" name="Number 225"/>
          <p:cNvSpPr/>
          <p:nvPr/>
        </p:nvSpPr>
        <p:spPr>
          <a:xfrm>
            <a:off x="5852160" y="397764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3</a:t>
            </a:r>
          </a:p>
        </p:txBody>
      </p:sp>
      <p:sp>
        <p:nvSpPr>
          <p:cNvPr id="9036" name="Text 226"/>
          <p:cNvSpPr txBox="1"/>
          <p:nvPr/>
        </p:nvSpPr>
        <p:spPr>
          <a:xfrm>
            <a:off x="6446520" y="3931920"/>
            <a:ext cx="5193792" cy="365760"/>
          </a:xfrm>
          <a:prstGeom prst="rect">
            <a:avLst/>
          </a:prstGeom>
          <a:noFill/>
        </p:spPr>
        <p:txBody>
          <a:bodyPr wrap="square" anchor="t" lIns="0" rIns="0" tIns="0" bIns="0">
            <a:spAutoFit/>
          </a:bodyPr>
          <a:lstStyle/>
          <a:p>
            <a:pPr algn="l"/>
            <a:r>
              <a:rPr sz="1600" b="1">
                <a:solidFill>
                  <a:schemeClr val="tx1"/>
                </a:solidFill>
              </a:rPr>
              <a:t>Four slots, one while the recorder is behind</a:t>
            </a:r>
          </a:p>
        </p:txBody>
      </p:sp>
      <p:sp>
        <p:nvSpPr>
          <p:cNvPr id="9037" name="Text 227"/>
          <p:cNvSpPr txBox="1"/>
          <p:nvPr/>
        </p:nvSpPr>
        <p:spPr>
          <a:xfrm>
            <a:off x="6446520" y="4315968"/>
            <a:ext cx="5193792" cy="640080"/>
          </a:xfrm>
          <a:prstGeom prst="rect">
            <a:avLst/>
          </a:prstGeom>
          <a:noFill/>
        </p:spPr>
        <p:txBody>
          <a:bodyPr wrap="square" anchor="t" lIns="0" rIns="0" tIns="0" bIns="0">
            <a:spAutoFit/>
          </a:bodyPr>
          <a:lstStyle/>
          <a:p>
            <a:pPr algn="l"/>
            <a:r>
              <a:rPr sz="1400" b="0">
                <a:solidFill>
                  <a:schemeClr val="accent5"/>
                </a:solidFill>
              </a:rPr>
              <a:t>A slot frees with its replay's publication: a dead client's within 10 s. Clients fence at 60 s.</a:t>
            </a:r>
          </a:p>
        </p:txBody>
      </p:sp>
      <p:sp>
        <p:nvSpPr>
          <p:cNvPr id="9038" name="Number 228"/>
          <p:cNvSpPr/>
          <p:nvPr/>
        </p:nvSpPr>
        <p:spPr>
          <a:xfrm>
            <a:off x="5852160" y="507492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4</a:t>
            </a:r>
          </a:p>
        </p:txBody>
      </p:sp>
      <p:sp>
        <p:nvSpPr>
          <p:cNvPr id="9039" name="Text 229"/>
          <p:cNvSpPr txBox="1"/>
          <p:nvPr/>
        </p:nvSpPr>
        <p:spPr>
          <a:xfrm>
            <a:off x="6446520" y="5029200"/>
            <a:ext cx="5193792" cy="365760"/>
          </a:xfrm>
          <a:prstGeom prst="rect">
            <a:avLst/>
          </a:prstGeom>
          <a:noFill/>
        </p:spPr>
        <p:txBody>
          <a:bodyPr wrap="square" anchor="t" lIns="0" rIns="0" tIns="0" bIns="0">
            <a:spAutoFit/>
          </a:bodyPr>
          <a:lstStyle/>
          <a:p>
            <a:pPr algn="l"/>
            <a:r>
              <a:rPr sz="1600" b="1">
                <a:solidFill>
                  <a:schemeClr val="tx1"/>
                </a:solidFill>
              </a:rPr>
              <a:t>Never held by a client</a:t>
            </a:r>
          </a:p>
        </p:txBody>
      </p:sp>
      <p:sp>
        <p:nvSpPr>
          <p:cNvPr id="9040" name="Text 230"/>
          <p:cNvSpPr txBox="1"/>
          <p:nvPr/>
        </p:nvSpPr>
        <p:spPr>
          <a:xfrm>
            <a:off x="6446520" y="5413248"/>
            <a:ext cx="5193792" cy="640080"/>
          </a:xfrm>
          <a:prstGeom prst="rect">
            <a:avLst/>
          </a:prstGeom>
          <a:noFill/>
        </p:spPr>
        <p:txBody>
          <a:bodyPr wrap="square" anchor="t" lIns="0" rIns="0" tIns="0" bIns="0">
            <a:spAutoFit/>
          </a:bodyPr>
          <a:lstStyle/>
          <a:p>
            <a:pPr algn="l"/>
            <a:r>
              <a:rPr sz="1400" b="0">
                <a:solidFill>
                  <a:schemeClr val="accent5"/>
                </a:solidFill>
              </a:rPr>
              <a:t>Control replies get a bounded retry, then drop; clients resend.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Header</a:t>
            </a:r>
          </a:p>
        </p:txBody>
      </p:sp>
      <p:sp>
        <p:nvSpPr>
          <p:cNvPr id="3" name="Text 231"/>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Take 18 bytes from ingress, append 16, never touch the payload</a:t>
            </a:r>
          </a:p>
        </p:txBody>
      </p:sp>
      <p:sp>
        <p:nvSpPr>
          <p:cNvPr id="9012" name="Slide number"/>
          <p:cNvSpPr txBox="1"/>
          <p:nvPr userDrawn="1"/>
        </p:nvSpPr>
        <p:spPr>
          <a:xfrm>
            <a:off x="10728655" y="6400800"/>
            <a:ext cx="914400" cy="274320"/>
          </a:xfrm>
          <a:prstGeom prst="rect">
            <a:avLst/>
          </a:prstGeom>
          <a:noFill/>
        </p:spPr>
        <p:txBody>
          <a:bodyPr wrap="none" lIns="0" tIns="0" rIns="0" bIns="0" anchor="ctr"/>
          <a:lstStyle/>
          <a:p>
            <a:pPr algn="r"/>
            <a:fld id="{db8b8d4e-364e-4774-bc39-e7b0b3a2ef11}" type="slidenum">
              <a:rPr lang="en-US" sz="1000" dirty="0">
                <a:solidFill>
                  <a:schemeClr val="accent5"/>
                </a:solidFill>
              </a:rPr>
              <a:t>12</a:t>
            </a:fld>
          </a:p>
        </p:txBody>
      </p:sp>
      <p:sp>
        <p:nvSpPr>
          <p:cNvPr id="9013" name="Text 232"/>
          <p:cNvSpPr txBox="1"/>
          <p:nvPr/>
        </p:nvSpPr>
        <p:spPr>
          <a:xfrm>
            <a:off x="296494" y="1726273"/>
            <a:ext cx="504292" cy="277360"/>
          </a:xfrm>
          <a:prstGeom prst="rect">
            <a:avLst/>
          </a:prstGeom>
          <a:noFill/>
        </p:spPr>
        <p:txBody>
          <a:bodyPr wrap="square" anchor="ctr" lIns="0" rIns="0" tIns="0" bIns="0">
            <a:spAutoFit/>
          </a:bodyPr>
          <a:lstStyle/>
          <a:p>
            <a:pPr algn="ctr"/>
            <a:r>
              <a:rPr sz="1100" b="0">
                <a:solidFill>
                  <a:schemeClr val="accent5"/>
                </a:solidFill>
              </a:rPr>
              <a:t>0</a:t>
            </a:r>
          </a:p>
        </p:txBody>
      </p:sp>
      <p:sp>
        <p:nvSpPr>
          <p:cNvPr id="9014" name="Text 233"/>
          <p:cNvSpPr txBox="1"/>
          <p:nvPr/>
        </p:nvSpPr>
        <p:spPr>
          <a:xfrm>
            <a:off x="1506794" y="1726273"/>
            <a:ext cx="504292" cy="277360"/>
          </a:xfrm>
          <a:prstGeom prst="rect">
            <a:avLst/>
          </a:prstGeom>
          <a:noFill/>
        </p:spPr>
        <p:txBody>
          <a:bodyPr wrap="square" anchor="ctr" lIns="0" rIns="0" tIns="0" bIns="0">
            <a:spAutoFit/>
          </a:bodyPr>
          <a:lstStyle/>
          <a:p>
            <a:pPr algn="ctr"/>
            <a:r>
              <a:rPr sz="1100" b="0">
                <a:solidFill>
                  <a:schemeClr val="accent5"/>
                </a:solidFill>
              </a:rPr>
              <a:t>4</a:t>
            </a:r>
          </a:p>
        </p:txBody>
      </p:sp>
      <p:sp>
        <p:nvSpPr>
          <p:cNvPr id="9015" name="Text 234"/>
          <p:cNvSpPr txBox="1"/>
          <p:nvPr/>
        </p:nvSpPr>
        <p:spPr>
          <a:xfrm>
            <a:off x="2717094" y="1726273"/>
            <a:ext cx="504292" cy="277360"/>
          </a:xfrm>
          <a:prstGeom prst="rect">
            <a:avLst/>
          </a:prstGeom>
          <a:noFill/>
        </p:spPr>
        <p:txBody>
          <a:bodyPr wrap="square" anchor="ctr" lIns="0" rIns="0" tIns="0" bIns="0">
            <a:spAutoFit/>
          </a:bodyPr>
          <a:lstStyle/>
          <a:p>
            <a:pPr algn="ctr"/>
            <a:r>
              <a:rPr sz="1100" b="0">
                <a:solidFill>
                  <a:schemeClr val="accent5"/>
                </a:solidFill>
              </a:rPr>
              <a:t>8</a:t>
            </a:r>
          </a:p>
        </p:txBody>
      </p:sp>
      <p:sp>
        <p:nvSpPr>
          <p:cNvPr id="9016" name="Text 235"/>
          <p:cNvSpPr txBox="1"/>
          <p:nvPr/>
        </p:nvSpPr>
        <p:spPr>
          <a:xfrm>
            <a:off x="5137694" y="1726273"/>
            <a:ext cx="504292" cy="277360"/>
          </a:xfrm>
          <a:prstGeom prst="rect">
            <a:avLst/>
          </a:prstGeom>
          <a:noFill/>
        </p:spPr>
        <p:txBody>
          <a:bodyPr wrap="square" anchor="ctr" lIns="0" rIns="0" tIns="0" bIns="0">
            <a:spAutoFit/>
          </a:bodyPr>
          <a:lstStyle/>
          <a:p>
            <a:pPr algn="ctr"/>
            <a:r>
              <a:rPr sz="1100" b="0">
                <a:solidFill>
                  <a:schemeClr val="accent5"/>
                </a:solidFill>
              </a:rPr>
              <a:t>16</a:t>
            </a:r>
          </a:p>
        </p:txBody>
      </p:sp>
      <p:sp>
        <p:nvSpPr>
          <p:cNvPr id="9017" name="Text 236"/>
          <p:cNvSpPr txBox="1"/>
          <p:nvPr/>
        </p:nvSpPr>
        <p:spPr>
          <a:xfrm>
            <a:off x="5742843" y="1726273"/>
            <a:ext cx="504292" cy="277360"/>
          </a:xfrm>
          <a:prstGeom prst="rect">
            <a:avLst/>
          </a:prstGeom>
          <a:noFill/>
        </p:spPr>
        <p:txBody>
          <a:bodyPr wrap="square" anchor="ctr" lIns="0" rIns="0" tIns="0" bIns="0">
            <a:spAutoFit/>
          </a:bodyPr>
          <a:lstStyle/>
          <a:p>
            <a:pPr algn="ctr"/>
            <a:r>
              <a:rPr sz="1100" b="0">
                <a:solidFill>
                  <a:schemeClr val="accent5"/>
                </a:solidFill>
              </a:rPr>
              <a:t>18</a:t>
            </a:r>
          </a:p>
        </p:txBody>
      </p:sp>
      <p:sp>
        <p:nvSpPr>
          <p:cNvPr id="9018" name="Text 237"/>
          <p:cNvSpPr txBox="1"/>
          <p:nvPr/>
        </p:nvSpPr>
        <p:spPr>
          <a:xfrm>
            <a:off x="8163443" y="1726273"/>
            <a:ext cx="504292" cy="277360"/>
          </a:xfrm>
          <a:prstGeom prst="rect">
            <a:avLst/>
          </a:prstGeom>
          <a:noFill/>
        </p:spPr>
        <p:txBody>
          <a:bodyPr wrap="square" anchor="ctr" lIns="0" rIns="0" tIns="0" bIns="0">
            <a:spAutoFit/>
          </a:bodyPr>
          <a:lstStyle/>
          <a:p>
            <a:pPr algn="ctr"/>
            <a:r>
              <a:rPr sz="1100" b="0">
                <a:solidFill>
                  <a:schemeClr val="accent5"/>
                </a:solidFill>
              </a:rPr>
              <a:t>26</a:t>
            </a:r>
          </a:p>
        </p:txBody>
      </p:sp>
      <p:sp>
        <p:nvSpPr>
          <p:cNvPr id="9019" name="Text 238"/>
          <p:cNvSpPr txBox="1"/>
          <p:nvPr/>
        </p:nvSpPr>
        <p:spPr>
          <a:xfrm>
            <a:off x="10584043" y="1726273"/>
            <a:ext cx="504292" cy="277360"/>
          </a:xfrm>
          <a:prstGeom prst="rect">
            <a:avLst/>
          </a:prstGeom>
          <a:noFill/>
        </p:spPr>
        <p:txBody>
          <a:bodyPr wrap="square" anchor="ctr" lIns="0" rIns="0" tIns="0" bIns="0">
            <a:spAutoFit/>
          </a:bodyPr>
          <a:lstStyle/>
          <a:p>
            <a:pPr algn="ctr"/>
            <a:r>
              <a:rPr sz="1100" b="0">
                <a:solidFill>
                  <a:schemeClr val="accent5"/>
                </a:solidFill>
              </a:rPr>
              <a:t>34</a:t>
            </a:r>
          </a:p>
        </p:txBody>
      </p:sp>
      <p:sp>
        <p:nvSpPr>
          <p:cNvPr id="9020" name="Box 239"/>
          <p:cNvSpPr/>
          <p:nvPr/>
        </p:nvSpPr>
        <p:spPr>
          <a:xfrm>
            <a:off x="548640" y="2104492"/>
            <a:ext cx="1210300" cy="60515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sourceId</a:t>
            </a:r>
          </a:p>
        </p:txBody>
      </p:sp>
      <p:sp>
        <p:nvSpPr>
          <p:cNvPr id="9021" name="Box 240"/>
          <p:cNvSpPr/>
          <p:nvPr/>
        </p:nvSpPr>
        <p:spPr>
          <a:xfrm>
            <a:off x="1758940" y="2104492"/>
            <a:ext cx="1210300" cy="60515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connectionId</a:t>
            </a:r>
          </a:p>
        </p:txBody>
      </p:sp>
      <p:sp>
        <p:nvSpPr>
          <p:cNvPr id="9022" name="Box 241"/>
          <p:cNvSpPr/>
          <p:nvPr/>
        </p:nvSpPr>
        <p:spPr>
          <a:xfrm>
            <a:off x="2969240" y="2104492"/>
            <a:ext cx="2420600" cy="60515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sessionId</a:t>
            </a:r>
          </a:p>
          <a:p>
            <a:pPr algn="ctr"/>
            <a:r>
              <a:rPr sz="1000" b="0">
                <a:solidFill>
                  <a:schemeClr val="accent5"/>
                </a:solidFill>
              </a:rPr>
              <a:t>set by the sequencer</a:t>
            </a:r>
          </a:p>
        </p:txBody>
      </p:sp>
      <p:sp>
        <p:nvSpPr>
          <p:cNvPr id="9023" name="Box 242"/>
          <p:cNvSpPr/>
          <p:nvPr/>
        </p:nvSpPr>
        <p:spPr>
          <a:xfrm>
            <a:off x="5389839" y="2104492"/>
            <a:ext cx="605150" cy="60515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chemeClr val="tx1"/>
                </a:solidFill>
              </a:rPr>
              <a:t>payloadId</a:t>
            </a:r>
          </a:p>
        </p:txBody>
      </p:sp>
      <p:sp>
        <p:nvSpPr>
          <p:cNvPr id="9024" name="Box 243"/>
          <p:cNvSpPr/>
          <p:nvPr/>
        </p:nvSpPr>
        <p:spPr>
          <a:xfrm>
            <a:off x="5994989" y="2104492"/>
            <a:ext cx="2420600" cy="60515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globalSeqNo</a:t>
            </a:r>
          </a:p>
        </p:txBody>
      </p:sp>
      <p:sp>
        <p:nvSpPr>
          <p:cNvPr id="9025" name="Box 244"/>
          <p:cNvSpPr/>
          <p:nvPr/>
        </p:nvSpPr>
        <p:spPr>
          <a:xfrm>
            <a:off x="8415589" y="2104492"/>
            <a:ext cx="2420600" cy="60515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timestamp</a:t>
            </a:r>
          </a:p>
          <a:p>
            <a:pPr algn="ctr"/>
            <a:r>
              <a:rPr sz="1000" b="0">
                <a:solidFill>
                  <a:schemeClr val="accent5"/>
                </a:solidFill>
              </a:rPr>
              <a:t>Raft consensus time, ns</a:t>
            </a:r>
          </a:p>
        </p:txBody>
      </p:sp>
      <p:sp>
        <p:nvSpPr>
          <p:cNvPr id="4" name="Path 245"/>
          <p:cNvSpPr/>
          <p:nvPr/>
        </p:nvSpPr>
        <p:spPr>
          <a:xfrm>
            <a:off x="548640" y="2835714"/>
            <a:ext cx="5421135" cy="100859"/>
          </a:xfrm>
          <a:custGeom>
            <a:avLst/>
            <a:gdLst/>
            <a:ahLst/>
            <a:cxnLst/>
            <a:rect l="l" t="t" r="r" b="b"/>
            <a:pathLst>
              <a:path w="5421135" h="100859">
                <a:moveTo>
                  <a:pt x="0" y="0"/>
                </a:moveTo>
                <a:lnTo>
                  <a:pt x="0" y="100859"/>
                </a:lnTo>
                <a:lnTo>
                  <a:pt x="5421135" y="100859"/>
                </a:lnTo>
                <a:lnTo>
                  <a:pt x="5421135" y="0"/>
                </a:lnTo>
              </a:path>
            </a:pathLst>
          </a:custGeom>
          <a:noFill/>
          <a:ln w="158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6" name="Text 246"/>
          <p:cNvSpPr txBox="1"/>
          <p:nvPr/>
        </p:nvSpPr>
        <p:spPr>
          <a:xfrm>
            <a:off x="548640" y="2987002"/>
            <a:ext cx="5421135" cy="327790"/>
          </a:xfrm>
          <a:prstGeom prst="rect">
            <a:avLst/>
          </a:prstGeom>
          <a:noFill/>
        </p:spPr>
        <p:txBody>
          <a:bodyPr wrap="square" anchor="ctr" lIns="0" rIns="0" tIns="0" bIns="0">
            <a:spAutoFit/>
          </a:bodyPr>
          <a:lstStyle/>
          <a:p>
            <a:pPr algn="ctr"/>
            <a:r>
              <a:rPr sz="1200" b="0">
                <a:solidFill>
                  <a:schemeClr val="tx1"/>
                </a:solidFill>
              </a:rPr>
              <a:t>from ingress · 18 bytes, sessionId rewritten</a:t>
            </a:r>
          </a:p>
        </p:txBody>
      </p:sp>
      <p:sp>
        <p:nvSpPr>
          <p:cNvPr id="5" name="Path 247"/>
          <p:cNvSpPr/>
          <p:nvPr/>
        </p:nvSpPr>
        <p:spPr>
          <a:xfrm>
            <a:off x="6020204" y="2835714"/>
            <a:ext cx="4815985" cy="100859"/>
          </a:xfrm>
          <a:custGeom>
            <a:avLst/>
            <a:gdLst/>
            <a:ahLst/>
            <a:cxnLst/>
            <a:rect l="l" t="t" r="r" b="b"/>
            <a:pathLst>
              <a:path w="4815985" h="100859">
                <a:moveTo>
                  <a:pt x="0" y="0"/>
                </a:moveTo>
                <a:lnTo>
                  <a:pt x="0" y="100859"/>
                </a:lnTo>
                <a:lnTo>
                  <a:pt x="4815985" y="100859"/>
                </a:lnTo>
                <a:lnTo>
                  <a:pt x="4815985" y="0"/>
                </a:lnTo>
              </a:path>
            </a:pathLst>
          </a:custGeom>
          <a:noFill/>
          <a:ln w="222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7" name="Text 248"/>
          <p:cNvSpPr txBox="1"/>
          <p:nvPr/>
        </p:nvSpPr>
        <p:spPr>
          <a:xfrm>
            <a:off x="6020204" y="2987002"/>
            <a:ext cx="4815985" cy="327790"/>
          </a:xfrm>
          <a:prstGeom prst="rect">
            <a:avLst/>
          </a:prstGeom>
          <a:noFill/>
        </p:spPr>
        <p:txBody>
          <a:bodyPr wrap="square" anchor="ctr" lIns="0" rIns="0" tIns="0" bIns="0">
            <a:spAutoFit/>
          </a:bodyPr>
          <a:lstStyle/>
          <a:p>
            <a:pPr algn="ctr"/>
            <a:r>
              <a:rPr sz="1200" b="0">
                <a:solidFill>
                  <a:schemeClr val="accent1"/>
                </a:solidFill>
              </a:rPr>
              <a:t>appended by the sequencer · 16 bytes</a:t>
            </a:r>
          </a:p>
        </p:txBody>
      </p:sp>
      <p:sp>
        <p:nvSpPr>
          <p:cNvPr id="9028" name="Text 249"/>
          <p:cNvSpPr txBox="1"/>
          <p:nvPr/>
        </p:nvSpPr>
        <p:spPr>
          <a:xfrm>
            <a:off x="548640" y="3365221"/>
            <a:ext cx="10287549" cy="302575"/>
          </a:xfrm>
          <a:prstGeom prst="rect">
            <a:avLst/>
          </a:prstGeom>
          <a:noFill/>
        </p:spPr>
        <p:txBody>
          <a:bodyPr wrap="square" anchor="ctr" lIns="0" rIns="0" tIns="0" bIns="0">
            <a:spAutoFit/>
          </a:bodyPr>
          <a:lstStyle/>
          <a:p>
            <a:pPr algn="ctr"/>
            <a:r>
              <a:rPr sz="1200" b="0">
                <a:solidFill>
                  <a:schemeClr val="accent5"/>
                </a:solidFill>
              </a:rPr>
              <a:t>Offset 16 is payloadId in the application family and systemEventType in the system family.</a:t>
            </a:r>
          </a:p>
        </p:txBody>
      </p:sp>
      <p:sp>
        <p:nvSpPr>
          <p:cNvPr id="9029" name="Card 250"/>
          <p:cNvSpPr/>
          <p:nvPr/>
        </p:nvSpPr>
        <p:spPr>
          <a:xfrm>
            <a:off x="548640" y="3794760"/>
            <a:ext cx="53949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800" b="1" cap="none">
                <a:solidFill>
                  <a:schemeClr val="tx1"/>
                </a:solidFill>
                <a:latin typeface="+mj-lt"/>
              </a:rPr>
              <a:t>Application family</a:t>
            </a:r>
          </a:p>
          <a:p>
            <a:pPr algn="l">
              <a:spcAft>
                <a:spcPts val="600"/>
              </a:spcAft>
            </a:pPr>
            <a:r>
              <a:rPr sz="1400" b="1">
                <a:solidFill>
                  <a:schemeClr val="tx1"/>
                </a:solidFill>
              </a:rPr>
              <a:t>Unsequenced (100) → Sequenced (101)</a:t>
            </a:r>
          </a:p>
          <a:p>
            <a:pPr algn="l"/>
            <a:r>
              <a:rPr sz="1400" b="0">
                <a:solidFill>
                  <a:schemeClr val="tx1"/>
                </a:solidFill>
              </a:rPr>
              <a:t>One opaque payload named by payloadId. The cluster decodes no application payload.</a:t>
            </a:r>
          </a:p>
        </p:txBody>
      </p:sp>
      <p:sp>
        <p:nvSpPr>
          <p:cNvPr id="9030" name="Card 251"/>
          <p:cNvSpPr/>
          <p:nvPr/>
        </p:nvSpPr>
        <p:spPr>
          <a:xfrm>
            <a:off x="6245352" y="3794760"/>
            <a:ext cx="53949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800" b="1" cap="none">
                <a:solidFill>
                  <a:schemeClr val="tx1"/>
                </a:solidFill>
                <a:latin typeface="+mj-lt"/>
              </a:rPr>
              <a:t>System family</a:t>
            </a:r>
          </a:p>
          <a:p>
            <a:pPr algn="l">
              <a:spcAft>
                <a:spcPts val="600"/>
              </a:spcAft>
            </a:pPr>
            <a:r>
              <a:rPr sz="1400" b="1">
                <a:solidFill>
                  <a:schemeClr val="tx1"/>
                </a:solidFill>
              </a:rPr>
              <a:t>UnsequencedSystem (102) → SequencedSystem (103), plus 104–107</a:t>
            </a:r>
          </a:p>
          <a:p>
            <a:pPr algn="l"/>
            <a:r>
              <a:rPr sz="1400" b="0">
                <a:solidFill>
                  <a:schemeClr val="tx1"/>
                </a:solidFill>
              </a:rPr>
              <a:t>Named by systemEventType. Twelve events submitted, four synthesized.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Repairing a gap</a:t>
            </a:r>
          </a:p>
        </p:txBody>
      </p:sp>
      <p:sp>
        <p:nvSpPr>
          <p:cNvPr id="3" name="Text 252"/>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Replay only what was lost; hold live frames meanwhile</a:t>
            </a:r>
          </a:p>
        </p:txBody>
      </p:sp>
      <p:sp>
        <p:nvSpPr>
          <p:cNvPr id="9013" name="Slide number"/>
          <p:cNvSpPr txBox="1"/>
          <p:nvPr userDrawn="1"/>
        </p:nvSpPr>
        <p:spPr>
          <a:xfrm>
            <a:off x="10728655" y="6400800"/>
            <a:ext cx="914400" cy="274320"/>
          </a:xfrm>
          <a:prstGeom prst="rect">
            <a:avLst/>
          </a:prstGeom>
          <a:noFill/>
        </p:spPr>
        <p:txBody>
          <a:bodyPr wrap="none" lIns="0" tIns="0" rIns="0" bIns="0" anchor="ctr"/>
          <a:lstStyle/>
          <a:p>
            <a:pPr algn="r"/>
            <a:fld id="{414b8ab9-8a4b-4056-a36b-54b210c4395c}" type="slidenum">
              <a:rPr lang="en-US" sz="1000" dirty="0">
                <a:solidFill>
                  <a:schemeClr val="accent5"/>
                </a:solidFill>
              </a:rPr>
              <a:t>13</a:t>
            </a:fld>
          </a:p>
        </p:txBody>
      </p:sp>
      <p:sp>
        <p:nvSpPr>
          <p:cNvPr id="9014" name="Text 253"/>
          <p:cNvSpPr txBox="1"/>
          <p:nvPr/>
        </p:nvSpPr>
        <p:spPr>
          <a:xfrm>
            <a:off x="548640" y="2184117"/>
            <a:ext cx="2043708" cy="496329"/>
          </a:xfrm>
          <a:prstGeom prst="rect">
            <a:avLst/>
          </a:prstGeom>
          <a:noFill/>
        </p:spPr>
        <p:txBody>
          <a:bodyPr wrap="square" anchor="ctr" lIns="0" rIns="0" tIns="0" bIns="0">
            <a:spAutoFit/>
          </a:bodyPr>
          <a:lstStyle/>
          <a:p>
            <a:pPr algn="l"/>
            <a:r>
              <a:rPr sz="1400" b="1">
                <a:solidFill>
                  <a:schemeClr val="tx1"/>
                </a:solidFill>
              </a:rPr>
              <a:t>Queue 205</a:t>
            </a:r>
          </a:p>
        </p:txBody>
      </p:sp>
      <p:sp>
        <p:nvSpPr>
          <p:cNvPr id="9015" name="Text 254"/>
          <p:cNvSpPr txBox="1"/>
          <p:nvPr/>
        </p:nvSpPr>
        <p:spPr>
          <a:xfrm>
            <a:off x="548640" y="3205971"/>
            <a:ext cx="2043708" cy="496329"/>
          </a:xfrm>
          <a:prstGeom prst="rect">
            <a:avLst/>
          </a:prstGeom>
          <a:noFill/>
        </p:spPr>
        <p:txBody>
          <a:bodyPr wrap="square" anchor="ctr" lIns="0" rIns="0" tIns="0" bIns="0">
            <a:spAutoFit/>
          </a:bodyPr>
          <a:lstStyle/>
          <a:p>
            <a:pPr algn="l"/>
            <a:r>
              <a:rPr sz="1400" b="1">
                <a:solidFill>
                  <a:schemeClr val="tx1"/>
                </a:solidFill>
              </a:rPr>
              <a:t>Replay 201</a:t>
            </a:r>
          </a:p>
        </p:txBody>
      </p:sp>
      <p:sp>
        <p:nvSpPr>
          <p:cNvPr id="9016" name="Text 255"/>
          <p:cNvSpPr txBox="1"/>
          <p:nvPr/>
        </p:nvSpPr>
        <p:spPr>
          <a:xfrm>
            <a:off x="548640" y="4227825"/>
            <a:ext cx="2043708" cy="496329"/>
          </a:xfrm>
          <a:prstGeom prst="rect">
            <a:avLst/>
          </a:prstGeom>
          <a:noFill/>
        </p:spPr>
        <p:txBody>
          <a:bodyPr wrap="square" anchor="ctr" lIns="0" rIns="0" tIns="0" bIns="0">
            <a:spAutoFit/>
          </a:bodyPr>
          <a:lstStyle/>
          <a:p>
            <a:pPr algn="l"/>
            <a:r>
              <a:rPr sz="1400" b="1">
                <a:solidFill>
                  <a:schemeClr val="tx1"/>
                </a:solidFill>
              </a:rPr>
              <a:t>Delivered</a:t>
            </a:r>
          </a:p>
        </p:txBody>
      </p:sp>
      <p:sp>
        <p:nvSpPr>
          <p:cNvPr id="9017" name="Box 256"/>
          <p:cNvSpPr/>
          <p:nvPr/>
        </p:nvSpPr>
        <p:spPr>
          <a:xfrm>
            <a:off x="2738327" y="2184117"/>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101</a:t>
            </a:r>
          </a:p>
        </p:txBody>
      </p:sp>
      <p:sp>
        <p:nvSpPr>
          <p:cNvPr id="9018" name="Box 257"/>
          <p:cNvSpPr/>
          <p:nvPr/>
        </p:nvSpPr>
        <p:spPr>
          <a:xfrm>
            <a:off x="2738327" y="4227825"/>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101</a:t>
            </a:r>
          </a:p>
        </p:txBody>
      </p:sp>
      <p:sp>
        <p:nvSpPr>
          <p:cNvPr id="9019" name="Box 258"/>
          <p:cNvSpPr/>
          <p:nvPr/>
        </p:nvSpPr>
        <p:spPr>
          <a:xfrm>
            <a:off x="3585006" y="2184117"/>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102</a:t>
            </a:r>
          </a:p>
        </p:txBody>
      </p:sp>
      <p:sp>
        <p:nvSpPr>
          <p:cNvPr id="9020" name="Box 259"/>
          <p:cNvSpPr/>
          <p:nvPr/>
        </p:nvSpPr>
        <p:spPr>
          <a:xfrm>
            <a:off x="3585006" y="4227825"/>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102</a:t>
            </a:r>
          </a:p>
        </p:txBody>
      </p:sp>
      <p:sp>
        <p:nvSpPr>
          <p:cNvPr id="9021" name="Box 260"/>
          <p:cNvSpPr/>
          <p:nvPr/>
        </p:nvSpPr>
        <p:spPr>
          <a:xfrm>
            <a:off x="4431685" y="2184117"/>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103</a:t>
            </a:r>
          </a:p>
        </p:txBody>
      </p:sp>
      <p:sp>
        <p:nvSpPr>
          <p:cNvPr id="9022" name="Box 261"/>
          <p:cNvSpPr/>
          <p:nvPr/>
        </p:nvSpPr>
        <p:spPr>
          <a:xfrm>
            <a:off x="4431685" y="4227825"/>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103</a:t>
            </a:r>
          </a:p>
        </p:txBody>
      </p:sp>
      <p:sp>
        <p:nvSpPr>
          <p:cNvPr id="9023" name="Box 262"/>
          <p:cNvSpPr/>
          <p:nvPr/>
        </p:nvSpPr>
        <p:spPr>
          <a:xfrm>
            <a:off x="5278364" y="2184117"/>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104</a:t>
            </a:r>
          </a:p>
        </p:txBody>
      </p:sp>
      <p:sp>
        <p:nvSpPr>
          <p:cNvPr id="9024" name="Box 263"/>
          <p:cNvSpPr/>
          <p:nvPr/>
        </p:nvSpPr>
        <p:spPr>
          <a:xfrm>
            <a:off x="5278364" y="4227825"/>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104</a:t>
            </a:r>
          </a:p>
        </p:txBody>
      </p:sp>
      <p:sp>
        <p:nvSpPr>
          <p:cNvPr id="9025" name="Box 264"/>
          <p:cNvSpPr/>
          <p:nvPr/>
        </p:nvSpPr>
        <p:spPr>
          <a:xfrm>
            <a:off x="6125043" y="2184117"/>
            <a:ext cx="729896" cy="496329"/>
          </a:xfrm>
          <a:prstGeom prst="rect">
            <a:avLst/>
          </a:prstGeom>
          <a:noFill/>
          <a:ln w="15875">
            <a:solidFill>
              <a:schemeClr val="accent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accent2"/>
                </a:solidFill>
              </a:rPr>
              <a:t>×</a:t>
            </a:r>
          </a:p>
        </p:txBody>
      </p:sp>
      <p:sp>
        <p:nvSpPr>
          <p:cNvPr id="9026" name="Box 265"/>
          <p:cNvSpPr/>
          <p:nvPr/>
        </p:nvSpPr>
        <p:spPr>
          <a:xfrm>
            <a:off x="6125043" y="4227825"/>
            <a:ext cx="729896" cy="496329"/>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105</a:t>
            </a:r>
          </a:p>
        </p:txBody>
      </p:sp>
      <p:sp>
        <p:nvSpPr>
          <p:cNvPr id="9027" name="Box 266"/>
          <p:cNvSpPr/>
          <p:nvPr/>
        </p:nvSpPr>
        <p:spPr>
          <a:xfrm>
            <a:off x="6971722" y="2184117"/>
            <a:ext cx="729896" cy="496329"/>
          </a:xfrm>
          <a:prstGeom prst="rect">
            <a:avLst/>
          </a:prstGeom>
          <a:solidFill>
            <a:schemeClr val="accent3"/>
          </a:solidFill>
          <a:ln w="15875">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106</a:t>
            </a:r>
          </a:p>
        </p:txBody>
      </p:sp>
      <p:sp>
        <p:nvSpPr>
          <p:cNvPr id="9028" name="Box 267"/>
          <p:cNvSpPr/>
          <p:nvPr/>
        </p:nvSpPr>
        <p:spPr>
          <a:xfrm>
            <a:off x="6971722" y="4227825"/>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106</a:t>
            </a:r>
          </a:p>
        </p:txBody>
      </p:sp>
      <p:sp>
        <p:nvSpPr>
          <p:cNvPr id="9029" name="Box 268"/>
          <p:cNvSpPr/>
          <p:nvPr/>
        </p:nvSpPr>
        <p:spPr>
          <a:xfrm>
            <a:off x="7818402" y="2184117"/>
            <a:ext cx="729896" cy="496329"/>
          </a:xfrm>
          <a:prstGeom prst="rect">
            <a:avLst/>
          </a:prstGeom>
          <a:solidFill>
            <a:schemeClr val="accent3"/>
          </a:solidFill>
          <a:ln w="15875">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107</a:t>
            </a:r>
          </a:p>
        </p:txBody>
      </p:sp>
      <p:sp>
        <p:nvSpPr>
          <p:cNvPr id="9030" name="Box 269"/>
          <p:cNvSpPr/>
          <p:nvPr/>
        </p:nvSpPr>
        <p:spPr>
          <a:xfrm>
            <a:off x="7818402" y="4227825"/>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107</a:t>
            </a:r>
          </a:p>
        </p:txBody>
      </p:sp>
      <p:sp>
        <p:nvSpPr>
          <p:cNvPr id="9031" name="Box 270"/>
          <p:cNvSpPr/>
          <p:nvPr/>
        </p:nvSpPr>
        <p:spPr>
          <a:xfrm>
            <a:off x="8665081" y="2184117"/>
            <a:ext cx="729896" cy="496329"/>
          </a:xfrm>
          <a:prstGeom prst="rect">
            <a:avLst/>
          </a:prstGeom>
          <a:solidFill>
            <a:schemeClr val="accent3"/>
          </a:solidFill>
          <a:ln w="15875">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108</a:t>
            </a:r>
          </a:p>
        </p:txBody>
      </p:sp>
      <p:sp>
        <p:nvSpPr>
          <p:cNvPr id="9032" name="Box 271"/>
          <p:cNvSpPr/>
          <p:nvPr/>
        </p:nvSpPr>
        <p:spPr>
          <a:xfrm>
            <a:off x="8665081" y="4227825"/>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108</a:t>
            </a:r>
          </a:p>
        </p:txBody>
      </p:sp>
      <p:sp>
        <p:nvSpPr>
          <p:cNvPr id="9033" name="Box 272"/>
          <p:cNvSpPr/>
          <p:nvPr/>
        </p:nvSpPr>
        <p:spPr>
          <a:xfrm>
            <a:off x="9511760" y="2184117"/>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109</a:t>
            </a:r>
          </a:p>
        </p:txBody>
      </p:sp>
      <p:sp>
        <p:nvSpPr>
          <p:cNvPr id="9034" name="Box 273"/>
          <p:cNvSpPr/>
          <p:nvPr/>
        </p:nvSpPr>
        <p:spPr>
          <a:xfrm>
            <a:off x="9511760" y="4227825"/>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109</a:t>
            </a:r>
          </a:p>
        </p:txBody>
      </p:sp>
      <p:sp>
        <p:nvSpPr>
          <p:cNvPr id="9035" name="Box 274"/>
          <p:cNvSpPr/>
          <p:nvPr/>
        </p:nvSpPr>
        <p:spPr>
          <a:xfrm>
            <a:off x="10358439" y="2184117"/>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110</a:t>
            </a:r>
          </a:p>
        </p:txBody>
      </p:sp>
      <p:sp>
        <p:nvSpPr>
          <p:cNvPr id="9036" name="Box 275"/>
          <p:cNvSpPr/>
          <p:nvPr/>
        </p:nvSpPr>
        <p:spPr>
          <a:xfrm>
            <a:off x="10358439" y="4227825"/>
            <a:ext cx="729896" cy="496329"/>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110</a:t>
            </a:r>
          </a:p>
        </p:txBody>
      </p:sp>
      <p:sp>
        <p:nvSpPr>
          <p:cNvPr id="9037" name="Box 276"/>
          <p:cNvSpPr/>
          <p:nvPr/>
        </p:nvSpPr>
        <p:spPr>
          <a:xfrm>
            <a:off x="6125043" y="3205971"/>
            <a:ext cx="729896" cy="496329"/>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105</a:t>
            </a:r>
          </a:p>
        </p:txBody>
      </p:sp>
      <p:cxnSp>
        <p:nvCxnSpPr>
          <p:cNvPr id="9038" name="Arrow 277"/>
          <p:cNvCxnSpPr/>
          <p:nvPr/>
        </p:nvCxnSpPr>
        <p:spPr>
          <a:xfrm>
            <a:off x="6489991" y="2709642"/>
            <a:ext cx="0" cy="467133"/>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39" name="Text 278"/>
          <p:cNvSpPr txBox="1"/>
          <p:nvPr/>
        </p:nvSpPr>
        <p:spPr>
          <a:xfrm>
            <a:off x="6971722" y="1687787"/>
            <a:ext cx="4379374" cy="437937"/>
          </a:xfrm>
          <a:prstGeom prst="rect">
            <a:avLst/>
          </a:prstGeom>
          <a:noFill/>
        </p:spPr>
        <p:txBody>
          <a:bodyPr wrap="square" anchor="ctr" lIns="0" rIns="0" tIns="0" bIns="0">
            <a:spAutoFit/>
          </a:bodyPr>
          <a:lstStyle/>
          <a:p>
            <a:pPr algn="l"/>
            <a:r>
              <a:rPr sz="1200" b="0">
                <a:solidFill>
                  <a:schemeClr val="accent2"/>
                </a:solidFill>
              </a:rPr>
              <a:t>106 arrives: gap → resume after 104</a:t>
            </a:r>
          </a:p>
        </p:txBody>
      </p:sp>
      <p:sp>
        <p:nvSpPr>
          <p:cNvPr id="9040" name="Text 279"/>
          <p:cNvSpPr txBox="1"/>
          <p:nvPr/>
        </p:nvSpPr>
        <p:spPr>
          <a:xfrm>
            <a:off x="6971722" y="2768033"/>
            <a:ext cx="4379374" cy="379546"/>
          </a:xfrm>
          <a:prstGeom prst="rect">
            <a:avLst/>
          </a:prstGeom>
          <a:noFill/>
        </p:spPr>
        <p:txBody>
          <a:bodyPr wrap="square" anchor="ctr" lIns="0" rIns="0" tIns="0" bIns="0">
            <a:spAutoFit/>
          </a:bodyPr>
          <a:lstStyle/>
          <a:p>
            <a:pPr algn="l"/>
            <a:r>
              <a:rPr sz="1200" b="0">
                <a:solidFill>
                  <a:schemeClr val="accent1"/>
                </a:solidFill>
              </a:rPr>
              <a:t>106–108 retained in a bounded FIFO</a:t>
            </a:r>
          </a:p>
        </p:txBody>
      </p:sp>
      <p:sp>
        <p:nvSpPr>
          <p:cNvPr id="9041" name="Text 280"/>
          <p:cNvSpPr txBox="1"/>
          <p:nvPr/>
        </p:nvSpPr>
        <p:spPr>
          <a:xfrm>
            <a:off x="6971722" y="3235166"/>
            <a:ext cx="4379374" cy="437937"/>
          </a:xfrm>
          <a:prstGeom prst="rect">
            <a:avLst/>
          </a:prstGeom>
          <a:noFill/>
        </p:spPr>
        <p:txBody>
          <a:bodyPr wrap="square" anchor="ctr" lIns="0" rIns="0" tIns="0" bIns="0">
            <a:spAutoFit/>
          </a:bodyPr>
          <a:lstStyle/>
          <a:p>
            <a:pPr algn="l"/>
            <a:r>
              <a:rPr sz="1200" b="0">
                <a:solidFill>
                  <a:schemeClr val="accent5"/>
                </a:solidFill>
              </a:rPr>
              <a:t>anchor check: first frame must be 105</a:t>
            </a:r>
          </a:p>
        </p:txBody>
      </p:sp>
      <p:sp>
        <p:nvSpPr>
          <p:cNvPr id="9042" name="Text 281"/>
          <p:cNvSpPr txBox="1"/>
          <p:nvPr/>
        </p:nvSpPr>
        <p:spPr>
          <a:xfrm>
            <a:off x="2738327" y="4840937"/>
            <a:ext cx="8612770" cy="408742"/>
          </a:xfrm>
          <a:prstGeom prst="rect">
            <a:avLst/>
          </a:prstGeom>
          <a:noFill/>
        </p:spPr>
        <p:txBody>
          <a:bodyPr wrap="square" anchor="ctr" lIns="0" rIns="0" tIns="0" bIns="0">
            <a:spAutoFit/>
          </a:bodyPr>
          <a:lstStyle/>
          <a:p>
            <a:pPr algn="l"/>
            <a:r>
              <a:rPr sz="1200" b="0">
                <a:solidFill>
                  <a:schemeClr val="accent5"/>
                </a:solidFill>
              </a:rPr>
              <a:t>105 from the replay, then the FIFO drains, then back on the live queue.</a:t>
            </a:r>
          </a:p>
        </p:txBody>
      </p:sp>
      <p:sp>
        <p:nvSpPr>
          <p:cNvPr id="9043" name="Text 282"/>
          <p:cNvSpPr txBox="1"/>
          <p:nvPr/>
        </p:nvSpPr>
        <p:spPr>
          <a:xfrm>
            <a:off x="548640" y="5486400"/>
            <a:ext cx="11094415" cy="640080"/>
          </a:xfrm>
          <a:prstGeom prst="rect">
            <a:avLst/>
          </a:prstGeom>
          <a:noFill/>
        </p:spPr>
        <p:txBody>
          <a:bodyPr wrap="square" anchor="t" lIns="0" rIns="0" tIns="0" bIns="0">
            <a:spAutoFit/>
          </a:bodyPr>
          <a:lstStyle/>
          <a:p>
            <a:pPr algn="l"/>
            <a:r>
              <a:rPr sz="1400" b="1">
                <a:solidFill>
                  <a:schemeClr val="tx1"/>
                </a:solidFill>
              </a:rPr>
              <a:t>Cold start </a:t>
            </a:r>
            <a:r>
              <a:rPr sz="1400" b="0">
                <a:solidFill>
                  <a:schemeClr val="tx1"/>
                </a:solidFill>
              </a:rPr>
              <a:t>is the same walk from globalSeqNo 1 to the reported end, then the queue, de-duplicating on globalSeqNo.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Two kinds of producer</a:t>
            </a:r>
          </a:p>
        </p:txBody>
      </p:sp>
      <p:sp>
        <p:nvSpPr>
          <p:cNvPr id="3" name="Text 283"/>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A façade per kind; the application writes its logic and none of seqeron's</a:t>
            </a:r>
          </a:p>
        </p:txBody>
      </p:sp>
      <p:sp>
        <p:nvSpPr>
          <p:cNvPr id="9014" name="Slide number"/>
          <p:cNvSpPr txBox="1"/>
          <p:nvPr userDrawn="1"/>
        </p:nvSpPr>
        <p:spPr>
          <a:xfrm>
            <a:off x="10728655" y="6400800"/>
            <a:ext cx="914400" cy="274320"/>
          </a:xfrm>
          <a:prstGeom prst="rect">
            <a:avLst/>
          </a:prstGeom>
          <a:noFill/>
        </p:spPr>
        <p:txBody>
          <a:bodyPr wrap="none" lIns="0" tIns="0" rIns="0" bIns="0" anchor="ctr"/>
          <a:lstStyle/>
          <a:p>
            <a:pPr algn="r"/>
            <a:fld id="{ec43ed59-75f9-4521-abe9-e678245f81d8}" type="slidenum">
              <a:rPr lang="en-US" sz="1000" dirty="0">
                <a:solidFill>
                  <a:schemeClr val="accent5"/>
                </a:solidFill>
              </a:rPr>
              <a:t>14</a:t>
            </a:fld>
          </a:p>
        </p:txBody>
      </p:sp>
      <p:sp>
        <p:nvSpPr>
          <p:cNvPr id="9015" name="Producer 284"/>
          <p:cNvSpPr/>
          <p:nvPr/>
        </p:nvSpPr>
        <p:spPr>
          <a:xfrm>
            <a:off x="548640" y="1691640"/>
            <a:ext cx="5394960" cy="2743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6" name="Text 285"/>
          <p:cNvSpPr txBox="1"/>
          <p:nvPr/>
        </p:nvSpPr>
        <p:spPr>
          <a:xfrm>
            <a:off x="777240" y="1828800"/>
            <a:ext cx="4937760" cy="457200"/>
          </a:xfrm>
          <a:prstGeom prst="rect">
            <a:avLst/>
          </a:prstGeom>
          <a:noFill/>
        </p:spPr>
        <p:txBody>
          <a:bodyPr wrap="square" anchor="t" lIns="0" rIns="0" tIns="0" bIns="0">
            <a:spAutoFit/>
          </a:bodyPr>
          <a:lstStyle/>
          <a:p>
            <a:pPr algn="l"/>
            <a:r>
              <a:rPr sz="2200" b="1" cap="none">
                <a:solidFill>
                  <a:schemeClr val="tx1"/>
                </a:solidFill>
                <a:latin typeface="+mj-lt"/>
              </a:rPr>
              <a:t>Gateway</a:t>
            </a:r>
          </a:p>
        </p:txBody>
      </p:sp>
      <p:sp>
        <p:nvSpPr>
          <p:cNvPr id="9017" name="Text 286"/>
          <p:cNvSpPr txBox="1"/>
          <p:nvPr/>
        </p:nvSpPr>
        <p:spPr>
          <a:xfrm>
            <a:off x="777240" y="2286000"/>
            <a:ext cx="4937760" cy="320040"/>
          </a:xfrm>
          <a:prstGeom prst="rect">
            <a:avLst/>
          </a:prstGeom>
          <a:noFill/>
        </p:spPr>
        <p:txBody>
          <a:bodyPr wrap="square" anchor="t" lIns="0" rIns="0" tIns="0" bIns="0">
            <a:spAutoFit/>
          </a:bodyPr>
          <a:lstStyle/>
          <a:p>
            <a:pPr algn="l"/>
            <a:r>
              <a:rPr sz="1300" b="1">
                <a:solidFill>
                  <a:schemeClr val="accent1"/>
                </a:solidFill>
              </a:rPr>
              <a:t>active / hot-standby pair</a:t>
            </a:r>
          </a:p>
        </p:txBody>
      </p:sp>
      <p:sp>
        <p:nvSpPr>
          <p:cNvPr id="9018" name="Text 287"/>
          <p:cNvSpPr txBox="1"/>
          <p:nvPr/>
        </p:nvSpPr>
        <p:spPr>
          <a:xfrm>
            <a:off x="777240" y="2743200"/>
            <a:ext cx="4937760" cy="1645920"/>
          </a:xfrm>
          <a:prstGeom prst="rect">
            <a:avLst/>
          </a:prstGeom>
          <a:noFill/>
        </p:spPr>
        <p:txBody>
          <a:bodyPr wrap="square" anchor="t" lIns="0" rIns="0" tIns="0" bIns="0">
            <a:spAutoFit/>
          </a:bodyPr>
          <a:lstStyle/>
          <a:p>
            <a:pPr algn="l" marL="228600" indent="-228600">
              <a:spcAft>
                <a:spcPts val="600"/>
              </a:spcAft>
              <a:buClr>
                <a:schemeClr val="accent1"/>
              </a:buClr>
              <a:buChar char="•"/>
            </a:pPr>
            <a:r>
              <a:rPr sz="1400" b="0">
                <a:solidFill>
                  <a:schemeClr val="tx1"/>
                </a:solidFill>
              </a:rPr>
              <a:t>Exchange session, client connection, feed handler</a:t>
            </a:r>
          </a:p>
          <a:p>
            <a:pPr algn="l" marL="228600" indent="-228600">
              <a:spcAft>
                <a:spcPts val="600"/>
              </a:spcAft>
              <a:buClr>
                <a:schemeClr val="accent1"/>
              </a:buClr>
              <a:buChar char="•"/>
            </a:pPr>
            <a:r>
              <a:rPr sz="1400" b="0">
                <a:solidFill>
                  <a:schemeClr val="tx1"/>
                </a:solidFill>
              </a:rPr>
              <a:t>The cluster designates the active instance</a:t>
            </a:r>
          </a:p>
          <a:p>
            <a:pPr algn="l" marL="228600" indent="-228600">
              <a:spcAft>
                <a:spcPts val="600"/>
              </a:spcAft>
              <a:buClr>
                <a:schemeClr val="accent1"/>
              </a:buClr>
              <a:buChar char="•"/>
            </a:pPr>
            <a:r>
              <a:rPr sz="1400" b="0">
                <a:solidFill>
                  <a:schemeClr val="tx1"/>
                </a:solidFill>
              </a:rPr>
              <a:t>Owns its external connections and a connection-id space</a:t>
            </a:r>
          </a:p>
        </p:txBody>
      </p:sp>
      <p:sp>
        <p:nvSpPr>
          <p:cNvPr id="9019" name="Producer 288"/>
          <p:cNvSpPr/>
          <p:nvPr/>
        </p:nvSpPr>
        <p:spPr>
          <a:xfrm>
            <a:off x="6245352" y="1691640"/>
            <a:ext cx="5394960" cy="2743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0" name="Text 289"/>
          <p:cNvSpPr txBox="1"/>
          <p:nvPr/>
        </p:nvSpPr>
        <p:spPr>
          <a:xfrm>
            <a:off x="6473952" y="1828800"/>
            <a:ext cx="4937760" cy="457200"/>
          </a:xfrm>
          <a:prstGeom prst="rect">
            <a:avLst/>
          </a:prstGeom>
          <a:noFill/>
        </p:spPr>
        <p:txBody>
          <a:bodyPr wrap="square" anchor="t" lIns="0" rIns="0" tIns="0" bIns="0">
            <a:spAutoFit/>
          </a:bodyPr>
          <a:lstStyle/>
          <a:p>
            <a:pPr algn="l"/>
            <a:r>
              <a:rPr sz="2200" b="1" cap="none">
                <a:solidFill>
                  <a:schemeClr val="tx1"/>
                </a:solidFill>
                <a:latin typeface="+mj-lt"/>
              </a:rPr>
              <a:t>Application</a:t>
            </a:r>
          </a:p>
        </p:txBody>
      </p:sp>
      <p:sp>
        <p:nvSpPr>
          <p:cNvPr id="9021" name="Text 290"/>
          <p:cNvSpPr txBox="1"/>
          <p:nvPr/>
        </p:nvSpPr>
        <p:spPr>
          <a:xfrm>
            <a:off x="6473952" y="2286000"/>
            <a:ext cx="4937760" cy="320040"/>
          </a:xfrm>
          <a:prstGeom prst="rect">
            <a:avLst/>
          </a:prstGeom>
          <a:noFill/>
        </p:spPr>
        <p:txBody>
          <a:bodyPr wrap="square" anchor="t" lIns="0" rIns="0" tIns="0" bIns="0">
            <a:spAutoFit/>
          </a:bodyPr>
          <a:lstStyle/>
          <a:p>
            <a:pPr algn="l"/>
            <a:r>
              <a:rPr sz="1300" b="1">
                <a:solidFill>
                  <a:schemeClr val="accent1"/>
                </a:solidFill>
              </a:rPr>
              <a:t>one instance on every member, or remote</a:t>
            </a:r>
          </a:p>
        </p:txBody>
      </p:sp>
      <p:sp>
        <p:nvSpPr>
          <p:cNvPr id="9022" name="Text 291"/>
          <p:cNvSpPr txBox="1"/>
          <p:nvPr/>
        </p:nvSpPr>
        <p:spPr>
          <a:xfrm>
            <a:off x="6473952" y="2743200"/>
            <a:ext cx="4937760" cy="1645920"/>
          </a:xfrm>
          <a:prstGeom prst="rect">
            <a:avLst/>
          </a:prstGeom>
          <a:noFill/>
        </p:spPr>
        <p:txBody>
          <a:bodyPr wrap="square" anchor="t" lIns="0" rIns="0" tIns="0" bIns="0">
            <a:spAutoFit/>
          </a:bodyPr>
          <a:lstStyle/>
          <a:p>
            <a:pPr algn="l" marL="228600" indent="-228600">
              <a:spcAft>
                <a:spcPts val="600"/>
              </a:spcAft>
              <a:buClr>
                <a:schemeClr val="accent1"/>
              </a:buClr>
              <a:buChar char="•"/>
            </a:pPr>
            <a:r>
              <a:rPr sz="1400" b="0">
                <a:solidFill>
                  <a:schemeClr val="tx1"/>
                </a:solidFill>
              </a:rPr>
              <a:t>Deterministic service over the stream; several per member</a:t>
            </a:r>
          </a:p>
          <a:p>
            <a:pPr algn="l" marL="228600" indent="-228600">
              <a:spcAft>
                <a:spcPts val="600"/>
              </a:spcAft>
              <a:buClr>
                <a:schemeClr val="accent1"/>
              </a:buClr>
              <a:buChar char="•"/>
            </a:pPr>
            <a:r>
              <a:rPr sz="1400" b="0">
                <a:solidFill>
                  <a:schemeClr val="tx1"/>
                </a:solidFill>
              </a:rPr>
              <a:t>On a member: publishes only while that member leads</a:t>
            </a:r>
          </a:p>
          <a:p>
            <a:pPr algn="l" marL="228600" indent="-228600">
              <a:spcAft>
                <a:spcPts val="600"/>
              </a:spcAft>
              <a:buClr>
                <a:schemeClr val="accent1"/>
              </a:buClr>
              <a:buChar char="•"/>
            </a:pPr>
            <a:r>
              <a:rPr sz="1400" b="0">
                <a:solidFill>
                  <a:schemeClr val="tx1"/>
                </a:solidFill>
              </a:rPr>
              <a:t>Remote: one instance on its own host, ingress over UDP</a:t>
            </a:r>
          </a:p>
          <a:p>
            <a:pPr algn="l" marL="228600" indent="-228600">
              <a:spcAft>
                <a:spcPts val="600"/>
              </a:spcAft>
              <a:buClr>
                <a:schemeClr val="accent1"/>
              </a:buClr>
              <a:buChar char="•"/>
            </a:pPr>
            <a:r>
              <a:rPr sz="1400" b="0">
                <a:solidFill>
                  <a:schemeClr val="tx1"/>
                </a:solidFill>
              </a:rPr>
              <a:t>Owns leader-only work: replies, outbound effects</a:t>
            </a:r>
          </a:p>
        </p:txBody>
      </p:sp>
      <p:sp>
        <p:nvSpPr>
          <p:cNvPr id="9023" name="Text 292"/>
          <p:cNvSpPr txBox="1"/>
          <p:nvPr/>
        </p:nvSpPr>
        <p:spPr>
          <a:xfrm>
            <a:off x="548640" y="4663440"/>
            <a:ext cx="11094415" cy="320040"/>
          </a:xfrm>
          <a:prstGeom prst="rect">
            <a:avLst/>
          </a:prstGeom>
          <a:noFill/>
        </p:spPr>
        <p:txBody>
          <a:bodyPr wrap="square" anchor="t" lIns="0" rIns="0" tIns="0" bIns="0">
            <a:spAutoFit/>
          </a:bodyPr>
          <a:lstStyle/>
          <a:p>
            <a:pPr algn="l"/>
            <a:r>
              <a:rPr sz="1200" b="1">
                <a:solidFill>
                  <a:schemeClr val="accent5"/>
                </a:solidFill>
              </a:rPr>
              <a:t>EACH FAÇADE'S doWork(), ON THE CALLER'S THREAD</a:t>
            </a:r>
          </a:p>
        </p:txBody>
      </p:sp>
      <p:sp>
        <p:nvSpPr>
          <p:cNvPr id="9024" name="Box 293"/>
          <p:cNvSpPr/>
          <p:nvPr/>
        </p:nvSpPr>
        <p:spPr>
          <a:xfrm>
            <a:off x="548640" y="5029200"/>
            <a:ext cx="1999427" cy="640080"/>
          </a:xfrm>
          <a:prstGeom prst="roundRect">
            <a:avLst>
              <a:gd name="adj" fmla="val 8000"/>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Cluster session</a:t>
            </a:r>
          </a:p>
        </p:txBody>
      </p:sp>
      <p:cxnSp>
        <p:nvCxnSpPr>
          <p:cNvPr id="9025" name="Arrow 294"/>
          <p:cNvCxnSpPr/>
          <p:nvPr/>
        </p:nvCxnSpPr>
        <p:spPr>
          <a:xfrm>
            <a:off x="2548067" y="5349240"/>
            <a:ext cx="27432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6" name="Box 295"/>
          <p:cNvSpPr/>
          <p:nvPr/>
        </p:nvSpPr>
        <p:spPr>
          <a:xfrm>
            <a:off x="2822387" y="5029200"/>
            <a:ext cx="1999427" cy="640080"/>
          </a:xfrm>
          <a:prstGeom prst="roundRect">
            <a:avLst>
              <a:gd name="adj" fmla="val 8000"/>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Queue + recovery</a:t>
            </a:r>
          </a:p>
        </p:txBody>
      </p:sp>
      <p:cxnSp>
        <p:nvCxnSpPr>
          <p:cNvPr id="9027" name="Arrow 296"/>
          <p:cNvCxnSpPr/>
          <p:nvPr/>
        </p:nvCxnSpPr>
        <p:spPr>
          <a:xfrm>
            <a:off x="4821814" y="5349240"/>
            <a:ext cx="27432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8" name="Box 297"/>
          <p:cNvSpPr/>
          <p:nvPr/>
        </p:nvSpPr>
        <p:spPr>
          <a:xfrm>
            <a:off x="5096134" y="5029200"/>
            <a:ext cx="1999427" cy="640080"/>
          </a:xfrm>
          <a:prstGeom prst="roundRect">
            <a:avLst>
              <a:gd name="adj" fmla="val 8000"/>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Confirmed ingress</a:t>
            </a:r>
          </a:p>
        </p:txBody>
      </p:sp>
      <p:cxnSp>
        <p:nvCxnSpPr>
          <p:cNvPr id="9029" name="Arrow 298"/>
          <p:cNvCxnSpPr/>
          <p:nvPr/>
        </p:nvCxnSpPr>
        <p:spPr>
          <a:xfrm>
            <a:off x="7095561" y="5349240"/>
            <a:ext cx="27432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30" name="Box 299"/>
          <p:cNvSpPr/>
          <p:nvPr/>
        </p:nvSpPr>
        <p:spPr>
          <a:xfrm>
            <a:off x="7369881" y="5029200"/>
            <a:ext cx="1999427" cy="640080"/>
          </a:xfrm>
          <a:prstGeom prst="roundRect">
            <a:avLst>
              <a:gd name="adj" fmla="val 8000"/>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Election or leader gate</a:t>
            </a:r>
          </a:p>
        </p:txBody>
      </p:sp>
      <p:cxnSp>
        <p:nvCxnSpPr>
          <p:cNvPr id="9031" name="Arrow 300"/>
          <p:cNvCxnSpPr/>
          <p:nvPr/>
        </p:nvCxnSpPr>
        <p:spPr>
          <a:xfrm>
            <a:off x="9369308" y="5349240"/>
            <a:ext cx="27432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32" name="Box 301"/>
          <p:cNvSpPr/>
          <p:nvPr/>
        </p:nvSpPr>
        <p:spPr>
          <a:xfrm>
            <a:off x="9643628" y="5029200"/>
            <a:ext cx="1999427" cy="640080"/>
          </a:xfrm>
          <a:prstGeom prst="roundRect">
            <a:avLst>
              <a:gd name="adj" fmla="val 8000"/>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Fences</a:t>
            </a:r>
          </a:p>
        </p:txBody>
      </p:sp>
      <p:sp>
        <p:nvSpPr>
          <p:cNvPr id="9033" name="Text 302"/>
          <p:cNvSpPr txBox="1"/>
          <p:nvPr/>
        </p:nvSpPr>
        <p:spPr>
          <a:xfrm>
            <a:off x="548640" y="5760720"/>
            <a:ext cx="11094415" cy="594360"/>
          </a:xfrm>
          <a:prstGeom prst="rect">
            <a:avLst/>
          </a:prstGeom>
          <a:noFill/>
        </p:spPr>
        <p:txBody>
          <a:bodyPr wrap="square" anchor="t" lIns="0" rIns="0" tIns="0" bIns="0">
            <a:spAutoFit/>
          </a:bodyPr>
          <a:lstStyle/>
          <a:p>
            <a:pPr algn="l">
              <a:spcAft>
                <a:spcPts val="200"/>
              </a:spcAft>
            </a:pPr>
            <a:r>
              <a:rPr sz="1300" b="1">
                <a:solidFill>
                  <a:schemeClr val="accent5"/>
                </a:solidFill>
              </a:rPr>
              <a:t>Fence: </a:t>
            </a:r>
            <a:r>
              <a:rPr sz="1300" b="0">
                <a:solidFill>
                  <a:schemeClr val="accent5"/>
                </a:solidFill>
              </a:rPr>
              <a:t>an instance that can no longer trust its view of the log closes its edge or leader gate, releases its session, reports once and stops acting.</a:t>
            </a:r>
          </a:p>
          <a:p>
            <a:pPr algn="l"/>
            <a:r>
              <a:rPr sz="1300" b="1">
                <a:solidFill>
                  <a:schemeClr val="accent5"/>
                </a:solidFill>
              </a:rPr>
              <a:t>Topology: </a:t>
            </a:r>
            <a:r>
              <a:rPr sz="1300" b="0">
                <a:solidFill>
                  <a:schemeClr val="accent5"/>
                </a:solidFill>
              </a:rPr>
              <a:t>one document declares both kinds; clusterctl load-topology puts it on the log.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Java client API</a:t>
            </a:r>
          </a:p>
        </p:txBody>
      </p:sp>
      <p:sp>
        <p:nvSpPr>
          <p:cNvPr id="3" name="Text 303"/>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One object, one call per duty cycle</a:t>
            </a:r>
          </a:p>
        </p:txBody>
      </p:sp>
      <p:sp>
        <p:nvSpPr>
          <p:cNvPr id="9015" name="Slide number"/>
          <p:cNvSpPr txBox="1"/>
          <p:nvPr userDrawn="1"/>
        </p:nvSpPr>
        <p:spPr>
          <a:xfrm>
            <a:off x="10728655" y="6400800"/>
            <a:ext cx="914400" cy="274320"/>
          </a:xfrm>
          <a:prstGeom prst="rect">
            <a:avLst/>
          </a:prstGeom>
          <a:noFill/>
        </p:spPr>
        <p:txBody>
          <a:bodyPr wrap="none" lIns="0" tIns="0" rIns="0" bIns="0" anchor="ctr"/>
          <a:lstStyle/>
          <a:p>
            <a:pPr algn="r"/>
            <a:fld id="{24ed56bf-df24-43fe-a169-284a60b77cc1}" type="slidenum">
              <a:rPr lang="en-US" sz="1000" dirty="0">
                <a:solidFill>
                  <a:schemeClr val="accent5"/>
                </a:solidFill>
              </a:rPr>
              <a:t>15</a:t>
            </a:fld>
          </a:p>
        </p:txBody>
      </p:sp>
      <p:sp>
        <p:nvSpPr>
          <p:cNvPr id="9016" name="Text 304"/>
          <p:cNvSpPr txBox="1"/>
          <p:nvPr/>
        </p:nvSpPr>
        <p:spPr>
          <a:xfrm>
            <a:off x="548640" y="1600200"/>
            <a:ext cx="5394960" cy="365760"/>
          </a:xfrm>
          <a:prstGeom prst="rect">
            <a:avLst/>
          </a:prstGeom>
          <a:noFill/>
        </p:spPr>
        <p:txBody>
          <a:bodyPr wrap="square" anchor="t" lIns="0" rIns="0" tIns="0" bIns="0">
            <a:spAutoFit/>
          </a:bodyPr>
          <a:lstStyle/>
          <a:p>
            <a:pPr algn="l"/>
            <a:r>
              <a:rPr sz="1600" b="1">
                <a:solidFill>
                  <a:schemeClr val="tx1"/>
                </a:solidFill>
              </a:rPr>
              <a:t>Consumer</a:t>
            </a:r>
            <a:r>
              <a:rPr sz="1600" b="0">
                <a:solidFill>
                  <a:schemeClr val="accent5"/>
                </a:solidFill>
              </a:rPr>
              <a:t>  the read path, no façade needed</a:t>
            </a:r>
          </a:p>
        </p:txBody>
      </p:sp>
      <p:sp>
        <p:nvSpPr>
          <p:cNvPr id="9017" name="Code 305"/>
          <p:cNvSpPr/>
          <p:nvPr/>
        </p:nvSpPr>
        <p:spPr>
          <a:xfrm>
            <a:off x="548640" y="2011680"/>
            <a:ext cx="5394960" cy="3108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164592" rIns="164592" tIns="164592" bIns="164592"/>
          <a:lstStyle/>
          <a:p>
            <a:pPr algn="l"/>
            <a:r>
              <a:rPr sz="1100" b="0">
                <a:solidFill>
                  <a:schemeClr val="tx1"/>
                </a:solidFill>
                <a:latin typeface="Menlo"/>
              </a:rPr>
              <a:t>ReplayerStreamReceiver receiver =</a:t>
            </a:r>
          </a:p>
          <a:p>
            <a:pPr algn="l"/>
            <a:r>
              <a:rPr sz="1100" b="0">
                <a:solidFill>
                  <a:schemeClr val="tx1"/>
                </a:solidFill>
                <a:latin typeface="Menlo"/>
              </a:rPr>
              <a:t>    new ReplayerStreamReceiver(</a:t>
            </a:r>
          </a:p>
          <a:p>
            <a:pPr algn="l"/>
            <a:r>
              <a:rPr sz="1100" b="0">
                <a:solidFill>
                  <a:schemeClr val="tx1"/>
                </a:solidFill>
                <a:latin typeface="Menlo"/>
              </a:rPr>
              <a:t>        23,                     </a:t>
            </a:r>
            <a:r>
              <a:rPr sz="1100" b="0">
                <a:solidFill>
                  <a:schemeClr val="accent1"/>
                </a:solidFill>
                <a:latin typeface="Menlo"/>
              </a:rPr>
              <a:t>// clientId</a:t>
            </a:r>
          </a:p>
          <a:p>
            <a:pPr algn="l"/>
            <a:r>
              <a:rPr sz="1100" b="0">
                <a:solidFill>
                  <a:schemeClr val="tx1"/>
                </a:solidFill>
                <a:latin typeface="Menlo"/>
              </a:rPr>
              <a:t>        event -&gt; handle(event), </a:t>
            </a:r>
            <a:r>
              <a:rPr sz="1100" b="0">
                <a:solidFill>
                  <a:schemeClr val="accent1"/>
                </a:solidFill>
                <a:latin typeface="Menlo"/>
              </a:rPr>
              <a:t>// history, then live</a:t>
            </a:r>
          </a:p>
          <a:p>
            <a:pPr algn="l"/>
            <a:r>
              <a:rPr sz="1100" b="0">
                <a:solidFill>
                  <a:schemeClr val="tx1"/>
                </a:solidFill>
                <a:latin typeface="Menlo"/>
              </a:rPr>
              <a:t>        (leader, term, seqNo) -&gt; {},</a:t>
            </a:r>
          </a:p>
          <a:p>
            <a:pPr algn="l"/>
            <a:r>
              <a:rPr sz="1100" b="0">
                <a:solidFill>
                  <a:schemeClr val="tx1"/>
                </a:solidFill>
                <a:latin typeface="Menlo"/>
              </a:rPr>
              <a:t>        () -&gt; log("caught up"));</a:t>
            </a:r>
          </a:p>
          <a:p>
            <a:pPr algn="l"/>
            <a:r>
              <a:rPr sz="1100" b="0">
                <a:solidFill>
                  <a:schemeClr val="tx1"/>
                </a:solidFill>
                <a:latin typeface="Menlo"/>
              </a:rPr>
              <a:t>receiver.start(aeron, 0);       </a:t>
            </a:r>
            <a:r>
              <a:rPr sz="1100" b="0">
                <a:solidFill>
                  <a:schemeClr val="accent1"/>
                </a:solidFill>
                <a:latin typeface="Menlo"/>
              </a:rPr>
              <a:t>// member 0</a:t>
            </a:r>
          </a:p>
          <a:p>
            <a:pPr algn="l"/>
            <a:r>
              <a:rPr sz="1100" b="0">
                <a:solidFill>
                  <a:schemeClr val="tx1"/>
                </a:solidFill>
                <a:latin typeface="Menlo"/>
              </a:rPr>
              <a:t>while (running) {</a:t>
            </a:r>
          </a:p>
          <a:p>
            <a:pPr algn="l"/>
            <a:r>
              <a:rPr sz="1100" b="0">
                <a:solidFill>
                  <a:schemeClr val="tx1"/>
                </a:solidFill>
                <a:latin typeface="Menlo"/>
              </a:rPr>
              <a:t>    idle.idle(receiver.poll());</a:t>
            </a:r>
          </a:p>
          <a:p>
            <a:pPr algn="l"/>
            <a:r>
              <a:rPr sz="1100" b="0">
                <a:solidFill>
                  <a:schemeClr val="tx1"/>
                </a:solidFill>
                <a:latin typeface="Menlo"/>
              </a:rPr>
              <a:t>}</a:t>
            </a:r>
          </a:p>
        </p:txBody>
      </p:sp>
      <p:sp>
        <p:nvSpPr>
          <p:cNvPr id="9018" name="Text 306"/>
          <p:cNvSpPr txBox="1"/>
          <p:nvPr/>
        </p:nvSpPr>
        <p:spPr>
          <a:xfrm>
            <a:off x="6245352" y="1600200"/>
            <a:ext cx="5394960" cy="365760"/>
          </a:xfrm>
          <a:prstGeom prst="rect">
            <a:avLst/>
          </a:prstGeom>
          <a:noFill/>
        </p:spPr>
        <p:txBody>
          <a:bodyPr wrap="square" anchor="t" lIns="0" rIns="0" tIns="0" bIns="0">
            <a:spAutoFit/>
          </a:bodyPr>
          <a:lstStyle/>
          <a:p>
            <a:pPr algn="l"/>
            <a:r>
              <a:rPr sz="1600" b="1">
                <a:solidFill>
                  <a:schemeClr val="tx1"/>
                </a:solidFill>
              </a:rPr>
              <a:t>Producer</a:t>
            </a:r>
            <a:r>
              <a:rPr sz="1600" b="0">
                <a:solidFill>
                  <a:schemeClr val="accent5"/>
                </a:solidFill>
              </a:rPr>
              <a:t>  a co-located application</a:t>
            </a:r>
          </a:p>
        </p:txBody>
      </p:sp>
      <p:sp>
        <p:nvSpPr>
          <p:cNvPr id="9019" name="Code 307"/>
          <p:cNvSpPr/>
          <p:nvPr/>
        </p:nvSpPr>
        <p:spPr>
          <a:xfrm>
            <a:off x="6245352" y="2011680"/>
            <a:ext cx="5394960" cy="3108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none" lIns="164592" rIns="164592" tIns="164592" bIns="164592"/>
          <a:lstStyle/>
          <a:p>
            <a:pPr algn="l"/>
            <a:r>
              <a:rPr sz="1100" b="0">
                <a:solidFill>
                  <a:schemeClr val="tx1"/>
                </a:solidFill>
                <a:latin typeface="Menlo"/>
              </a:rPr>
              <a:t>Application app = Application.builder()</a:t>
            </a:r>
          </a:p>
          <a:p>
            <a:pPr algn="l"/>
            <a:r>
              <a:rPr sz="1100" b="0">
                <a:solidFill>
                  <a:schemeClr val="tx1"/>
                </a:solidFill>
                <a:latin typeface="Menlo"/>
              </a:rPr>
              <a:t>    .sourceId(100).clientId(24).memberId(0)</a:t>
            </a:r>
          </a:p>
          <a:p>
            <a:pPr algn="l"/>
            <a:r>
              <a:rPr sz="1100" b="0">
                <a:solidFill>
                  <a:schemeClr val="tx1"/>
                </a:solidFill>
                <a:latin typeface="Menlo"/>
              </a:rPr>
              <a:t>    .egressChannel(EGRESS)</a:t>
            </a:r>
          </a:p>
          <a:p>
            <a:pPr algn="l"/>
            <a:r>
              <a:rPr sz="1100" b="0">
                <a:solidFill>
                  <a:schemeClr val="tx1"/>
                </a:solidFill>
                <a:latin typeface="Menlo"/>
              </a:rPr>
              <a:t>    .listener(listener).build();</a:t>
            </a:r>
          </a:p>
          <a:p>
            <a:pPr algn="l"/>
            <a:r>
              <a:rPr sz="1100" b="0">
                <a:solidFill>
                  <a:schemeClr val="tx1"/>
                </a:solidFill>
                <a:latin typeface="Menlo"/>
              </a:rPr>
              <a:t>app.start(aeron);</a:t>
            </a:r>
          </a:p>
          <a:p>
            <a:pPr algn="l"/>
            <a:r>
              <a:rPr sz="1100" b="0">
                <a:solidFill>
                  <a:schemeClr val="tx1"/>
                </a:solidFill>
                <a:latin typeface="Menlo"/>
              </a:rPr>
              <a:t>while (running) {</a:t>
            </a:r>
          </a:p>
          <a:p>
            <a:pPr algn="l"/>
            <a:r>
              <a:rPr sz="1100" b="0">
                <a:solidFill>
                  <a:schemeClr val="tx1"/>
                </a:solidFill>
                <a:latin typeface="Menlo"/>
              </a:rPr>
              <a:t>    final int work = app.doWork();</a:t>
            </a:r>
          </a:p>
          <a:p>
            <a:pPr algn="l"/>
            <a:r>
              <a:rPr sz="1100" b="0">
                <a:solidFill>
                  <a:schemeClr val="tx1"/>
                </a:solidFill>
                <a:latin typeface="Menlo"/>
              </a:rPr>
              <a:t>    if (pending &amp;&amp; app.canPublish()) {</a:t>
            </a:r>
          </a:p>
          <a:p>
            <a:pPr algn="l"/>
            <a:r>
              <a:rPr sz="1100" b="0">
                <a:solidFill>
                  <a:schemeClr val="tx1"/>
                </a:solidFill>
                <a:latin typeface="Menlo"/>
              </a:rPr>
              <a:t>        </a:t>
            </a:r>
            <a:r>
              <a:rPr sz="1100" b="0">
                <a:solidFill>
                  <a:schemeClr val="accent1"/>
                </a:solidFill>
                <a:latin typeface="Menlo"/>
              </a:rPr>
              <a:t>// Declined: retry next cycle; Refused is final</a:t>
            </a:r>
          </a:p>
          <a:p>
            <a:pPr algn="l"/>
            <a:r>
              <a:rPr sz="1100" b="0">
                <a:solidFill>
                  <a:schemeClr val="tx1"/>
                </a:solidFill>
                <a:latin typeface="Menlo"/>
              </a:rPr>
              <a:t>        pending = app.publish(PAYLOAD_ID, msg, length)</a:t>
            </a:r>
          </a:p>
          <a:p>
            <a:pPr algn="l"/>
            <a:r>
              <a:rPr sz="1100" b="0">
                <a:solidFill>
                  <a:schemeClr val="tx1"/>
                </a:solidFill>
                <a:latin typeface="Menlo"/>
              </a:rPr>
              <a:t>            == Publish.Declined;</a:t>
            </a:r>
          </a:p>
          <a:p>
            <a:pPr algn="l"/>
            <a:r>
              <a:rPr sz="1100" b="0">
                <a:solidFill>
                  <a:schemeClr val="tx1"/>
                </a:solidFill>
                <a:latin typeface="Menlo"/>
              </a:rPr>
              <a:t>    }</a:t>
            </a:r>
          </a:p>
          <a:p>
            <a:pPr algn="l"/>
            <a:r>
              <a:rPr sz="1100" b="0">
                <a:solidFill>
                  <a:schemeClr val="tx1"/>
                </a:solidFill>
                <a:latin typeface="Menlo"/>
              </a:rPr>
              <a:t>    idle.idle(work);</a:t>
            </a:r>
          </a:p>
          <a:p>
            <a:pPr algn="l"/>
            <a:r>
              <a:rPr sz="1100" b="0">
                <a:solidFill>
                  <a:schemeClr val="tx1"/>
                </a:solidFill>
                <a:latin typeface="Menlo"/>
              </a:rPr>
              <a:t>}</a:t>
            </a:r>
          </a:p>
          <a:p>
            <a:pPr algn="l"/>
            <a:r>
              <a:rPr sz="1100" b="0">
                <a:solidFill>
                  <a:schemeClr val="tx1"/>
                </a:solidFill>
                <a:latin typeface="Menlo"/>
              </a:rPr>
              <a:t/>
            </a:r>
            <a:r>
              <a:rPr sz="1100" b="0">
                <a:solidFill>
                  <a:schemeClr val="accent1"/>
                </a:solidFill>
                <a:latin typeface="Menlo"/>
              </a:rPr>
              <a:t>// Listener: frames in order; a fence means stop</a:t>
            </a:r>
          </a:p>
          <a:p>
            <a:pPr algn="l"/>
            <a:r>
              <a:rPr sz="1100" b="0">
                <a:solidFill>
                  <a:schemeClr val="tx1"/>
                </a:solidFill>
                <a:latin typeface="Menlo"/>
              </a:rPr>
              <a:t>void onSequenced(Payload payload)</a:t>
            </a:r>
          </a:p>
          <a:p>
            <a:pPr algn="l"/>
            <a:r>
              <a:rPr sz="1100" b="0">
                <a:solidFill>
                  <a:schemeClr val="tx1"/>
                </a:solidFill>
                <a:latin typeface="Menlo"/>
              </a:rPr>
              <a:t>void onFenced(ClusterError fence, String detail)</a:t>
            </a:r>
          </a:p>
        </p:txBody>
      </p:sp>
      <p:sp>
        <p:nvSpPr>
          <p:cNvPr id="9020" name="Card 308"/>
          <p:cNvSpPr/>
          <p:nvPr/>
        </p:nvSpPr>
        <p:spPr>
          <a:xfrm>
            <a:off x="548640" y="5349240"/>
            <a:ext cx="3511296"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300" b="1">
                <a:solidFill>
                  <a:schemeClr val="tx1"/>
                </a:solidFill>
              </a:rPr>
              <a:t>One thread, yours. </a:t>
            </a:r>
            <a:r>
              <a:rPr sz="1300" b="0">
                <a:solidFill>
                  <a:schemeClr val="tx1"/>
                </a:solidFill>
              </a:rPr>
              <a:t>doWork() returns a work count; dispatch allocates nothing once warm, tested in C#.</a:t>
            </a:r>
          </a:p>
        </p:txBody>
      </p:sp>
      <p:sp>
        <p:nvSpPr>
          <p:cNvPr id="9021" name="Card 309"/>
          <p:cNvSpPr/>
          <p:nvPr/>
        </p:nvSpPr>
        <p:spPr>
          <a:xfrm>
            <a:off x="4338828" y="5349240"/>
            <a:ext cx="3511296"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300" b="1">
                <a:solidFill>
                  <a:schemeClr val="tx1"/>
                </a:solidFill>
              </a:rPr>
              <a:t>Not in your code: </a:t>
            </a:r>
            <a:r>
              <a:rPr sz="1300" b="0">
                <a:solidFill>
                  <a:schemeClr val="tx1"/>
                </a:solidFill>
              </a:rPr>
              <a:t>the session, recovery, confirmation and resend, the leader gate, the fences.</a:t>
            </a:r>
          </a:p>
        </p:txBody>
      </p:sp>
      <p:sp>
        <p:nvSpPr>
          <p:cNvPr id="9022" name="Card 310"/>
          <p:cNvSpPr/>
          <p:nvPr/>
        </p:nvSpPr>
        <p:spPr>
          <a:xfrm>
            <a:off x="8129016" y="5349240"/>
            <a:ext cx="3511296"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37160" bIns="137160"/>
          <a:lstStyle/>
          <a:p>
            <a:pPr algn="l"/>
            <a:r>
              <a:rPr sz="1300" b="1">
                <a:solidFill>
                  <a:schemeClr val="tx1"/>
                </a:solidFill>
              </a:rPr>
              <a:t>Java, C++ and C#: </a:t>
            </a:r>
            <a:r>
              <a:rPr sz="1300" b="0">
                <a:solidFill>
                  <a:schemeClr val="tx1"/>
                </a:solidFill>
              </a:rPr>
              <a:t>the same façades; C# takes an options class where Java takes a builder.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The gateway election</a:t>
            </a:r>
          </a:p>
        </p:txBody>
      </p:sp>
      <p:sp>
        <p:nvSpPr>
          <p:cNvPr id="3" name="Text 311"/>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Every input comes from the log; the output is a sequenced frame</a:t>
            </a:r>
          </a:p>
        </p:txBody>
      </p:sp>
      <p:sp>
        <p:nvSpPr>
          <p:cNvPr id="9016" name="Slide number"/>
          <p:cNvSpPr txBox="1"/>
          <p:nvPr userDrawn="1"/>
        </p:nvSpPr>
        <p:spPr>
          <a:xfrm>
            <a:off x="10728655" y="6400800"/>
            <a:ext cx="914400" cy="274320"/>
          </a:xfrm>
          <a:prstGeom prst="rect">
            <a:avLst/>
          </a:prstGeom>
          <a:noFill/>
        </p:spPr>
        <p:txBody>
          <a:bodyPr wrap="none" lIns="0" tIns="0" rIns="0" bIns="0" anchor="ctr"/>
          <a:lstStyle/>
          <a:p>
            <a:pPr algn="r"/>
            <a:fld id="{d09aaddd-b866-4c3a-aaf5-317d0f5a6ae4}" type="slidenum">
              <a:rPr lang="en-US" sz="1000" dirty="0">
                <a:solidFill>
                  <a:schemeClr val="accent5"/>
                </a:solidFill>
              </a:rPr>
              <a:t>16</a:t>
            </a:fld>
          </a:p>
        </p:txBody>
      </p:sp>
      <p:sp>
        <p:nvSpPr>
          <p:cNvPr id="9017" name="Text 312"/>
          <p:cNvSpPr txBox="1"/>
          <p:nvPr/>
        </p:nvSpPr>
        <p:spPr>
          <a:xfrm>
            <a:off x="548640" y="1600200"/>
            <a:ext cx="4528333" cy="294342"/>
          </a:xfrm>
          <a:prstGeom prst="rect">
            <a:avLst/>
          </a:prstGeom>
          <a:noFill/>
        </p:spPr>
        <p:txBody>
          <a:bodyPr wrap="square" anchor="ctr" lIns="0" rIns="0" tIns="0" bIns="0">
            <a:spAutoFit/>
          </a:bodyPr>
          <a:lstStyle/>
          <a:p>
            <a:pPr algn="l"/>
            <a:r>
              <a:rPr sz="1200" b="0">
                <a:solidFill>
                  <a:schemeClr val="accent5"/>
                </a:solidFill>
              </a:rPr>
              <a:t>log, in globalSeqNo order →</a:t>
            </a:r>
          </a:p>
        </p:txBody>
      </p:sp>
      <p:sp>
        <p:nvSpPr>
          <p:cNvPr id="9018" name="Box 313"/>
          <p:cNvSpPr/>
          <p:nvPr/>
        </p:nvSpPr>
        <p:spPr>
          <a:xfrm>
            <a:off x="548640" y="1985108"/>
            <a:ext cx="1449066" cy="928308"/>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GatewayRegistered</a:t>
            </a:r>
          </a:p>
          <a:p>
            <a:pPr algn="ctr"/>
            <a:r>
              <a:rPr sz="1000" b="0">
                <a:solidFill>
                  <a:schemeClr val="accent5"/>
                </a:solidFill>
              </a:rPr>
              <a:t>GW-A · rank 0</a:t>
            </a:r>
          </a:p>
        </p:txBody>
      </p:sp>
      <p:sp>
        <p:nvSpPr>
          <p:cNvPr id="9019" name="Box 314"/>
          <p:cNvSpPr/>
          <p:nvPr/>
        </p:nvSpPr>
        <p:spPr>
          <a:xfrm>
            <a:off x="2110915" y="1985108"/>
            <a:ext cx="1449066" cy="928308"/>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GatewayRegistered</a:t>
            </a:r>
          </a:p>
          <a:p>
            <a:pPr algn="ctr"/>
            <a:r>
              <a:rPr sz="1000" b="0">
                <a:solidFill>
                  <a:schemeClr val="accent5"/>
                </a:solidFill>
              </a:rPr>
              <a:t>GW-B · rank 1 · last</a:t>
            </a:r>
          </a:p>
        </p:txBody>
      </p:sp>
      <p:sp>
        <p:nvSpPr>
          <p:cNvPr id="9020" name="Box 315"/>
          <p:cNvSpPr/>
          <p:nvPr/>
        </p:nvSpPr>
        <p:spPr>
          <a:xfrm>
            <a:off x="3673190" y="1985108"/>
            <a:ext cx="1449066" cy="928308"/>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GatewayActive</a:t>
            </a:r>
          </a:p>
          <a:p>
            <a:pPr algn="ctr"/>
            <a:r>
              <a:rPr sz="1000" b="0">
                <a:solidFill>
                  <a:schemeClr val="accent5"/>
                </a:solidFill>
              </a:rPr>
              <a:t>GW-A · bootstrap</a:t>
            </a:r>
          </a:p>
        </p:txBody>
      </p:sp>
      <p:sp>
        <p:nvSpPr>
          <p:cNvPr id="9021" name="Box 316"/>
          <p:cNvSpPr/>
          <p:nvPr/>
        </p:nvSpPr>
        <p:spPr>
          <a:xfrm>
            <a:off x="5235464" y="1985108"/>
            <a:ext cx="1449066" cy="928308"/>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GatewayStarted</a:t>
            </a:r>
          </a:p>
          <a:p>
            <a:pPr algn="ctr"/>
            <a:r>
              <a:rPr sz="1000" b="0">
                <a:solidFill>
                  <a:schemeClr val="accent5"/>
                </a:solidFill>
              </a:rPr>
              <a:t>GW-A · binds session</a:t>
            </a:r>
          </a:p>
        </p:txBody>
      </p:sp>
      <p:sp>
        <p:nvSpPr>
          <p:cNvPr id="9022" name="Box 317"/>
          <p:cNvSpPr/>
          <p:nvPr/>
        </p:nvSpPr>
        <p:spPr>
          <a:xfrm>
            <a:off x="6797739" y="1985108"/>
            <a:ext cx="1449066" cy="928308"/>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ConnectionOpened</a:t>
            </a:r>
          </a:p>
          <a:p>
            <a:pPr algn="ctr"/>
            <a:r>
              <a:rPr sz="1000" b="0">
                <a:solidFill>
                  <a:schemeClr val="accent5"/>
                </a:solidFill>
              </a:rPr>
              <a:t>ids 1 … n, by GW-A</a:t>
            </a:r>
          </a:p>
        </p:txBody>
      </p:sp>
      <p:sp>
        <p:nvSpPr>
          <p:cNvPr id="9023" name="Box 318"/>
          <p:cNvSpPr/>
          <p:nvPr/>
        </p:nvSpPr>
        <p:spPr>
          <a:xfrm>
            <a:off x="8360014" y="1985108"/>
            <a:ext cx="1449066" cy="928308"/>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GatewayActive</a:t>
            </a:r>
          </a:p>
          <a:p>
            <a:pPr algn="ctr"/>
            <a:r>
              <a:rPr sz="1000" b="0">
                <a:solidFill>
                  <a:schemeClr val="accent5"/>
                </a:solidFill>
              </a:rPr>
              <a:t>GW-B · A's session closed</a:t>
            </a:r>
          </a:p>
        </p:txBody>
      </p:sp>
      <p:sp>
        <p:nvSpPr>
          <p:cNvPr id="9024" name="Box 319"/>
          <p:cNvSpPr/>
          <p:nvPr/>
        </p:nvSpPr>
        <p:spPr>
          <a:xfrm>
            <a:off x="9922289" y="1985108"/>
            <a:ext cx="1449066" cy="928308"/>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GatewayStarted</a:t>
            </a:r>
          </a:p>
          <a:p>
            <a:pPr algn="ctr"/>
            <a:r>
              <a:rPr sz="1000" b="0">
                <a:solidFill>
                  <a:schemeClr val="accent5"/>
                </a:solidFill>
              </a:rPr>
              <a:t>GW-B · first id &gt; n</a:t>
            </a:r>
          </a:p>
        </p:txBody>
      </p:sp>
      <p:sp>
        <p:nvSpPr>
          <p:cNvPr id="9025" name="Text 320"/>
          <p:cNvSpPr txBox="1"/>
          <p:nvPr/>
        </p:nvSpPr>
        <p:spPr>
          <a:xfrm>
            <a:off x="548640" y="3185116"/>
            <a:ext cx="679250" cy="339625"/>
          </a:xfrm>
          <a:prstGeom prst="rect">
            <a:avLst/>
          </a:prstGeom>
          <a:noFill/>
        </p:spPr>
        <p:txBody>
          <a:bodyPr wrap="square" anchor="ctr" lIns="0" rIns="0" tIns="0" bIns="0">
            <a:spAutoFit/>
          </a:bodyPr>
          <a:lstStyle/>
          <a:p>
            <a:pPr algn="l"/>
            <a:r>
              <a:rPr sz="1300" b="1">
                <a:solidFill>
                  <a:schemeClr val="tx1"/>
                </a:solidFill>
              </a:rPr>
              <a:t>GW-A</a:t>
            </a:r>
          </a:p>
        </p:txBody>
      </p:sp>
      <p:sp>
        <p:nvSpPr>
          <p:cNvPr id="9026" name="Box 321"/>
          <p:cNvSpPr/>
          <p:nvPr/>
        </p:nvSpPr>
        <p:spPr>
          <a:xfrm>
            <a:off x="5235464" y="3207758"/>
            <a:ext cx="3124550" cy="29434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bg1"/>
                </a:solidFill>
              </a:rPr>
              <a:t>serving</a:t>
            </a:r>
          </a:p>
        </p:txBody>
      </p:sp>
      <p:sp>
        <p:nvSpPr>
          <p:cNvPr id="9027" name="Text 322"/>
          <p:cNvSpPr txBox="1"/>
          <p:nvPr/>
        </p:nvSpPr>
        <p:spPr>
          <a:xfrm>
            <a:off x="8427939" y="3185116"/>
            <a:ext cx="2264166" cy="339625"/>
          </a:xfrm>
          <a:prstGeom prst="rect">
            <a:avLst/>
          </a:prstGeom>
          <a:noFill/>
        </p:spPr>
        <p:txBody>
          <a:bodyPr wrap="square" anchor="ctr" lIns="0" rIns="0" tIns="0" bIns="0">
            <a:spAutoFit/>
          </a:bodyPr>
          <a:lstStyle/>
          <a:p>
            <a:pPr algn="l"/>
            <a:r>
              <a:rPr sz="1100" b="0">
                <a:solidFill>
                  <a:schemeClr val="accent5"/>
                </a:solidFill>
              </a:rPr>
              <a:t>crashed: session closes</a:t>
            </a:r>
          </a:p>
        </p:txBody>
      </p:sp>
      <p:sp>
        <p:nvSpPr>
          <p:cNvPr id="9028" name="Text 323"/>
          <p:cNvSpPr txBox="1"/>
          <p:nvPr/>
        </p:nvSpPr>
        <p:spPr>
          <a:xfrm>
            <a:off x="548640" y="3751158"/>
            <a:ext cx="679250" cy="339625"/>
          </a:xfrm>
          <a:prstGeom prst="rect">
            <a:avLst/>
          </a:prstGeom>
          <a:noFill/>
        </p:spPr>
        <p:txBody>
          <a:bodyPr wrap="square" anchor="ctr" lIns="0" rIns="0" tIns="0" bIns="0">
            <a:spAutoFit/>
          </a:bodyPr>
          <a:lstStyle/>
          <a:p>
            <a:pPr algn="l"/>
            <a:r>
              <a:rPr sz="1300" b="1">
                <a:solidFill>
                  <a:schemeClr val="tx1"/>
                </a:solidFill>
              </a:rPr>
              <a:t>GW-B</a:t>
            </a:r>
          </a:p>
        </p:txBody>
      </p:sp>
      <p:sp>
        <p:nvSpPr>
          <p:cNvPr id="9029" name="Box 324"/>
          <p:cNvSpPr/>
          <p:nvPr/>
        </p:nvSpPr>
        <p:spPr>
          <a:xfrm>
            <a:off x="1227890" y="3773800"/>
            <a:ext cx="7132124" cy="294342"/>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30" name="Text 325"/>
          <p:cNvSpPr txBox="1"/>
          <p:nvPr/>
        </p:nvSpPr>
        <p:spPr>
          <a:xfrm>
            <a:off x="1341098" y="3751158"/>
            <a:ext cx="6792499" cy="339625"/>
          </a:xfrm>
          <a:prstGeom prst="rect">
            <a:avLst/>
          </a:prstGeom>
          <a:noFill/>
        </p:spPr>
        <p:txBody>
          <a:bodyPr wrap="square" anchor="ctr" lIns="0" rIns="0" tIns="0" bIns="0">
            <a:spAutoFit/>
          </a:bodyPr>
          <a:lstStyle/>
          <a:p>
            <a:pPr algn="l"/>
            <a:r>
              <a:rPr sz="1100" b="0">
                <a:solidFill>
                  <a:schemeClr val="tx1"/>
                </a:solidFill>
              </a:rPr>
              <a:t>hot standby: follows the queue, rebuilds A's connections from the log</a:t>
            </a:r>
          </a:p>
        </p:txBody>
      </p:sp>
      <p:sp>
        <p:nvSpPr>
          <p:cNvPr id="9031" name="Box 326"/>
          <p:cNvSpPr/>
          <p:nvPr/>
        </p:nvSpPr>
        <p:spPr>
          <a:xfrm>
            <a:off x="9922289" y="3773800"/>
            <a:ext cx="1449066" cy="29434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bg1"/>
                </a:solidFill>
              </a:rPr>
              <a:t>serving</a:t>
            </a:r>
          </a:p>
        </p:txBody>
      </p:sp>
      <p:sp>
        <p:nvSpPr>
          <p:cNvPr id="9032" name="Legend 327"/>
          <p:cNvSpPr/>
          <p:nvPr/>
        </p:nvSpPr>
        <p:spPr>
          <a:xfrm>
            <a:off x="548640" y="4408640"/>
            <a:ext cx="274320" cy="27432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3" name="Text 328"/>
          <p:cNvSpPr txBox="1"/>
          <p:nvPr/>
        </p:nvSpPr>
        <p:spPr>
          <a:xfrm>
            <a:off x="914400" y="4362920"/>
            <a:ext cx="4572000" cy="365760"/>
          </a:xfrm>
          <a:prstGeom prst="rect">
            <a:avLst/>
          </a:prstGeom>
          <a:noFill/>
        </p:spPr>
        <p:txBody>
          <a:bodyPr wrap="square" anchor="ctr" lIns="0" rIns="0" tIns="0" bIns="0">
            <a:spAutoFit/>
          </a:bodyPr>
          <a:lstStyle/>
          <a:p>
            <a:pPr algn="l"/>
            <a:r>
              <a:rPr sz="1200" b="0">
                <a:solidFill>
                  <a:schemeClr val="accent5"/>
                </a:solidFill>
              </a:rPr>
              <a:t>synthesized by the sequencer</a:t>
            </a:r>
          </a:p>
        </p:txBody>
      </p:sp>
      <p:sp>
        <p:nvSpPr>
          <p:cNvPr id="9034" name="Legend 329"/>
          <p:cNvSpPr/>
          <p:nvPr/>
        </p:nvSpPr>
        <p:spPr>
          <a:xfrm>
            <a:off x="4389120" y="4408640"/>
            <a:ext cx="274320" cy="27432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5" name="Text 330"/>
          <p:cNvSpPr txBox="1"/>
          <p:nvPr/>
        </p:nvSpPr>
        <p:spPr>
          <a:xfrm>
            <a:off x="4754880" y="4362920"/>
            <a:ext cx="5486400" cy="365760"/>
          </a:xfrm>
          <a:prstGeom prst="rect">
            <a:avLst/>
          </a:prstGeom>
          <a:noFill/>
        </p:spPr>
        <p:txBody>
          <a:bodyPr wrap="square" anchor="ctr" lIns="0" rIns="0" tIns="0" bIns="0">
            <a:spAutoFit/>
          </a:bodyPr>
          <a:lstStyle/>
          <a:p>
            <a:pPr algn="l"/>
            <a:r>
              <a:rPr sz="1200" b="0">
                <a:solidFill>
                  <a:schemeClr val="accent5"/>
                </a:solidFill>
              </a:rPr>
              <a:t>submitted by clusterctl or an instance</a:t>
            </a:r>
          </a:p>
        </p:txBody>
      </p:sp>
      <p:sp>
        <p:nvSpPr>
          <p:cNvPr id="9036" name="Card 331"/>
          <p:cNvSpPr/>
          <p:nvPr/>
        </p:nvSpPr>
        <p:spPr>
          <a:xfrm>
            <a:off x="548640" y="4957280"/>
            <a:ext cx="11094415"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l"/>
            <a:r>
              <a:rPr sz="1500" b="1">
                <a:solidFill>
                  <a:schemeClr val="tx1"/>
                </a:solidFill>
              </a:rPr>
              <a:t>Every gateway instance and every application sees the same decision at the same globalSeqNo. </a:t>
            </a:r>
            <a:r>
              <a:rPr sz="1500" b="0">
                <a:solidFill>
                  <a:schemeClr val="tx1"/>
                </a:solidFill>
              </a:rPr>
              <a:t>No two instances can act as active on inconsistent information.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Leader-only work, through the log</a:t>
            </a:r>
          </a:p>
        </p:txBody>
      </p:sp>
      <p:sp>
        <p:nvSpPr>
          <p:cNvPr id="3" name="Text 332"/>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Outstanding work is replicated; dispatch is local</a:t>
            </a:r>
          </a:p>
        </p:txBody>
      </p:sp>
      <p:sp>
        <p:nvSpPr>
          <p:cNvPr id="9017" name="Slide number"/>
          <p:cNvSpPr txBox="1"/>
          <p:nvPr userDrawn="1"/>
        </p:nvSpPr>
        <p:spPr>
          <a:xfrm>
            <a:off x="10728655" y="6400800"/>
            <a:ext cx="914400" cy="274320"/>
          </a:xfrm>
          <a:prstGeom prst="rect">
            <a:avLst/>
          </a:prstGeom>
          <a:noFill/>
        </p:spPr>
        <p:txBody>
          <a:bodyPr wrap="none" lIns="0" tIns="0" rIns="0" bIns="0" anchor="ctr"/>
          <a:lstStyle/>
          <a:p>
            <a:pPr algn="r"/>
            <a:fld id="{aa415ebb-6b56-40db-811f-4d3bbaf3ece3}" type="slidenum">
              <a:rPr lang="en-US" sz="1000" dirty="0">
                <a:solidFill>
                  <a:schemeClr val="accent5"/>
                </a:solidFill>
              </a:rPr>
              <a:t>17</a:t>
            </a:fld>
          </a:p>
        </p:txBody>
      </p:sp>
      <p:sp>
        <p:nvSpPr>
          <p:cNvPr id="9018" name="Host 333"/>
          <p:cNvSpPr/>
          <p:nvPr/>
        </p:nvSpPr>
        <p:spPr>
          <a:xfrm>
            <a:off x="664207" y="2941282"/>
            <a:ext cx="1386802" cy="577834"/>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ctr"/>
            <a:r>
              <a:rPr sz="1100" b="1">
                <a:solidFill>
                  <a:schemeClr val="accent5"/>
                </a:solidFill>
              </a:rPr>
              <a:t>EXTERNAL</a:t>
            </a:r>
          </a:p>
        </p:txBody>
      </p:sp>
      <p:sp>
        <p:nvSpPr>
          <p:cNvPr id="9019" name="Box 334"/>
          <p:cNvSpPr/>
          <p:nvPr/>
        </p:nvSpPr>
        <p:spPr>
          <a:xfrm>
            <a:off x="2513276" y="2941282"/>
            <a:ext cx="1733502" cy="577834"/>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Gateway</a:t>
            </a:r>
          </a:p>
          <a:p>
            <a:pPr algn="ctr"/>
            <a:r>
              <a:rPr sz="1000" b="0">
                <a:solidFill>
                  <a:schemeClr val="accent5"/>
                </a:solidFill>
              </a:rPr>
              <a:t>active instance</a:t>
            </a:r>
          </a:p>
        </p:txBody>
      </p:sp>
      <p:cxnSp>
        <p:nvCxnSpPr>
          <p:cNvPr id="9020" name="Arrow 335"/>
          <p:cNvCxnSpPr/>
          <p:nvPr/>
        </p:nvCxnSpPr>
        <p:spPr>
          <a:xfrm>
            <a:off x="2051009" y="3149302"/>
            <a:ext cx="462267"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21" name="Arrow 336"/>
          <p:cNvCxnSpPr/>
          <p:nvPr/>
        </p:nvCxnSpPr>
        <p:spPr>
          <a:xfrm flipH="1">
            <a:off x="2051009" y="3334209"/>
            <a:ext cx="462267"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2" name="Box 337"/>
          <p:cNvSpPr/>
          <p:nvPr/>
        </p:nvSpPr>
        <p:spPr>
          <a:xfrm>
            <a:off x="4709046" y="2941282"/>
            <a:ext cx="1271235" cy="57783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seq N</a:t>
            </a:r>
          </a:p>
          <a:p>
            <a:pPr algn="ctr"/>
            <a:r>
              <a:rPr sz="1000" b="0">
                <a:solidFill>
                  <a:schemeClr val="accent5"/>
                </a:solidFill>
              </a:rPr>
              <a:t>request</a:t>
            </a:r>
          </a:p>
        </p:txBody>
      </p:sp>
      <p:cxnSp>
        <p:nvCxnSpPr>
          <p:cNvPr id="9023" name="Arrow 338"/>
          <p:cNvCxnSpPr/>
          <p:nvPr/>
        </p:nvCxnSpPr>
        <p:spPr>
          <a:xfrm>
            <a:off x="4246778" y="3230199"/>
            <a:ext cx="462268"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4" name="Box 339"/>
          <p:cNvSpPr/>
          <p:nvPr/>
        </p:nvSpPr>
        <p:spPr>
          <a:xfrm>
            <a:off x="6442548" y="2016747"/>
            <a:ext cx="2080203" cy="577834"/>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Application · member 0</a:t>
            </a:r>
          </a:p>
          <a:p>
            <a:pPr algn="ctr"/>
            <a:r>
              <a:rPr sz="1000" b="0">
                <a:solidFill>
                  <a:schemeClr val="accent5"/>
                </a:solidFill>
              </a:rPr>
              <a:t>outstanding: N</a:t>
            </a:r>
          </a:p>
        </p:txBody>
      </p:sp>
      <p:sp>
        <p:nvSpPr>
          <p:cNvPr id="9025" name="Box 340"/>
          <p:cNvSpPr/>
          <p:nvPr/>
        </p:nvSpPr>
        <p:spPr>
          <a:xfrm>
            <a:off x="6442548" y="2941282"/>
            <a:ext cx="2080203" cy="577834"/>
          </a:xfrm>
          <a:prstGeom prst="rect">
            <a:avLst/>
          </a:prstGeom>
          <a:solidFill>
            <a:schemeClr val="bg1"/>
          </a:solidFill>
          <a:ln w="317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Application · member 1</a:t>
            </a:r>
          </a:p>
          <a:p>
            <a:pPr algn="ctr"/>
            <a:r>
              <a:rPr sz="1000" b="0">
                <a:solidFill>
                  <a:schemeClr val="accent5"/>
                </a:solidFill>
              </a:rPr>
              <a:t>leader: reply(requester, conn)</a:t>
            </a:r>
          </a:p>
        </p:txBody>
      </p:sp>
      <p:sp>
        <p:nvSpPr>
          <p:cNvPr id="9026" name="Box 341"/>
          <p:cNvSpPr/>
          <p:nvPr/>
        </p:nvSpPr>
        <p:spPr>
          <a:xfrm>
            <a:off x="6442548" y="3865816"/>
            <a:ext cx="2080203" cy="577834"/>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Application · member 2</a:t>
            </a:r>
          </a:p>
          <a:p>
            <a:pPr algn="ctr"/>
            <a:r>
              <a:rPr sz="1000" b="0">
                <a:solidFill>
                  <a:schemeClr val="accent5"/>
                </a:solidFill>
              </a:rPr>
              <a:t>outstanding: N</a:t>
            </a:r>
          </a:p>
        </p:txBody>
      </p:sp>
      <p:cxnSp>
        <p:nvCxnSpPr>
          <p:cNvPr id="9027" name="Arrow 342"/>
          <p:cNvCxnSpPr/>
          <p:nvPr/>
        </p:nvCxnSpPr>
        <p:spPr>
          <a:xfrm flipV="1">
            <a:off x="5980281" y="2305664"/>
            <a:ext cx="462267" cy="924535"/>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9028" name="Arrow 343"/>
          <p:cNvCxnSpPr/>
          <p:nvPr/>
        </p:nvCxnSpPr>
        <p:spPr>
          <a:xfrm>
            <a:off x="5980281" y="3230199"/>
            <a:ext cx="462267"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9029" name="Arrow 344"/>
          <p:cNvCxnSpPr/>
          <p:nvPr/>
        </p:nvCxnSpPr>
        <p:spPr>
          <a:xfrm>
            <a:off x="5980281" y="3230199"/>
            <a:ext cx="462267" cy="924535"/>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30" name="Box 345"/>
          <p:cNvSpPr/>
          <p:nvPr/>
        </p:nvSpPr>
        <p:spPr>
          <a:xfrm>
            <a:off x="8985018" y="2941282"/>
            <a:ext cx="1271235" cy="57783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seq M</a:t>
            </a:r>
          </a:p>
          <a:p>
            <a:pPr algn="ctr"/>
            <a:r>
              <a:rPr sz="1000" b="0">
                <a:solidFill>
                  <a:schemeClr val="accent5"/>
                </a:solidFill>
              </a:rPr>
              <a:t>reply</a:t>
            </a:r>
          </a:p>
        </p:txBody>
      </p:sp>
      <p:cxnSp>
        <p:nvCxnSpPr>
          <p:cNvPr id="9031" name="Arrow 346"/>
          <p:cNvCxnSpPr/>
          <p:nvPr/>
        </p:nvCxnSpPr>
        <p:spPr>
          <a:xfrm>
            <a:off x="8522751" y="3230199"/>
            <a:ext cx="462267"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32" name="Text 347"/>
          <p:cNvSpPr txBox="1"/>
          <p:nvPr/>
        </p:nvSpPr>
        <p:spPr>
          <a:xfrm>
            <a:off x="10314037" y="2848828"/>
            <a:ext cx="1329018" cy="762741"/>
          </a:xfrm>
          <a:prstGeom prst="rect">
            <a:avLst/>
          </a:prstGeom>
          <a:noFill/>
        </p:spPr>
        <p:txBody>
          <a:bodyPr wrap="square" anchor="ctr" lIns="0" rIns="0" tIns="0" bIns="0">
            <a:spAutoFit/>
          </a:bodyPr>
          <a:lstStyle/>
          <a:p>
            <a:pPr algn="l"/>
            <a:r>
              <a:rPr sz="1100" b="0">
                <a:solidFill>
                  <a:schemeClr val="accent5"/>
                </a:solidFill>
              </a:rPr>
              <a:t>every instance: N discharged</a:t>
            </a:r>
          </a:p>
        </p:txBody>
      </p:sp>
      <p:sp>
        <p:nvSpPr>
          <p:cNvPr id="4" name="Path 348"/>
          <p:cNvSpPr/>
          <p:nvPr/>
        </p:nvSpPr>
        <p:spPr>
          <a:xfrm>
            <a:off x="3380027" y="3519116"/>
            <a:ext cx="6240609" cy="1248122"/>
          </a:xfrm>
          <a:custGeom>
            <a:avLst/>
            <a:gdLst/>
            <a:ahLst/>
            <a:cxnLst/>
            <a:rect l="l" t="t" r="r" b="b"/>
            <a:pathLst>
              <a:path w="6240609" h="1248122">
                <a:moveTo>
                  <a:pt x="6240609" y="0"/>
                </a:moveTo>
                <a:lnTo>
                  <a:pt x="6240609" y="1248122"/>
                </a:lnTo>
                <a:lnTo>
                  <a:pt x="0" y="1248122"/>
                </a:lnTo>
                <a:lnTo>
                  <a:pt x="0" y="0"/>
                </a:lnTo>
              </a:path>
            </a:pathLst>
          </a:custGeom>
          <a:noFill/>
          <a:ln w="22225">
            <a:solidFill>
              <a:schemeClr val="accent1"/>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3" name="Text 349"/>
          <p:cNvSpPr txBox="1"/>
          <p:nvPr/>
        </p:nvSpPr>
        <p:spPr>
          <a:xfrm>
            <a:off x="4015645" y="4790351"/>
            <a:ext cx="5084940" cy="277360"/>
          </a:xfrm>
          <a:prstGeom prst="rect">
            <a:avLst/>
          </a:prstGeom>
          <a:noFill/>
        </p:spPr>
        <p:txBody>
          <a:bodyPr wrap="square" anchor="ctr" lIns="0" rIns="0" tIns="0" bIns="0">
            <a:spAutoFit/>
          </a:bodyPr>
          <a:lstStyle/>
          <a:p>
            <a:pPr algn="ctr"/>
            <a:r>
              <a:rPr sz="1100" b="0">
                <a:solidFill>
                  <a:schemeClr val="accent5"/>
                </a:solidFill>
              </a:rPr>
              <a:t>gateway keeps its own sourceId, routes by connectionId</a:t>
            </a:r>
          </a:p>
        </p:txBody>
      </p:sp>
      <p:sp>
        <p:nvSpPr>
          <p:cNvPr id="9034" name="Card 350"/>
          <p:cNvSpPr/>
          <p:nvPr/>
        </p:nvSpPr>
        <p:spPr>
          <a:xfrm>
            <a:off x="548640" y="5212080"/>
            <a:ext cx="3511296"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300" b="1">
                <a:solidFill>
                  <a:schemeClr val="tx1"/>
                </a:solidFill>
              </a:rPr>
              <a:t>Replicated  </a:t>
            </a:r>
            <a:r>
              <a:rPr sz="1300" b="0">
                <a:solidFill>
                  <a:schemeClr val="tx1"/>
                </a:solidFill>
              </a:rPr>
              <a:t>Outstanding from sequenced request to sequenced reply, on every instance.</a:t>
            </a:r>
          </a:p>
        </p:txBody>
      </p:sp>
      <p:sp>
        <p:nvSpPr>
          <p:cNvPr id="9035" name="Card 351"/>
          <p:cNvSpPr/>
          <p:nvPr/>
        </p:nvSpPr>
        <p:spPr>
          <a:xfrm>
            <a:off x="4338828" y="5212080"/>
            <a:ext cx="3511296"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300" b="1">
                <a:solidFill>
                  <a:schemeClr val="tx1"/>
                </a:solidFill>
              </a:rPr>
              <a:t>Gate closes  </a:t>
            </a:r>
            <a:r>
              <a:rPr sz="1300" b="0">
                <a:solidFill>
                  <a:schemeClr val="tx1"/>
                </a:solidFill>
              </a:rPr>
              <a:t>On every LeadershipChanged, even for the same leader, and at a fence.</a:t>
            </a:r>
          </a:p>
        </p:txBody>
      </p:sp>
      <p:sp>
        <p:nvSpPr>
          <p:cNvPr id="9036" name="Card 352"/>
          <p:cNvSpPr/>
          <p:nvPr/>
        </p:nvSpPr>
        <p:spPr>
          <a:xfrm>
            <a:off x="8129016" y="5212080"/>
            <a:ext cx="3511296"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r>
              <a:rPr sz="1300" b="1">
                <a:solidFill>
                  <a:schemeClr val="tx1"/>
                </a:solidFill>
              </a:rPr>
              <a:t>At least once  </a:t>
            </a:r>
            <a:r>
              <a:rPr sz="1300" b="0">
                <a:solidFill>
                  <a:schemeClr val="tx1"/>
                </a:solidFill>
              </a:rPr>
              <a:t>Deterministic replies make duplicates identical; drop by key.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Confirmed ingress</a:t>
            </a:r>
          </a:p>
        </p:txBody>
      </p:sp>
      <p:sp>
        <p:nvSpPr>
          <p:cNvPr id="3" name="Text 353"/>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A failover can lose uncommitted ingress silently; the producer's own queue finds it</a:t>
            </a:r>
          </a:p>
        </p:txBody>
      </p:sp>
      <p:sp>
        <p:nvSpPr>
          <p:cNvPr id="9018" name="Slide number"/>
          <p:cNvSpPr txBox="1"/>
          <p:nvPr userDrawn="1"/>
        </p:nvSpPr>
        <p:spPr>
          <a:xfrm>
            <a:off x="10728655" y="6400800"/>
            <a:ext cx="914400" cy="274320"/>
          </a:xfrm>
          <a:prstGeom prst="rect">
            <a:avLst/>
          </a:prstGeom>
          <a:noFill/>
        </p:spPr>
        <p:txBody>
          <a:bodyPr wrap="none" lIns="0" tIns="0" rIns="0" bIns="0" anchor="ctr"/>
          <a:lstStyle/>
          <a:p>
            <a:pPr algn="r"/>
            <a:fld id="{1ffb6cf2-d78a-4b4c-8320-6b1b9e3dc2f8}" type="slidenum">
              <a:rPr lang="en-US" sz="1000" dirty="0">
                <a:solidFill>
                  <a:schemeClr val="accent5"/>
                </a:solidFill>
              </a:rPr>
              <a:t>18</a:t>
            </a:fld>
          </a:p>
        </p:txBody>
      </p:sp>
      <p:sp>
        <p:nvSpPr>
          <p:cNvPr id="9019" name="Text 354"/>
          <p:cNvSpPr txBox="1"/>
          <p:nvPr/>
        </p:nvSpPr>
        <p:spPr>
          <a:xfrm>
            <a:off x="548640" y="2011680"/>
            <a:ext cx="1645920" cy="548640"/>
          </a:xfrm>
          <a:prstGeom prst="rect">
            <a:avLst/>
          </a:prstGeom>
          <a:noFill/>
        </p:spPr>
        <p:txBody>
          <a:bodyPr wrap="square" anchor="ctr" lIns="0" rIns="0" tIns="0" bIns="0">
            <a:spAutoFit/>
          </a:bodyPr>
          <a:lstStyle/>
          <a:p>
            <a:pPr algn="l"/>
            <a:r>
              <a:rPr sz="1400" b="1">
                <a:solidFill>
                  <a:schemeClr val="tx1"/>
                </a:solidFill>
              </a:rPr>
              <a:t>Producer places</a:t>
            </a:r>
          </a:p>
        </p:txBody>
      </p:sp>
      <p:sp>
        <p:nvSpPr>
          <p:cNvPr id="9020" name="Text 355"/>
          <p:cNvSpPr txBox="1"/>
          <p:nvPr/>
        </p:nvSpPr>
        <p:spPr>
          <a:xfrm>
            <a:off x="548640" y="3291840"/>
            <a:ext cx="1645920" cy="548640"/>
          </a:xfrm>
          <a:prstGeom prst="rect">
            <a:avLst/>
          </a:prstGeom>
          <a:noFill/>
        </p:spPr>
        <p:txBody>
          <a:bodyPr wrap="square" anchor="ctr" lIns="0" rIns="0" tIns="0" bIns="0">
            <a:spAutoFit/>
          </a:bodyPr>
          <a:lstStyle/>
          <a:p>
            <a:pPr algn="l"/>
            <a:r>
              <a:rPr sz="1400" b="1">
                <a:solidFill>
                  <a:schemeClr val="tx1"/>
                </a:solidFill>
              </a:rPr>
              <a:t>Own queue shows</a:t>
            </a:r>
          </a:p>
        </p:txBody>
      </p:sp>
      <p:sp>
        <p:nvSpPr>
          <p:cNvPr id="9021" name="Box 356"/>
          <p:cNvSpPr/>
          <p:nvPr/>
        </p:nvSpPr>
        <p:spPr>
          <a:xfrm>
            <a:off x="2286000" y="2011680"/>
            <a:ext cx="685800" cy="5486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f1</a:t>
            </a:r>
          </a:p>
        </p:txBody>
      </p:sp>
      <p:sp>
        <p:nvSpPr>
          <p:cNvPr id="9022" name="Box 357"/>
          <p:cNvSpPr/>
          <p:nvPr/>
        </p:nvSpPr>
        <p:spPr>
          <a:xfrm>
            <a:off x="3044952" y="2011680"/>
            <a:ext cx="685800" cy="5486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f2</a:t>
            </a:r>
          </a:p>
        </p:txBody>
      </p:sp>
      <p:sp>
        <p:nvSpPr>
          <p:cNvPr id="9023" name="Box 358"/>
          <p:cNvSpPr/>
          <p:nvPr/>
        </p:nvSpPr>
        <p:spPr>
          <a:xfrm>
            <a:off x="3803904" y="2011680"/>
            <a:ext cx="685800" cy="5486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f3</a:t>
            </a:r>
          </a:p>
        </p:txBody>
      </p:sp>
      <p:sp>
        <p:nvSpPr>
          <p:cNvPr id="9024" name="Box 359"/>
          <p:cNvSpPr/>
          <p:nvPr/>
        </p:nvSpPr>
        <p:spPr>
          <a:xfrm>
            <a:off x="4562856" y="2011680"/>
            <a:ext cx="685800" cy="548640"/>
          </a:xfrm>
          <a:prstGeom prst="rect">
            <a:avLst/>
          </a:prstGeom>
          <a:noFill/>
          <a:ln w="15875">
            <a:solidFill>
              <a:schemeClr val="accent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accent2"/>
                </a:solidFill>
              </a:rPr>
              <a:t>f4</a:t>
            </a:r>
          </a:p>
        </p:txBody>
      </p:sp>
      <p:sp>
        <p:nvSpPr>
          <p:cNvPr id="9025" name="Box 360"/>
          <p:cNvSpPr/>
          <p:nvPr/>
        </p:nvSpPr>
        <p:spPr>
          <a:xfrm>
            <a:off x="5321808" y="2011680"/>
            <a:ext cx="685800" cy="548640"/>
          </a:xfrm>
          <a:prstGeom prst="rect">
            <a:avLst/>
          </a:prstGeom>
          <a:noFill/>
          <a:ln w="15875">
            <a:solidFill>
              <a:schemeClr val="accent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accent2"/>
                </a:solidFill>
              </a:rPr>
              <a:t>f5</a:t>
            </a:r>
          </a:p>
        </p:txBody>
      </p:sp>
      <p:sp>
        <p:nvSpPr>
          <p:cNvPr id="9026" name="Box 361"/>
          <p:cNvSpPr/>
          <p:nvPr/>
        </p:nvSpPr>
        <p:spPr>
          <a:xfrm>
            <a:off x="6080760" y="2011680"/>
            <a:ext cx="685800" cy="548640"/>
          </a:xfrm>
          <a:prstGeom prst="rect">
            <a:avLst/>
          </a:prstGeom>
          <a:noFill/>
          <a:ln w="15875">
            <a:solidFill>
              <a:schemeClr val="accent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accent2"/>
                </a:solidFill>
              </a:rPr>
              <a:t>f6</a:t>
            </a:r>
          </a:p>
        </p:txBody>
      </p:sp>
      <p:sp>
        <p:nvSpPr>
          <p:cNvPr id="9027" name="Box 362"/>
          <p:cNvSpPr/>
          <p:nvPr/>
        </p:nvSpPr>
        <p:spPr>
          <a:xfrm>
            <a:off x="2286000" y="3291840"/>
            <a:ext cx="685800" cy="5486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f1</a:t>
            </a:r>
          </a:p>
        </p:txBody>
      </p:sp>
      <p:sp>
        <p:nvSpPr>
          <p:cNvPr id="9028" name="Box 363"/>
          <p:cNvSpPr/>
          <p:nvPr/>
        </p:nvSpPr>
        <p:spPr>
          <a:xfrm>
            <a:off x="3044952" y="3291840"/>
            <a:ext cx="685800" cy="5486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f2</a:t>
            </a:r>
          </a:p>
        </p:txBody>
      </p:sp>
      <p:sp>
        <p:nvSpPr>
          <p:cNvPr id="9029" name="Box 364"/>
          <p:cNvSpPr/>
          <p:nvPr/>
        </p:nvSpPr>
        <p:spPr>
          <a:xfrm>
            <a:off x="3803904" y="3291840"/>
            <a:ext cx="685800" cy="5486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f3</a:t>
            </a:r>
          </a:p>
        </p:txBody>
      </p:sp>
      <p:sp>
        <p:nvSpPr>
          <p:cNvPr id="9030" name="Box 365"/>
          <p:cNvSpPr/>
          <p:nvPr/>
        </p:nvSpPr>
        <p:spPr>
          <a:xfrm>
            <a:off x="4562856" y="3291840"/>
            <a:ext cx="1993392" cy="54864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LeadershipChanged</a:t>
            </a:r>
          </a:p>
          <a:p>
            <a:pPr algn="ctr"/>
            <a:r>
              <a:rPr sz="1000" b="0">
                <a:solidFill>
                  <a:schemeClr val="accent5"/>
                </a:solidFill>
              </a:rPr>
              <a:t>term T+1</a:t>
            </a:r>
          </a:p>
        </p:txBody>
      </p:sp>
      <p:sp>
        <p:nvSpPr>
          <p:cNvPr id="9031" name="Box 366"/>
          <p:cNvSpPr/>
          <p:nvPr/>
        </p:nvSpPr>
        <p:spPr>
          <a:xfrm>
            <a:off x="7315200" y="2011680"/>
            <a:ext cx="685800" cy="54864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f4</a:t>
            </a:r>
          </a:p>
        </p:txBody>
      </p:sp>
      <p:sp>
        <p:nvSpPr>
          <p:cNvPr id="9032" name="Box 367"/>
          <p:cNvSpPr/>
          <p:nvPr/>
        </p:nvSpPr>
        <p:spPr>
          <a:xfrm>
            <a:off x="7315200" y="3291840"/>
            <a:ext cx="685800" cy="5486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f4</a:t>
            </a:r>
          </a:p>
        </p:txBody>
      </p:sp>
      <p:sp>
        <p:nvSpPr>
          <p:cNvPr id="9033" name="Box 368"/>
          <p:cNvSpPr/>
          <p:nvPr/>
        </p:nvSpPr>
        <p:spPr>
          <a:xfrm>
            <a:off x="8074152" y="2011680"/>
            <a:ext cx="685800" cy="54864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f5</a:t>
            </a:r>
          </a:p>
        </p:txBody>
      </p:sp>
      <p:sp>
        <p:nvSpPr>
          <p:cNvPr id="9034" name="Box 369"/>
          <p:cNvSpPr/>
          <p:nvPr/>
        </p:nvSpPr>
        <p:spPr>
          <a:xfrm>
            <a:off x="8074152" y="3291840"/>
            <a:ext cx="685800" cy="5486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f5</a:t>
            </a:r>
          </a:p>
        </p:txBody>
      </p:sp>
      <p:sp>
        <p:nvSpPr>
          <p:cNvPr id="9035" name="Box 370"/>
          <p:cNvSpPr/>
          <p:nvPr/>
        </p:nvSpPr>
        <p:spPr>
          <a:xfrm>
            <a:off x="8833104" y="2011680"/>
            <a:ext cx="685800" cy="54864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f6</a:t>
            </a:r>
          </a:p>
        </p:txBody>
      </p:sp>
      <p:sp>
        <p:nvSpPr>
          <p:cNvPr id="9036" name="Box 371"/>
          <p:cNvSpPr/>
          <p:nvPr/>
        </p:nvSpPr>
        <p:spPr>
          <a:xfrm>
            <a:off x="8833104" y="3291840"/>
            <a:ext cx="685800" cy="5486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f6</a:t>
            </a:r>
          </a:p>
        </p:txBody>
      </p:sp>
      <p:sp>
        <p:nvSpPr>
          <p:cNvPr id="9037" name="Box 372"/>
          <p:cNvSpPr/>
          <p:nvPr/>
        </p:nvSpPr>
        <p:spPr>
          <a:xfrm>
            <a:off x="9592056" y="2011680"/>
            <a:ext cx="685800" cy="5486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f7</a:t>
            </a:r>
          </a:p>
        </p:txBody>
      </p:sp>
      <p:sp>
        <p:nvSpPr>
          <p:cNvPr id="9038" name="Box 373"/>
          <p:cNvSpPr/>
          <p:nvPr/>
        </p:nvSpPr>
        <p:spPr>
          <a:xfrm>
            <a:off x="9592056" y="3291840"/>
            <a:ext cx="685800" cy="5486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f7</a:t>
            </a:r>
          </a:p>
        </p:txBody>
      </p:sp>
      <p:sp>
        <p:nvSpPr>
          <p:cNvPr id="4" name="Path 374"/>
          <p:cNvSpPr/>
          <p:nvPr/>
        </p:nvSpPr>
        <p:spPr>
          <a:xfrm>
            <a:off x="4562856" y="2670048"/>
            <a:ext cx="2203704" cy="91440"/>
          </a:xfrm>
          <a:custGeom>
            <a:avLst/>
            <a:gdLst/>
            <a:ahLst/>
            <a:cxnLst/>
            <a:rect l="l" t="t" r="r" b="b"/>
            <a:pathLst>
              <a:path w="2203704" h="91440">
                <a:moveTo>
                  <a:pt x="0" y="0"/>
                </a:moveTo>
                <a:lnTo>
                  <a:pt x="0" y="91440"/>
                </a:lnTo>
                <a:lnTo>
                  <a:pt x="2203704" y="91440"/>
                </a:lnTo>
                <a:lnTo>
                  <a:pt x="2203704" y="0"/>
                </a:lnTo>
              </a:path>
            </a:pathLst>
          </a:custGeom>
          <a:noFill/>
          <a:ln w="222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9" name="Text 375"/>
          <p:cNvSpPr txBox="1"/>
          <p:nvPr/>
        </p:nvSpPr>
        <p:spPr>
          <a:xfrm>
            <a:off x="4562856" y="2788920"/>
            <a:ext cx="2377440" cy="320040"/>
          </a:xfrm>
          <a:prstGeom prst="rect">
            <a:avLst/>
          </a:prstGeom>
          <a:noFill/>
        </p:spPr>
        <p:txBody>
          <a:bodyPr wrap="square" anchor="t" lIns="0" rIns="0" tIns="0" bIns="0">
            <a:spAutoFit/>
          </a:bodyPr>
          <a:lstStyle/>
          <a:p>
            <a:pPr algn="l"/>
            <a:r>
              <a:rPr sz="1100" b="0">
                <a:solidFill>
                  <a:schemeClr val="accent2"/>
                </a:solidFill>
              </a:rPr>
              <a:t>lost with the old leader</a:t>
            </a:r>
          </a:p>
        </p:txBody>
      </p:sp>
      <p:sp>
        <p:nvSpPr>
          <p:cNvPr id="9040" name="Text 376"/>
          <p:cNvSpPr txBox="1"/>
          <p:nvPr/>
        </p:nvSpPr>
        <p:spPr>
          <a:xfrm>
            <a:off x="7315200" y="1600200"/>
            <a:ext cx="4114800" cy="365760"/>
          </a:xfrm>
          <a:prstGeom prst="rect">
            <a:avLst/>
          </a:prstGeom>
          <a:noFill/>
        </p:spPr>
        <p:txBody>
          <a:bodyPr wrap="square" anchor="t" lIns="0" rIns="0" tIns="0" bIns="0">
            <a:spAutoFit/>
          </a:bodyPr>
          <a:lstStyle/>
          <a:p>
            <a:pPr algn="l"/>
            <a:r>
              <a:rPr sz="1200" b="1">
                <a:solidFill>
                  <a:schemeClr val="accent2"/>
                </a:solidFill>
              </a:rPr>
              <a:t>resent oldest first, then new work</a:t>
            </a:r>
          </a:p>
        </p:txBody>
      </p:sp>
      <p:sp>
        <p:nvSpPr>
          <p:cNvPr id="9041" name="Text 377"/>
          <p:cNvSpPr txBox="1"/>
          <p:nvPr/>
        </p:nvSpPr>
        <p:spPr>
          <a:xfrm>
            <a:off x="6784848" y="2011680"/>
            <a:ext cx="502920" cy="548640"/>
          </a:xfrm>
          <a:prstGeom prst="rect">
            <a:avLst/>
          </a:prstGeom>
          <a:noFill/>
        </p:spPr>
        <p:txBody>
          <a:bodyPr wrap="square" anchor="ctr" lIns="0" rIns="0" tIns="0" bIns="0">
            <a:spAutoFit/>
          </a:bodyPr>
          <a:lstStyle/>
          <a:p>
            <a:pPr algn="ctr"/>
            <a:r>
              <a:rPr sz="1200" b="0">
                <a:solidFill>
                  <a:schemeClr val="accent5"/>
                </a:solidFill>
              </a:rPr>
              <a:t>hold</a:t>
            </a:r>
          </a:p>
        </p:txBody>
      </p:sp>
      <p:sp>
        <p:nvSpPr>
          <p:cNvPr id="9042" name="Card 378"/>
          <p:cNvSpPr/>
          <p:nvPr/>
        </p:nvSpPr>
        <p:spPr>
          <a:xfrm>
            <a:off x="548640" y="4343400"/>
            <a:ext cx="3511296"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500" b="1">
                <a:solidFill>
                  <a:schemeClr val="tx1"/>
                </a:solidFill>
              </a:rPr>
              <a:t>Placed is not sequenced</a:t>
            </a:r>
          </a:p>
          <a:p>
            <a:pPr algn="l"/>
            <a:r>
              <a:rPr sz="1400" b="0">
                <a:solidFill>
                  <a:schemeClr val="tx1"/>
                </a:solidFill>
              </a:rPr>
              <a:t>Each frame is held until the producer's own queue shows it.</a:t>
            </a:r>
          </a:p>
        </p:txBody>
      </p:sp>
      <p:sp>
        <p:nvSpPr>
          <p:cNvPr id="9043" name="Card 379"/>
          <p:cNvSpPr/>
          <p:nvPr/>
        </p:nvSpPr>
        <p:spPr>
          <a:xfrm>
            <a:off x="4338828" y="4343400"/>
            <a:ext cx="3511296"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500" b="1">
                <a:solidFill>
                  <a:schemeClr val="tx1"/>
                </a:solidFill>
              </a:rPr>
              <a:t>A term change names the losses</a:t>
            </a:r>
          </a:p>
          <a:p>
            <a:pPr algn="l"/>
            <a:r>
              <a:rPr sz="1400" b="0">
                <a:solidFill>
                  <a:schemeClr val="tx1"/>
                </a:solidFill>
              </a:rPr>
              <a:t>The newest frames of the old term not yet seen.</a:t>
            </a:r>
          </a:p>
        </p:txBody>
      </p:sp>
      <p:sp>
        <p:nvSpPr>
          <p:cNvPr id="9044" name="Card 380"/>
          <p:cNvSpPr/>
          <p:nvPr/>
        </p:nvSpPr>
        <p:spPr>
          <a:xfrm>
            <a:off x="8129016" y="4343400"/>
            <a:ext cx="3511296"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500" b="1">
                <a:solidFill>
                  <a:schemeClr val="accent2"/>
                </a:solidFill>
              </a:rPr>
              <a:t>Limit</a:t>
            </a:r>
          </a:p>
          <a:p>
            <a:pPr algn="l"/>
            <a:r>
              <a:rPr sz="1400" b="0">
                <a:solidFill>
                  <a:schemeClr val="tx1"/>
                </a:solidFill>
              </a:rPr>
              <a:t>In memory: a restarted producer or promoted standby starts empty; a replaced session drops what was pending.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Application snapshots</a:t>
            </a:r>
          </a:p>
        </p:txBody>
      </p:sp>
      <p:sp>
        <p:nvSpPr>
          <p:cNvPr id="3" name="Text 381"/>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Local files the log confirms; the cluster itself takes none</a:t>
            </a:r>
          </a:p>
        </p:txBody>
      </p:sp>
      <p:sp>
        <p:nvSpPr>
          <p:cNvPr id="9019" name="Slide number"/>
          <p:cNvSpPr txBox="1"/>
          <p:nvPr userDrawn="1"/>
        </p:nvSpPr>
        <p:spPr>
          <a:xfrm>
            <a:off x="10728655" y="6400800"/>
            <a:ext cx="914400" cy="274320"/>
          </a:xfrm>
          <a:prstGeom prst="rect">
            <a:avLst/>
          </a:prstGeom>
          <a:noFill/>
        </p:spPr>
        <p:txBody>
          <a:bodyPr wrap="none" lIns="0" tIns="0" rIns="0" bIns="0" anchor="ctr"/>
          <a:lstStyle/>
          <a:p>
            <a:pPr algn="r"/>
            <a:fld id="{19162276-0375-45a2-b043-cf936b58d6b5}" type="slidenum">
              <a:rPr lang="en-US" sz="1000" dirty="0">
                <a:solidFill>
                  <a:schemeClr val="accent5"/>
                </a:solidFill>
              </a:rPr>
              <a:t>19</a:t>
            </a:fld>
          </a:p>
        </p:txBody>
      </p:sp>
      <p:sp>
        <p:nvSpPr>
          <p:cNvPr id="9020" name="Step 382"/>
          <p:cNvSpPr/>
          <p:nvPr/>
        </p:nvSpPr>
        <p:spPr>
          <a:xfrm>
            <a:off x="548640" y="1828800"/>
            <a:ext cx="1962851" cy="265176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1" name="Number 383"/>
          <p:cNvSpPr/>
          <p:nvPr/>
        </p:nvSpPr>
        <p:spPr>
          <a:xfrm>
            <a:off x="731520" y="2011680"/>
            <a:ext cx="411480" cy="4114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1</a:t>
            </a:r>
          </a:p>
        </p:txBody>
      </p:sp>
      <p:sp>
        <p:nvSpPr>
          <p:cNvPr id="9022" name="Text 384"/>
          <p:cNvSpPr txBox="1"/>
          <p:nvPr/>
        </p:nvSpPr>
        <p:spPr>
          <a:xfrm>
            <a:off x="731520" y="2560320"/>
            <a:ext cx="1597091" cy="411480"/>
          </a:xfrm>
          <a:prstGeom prst="rect">
            <a:avLst/>
          </a:prstGeom>
          <a:noFill/>
        </p:spPr>
        <p:txBody>
          <a:bodyPr wrap="square" anchor="t" lIns="0" rIns="0" tIns="0" bIns="0">
            <a:spAutoFit/>
          </a:bodyPr>
          <a:lstStyle/>
          <a:p>
            <a:pPr algn="l"/>
            <a:r>
              <a:rPr sz="1800" b="1" cap="none">
                <a:solidFill>
                  <a:schemeClr val="tx1"/>
                </a:solidFill>
                <a:latin typeface="+mj-lt"/>
              </a:rPr>
              <a:t>Begin</a:t>
            </a:r>
          </a:p>
        </p:txBody>
      </p:sp>
      <p:sp>
        <p:nvSpPr>
          <p:cNvPr id="9023" name="Text 385"/>
          <p:cNvSpPr txBox="1"/>
          <p:nvPr/>
        </p:nvSpPr>
        <p:spPr>
          <a:xfrm>
            <a:off x="731520" y="3017520"/>
            <a:ext cx="1597091" cy="1371600"/>
          </a:xfrm>
          <a:prstGeom prst="rect">
            <a:avLst/>
          </a:prstGeom>
          <a:noFill/>
        </p:spPr>
        <p:txBody>
          <a:bodyPr wrap="square" anchor="t" lIns="0" rIns="0" tIns="0" bIns="0">
            <a:spAutoFit/>
          </a:bodyPr>
          <a:lstStyle/>
          <a:p>
            <a:pPr algn="l"/>
            <a:r>
              <a:rPr sz="1400" b="0">
                <a:solidFill>
                  <a:schemeClr val="tx1"/>
                </a:solidFill>
              </a:rPr>
              <a:t>Sequencer sequences SnapshotStarted</a:t>
            </a:r>
          </a:p>
        </p:txBody>
      </p:sp>
      <p:cxnSp>
        <p:nvCxnSpPr>
          <p:cNvPr id="9024" name="Arrow 386"/>
          <p:cNvCxnSpPr/>
          <p:nvPr/>
        </p:nvCxnSpPr>
        <p:spPr>
          <a:xfrm>
            <a:off x="2511491" y="3154680"/>
            <a:ext cx="32004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5" name="Step 387"/>
          <p:cNvSpPr/>
          <p:nvPr/>
        </p:nvSpPr>
        <p:spPr>
          <a:xfrm>
            <a:off x="2831531" y="1828800"/>
            <a:ext cx="1962851"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6" name="Number 388"/>
          <p:cNvSpPr/>
          <p:nvPr/>
        </p:nvSpPr>
        <p:spPr>
          <a:xfrm>
            <a:off x="3014411" y="20116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2</a:t>
            </a:r>
          </a:p>
        </p:txBody>
      </p:sp>
      <p:sp>
        <p:nvSpPr>
          <p:cNvPr id="9027" name="Text 389"/>
          <p:cNvSpPr txBox="1"/>
          <p:nvPr/>
        </p:nvSpPr>
        <p:spPr>
          <a:xfrm>
            <a:off x="3014411" y="2560320"/>
            <a:ext cx="1597091" cy="411480"/>
          </a:xfrm>
          <a:prstGeom prst="rect">
            <a:avLst/>
          </a:prstGeom>
          <a:noFill/>
        </p:spPr>
        <p:txBody>
          <a:bodyPr wrap="square" anchor="t" lIns="0" rIns="0" tIns="0" bIns="0">
            <a:spAutoFit/>
          </a:bodyPr>
          <a:lstStyle/>
          <a:p>
            <a:pPr algn="l"/>
            <a:r>
              <a:rPr sz="1800" b="1" cap="none">
                <a:solidFill>
                  <a:schemeClr val="tx1"/>
                </a:solidFill>
                <a:latin typeface="+mj-lt"/>
              </a:rPr>
              <a:t>Serialize</a:t>
            </a:r>
          </a:p>
        </p:txBody>
      </p:sp>
      <p:sp>
        <p:nvSpPr>
          <p:cNvPr id="9028" name="Text 390"/>
          <p:cNvSpPr txBox="1"/>
          <p:nvPr/>
        </p:nvSpPr>
        <p:spPr>
          <a:xfrm>
            <a:off x="3014411" y="3017520"/>
            <a:ext cx="1597091" cy="1371600"/>
          </a:xfrm>
          <a:prstGeom prst="rect">
            <a:avLst/>
          </a:prstGeom>
          <a:noFill/>
        </p:spPr>
        <p:txBody>
          <a:bodyPr wrap="square" anchor="t" lIns="0" rIns="0" tIns="0" bIns="0">
            <a:spAutoFit/>
          </a:bodyPr>
          <a:lstStyle/>
          <a:p>
            <a:pPr algn="l"/>
            <a:r>
              <a:rPr sz="1400" b="0">
                <a:solidFill>
                  <a:schemeClr val="tx1"/>
                </a:solidFill>
              </a:rPr>
              <a:t>Every instance writes its own local file</a:t>
            </a:r>
          </a:p>
        </p:txBody>
      </p:sp>
      <p:cxnSp>
        <p:nvCxnSpPr>
          <p:cNvPr id="9029" name="Arrow 391"/>
          <p:cNvCxnSpPr/>
          <p:nvPr/>
        </p:nvCxnSpPr>
        <p:spPr>
          <a:xfrm>
            <a:off x="4794382" y="3154680"/>
            <a:ext cx="32004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30" name="Step 392"/>
          <p:cNvSpPr/>
          <p:nvPr/>
        </p:nvSpPr>
        <p:spPr>
          <a:xfrm>
            <a:off x="5114422" y="1828800"/>
            <a:ext cx="1962851"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1" name="Number 393"/>
          <p:cNvSpPr/>
          <p:nvPr/>
        </p:nvSpPr>
        <p:spPr>
          <a:xfrm>
            <a:off x="5297302" y="20116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3</a:t>
            </a:r>
          </a:p>
        </p:txBody>
      </p:sp>
      <p:sp>
        <p:nvSpPr>
          <p:cNvPr id="9032" name="Text 394"/>
          <p:cNvSpPr txBox="1"/>
          <p:nvPr/>
        </p:nvSpPr>
        <p:spPr>
          <a:xfrm>
            <a:off x="5297302" y="2560320"/>
            <a:ext cx="1597091" cy="411480"/>
          </a:xfrm>
          <a:prstGeom prst="rect">
            <a:avLst/>
          </a:prstGeom>
          <a:noFill/>
        </p:spPr>
        <p:txBody>
          <a:bodyPr wrap="square" anchor="t" lIns="0" rIns="0" tIns="0" bIns="0">
            <a:spAutoFit/>
          </a:bodyPr>
          <a:lstStyle/>
          <a:p>
            <a:pPr algn="l"/>
            <a:r>
              <a:rPr sz="1800" b="1" cap="none">
                <a:solidFill>
                  <a:schemeClr val="tx1"/>
                </a:solidFill>
                <a:latin typeface="+mj-lt"/>
              </a:rPr>
              <a:t>End</a:t>
            </a:r>
          </a:p>
        </p:txBody>
      </p:sp>
      <p:sp>
        <p:nvSpPr>
          <p:cNvPr id="9033" name="Text 395"/>
          <p:cNvSpPr txBox="1"/>
          <p:nvPr/>
        </p:nvSpPr>
        <p:spPr>
          <a:xfrm>
            <a:off x="5297302" y="3017520"/>
            <a:ext cx="1597091" cy="1371600"/>
          </a:xfrm>
          <a:prstGeom prst="rect">
            <a:avLst/>
          </a:prstGeom>
          <a:noFill/>
        </p:spPr>
        <p:txBody>
          <a:bodyPr wrap="square" anchor="t" lIns="0" rIns="0" tIns="0" bIns="0">
            <a:spAutoFit/>
          </a:bodyPr>
          <a:lstStyle/>
          <a:p>
            <a:pPr algn="l"/>
            <a:r>
              <a:rPr sz="1400" b="0">
                <a:solidFill>
                  <a:schemeClr val="tx1"/>
                </a:solidFill>
              </a:rPr>
              <a:t>The publishing instance submits SnapshotEnd: count, length, CRC32C</a:t>
            </a:r>
          </a:p>
        </p:txBody>
      </p:sp>
      <p:cxnSp>
        <p:nvCxnSpPr>
          <p:cNvPr id="9034" name="Arrow 396"/>
          <p:cNvCxnSpPr/>
          <p:nvPr/>
        </p:nvCxnSpPr>
        <p:spPr>
          <a:xfrm>
            <a:off x="7077273" y="3154680"/>
            <a:ext cx="32004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35" name="Step 397"/>
          <p:cNvSpPr/>
          <p:nvPr/>
        </p:nvSpPr>
        <p:spPr>
          <a:xfrm>
            <a:off x="7397313" y="1828800"/>
            <a:ext cx="1962851"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6" name="Number 398"/>
          <p:cNvSpPr/>
          <p:nvPr/>
        </p:nvSpPr>
        <p:spPr>
          <a:xfrm>
            <a:off x="7580193" y="20116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4</a:t>
            </a:r>
          </a:p>
        </p:txBody>
      </p:sp>
      <p:sp>
        <p:nvSpPr>
          <p:cNvPr id="9037" name="Text 399"/>
          <p:cNvSpPr txBox="1"/>
          <p:nvPr/>
        </p:nvSpPr>
        <p:spPr>
          <a:xfrm>
            <a:off x="7580193" y="2560320"/>
            <a:ext cx="1597091" cy="411480"/>
          </a:xfrm>
          <a:prstGeom prst="rect">
            <a:avLst/>
          </a:prstGeom>
          <a:noFill/>
        </p:spPr>
        <p:txBody>
          <a:bodyPr wrap="square" anchor="t" lIns="0" rIns="0" tIns="0" bIns="0">
            <a:spAutoFit/>
          </a:bodyPr>
          <a:lstStyle/>
          <a:p>
            <a:pPr algn="l"/>
            <a:r>
              <a:rPr sz="1800" b="1" cap="none">
                <a:solidFill>
                  <a:schemeClr val="tx1"/>
                </a:solidFill>
                <a:latin typeface="+mj-lt"/>
              </a:rPr>
              <a:t>Compare</a:t>
            </a:r>
          </a:p>
        </p:txBody>
      </p:sp>
      <p:sp>
        <p:nvSpPr>
          <p:cNvPr id="9038" name="Text 400"/>
          <p:cNvSpPr txBox="1"/>
          <p:nvPr/>
        </p:nvSpPr>
        <p:spPr>
          <a:xfrm>
            <a:off x="7580193" y="3017520"/>
            <a:ext cx="1597091" cy="1371600"/>
          </a:xfrm>
          <a:prstGeom prst="rect">
            <a:avLst/>
          </a:prstGeom>
          <a:noFill/>
        </p:spPr>
        <p:txBody>
          <a:bodyPr wrap="square" anchor="t" lIns="0" rIns="0" tIns="0" bIns="0">
            <a:spAutoFit/>
          </a:bodyPr>
          <a:lstStyle/>
          <a:p>
            <a:pPr algn="l"/>
            <a:r>
              <a:rPr sz="1400" b="0">
                <a:solidFill>
                  <a:schemeClr val="tx1"/>
                </a:solidFill>
              </a:rPr>
              <a:t>Every instance checks its file: a match confirms it, a difference fences</a:t>
            </a:r>
          </a:p>
        </p:txBody>
      </p:sp>
      <p:cxnSp>
        <p:nvCxnSpPr>
          <p:cNvPr id="9039" name="Arrow 401"/>
          <p:cNvCxnSpPr/>
          <p:nvPr/>
        </p:nvCxnSpPr>
        <p:spPr>
          <a:xfrm>
            <a:off x="9360164" y="3154680"/>
            <a:ext cx="32004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40" name="Step 402"/>
          <p:cNvSpPr/>
          <p:nvPr/>
        </p:nvSpPr>
        <p:spPr>
          <a:xfrm>
            <a:off x="9680204" y="1828800"/>
            <a:ext cx="1962851"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1" name="Number 403"/>
          <p:cNvSpPr/>
          <p:nvPr/>
        </p:nvSpPr>
        <p:spPr>
          <a:xfrm>
            <a:off x="9863084" y="201168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5</a:t>
            </a:r>
          </a:p>
        </p:txBody>
      </p:sp>
      <p:sp>
        <p:nvSpPr>
          <p:cNvPr id="9042" name="Text 404"/>
          <p:cNvSpPr txBox="1"/>
          <p:nvPr/>
        </p:nvSpPr>
        <p:spPr>
          <a:xfrm>
            <a:off x="9863084" y="2560320"/>
            <a:ext cx="1597091" cy="411480"/>
          </a:xfrm>
          <a:prstGeom prst="rect">
            <a:avLst/>
          </a:prstGeom>
          <a:noFill/>
        </p:spPr>
        <p:txBody>
          <a:bodyPr wrap="square" anchor="t" lIns="0" rIns="0" tIns="0" bIns="0">
            <a:spAutoFit/>
          </a:bodyPr>
          <a:lstStyle/>
          <a:p>
            <a:pPr algn="l"/>
            <a:r>
              <a:rPr sz="1800" b="1" cap="none">
                <a:solidFill>
                  <a:schemeClr val="tx1"/>
                </a:solidFill>
                <a:latin typeface="+mj-lt"/>
              </a:rPr>
              <a:t>Restore</a:t>
            </a:r>
          </a:p>
        </p:txBody>
      </p:sp>
      <p:sp>
        <p:nvSpPr>
          <p:cNvPr id="9043" name="Text 405"/>
          <p:cNvSpPr txBox="1"/>
          <p:nvPr/>
        </p:nvSpPr>
        <p:spPr>
          <a:xfrm>
            <a:off x="9863084" y="3017520"/>
            <a:ext cx="1597091" cy="1371600"/>
          </a:xfrm>
          <a:prstGeom prst="rect">
            <a:avLst/>
          </a:prstGeom>
          <a:noFill/>
        </p:spPr>
        <p:txBody>
          <a:bodyPr wrap="square" anchor="t" lIns="0" rIns="0" tIns="0" bIns="0">
            <a:spAutoFit/>
          </a:bodyPr>
          <a:lstStyle/>
          <a:p>
            <a:pPr algn="l"/>
            <a:r>
              <a:rPr sz="1400" b="0">
                <a:solidFill>
                  <a:schemeClr val="tx1"/>
                </a:solidFill>
              </a:rPr>
              <a:t>Newest confirmed file, then only what follows the cut</a:t>
            </a:r>
          </a:p>
        </p:txBody>
      </p:sp>
      <p:sp>
        <p:nvSpPr>
          <p:cNvPr id="9044" name="Card 406"/>
          <p:cNvSpPr/>
          <p:nvPr/>
        </p:nvSpPr>
        <p:spPr>
          <a:xfrm>
            <a:off x="548640" y="4846320"/>
            <a:ext cx="11094415"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r>
              <a:rPr sz="1600" b="0">
                <a:solidFill>
                  <a:schemeClr val="tx1"/>
                </a:solidFill>
              </a:rPr>
              <a:t>Application snapshots bound a client's restart to the messages since the last one and are the intended boundary for application version upgrades.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Failure model</a:t>
            </a:r>
          </a:p>
        </p:txBody>
      </p:sp>
      <p:sp>
        <p:nvSpPr>
          <p:cNvPr id="3" name="Text 407"/>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Each failure and its recovery</a:t>
            </a:r>
          </a:p>
        </p:txBody>
      </p:sp>
      <p:sp>
        <p:nvSpPr>
          <p:cNvPr id="9020" name="Slide number"/>
          <p:cNvSpPr txBox="1"/>
          <p:nvPr userDrawn="1"/>
        </p:nvSpPr>
        <p:spPr>
          <a:xfrm>
            <a:off x="10728655" y="6400800"/>
            <a:ext cx="914400" cy="274320"/>
          </a:xfrm>
          <a:prstGeom prst="rect">
            <a:avLst/>
          </a:prstGeom>
          <a:noFill/>
        </p:spPr>
        <p:txBody>
          <a:bodyPr wrap="none" lIns="0" tIns="0" rIns="0" bIns="0" anchor="ctr"/>
          <a:lstStyle/>
          <a:p>
            <a:pPr algn="r"/>
            <a:fld id="{702385c5-704b-426a-8394-0691a1456e1c}" type="slidenum">
              <a:rPr lang="en-US" sz="1000" dirty="0">
                <a:solidFill>
                  <a:schemeClr val="accent5"/>
                </a:solidFill>
              </a:rPr>
              <a:t>20</a:t>
            </a:fld>
          </a:p>
        </p:txBody>
      </p:sp>
      <p:graphicFrame>
        <p:nvGraphicFramePr>
          <p:cNvPr id="9021" name="Table 408"/>
          <p:cNvGraphicFramePr>
            <a:graphicFrameLocks noGrp="1"/>
          </p:cNvGraphicFramePr>
          <p:nvPr/>
        </p:nvGraphicFramePr>
        <p:xfrm>
          <a:off x="548640" y="1645920"/>
          <a:ext cx="11091672" cy="4498848"/>
        </p:xfrm>
        <a:graphic>
          <a:graphicData uri="http://schemas.openxmlformats.org/drawingml/2006/table">
            <a:tbl>
              <a:tblPr firstRow="1">
                <a:tableStyleId>{5C22544A-7EE6-4342-B048-85BDC9FD1C3A}</a:tableStyleId>
              </a:tblPr>
              <a:tblGrid>
                <a:gridCol w="2514600"/>
                <a:gridCol w="2697480"/>
                <a:gridCol w="2450592"/>
                <a:gridCol w="3429000"/>
              </a:tblGrid>
              <a:tr h="374904">
                <a:tc>
                  <a:txBody>
                    <a:bodyPr/>
                    <a:lstStyle/>
                    <a:p>
                      <a:pPr algn="l"/>
                      <a:r>
                        <a:rPr sz="1200" b="1">
                          <a:solidFill>
                            <a:schemeClr val="bg1"/>
                          </a:solidFill>
                        </a:rPr>
                        <a:t>Failure</a:t>
                      </a:r>
                    </a:p>
                  </a:txBody>
                  <a:tcPr marL="91440" marR="91440" marT="45720" marB="45720" anchor="ctr">
                    <a:solidFill>
                      <a:schemeClr val="accent1"/>
                    </a:solidFill>
                  </a:tcPr>
                </a:tc>
                <a:tc>
                  <a:txBody>
                    <a:bodyPr/>
                    <a:lstStyle/>
                    <a:p>
                      <a:pPr algn="l"/>
                      <a:r>
                        <a:rPr sz="1200" b="1">
                          <a:solidFill>
                            <a:schemeClr val="bg1"/>
                          </a:solidFill>
                        </a:rPr>
                        <a:t>What happens</a:t>
                      </a:r>
                    </a:p>
                  </a:txBody>
                  <a:tcPr marL="91440" marR="91440" marT="45720" marB="45720" anchor="ctr">
                    <a:solidFill>
                      <a:schemeClr val="accent1"/>
                    </a:solidFill>
                  </a:tcPr>
                </a:tc>
                <a:tc>
                  <a:txBody>
                    <a:bodyPr/>
                    <a:lstStyle/>
                    <a:p>
                      <a:pPr algn="l"/>
                      <a:r>
                        <a:rPr sz="1200" b="1">
                          <a:solidFill>
                            <a:schemeClr val="bg1"/>
                          </a:solidFill>
                        </a:rPr>
                        <a:t>Detected in (defaults)</a:t>
                      </a:r>
                    </a:p>
                  </a:txBody>
                  <a:tcPr marL="91440" marR="91440" marT="45720" marB="45720" anchor="ctr">
                    <a:solidFill>
                      <a:schemeClr val="accent1"/>
                    </a:solidFill>
                  </a:tcPr>
                </a:tc>
                <a:tc>
                  <a:txBody>
                    <a:bodyPr/>
                    <a:lstStyle/>
                    <a:p>
                      <a:pPr algn="l"/>
                      <a:r>
                        <a:rPr sz="1200" b="1">
                          <a:solidFill>
                            <a:schemeClr val="bg1"/>
                          </a:solidFill>
                        </a:rPr>
                        <a:t>Recovery</a:t>
                      </a:r>
                    </a:p>
                  </a:txBody>
                  <a:tcPr marL="91440" marR="91440" marT="45720" marB="45720" anchor="ctr">
                    <a:solidFill>
                      <a:schemeClr val="accent1"/>
                    </a:solidFill>
                  </a:tcPr>
                </a:tc>
              </a:tr>
              <a:tr h="374904">
                <a:tc>
                  <a:txBody>
                    <a:bodyPr/>
                    <a:lstStyle/>
                    <a:p>
                      <a:pPr algn="l"/>
                      <a:r>
                        <a:rPr sz="1300" b="1">
                          <a:solidFill>
                            <a:schemeClr val="tx1"/>
                          </a:solidFill>
                        </a:rPr>
                        <a:t>Leader lost</a:t>
                      </a:r>
                    </a:p>
                  </a:txBody>
                  <a:tcPr marL="91440" marR="91440" marT="45720" marB="45720" anchor="ctr">
                    <a:solidFill>
                      <a:schemeClr val="bg1"/>
                    </a:solidFill>
                  </a:tcPr>
                </a:tc>
                <a:tc>
                  <a:txBody>
                    <a:bodyPr/>
                    <a:lstStyle/>
                    <a:p>
                      <a:pPr algn="l"/>
                      <a:r>
                        <a:rPr sz="1300" b="0">
                          <a:solidFill>
                            <a:schemeClr val="tx1"/>
                          </a:solidFill>
                        </a:rPr>
                        <a:t>Election; LeadershipChanged</a:t>
                      </a:r>
                    </a:p>
                  </a:txBody>
                  <a:tcPr marL="91440" marR="91440" marT="45720" marB="45720" anchor="ctr">
                    <a:solidFill>
                      <a:schemeClr val="bg1"/>
                    </a:solidFill>
                  </a:tcPr>
                </a:tc>
                <a:tc>
                  <a:txBody>
                    <a:bodyPr/>
                    <a:lstStyle/>
                    <a:p>
                      <a:pPr algn="l"/>
                      <a:r>
                        <a:rPr sz="1300" b="0">
                          <a:solidFill>
                            <a:schemeClr val="tx1"/>
                          </a:solidFill>
                        </a:rPr>
                        <a:t>200 ms heartbeat timeout</a:t>
                      </a:r>
                    </a:p>
                  </a:txBody>
                  <a:tcPr marL="91440" marR="91440" marT="45720" marB="45720" anchor="ctr">
                    <a:solidFill>
                      <a:schemeClr val="bg1"/>
                    </a:solidFill>
                  </a:tcPr>
                </a:tc>
                <a:tc>
                  <a:txBody>
                    <a:bodyPr/>
                    <a:lstStyle/>
                    <a:p>
                      <a:pPr algn="l"/>
                      <a:r>
                        <a:rPr sz="1300" b="0">
                          <a:solidFill>
                            <a:schemeClr val="tx1"/>
                          </a:solidFill>
                        </a:rPr>
                        <a:t>Next globalSeqNo; producers resend</a:t>
                      </a:r>
                    </a:p>
                  </a:txBody>
                  <a:tcPr marL="91440" marR="91440" marT="45720" marB="45720" anchor="ctr">
                    <a:solidFill>
                      <a:schemeClr val="bg1"/>
                    </a:solidFill>
                  </a:tcPr>
                </a:tc>
              </a:tr>
              <a:tr h="374904">
                <a:tc>
                  <a:txBody>
                    <a:bodyPr/>
                    <a:lstStyle/>
                    <a:p>
                      <a:pPr algn="l"/>
                      <a:r>
                        <a:rPr sz="1300" b="1">
                          <a:solidFill>
                            <a:schemeClr val="tx1"/>
                          </a:solidFill>
                        </a:rPr>
                        <a:t>Member lost</a:t>
                      </a:r>
                    </a:p>
                  </a:txBody>
                  <a:tcPr marL="91440" marR="91440" marT="45720" marB="45720" anchor="ctr">
                    <a:solidFill>
                      <a:schemeClr val="bg2"/>
                    </a:solidFill>
                  </a:tcPr>
                </a:tc>
                <a:tc>
                  <a:txBody>
                    <a:bodyPr/>
                    <a:lstStyle/>
                    <a:p>
                      <a:pPr algn="l"/>
                      <a:r>
                        <a:rPr sz="1300" b="0">
                          <a:solidFill>
                            <a:schemeClr val="tx1"/>
                          </a:solidFill>
                        </a:rPr>
                        <a:t>Others keep quorum</a:t>
                      </a:r>
                    </a:p>
                  </a:txBody>
                  <a:tcPr marL="91440" marR="91440" marT="45720" marB="45720" anchor="ctr">
                    <a:solidFill>
                      <a:schemeClr val="bg2"/>
                    </a:solidFill>
                  </a:tcPr>
                </a:tc>
                <a:tc>
                  <a:txBody>
                    <a:bodyPr/>
                    <a:lstStyle/>
                    <a:p>
                      <a:pPr algn="l"/>
                      <a:r>
                        <a:rPr sz="1300" b="0">
                          <a:solidFill>
                            <a:schemeClr val="tx1"/>
                          </a:solidFill>
                        </a:rPr>
                        <a:t>Not needed; no pause</a:t>
                      </a:r>
                    </a:p>
                  </a:txBody>
                  <a:tcPr marL="91440" marR="91440" marT="45720" marB="45720" anchor="ctr">
                    <a:solidFill>
                      <a:schemeClr val="bg2"/>
                    </a:solidFill>
                  </a:tcPr>
                </a:tc>
                <a:tc>
                  <a:txBody>
                    <a:bodyPr/>
                    <a:lstStyle/>
                    <a:p>
                      <a:pPr algn="l"/>
                      <a:r>
                        <a:rPr sz="1300" b="0">
                          <a:solidFill>
                            <a:schemeClr val="tx1"/>
                          </a:solidFill>
                        </a:rPr>
                        <a:t>Restart replays the full log</a:t>
                      </a:r>
                    </a:p>
                  </a:txBody>
                  <a:tcPr marL="91440" marR="91440" marT="45720" marB="45720" anchor="ctr">
                    <a:solidFill>
                      <a:schemeClr val="bg2"/>
                    </a:solidFill>
                  </a:tcPr>
                </a:tc>
              </a:tr>
              <a:tr h="374904">
                <a:tc>
                  <a:txBody>
                    <a:bodyPr/>
                    <a:lstStyle/>
                    <a:p>
                      <a:pPr algn="l"/>
                      <a:r>
                        <a:rPr sz="1300" b="1">
                          <a:solidFill>
                            <a:schemeClr val="tx1"/>
                          </a:solidFill>
                        </a:rPr>
                        <a:t>Archive stops</a:t>
                      </a:r>
                    </a:p>
                  </a:txBody>
                  <a:tcPr marL="91440" marR="91440" marT="45720" marB="45720" anchor="ctr">
                    <a:solidFill>
                      <a:schemeClr val="bg1"/>
                    </a:solidFill>
                  </a:tcPr>
                </a:tc>
                <a:tc>
                  <a:txBody>
                    <a:bodyPr/>
                    <a:lstStyle/>
                    <a:p>
                      <a:pPr algn="l"/>
                      <a:r>
                        <a:rPr sz="1300" b="0">
                          <a:solidFill>
                            <a:schemeClr val="tx1"/>
                          </a:solidFill>
                        </a:rPr>
                        <a:t>Member exits with code 70</a:t>
                      </a:r>
                    </a:p>
                  </a:txBody>
                  <a:tcPr marL="91440" marR="91440" marT="45720" marB="45720" anchor="ctr">
                    <a:solidFill>
                      <a:schemeClr val="bg1"/>
                    </a:solidFill>
                  </a:tcPr>
                </a:tc>
                <a:tc>
                  <a:txBody>
                    <a:bodyPr/>
                    <a:lstStyle/>
                    <a:p>
                      <a:pPr algn="l"/>
                      <a:r>
                        <a:rPr sz="1300" b="0">
                          <a:solidFill>
                            <a:schemeClr val="tx1"/>
                          </a:solidFill>
                        </a:rPr>
                        <a:t>1 s without progress</a:t>
                      </a:r>
                    </a:p>
                  </a:txBody>
                  <a:tcPr marL="91440" marR="91440" marT="45720" marB="45720" anchor="ctr">
                    <a:solidFill>
                      <a:schemeClr val="bg1"/>
                    </a:solidFill>
                  </a:tcPr>
                </a:tc>
                <a:tc>
                  <a:txBody>
                    <a:bodyPr/>
                    <a:lstStyle/>
                    <a:p>
                      <a:pPr algn="l"/>
                      <a:r>
                        <a:rPr sz="1300" b="0">
                          <a:solidFill>
                            <a:schemeClr val="tx1"/>
                          </a:solidFill>
                        </a:rPr>
                        <a:t>As for a lost member</a:t>
                      </a:r>
                    </a:p>
                  </a:txBody>
                  <a:tcPr marL="91440" marR="91440" marT="45720" marB="45720" anchor="ctr">
                    <a:solidFill>
                      <a:schemeClr val="bg1"/>
                    </a:solidFill>
                  </a:tcPr>
                </a:tc>
              </a:tr>
              <a:tr h="374904">
                <a:tc>
                  <a:txBody>
                    <a:bodyPr/>
                    <a:lstStyle/>
                    <a:p>
                      <a:pPr algn="l"/>
                      <a:r>
                        <a:rPr sz="1300" b="1">
                          <a:solidFill>
                            <a:schemeClr val="tx1"/>
                          </a:solidFill>
                        </a:rPr>
                        <a:t>Slow consumer</a:t>
                      </a:r>
                    </a:p>
                  </a:txBody>
                  <a:tcPr marL="91440" marR="91440" marT="45720" marB="45720" anchor="ctr">
                    <a:solidFill>
                      <a:schemeClr val="bg2"/>
                    </a:solidFill>
                  </a:tcPr>
                </a:tc>
                <a:tc>
                  <a:txBody>
                    <a:bodyPr/>
                    <a:lstStyle/>
                    <a:p>
                      <a:pPr algn="l"/>
                      <a:r>
                        <a:rPr sz="1300" b="0">
                          <a:solidFill>
                            <a:schemeClr val="tx1"/>
                          </a:solidFill>
                        </a:rPr>
                        <a:t>Dropped; queue unaffected</a:t>
                      </a:r>
                    </a:p>
                  </a:txBody>
                  <a:tcPr marL="91440" marR="91440" marT="45720" marB="45720" anchor="ctr">
                    <a:solidFill>
                      <a:schemeClr val="bg2"/>
                    </a:solidFill>
                  </a:tcPr>
                </a:tc>
                <a:tc>
                  <a:txBody>
                    <a:bodyPr/>
                    <a:lstStyle/>
                    <a:p>
                      <a:pPr algn="l"/>
                      <a:r>
                        <a:rPr sz="1300" b="0">
                          <a:solidFill>
                            <a:schemeClr val="tx1"/>
                          </a:solidFill>
                        </a:rPr>
                        <a:t>About 0.2 s</a:t>
                      </a:r>
                    </a:p>
                  </a:txBody>
                  <a:tcPr marL="91440" marR="91440" marT="45720" marB="45720" anchor="ctr">
                    <a:solidFill>
                      <a:schemeClr val="bg2"/>
                    </a:solidFill>
                  </a:tcPr>
                </a:tc>
                <a:tc>
                  <a:txBody>
                    <a:bodyPr/>
                    <a:lstStyle/>
                    <a:p>
                      <a:pPr algn="l"/>
                      <a:r>
                        <a:rPr sz="1300" b="0">
                          <a:solidFill>
                            <a:schemeClr val="tx1"/>
                          </a:solidFill>
                        </a:rPr>
                        <a:t>Resumes over the gap</a:t>
                      </a:r>
                    </a:p>
                  </a:txBody>
                  <a:tcPr marL="91440" marR="91440" marT="45720" marB="45720" anchor="ctr">
                    <a:solidFill>
                      <a:schemeClr val="bg2"/>
                    </a:solidFill>
                  </a:tcPr>
                </a:tc>
              </a:tr>
              <a:tr h="374904">
                <a:tc>
                  <a:txBody>
                    <a:bodyPr/>
                    <a:lstStyle/>
                    <a:p>
                      <a:pPr algn="l"/>
                      <a:r>
                        <a:rPr sz="1300" b="1">
                          <a:solidFill>
                            <a:schemeClr val="tx1"/>
                          </a:solidFill>
                        </a:rPr>
                        <a:t>Frame missed on queue</a:t>
                      </a:r>
                    </a:p>
                  </a:txBody>
                  <a:tcPr marL="91440" marR="91440" marT="45720" marB="45720" anchor="ctr">
                    <a:solidFill>
                      <a:schemeClr val="bg1"/>
                    </a:solidFill>
                  </a:tcPr>
                </a:tc>
                <a:tc>
                  <a:txBody>
                    <a:bodyPr/>
                    <a:lstStyle/>
                    <a:p>
                      <a:pPr algn="l"/>
                      <a:r>
                        <a:rPr sz="1300" b="0">
                          <a:solidFill>
                            <a:schemeClr val="tx1"/>
                          </a:solidFill>
                        </a:rPr>
                        <a:t>Next frame reveals the gap</a:t>
                      </a:r>
                    </a:p>
                  </a:txBody>
                  <a:tcPr marL="91440" marR="91440" marT="45720" marB="45720" anchor="ctr">
                    <a:solidFill>
                      <a:schemeClr val="bg1"/>
                    </a:solidFill>
                  </a:tcPr>
                </a:tc>
                <a:tc>
                  <a:txBody>
                    <a:bodyPr/>
                    <a:lstStyle/>
                    <a:p>
                      <a:pPr algn="l"/>
                      <a:r>
                        <a:rPr sz="1300" b="0">
                          <a:solidFill>
                            <a:schemeClr val="tx1"/>
                          </a:solidFill>
                        </a:rPr>
                        <a:t>Next frame, about 1 s</a:t>
                      </a:r>
                    </a:p>
                  </a:txBody>
                  <a:tcPr marL="91440" marR="91440" marT="45720" marB="45720" anchor="ctr">
                    <a:solidFill>
                      <a:schemeClr val="bg1"/>
                    </a:solidFill>
                  </a:tcPr>
                </a:tc>
                <a:tc>
                  <a:txBody>
                    <a:bodyPr/>
                    <a:lstStyle/>
                    <a:p>
                      <a:pPr algn="l"/>
                      <a:r>
                        <a:rPr sz="1300" b="0">
                          <a:solidFill>
                            <a:schemeClr val="tx1"/>
                          </a:solidFill>
                        </a:rPr>
                        <a:t>Resume, holding live frames</a:t>
                      </a:r>
                    </a:p>
                  </a:txBody>
                  <a:tcPr marL="91440" marR="91440" marT="45720" marB="45720" anchor="ctr">
                    <a:solidFill>
                      <a:schemeClr val="bg1"/>
                    </a:solidFill>
                  </a:tcPr>
                </a:tc>
              </a:tr>
              <a:tr h="374904">
                <a:tc>
                  <a:txBody>
                    <a:bodyPr/>
                    <a:lstStyle/>
                    <a:p>
                      <a:pPr algn="l"/>
                      <a:r>
                        <a:rPr sz="1300" b="1">
                          <a:solidFill>
                            <a:schemeClr val="tx1"/>
                          </a:solidFill>
                        </a:rPr>
                        <a:t>Gateway instance fails</a:t>
                      </a:r>
                    </a:p>
                  </a:txBody>
                  <a:tcPr marL="91440" marR="91440" marT="45720" marB="45720" anchor="ctr">
                    <a:solidFill>
                      <a:schemeClr val="bg2"/>
                    </a:solidFill>
                  </a:tcPr>
                </a:tc>
                <a:tc>
                  <a:txBody>
                    <a:bodyPr/>
                    <a:lstStyle/>
                    <a:p>
                      <a:pPr algn="l"/>
                      <a:r>
                        <a:rPr sz="1300" b="0">
                          <a:solidFill>
                            <a:schemeClr val="tx1"/>
                          </a:solidFill>
                        </a:rPr>
                        <a:t>Its session closes</a:t>
                      </a:r>
                    </a:p>
                  </a:txBody>
                  <a:tcPr marL="91440" marR="91440" marT="45720" marB="45720" anchor="ctr">
                    <a:solidFill>
                      <a:schemeClr val="bg2"/>
                    </a:solidFill>
                  </a:tcPr>
                </a:tc>
                <a:tc>
                  <a:txBody>
                    <a:bodyPr/>
                    <a:lstStyle/>
                    <a:p>
                      <a:pPr algn="l"/>
                      <a:r>
                        <a:rPr sz="1300" b="0">
                          <a:solidFill>
                            <a:schemeClr val="tx1"/>
                          </a:solidFill>
                        </a:rPr>
                        <a:t>1 s session timeout</a:t>
                      </a:r>
                    </a:p>
                  </a:txBody>
                  <a:tcPr marL="91440" marR="91440" marT="45720" marB="45720" anchor="ctr">
                    <a:solidFill>
                      <a:schemeClr val="bg2"/>
                    </a:solidFill>
                  </a:tcPr>
                </a:tc>
                <a:tc>
                  <a:txBody>
                    <a:bodyPr/>
                    <a:lstStyle/>
                    <a:p>
                      <a:pPr algn="l"/>
                      <a:r>
                        <a:rPr sz="1300" b="0">
                          <a:solidFill>
                            <a:schemeClr val="tx1"/>
                          </a:solidFill>
                        </a:rPr>
                        <a:t>Standby designated</a:t>
                      </a:r>
                    </a:p>
                  </a:txBody>
                  <a:tcPr marL="91440" marR="91440" marT="45720" marB="45720" anchor="ctr">
                    <a:solidFill>
                      <a:schemeClr val="bg2"/>
                    </a:solidFill>
                  </a:tcPr>
                </a:tc>
              </a:tr>
              <a:tr h="374904">
                <a:tc>
                  <a:txBody>
                    <a:bodyPr/>
                    <a:lstStyle/>
                    <a:p>
                      <a:pPr algn="l"/>
                      <a:r>
                        <a:rPr sz="1300" b="1">
                          <a:solidFill>
                            <a:schemeClr val="tx1"/>
                          </a:solidFill>
                        </a:rPr>
                        <a:t>Client loses its session</a:t>
                      </a:r>
                    </a:p>
                  </a:txBody>
                  <a:tcPr marL="91440" marR="91440" marT="45720" marB="45720" anchor="ctr">
                    <a:solidFill>
                      <a:schemeClr val="bg1"/>
                    </a:solidFill>
                  </a:tcPr>
                </a:tc>
                <a:tc>
                  <a:txBody>
                    <a:bodyPr/>
                    <a:lstStyle/>
                    <a:p>
                      <a:pPr algn="l"/>
                      <a:r>
                        <a:rPr sz="1300" b="0">
                          <a:solidFill>
                            <a:schemeClr val="tx1"/>
                          </a:solidFill>
                        </a:rPr>
                        <a:t>The cluster closes it</a:t>
                      </a:r>
                    </a:p>
                  </a:txBody>
                  <a:tcPr marL="91440" marR="91440" marT="45720" marB="45720" anchor="ctr">
                    <a:solidFill>
                      <a:schemeClr val="bg1"/>
                    </a:solidFill>
                  </a:tcPr>
                </a:tc>
                <a:tc>
                  <a:txBody>
                    <a:bodyPr/>
                    <a:lstStyle/>
                    <a:p>
                      <a:pPr algn="l"/>
                      <a:r>
                        <a:rPr sz="1300" b="0">
                          <a:solidFill>
                            <a:schemeClr val="tx1"/>
                          </a:solidFill>
                        </a:rPr>
                        <a:t>1 s session timeout</a:t>
                      </a:r>
                    </a:p>
                  </a:txBody>
                  <a:tcPr marL="91440" marR="91440" marT="45720" marB="45720" anchor="ctr">
                    <a:solidFill>
                      <a:schemeClr val="bg1"/>
                    </a:solidFill>
                  </a:tcPr>
                </a:tc>
                <a:tc>
                  <a:txBody>
                    <a:bodyPr/>
                    <a:lstStyle/>
                    <a:p>
                      <a:pPr algn="l"/>
                      <a:r>
                        <a:rPr sz="1300" b="0">
                          <a:solidFill>
                            <a:schemeClr val="tx1"/>
                          </a:solidFill>
                        </a:rPr>
                        <a:t>New session; announced gateway fences</a:t>
                      </a:r>
                    </a:p>
                  </a:txBody>
                  <a:tcPr marL="91440" marR="91440" marT="45720" marB="45720" anchor="ctr">
                    <a:solidFill>
                      <a:schemeClr val="bg1"/>
                    </a:solidFill>
                  </a:tcPr>
                </a:tc>
              </a:tr>
              <a:tr h="374904">
                <a:tc>
                  <a:txBody>
                    <a:bodyPr/>
                    <a:lstStyle/>
                    <a:p>
                      <a:pPr algn="l"/>
                      <a:r>
                        <a:rPr sz="1300" b="1">
                          <a:solidFill>
                            <a:schemeClr val="tx1"/>
                          </a:solidFill>
                        </a:rPr>
                        <a:t>Gateway instance fences</a:t>
                      </a:r>
                    </a:p>
                  </a:txBody>
                  <a:tcPr marL="91440" marR="91440" marT="45720" marB="45720" anchor="ctr">
                    <a:solidFill>
                      <a:schemeClr val="bg2"/>
                    </a:solidFill>
                  </a:tcPr>
                </a:tc>
                <a:tc>
                  <a:txBody>
                    <a:bodyPr/>
                    <a:lstStyle/>
                    <a:p>
                      <a:pPr algn="l"/>
                      <a:r>
                        <a:rPr sz="1300" b="0">
                          <a:solidFill>
                            <a:schemeClr val="tx1"/>
                          </a:solidFill>
                        </a:rPr>
                        <a:t>Edge closed, session released</a:t>
                      </a:r>
                    </a:p>
                  </a:txBody>
                  <a:tcPr marL="91440" marR="91440" marT="45720" marB="45720" anchor="ctr">
                    <a:solidFill>
                      <a:schemeClr val="bg2"/>
                    </a:solidFill>
                  </a:tcPr>
                </a:tc>
                <a:tc>
                  <a:txBody>
                    <a:bodyPr/>
                    <a:lstStyle/>
                    <a:p>
                      <a:pPr algn="l"/>
                      <a:r>
                        <a:rPr sz="1300" b="0">
                          <a:solidFill>
                            <a:schemeClr val="tx1"/>
                          </a:solidFill>
                        </a:rPr>
                        <a:t>At once; stalls 20 s, 60 s</a:t>
                      </a:r>
                    </a:p>
                  </a:txBody>
                  <a:tcPr marL="91440" marR="91440" marT="45720" marB="45720" anchor="ctr">
                    <a:solidFill>
                      <a:schemeClr val="bg2"/>
                    </a:solidFill>
                  </a:tcPr>
                </a:tc>
                <a:tc>
                  <a:txBody>
                    <a:bodyPr/>
                    <a:lstStyle/>
                    <a:p>
                      <a:pPr algn="l"/>
                      <a:r>
                        <a:rPr sz="1300" b="0">
                          <a:solidFill>
                            <a:schemeClr val="tx1"/>
                          </a:solidFill>
                        </a:rPr>
                        <a:t>Standby takes over at once</a:t>
                      </a:r>
                    </a:p>
                  </a:txBody>
                  <a:tcPr marL="91440" marR="91440" marT="45720" marB="45720" anchor="ctr">
                    <a:solidFill>
                      <a:schemeClr val="bg2"/>
                    </a:solidFill>
                  </a:tcPr>
                </a:tc>
              </a:tr>
              <a:tr h="374904">
                <a:tc>
                  <a:txBody>
                    <a:bodyPr/>
                    <a:lstStyle/>
                    <a:p>
                      <a:pPr algn="l"/>
                      <a:r>
                        <a:rPr sz="1300" b="1">
                          <a:solidFill>
                            <a:schemeClr val="tx1"/>
                          </a:solidFill>
                        </a:rPr>
                        <a:t>Leader's application fences</a:t>
                      </a:r>
                    </a:p>
                  </a:txBody>
                  <a:tcPr marL="91440" marR="91440" marT="45720" marB="45720" anchor="ctr">
                    <a:solidFill>
                      <a:schemeClr val="bg1"/>
                    </a:solidFill>
                  </a:tcPr>
                </a:tc>
                <a:tc>
                  <a:txBody>
                    <a:bodyPr/>
                    <a:lstStyle/>
                    <a:p>
                      <a:pPr algn="l"/>
                      <a:r>
                        <a:rPr sz="1300" b="0">
                          <a:solidFill>
                            <a:schemeClr val="tx1"/>
                          </a:solidFill>
                        </a:rPr>
                        <a:t>Gate closed, session released</a:t>
                      </a:r>
                    </a:p>
                  </a:txBody>
                  <a:tcPr marL="91440" marR="91440" marT="45720" marB="45720" anchor="ctr">
                    <a:solidFill>
                      <a:schemeClr val="bg1"/>
                    </a:solidFill>
                  </a:tcPr>
                </a:tc>
                <a:tc>
                  <a:txBody>
                    <a:bodyPr/>
                    <a:lstStyle/>
                    <a:p>
                      <a:pPr algn="l"/>
                      <a:r>
                        <a:rPr sz="1300" b="0">
                          <a:solidFill>
                            <a:schemeClr val="tx1"/>
                          </a:solidFill>
                        </a:rPr>
                        <a:t>At once; stalls 20 s, 60 s</a:t>
                      </a:r>
                    </a:p>
                  </a:txBody>
                  <a:tcPr marL="91440" marR="91440" marT="45720" marB="45720" anchor="ctr">
                    <a:solidFill>
                      <a:schemeClr val="bg1"/>
                    </a:solidFill>
                  </a:tcPr>
                </a:tc>
                <a:tc>
                  <a:txBody>
                    <a:bodyPr/>
                    <a:lstStyle/>
                    <a:p>
                      <a:pPr algn="l"/>
                      <a:r>
                        <a:rPr sz="1300" b="0">
                          <a:solidFill>
                            <a:schemeClr val="tx1"/>
                          </a:solidFill>
                        </a:rPr>
                        <a:t>Its restart, or a new leader's replica</a:t>
                      </a:r>
                    </a:p>
                  </a:txBody>
                  <a:tcPr marL="91440" marR="91440" marT="45720" marB="45720" anchor="ctr">
                    <a:solidFill>
                      <a:schemeClr val="bg1"/>
                    </a:solidFill>
                  </a:tcPr>
                </a:tc>
              </a:tr>
              <a:tr h="374904">
                <a:tc>
                  <a:txBody>
                    <a:bodyPr/>
                    <a:lstStyle/>
                    <a:p>
                      <a:pPr algn="l"/>
                      <a:r>
                        <a:rPr sz="1300" b="1">
                          <a:solidFill>
                            <a:schemeClr val="tx1"/>
                          </a:solidFill>
                        </a:rPr>
                        <a:t>Relay's member lost</a:t>
                      </a:r>
                    </a:p>
                  </a:txBody>
                  <a:tcPr marL="91440" marR="91440" marT="45720" marB="45720" anchor="ctr">
                    <a:solidFill>
                      <a:schemeClr val="bg2"/>
                    </a:solidFill>
                  </a:tcPr>
                </a:tc>
                <a:tc>
                  <a:txBody>
                    <a:bodyPr/>
                    <a:lstStyle/>
                    <a:p>
                      <a:pPr algn="l"/>
                      <a:r>
                        <a:rPr sz="1300" b="0">
                          <a:solidFill>
                            <a:schemeClr val="tx1"/>
                          </a:solidFill>
                        </a:rPr>
                        <a:t>The relay hears nothing</a:t>
                      </a:r>
                    </a:p>
                  </a:txBody>
                  <a:tcPr marL="91440" marR="91440" marT="45720" marB="45720" anchor="ctr">
                    <a:solidFill>
                      <a:schemeClr val="bg2"/>
                    </a:solidFill>
                  </a:tcPr>
                </a:tc>
                <a:tc>
                  <a:txBody>
                    <a:bodyPr/>
                    <a:lstStyle/>
                    <a:p>
                      <a:pPr algn="l"/>
                      <a:r>
                        <a:rPr sz="1300" b="0">
                          <a:solidFill>
                            <a:schemeClr val="tx1"/>
                          </a:solidFill>
                        </a:rPr>
                        <a:t>3 s</a:t>
                      </a:r>
                    </a:p>
                  </a:txBody>
                  <a:tcPr marL="91440" marR="91440" marT="45720" marB="45720" anchor="ctr">
                    <a:solidFill>
                      <a:schemeClr val="bg2"/>
                    </a:solidFill>
                  </a:tcPr>
                </a:tc>
                <a:tc>
                  <a:txBody>
                    <a:bodyPr/>
                    <a:lstStyle/>
                    <a:p>
                      <a:pPr algn="l"/>
                      <a:r>
                        <a:rPr sz="1300" b="0">
                          <a:solidFill>
                            <a:schemeClr val="tx1"/>
                          </a:solidFill>
                        </a:rPr>
                        <a:t>Next member, same position</a:t>
                      </a:r>
                    </a:p>
                  </a:txBody>
                  <a:tcPr marL="91440" marR="91440" marT="45720" marB="45720" anchor="ctr">
                    <a:solidFill>
                      <a:schemeClr val="bg2"/>
                    </a:solidFill>
                  </a:tcPr>
                </a:tc>
              </a:tr>
              <a:tr h="374904">
                <a:tc>
                  <a:txBody>
                    <a:bodyPr/>
                    <a:lstStyle/>
                    <a:p>
                      <a:pPr algn="l"/>
                      <a:r>
                        <a:rPr sz="1300" b="1">
                          <a:solidFill>
                            <a:schemeClr val="tx1"/>
                          </a:solidFill>
                        </a:rPr>
                        <a:t>Majority lost</a:t>
                      </a:r>
                    </a:p>
                  </a:txBody>
                  <a:tcPr marL="91440" marR="91440" marT="45720" marB="45720" anchor="ctr">
                    <a:solidFill>
                      <a:schemeClr val="bg1"/>
                    </a:solidFill>
                  </a:tcPr>
                </a:tc>
                <a:tc>
                  <a:txBody>
                    <a:bodyPr/>
                    <a:lstStyle/>
                    <a:p>
                      <a:pPr algn="l"/>
                      <a:r>
                        <a:rPr sz="1300" b="0">
                          <a:solidFill>
                            <a:schemeClr val="tx1"/>
                          </a:solidFill>
                        </a:rPr>
                        <a:t>Nothing commits; queue silent</a:t>
                      </a:r>
                    </a:p>
                  </a:txBody>
                  <a:tcPr marL="91440" marR="91440" marT="45720" marB="45720" anchor="ctr">
                    <a:solidFill>
                      <a:schemeClr val="bg1"/>
                    </a:solidFill>
                  </a:tcPr>
                </a:tc>
                <a:tc>
                  <a:txBody>
                    <a:bodyPr/>
                    <a:lstStyle/>
                    <a:p>
                      <a:pPr algn="l"/>
                      <a:r>
                        <a:rPr sz="1300" b="0">
                          <a:solidFill>
                            <a:schemeClr val="tx1"/>
                          </a:solidFill>
                        </a:rPr>
                        <a:t>Acting instances at 20 s</a:t>
                      </a:r>
                    </a:p>
                  </a:txBody>
                  <a:tcPr marL="91440" marR="91440" marT="45720" marB="45720" anchor="ctr">
                    <a:solidFill>
                      <a:schemeClr val="bg1"/>
                    </a:solidFill>
                  </a:tcPr>
                </a:tc>
                <a:tc>
                  <a:txBody>
                    <a:bodyPr/>
                    <a:lstStyle/>
                    <a:p>
                      <a:pPr algn="l"/>
                      <a:r>
                        <a:rPr sz="1300" b="0">
                          <a:solidFill>
                            <a:schemeClr val="tx1"/>
                          </a:solidFill>
                        </a:rPr>
                        <a:t>Resumes with a majority</a:t>
                      </a:r>
                    </a:p>
                  </a:txBody>
                  <a:tcPr marL="91440" marR="91440" marT="45720" marB="45720" anchor="ctr">
                    <a:solidFill>
                      <a:schemeClr val="bg1"/>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Verification</a:t>
            </a:r>
          </a:p>
        </p:txBody>
      </p:sp>
      <p:sp>
        <p:nvSpPr>
          <p:cNvPr id="3" name="Text 409"/>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A harness per failure, against a live cluster</a:t>
            </a:r>
          </a:p>
        </p:txBody>
      </p:sp>
      <p:sp>
        <p:nvSpPr>
          <p:cNvPr id="9021" name="Slide number"/>
          <p:cNvSpPr txBox="1"/>
          <p:nvPr userDrawn="1"/>
        </p:nvSpPr>
        <p:spPr>
          <a:xfrm>
            <a:off x="10728655" y="6400800"/>
            <a:ext cx="914400" cy="274320"/>
          </a:xfrm>
          <a:prstGeom prst="rect">
            <a:avLst/>
          </a:prstGeom>
          <a:noFill/>
        </p:spPr>
        <p:txBody>
          <a:bodyPr wrap="none" lIns="0" tIns="0" rIns="0" bIns="0" anchor="ctr"/>
          <a:lstStyle/>
          <a:p>
            <a:pPr algn="r"/>
            <a:fld id="{f2254b0d-2639-4e7b-8f68-186aca3f68d7}" type="slidenum">
              <a:rPr lang="en-US" sz="1000" dirty="0">
                <a:solidFill>
                  <a:schemeClr val="accent5"/>
                </a:solidFill>
              </a:rPr>
              <a:t>21</a:t>
            </a:fld>
          </a:p>
        </p:txBody>
      </p:sp>
      <p:sp>
        <p:nvSpPr>
          <p:cNvPr id="9022" name="Text 410"/>
          <p:cNvSpPr txBox="1"/>
          <p:nvPr/>
        </p:nvSpPr>
        <p:spPr>
          <a:xfrm>
            <a:off x="548640" y="1691640"/>
            <a:ext cx="2743200" cy="457200"/>
          </a:xfrm>
          <a:prstGeom prst="rect">
            <a:avLst/>
          </a:prstGeom>
          <a:noFill/>
        </p:spPr>
        <p:txBody>
          <a:bodyPr wrap="square" anchor="ctr" lIns="0" rIns="0" tIns="0" bIns="0">
            <a:spAutoFit/>
          </a:bodyPr>
          <a:lstStyle/>
          <a:p>
            <a:pPr algn="l"/>
            <a:r>
              <a:rPr sz="1600" b="1">
                <a:solidFill>
                  <a:schemeClr val="tx1"/>
                </a:solidFill>
              </a:rPr>
              <a:t>chaos-runner</a:t>
            </a:r>
          </a:p>
        </p:txBody>
      </p:sp>
      <p:sp>
        <p:nvSpPr>
          <p:cNvPr id="9023" name="Text 411"/>
          <p:cNvSpPr txBox="1"/>
          <p:nvPr/>
        </p:nvSpPr>
        <p:spPr>
          <a:xfrm>
            <a:off x="3383280" y="1691640"/>
            <a:ext cx="8259775" cy="457200"/>
          </a:xfrm>
          <a:prstGeom prst="rect">
            <a:avLst/>
          </a:prstGeom>
          <a:noFill/>
        </p:spPr>
        <p:txBody>
          <a:bodyPr wrap="square" anchor="ctr" lIns="0" rIns="0" tIns="0" bIns="0">
            <a:spAutoFit/>
          </a:bodyPr>
          <a:lstStyle/>
          <a:p>
            <a:pPr algn="l"/>
            <a:r>
              <a:rPr sz="1600" b="0">
                <a:solidFill>
                  <a:schemeClr val="accent5"/>
                </a:solidFill>
              </a:rPr>
              <a:t>random faults from a seed; recordings gap-free and equal</a:t>
            </a:r>
          </a:p>
        </p:txBody>
      </p:sp>
      <p:sp>
        <p:nvSpPr>
          <p:cNvPr id="9024" name="Text 412"/>
          <p:cNvSpPr txBox="1"/>
          <p:nvPr/>
        </p:nvSpPr>
        <p:spPr>
          <a:xfrm>
            <a:off x="548640" y="2121408"/>
            <a:ext cx="2743200" cy="457200"/>
          </a:xfrm>
          <a:prstGeom prst="rect">
            <a:avLst/>
          </a:prstGeom>
          <a:noFill/>
        </p:spPr>
        <p:txBody>
          <a:bodyPr wrap="square" anchor="ctr" lIns="0" rIns="0" tIns="0" bIns="0">
            <a:spAutoFit/>
          </a:bodyPr>
          <a:lstStyle/>
          <a:p>
            <a:pPr algn="l"/>
            <a:r>
              <a:rPr sz="1600" b="1">
                <a:solidFill>
                  <a:schemeClr val="tx1"/>
                </a:solidFill>
              </a:rPr>
              <a:t>failover soak</a:t>
            </a:r>
          </a:p>
        </p:txBody>
      </p:sp>
      <p:sp>
        <p:nvSpPr>
          <p:cNvPr id="9025" name="Text 413"/>
          <p:cNvSpPr txBox="1"/>
          <p:nvPr/>
        </p:nvSpPr>
        <p:spPr>
          <a:xfrm>
            <a:off x="3383280" y="2121408"/>
            <a:ext cx="8259775" cy="457200"/>
          </a:xfrm>
          <a:prstGeom prst="rect">
            <a:avLst/>
          </a:prstGeom>
          <a:noFill/>
        </p:spPr>
        <p:txBody>
          <a:bodyPr wrap="square" anchor="ctr" lIns="0" rIns="0" tIns="0" bIns="0">
            <a:spAutoFit/>
          </a:bodyPr>
          <a:lstStyle/>
          <a:p>
            <a:pPr algn="l"/>
            <a:r>
              <a:rPr sz="1600" b="0">
                <a:solidFill>
                  <a:schemeClr val="accent5"/>
                </a:solidFill>
              </a:rPr>
              <a:t>repeated leader kills in containers</a:t>
            </a:r>
          </a:p>
        </p:txBody>
      </p:sp>
      <p:sp>
        <p:nvSpPr>
          <p:cNvPr id="9026" name="Text 414"/>
          <p:cNvSpPr txBox="1"/>
          <p:nvPr/>
        </p:nvSpPr>
        <p:spPr>
          <a:xfrm>
            <a:off x="548640" y="2551176"/>
            <a:ext cx="2743200" cy="457200"/>
          </a:xfrm>
          <a:prstGeom prst="rect">
            <a:avLst/>
          </a:prstGeom>
          <a:noFill/>
        </p:spPr>
        <p:txBody>
          <a:bodyPr wrap="square" anchor="ctr" lIns="0" rIns="0" tIns="0" bIns="0">
            <a:spAutoFit/>
          </a:bodyPr>
          <a:lstStyle/>
          <a:p>
            <a:pPr algn="l"/>
            <a:r>
              <a:rPr sz="1600" b="1">
                <a:solidFill>
                  <a:schemeClr val="tx1"/>
                </a:solidFill>
              </a:rPr>
              <a:t>network faults</a:t>
            </a:r>
          </a:p>
        </p:txBody>
      </p:sp>
      <p:sp>
        <p:nvSpPr>
          <p:cNvPr id="9027" name="Text 415"/>
          <p:cNvSpPr txBox="1"/>
          <p:nvPr/>
        </p:nvSpPr>
        <p:spPr>
          <a:xfrm>
            <a:off x="3383280" y="2551176"/>
            <a:ext cx="8259775" cy="457200"/>
          </a:xfrm>
          <a:prstGeom prst="rect">
            <a:avLst/>
          </a:prstGeom>
          <a:noFill/>
        </p:spPr>
        <p:txBody>
          <a:bodyPr wrap="square" anchor="ctr" lIns="0" rIns="0" tIns="0" bIns="0">
            <a:spAutoFit/>
          </a:bodyPr>
          <a:lstStyle/>
          <a:p>
            <a:pPr algn="l"/>
            <a:r>
              <a:rPr sz="1600" b="0">
                <a:solidFill>
                  <a:schemeClr val="accent5"/>
                </a:solidFill>
              </a:rPr>
              <a:t>eBPF: partitions, lost repair, slow links, dropped ballots</a:t>
            </a:r>
          </a:p>
        </p:txBody>
      </p:sp>
      <p:sp>
        <p:nvSpPr>
          <p:cNvPr id="9028" name="Text 416"/>
          <p:cNvSpPr txBox="1"/>
          <p:nvPr/>
        </p:nvSpPr>
        <p:spPr>
          <a:xfrm>
            <a:off x="548640" y="2980944"/>
            <a:ext cx="2743200" cy="457200"/>
          </a:xfrm>
          <a:prstGeom prst="rect">
            <a:avLst/>
          </a:prstGeom>
          <a:noFill/>
        </p:spPr>
        <p:txBody>
          <a:bodyPr wrap="square" anchor="ctr" lIns="0" rIns="0" tIns="0" bIns="0">
            <a:spAutoFit/>
          </a:bodyPr>
          <a:lstStyle/>
          <a:p>
            <a:pPr algn="l"/>
            <a:r>
              <a:rPr sz="1600" b="1">
                <a:solidFill>
                  <a:schemeClr val="tx1"/>
                </a:solidFill>
              </a:rPr>
              <a:t>confirmed ingress</a:t>
            </a:r>
          </a:p>
        </p:txBody>
      </p:sp>
      <p:sp>
        <p:nvSpPr>
          <p:cNvPr id="9029" name="Text 417"/>
          <p:cNvSpPr txBox="1"/>
          <p:nvPr/>
        </p:nvSpPr>
        <p:spPr>
          <a:xfrm>
            <a:off x="3383280" y="2980944"/>
            <a:ext cx="8259775" cy="457200"/>
          </a:xfrm>
          <a:prstGeom prst="rect">
            <a:avLst/>
          </a:prstGeom>
          <a:noFill/>
        </p:spPr>
        <p:txBody>
          <a:bodyPr wrap="square" anchor="ctr" lIns="0" rIns="0" tIns="0" bIns="0">
            <a:spAutoFit/>
          </a:bodyPr>
          <a:lstStyle/>
          <a:p>
            <a:pPr algn="l"/>
            <a:r>
              <a:rPr sz="1600" b="0">
                <a:solidFill>
                  <a:schemeClr val="accent5"/>
                </a:solidFill>
              </a:rPr>
              <a:t>every frame once, in order, across a kill</a:t>
            </a:r>
          </a:p>
        </p:txBody>
      </p:sp>
      <p:sp>
        <p:nvSpPr>
          <p:cNvPr id="9030" name="Text 418"/>
          <p:cNvSpPr txBox="1"/>
          <p:nvPr/>
        </p:nvSpPr>
        <p:spPr>
          <a:xfrm>
            <a:off x="548640" y="3410712"/>
            <a:ext cx="2743200" cy="457200"/>
          </a:xfrm>
          <a:prstGeom prst="rect">
            <a:avLst/>
          </a:prstGeom>
          <a:noFill/>
        </p:spPr>
        <p:txBody>
          <a:bodyPr wrap="square" anchor="ctr" lIns="0" rIns="0" tIns="0" bIns="0">
            <a:spAutoFit/>
          </a:bodyPr>
          <a:lstStyle/>
          <a:p>
            <a:pPr algn="l"/>
            <a:r>
              <a:rPr sz="1600" b="1">
                <a:solidFill>
                  <a:schemeClr val="tx1"/>
                </a:solidFill>
              </a:rPr>
              <a:t>gateway host</a:t>
            </a:r>
          </a:p>
        </p:txBody>
      </p:sp>
      <p:sp>
        <p:nvSpPr>
          <p:cNvPr id="9031" name="Text 419"/>
          <p:cNvSpPr txBox="1"/>
          <p:nvPr/>
        </p:nvSpPr>
        <p:spPr>
          <a:xfrm>
            <a:off x="3383280" y="3410712"/>
            <a:ext cx="8259775" cy="457200"/>
          </a:xfrm>
          <a:prstGeom prst="rect">
            <a:avLst/>
          </a:prstGeom>
          <a:noFill/>
        </p:spPr>
        <p:txBody>
          <a:bodyPr wrap="square" anchor="ctr" lIns="0" rIns="0" tIns="0" bIns="0">
            <a:spAutoFit/>
          </a:bodyPr>
          <a:lstStyle/>
          <a:p>
            <a:pPr algn="l"/>
            <a:r>
              <a:rPr sz="1600" b="0">
                <a:solidFill>
                  <a:schemeClr val="accent5"/>
                </a:solidFill>
              </a:rPr>
              <a:t>relay moves when its member dies</a:t>
            </a:r>
          </a:p>
        </p:txBody>
      </p:sp>
      <p:sp>
        <p:nvSpPr>
          <p:cNvPr id="9032" name="Text 420"/>
          <p:cNvSpPr txBox="1"/>
          <p:nvPr/>
        </p:nvSpPr>
        <p:spPr>
          <a:xfrm>
            <a:off x="548640" y="3840480"/>
            <a:ext cx="2743200" cy="457200"/>
          </a:xfrm>
          <a:prstGeom prst="rect">
            <a:avLst/>
          </a:prstGeom>
          <a:noFill/>
        </p:spPr>
        <p:txBody>
          <a:bodyPr wrap="square" anchor="ctr" lIns="0" rIns="0" tIns="0" bIns="0">
            <a:spAutoFit/>
          </a:bodyPr>
          <a:lstStyle/>
          <a:p>
            <a:pPr algn="l"/>
            <a:r>
              <a:rPr sz="1600" b="1">
                <a:solidFill>
                  <a:schemeClr val="tx1"/>
                </a:solidFill>
              </a:rPr>
              <a:t>session replace</a:t>
            </a:r>
          </a:p>
        </p:txBody>
      </p:sp>
      <p:sp>
        <p:nvSpPr>
          <p:cNvPr id="9033" name="Text 421"/>
          <p:cNvSpPr txBox="1"/>
          <p:nvPr/>
        </p:nvSpPr>
        <p:spPr>
          <a:xfrm>
            <a:off x="3383280" y="3840480"/>
            <a:ext cx="8259775" cy="457200"/>
          </a:xfrm>
          <a:prstGeom prst="rect">
            <a:avLst/>
          </a:prstGeom>
          <a:noFill/>
        </p:spPr>
        <p:txBody>
          <a:bodyPr wrap="square" anchor="ctr" lIns="0" rIns="0" tIns="0" bIns="0">
            <a:spAutoFit/>
          </a:bodyPr>
          <a:lstStyle/>
          <a:p>
            <a:pPr algn="l"/>
            <a:r>
              <a:rPr sz="1600" b="0">
                <a:solidFill>
                  <a:schemeClr val="accent5"/>
                </a:solidFill>
              </a:rPr>
              <a:t>paused client, lost quorum, paused gateway pair</a:t>
            </a:r>
          </a:p>
        </p:txBody>
      </p:sp>
      <p:sp>
        <p:nvSpPr>
          <p:cNvPr id="9034" name="Text 422"/>
          <p:cNvSpPr txBox="1"/>
          <p:nvPr/>
        </p:nvSpPr>
        <p:spPr>
          <a:xfrm>
            <a:off x="548640" y="4270248"/>
            <a:ext cx="2743200" cy="457200"/>
          </a:xfrm>
          <a:prstGeom prst="rect">
            <a:avLst/>
          </a:prstGeom>
          <a:noFill/>
        </p:spPr>
        <p:txBody>
          <a:bodyPr wrap="square" anchor="ctr" lIns="0" rIns="0" tIns="0" bIns="0">
            <a:spAutoFit/>
          </a:bodyPr>
          <a:lstStyle/>
          <a:p>
            <a:pPr algn="l"/>
            <a:r>
              <a:rPr sz="1600" b="1">
                <a:solidFill>
                  <a:schemeClr val="tx1"/>
                </a:solidFill>
              </a:rPr>
              <a:t>snapshots</a:t>
            </a:r>
          </a:p>
        </p:txBody>
      </p:sp>
      <p:sp>
        <p:nvSpPr>
          <p:cNvPr id="9035" name="Text 423"/>
          <p:cNvSpPr txBox="1"/>
          <p:nvPr/>
        </p:nvSpPr>
        <p:spPr>
          <a:xfrm>
            <a:off x="3383280" y="4270248"/>
            <a:ext cx="8259775" cy="457200"/>
          </a:xfrm>
          <a:prstGeom prst="rect">
            <a:avLst/>
          </a:prstGeom>
          <a:noFill/>
        </p:spPr>
        <p:txBody>
          <a:bodyPr wrap="square" anchor="ctr" lIns="0" rIns="0" tIns="0" bIns="0">
            <a:spAutoFit/>
          </a:bodyPr>
          <a:lstStyle/>
          <a:p>
            <a:pPr algn="l"/>
            <a:r>
              <a:rPr sz="1600" b="0">
                <a:solidFill>
                  <a:schemeClr val="accent5"/>
                </a:solidFill>
              </a:rPr>
              <a:t>restore, handover, leader kill</a:t>
            </a:r>
          </a:p>
        </p:txBody>
      </p:sp>
      <p:sp>
        <p:nvSpPr>
          <p:cNvPr id="9036" name="Text 424"/>
          <p:cNvSpPr txBox="1"/>
          <p:nvPr/>
        </p:nvSpPr>
        <p:spPr>
          <a:xfrm>
            <a:off x="548640" y="4700016"/>
            <a:ext cx="2743200" cy="457200"/>
          </a:xfrm>
          <a:prstGeom prst="rect">
            <a:avLst/>
          </a:prstGeom>
          <a:noFill/>
        </p:spPr>
        <p:txBody>
          <a:bodyPr wrap="square" anchor="ctr" lIns="0" rIns="0" tIns="0" bIns="0">
            <a:spAutoFit/>
          </a:bodyPr>
          <a:lstStyle/>
          <a:p>
            <a:pPr algn="l"/>
            <a:r>
              <a:rPr sz="1600" b="1">
                <a:solidFill>
                  <a:schemeClr val="tx1"/>
                </a:solidFill>
              </a:rPr>
              <a:t>C# client</a:t>
            </a:r>
          </a:p>
        </p:txBody>
      </p:sp>
      <p:sp>
        <p:nvSpPr>
          <p:cNvPr id="9037" name="Text 425"/>
          <p:cNvSpPr txBox="1"/>
          <p:nvPr/>
        </p:nvSpPr>
        <p:spPr>
          <a:xfrm>
            <a:off x="3383280" y="4700016"/>
            <a:ext cx="8259775" cy="457200"/>
          </a:xfrm>
          <a:prstGeom prst="rect">
            <a:avLst/>
          </a:prstGeom>
          <a:noFill/>
        </p:spPr>
        <p:txBody>
          <a:bodyPr wrap="square" anchor="ctr" lIns="0" rIns="0" tIns="0" bIns="0">
            <a:spAutoFit/>
          </a:bodyPr>
          <a:lstStyle/>
          <a:p>
            <a:pPr algn="l"/>
            <a:r>
              <a:rPr sz="1600" b="0">
                <a:solidFill>
                  <a:schemeClr val="accent5"/>
                </a:solidFill>
              </a:rPr>
              <a:t>Linux and Windows</a:t>
            </a:r>
          </a:p>
        </p:txBody>
      </p:sp>
      <p:sp>
        <p:nvSpPr>
          <p:cNvPr id="9038" name="Text 426"/>
          <p:cNvSpPr txBox="1"/>
          <p:nvPr/>
        </p:nvSpPr>
        <p:spPr>
          <a:xfrm>
            <a:off x="548640" y="5129784"/>
            <a:ext cx="2743200" cy="457200"/>
          </a:xfrm>
          <a:prstGeom prst="rect">
            <a:avLst/>
          </a:prstGeom>
          <a:noFill/>
        </p:spPr>
        <p:txBody>
          <a:bodyPr wrap="square" anchor="ctr" lIns="0" rIns="0" tIns="0" bIns="0">
            <a:spAutoFit/>
          </a:bodyPr>
          <a:lstStyle/>
          <a:p>
            <a:pPr algn="l"/>
            <a:r>
              <a:rPr sz="1600" b="1">
                <a:solidFill>
                  <a:schemeClr val="tx1"/>
                </a:solidFill>
              </a:rPr>
              <a:t>unit suites</a:t>
            </a:r>
          </a:p>
        </p:txBody>
      </p:sp>
      <p:sp>
        <p:nvSpPr>
          <p:cNvPr id="9039" name="Text 427"/>
          <p:cNvSpPr txBox="1"/>
          <p:nvPr/>
        </p:nvSpPr>
        <p:spPr>
          <a:xfrm>
            <a:off x="3383280" y="5129784"/>
            <a:ext cx="8259775" cy="457200"/>
          </a:xfrm>
          <a:prstGeom prst="rect">
            <a:avLst/>
          </a:prstGeom>
          <a:noFill/>
        </p:spPr>
        <p:txBody>
          <a:bodyPr wrap="square" anchor="ctr" lIns="0" rIns="0" tIns="0" bIns="0">
            <a:spAutoFit/>
          </a:bodyPr>
          <a:lstStyle/>
          <a:p>
            <a:pPr algn="l"/>
            <a:r>
              <a:rPr sz="1600" b="0">
                <a:solidFill>
                  <a:schemeClr val="accent5"/>
                </a:solidFill>
              </a:rPr>
              <a:t>Java, C++ and C#, case for case; seeded property tests</a:t>
            </a:r>
          </a:p>
        </p:txBody>
      </p:sp>
      <p:sp>
        <p:nvSpPr>
          <p:cNvPr id="9040" name="Text 428"/>
          <p:cNvSpPr txBox="1"/>
          <p:nvPr/>
        </p:nvSpPr>
        <p:spPr>
          <a:xfrm>
            <a:off x="548640" y="5669280"/>
            <a:ext cx="11094415" cy="411480"/>
          </a:xfrm>
          <a:prstGeom prst="rect">
            <a:avLst/>
          </a:prstGeom>
          <a:noFill/>
        </p:spPr>
        <p:txBody>
          <a:bodyPr wrap="square" anchor="t" lIns="0" rIns="0" tIns="0" bIns="0">
            <a:spAutoFit/>
          </a:bodyPr>
          <a:lstStyle/>
          <a:p>
            <a:pPr algn="l"/>
            <a:r>
              <a:rPr sz="1600" b="1">
                <a:solidFill>
                  <a:schemeClr val="accent2"/>
                </a:solidFill>
              </a:rPr>
              <a:t>Not exercised: </a:t>
            </a:r>
            <a:r>
              <a:rPr sz="1600" b="0">
                <a:solidFill>
                  <a:schemeClr val="tx1"/>
                </a:solidFill>
              </a:rPr>
              <a:t>the C++ client against a live cluster; killing a standalone aeronmd.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Monitoring</a:t>
            </a:r>
          </a:p>
        </p:txBody>
      </p:sp>
      <p:sp>
        <p:nvSpPr>
          <p:cNvPr id="3" name="Text 429"/>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Each member's counters, scraped by Prometheus, on one Grafana dashboard</a:t>
            </a:r>
          </a:p>
        </p:txBody>
      </p:sp>
      <p:sp>
        <p:nvSpPr>
          <p:cNvPr id="9022" name="Slide number"/>
          <p:cNvSpPr txBox="1"/>
          <p:nvPr userDrawn="1"/>
        </p:nvSpPr>
        <p:spPr>
          <a:xfrm>
            <a:off x="10728655" y="6400800"/>
            <a:ext cx="914400" cy="274320"/>
          </a:xfrm>
          <a:prstGeom prst="rect">
            <a:avLst/>
          </a:prstGeom>
          <a:noFill/>
        </p:spPr>
        <p:txBody>
          <a:bodyPr wrap="none" lIns="0" tIns="0" rIns="0" bIns="0" anchor="ctr"/>
          <a:lstStyle/>
          <a:p>
            <a:pPr algn="r"/>
            <a:fld id="{f02dbf29-de55-4f30-968f-a6802cb3e858}" type="slidenum">
              <a:rPr lang="en-US" sz="1000" dirty="0">
                <a:solidFill>
                  <a:schemeClr val="accent5"/>
                </a:solidFill>
              </a:rPr>
              <a:t>22</a:t>
            </a:fld>
          </a:p>
        </p:txBody>
      </p:sp>
      <p:sp>
        <p:nvSpPr>
          <p:cNvPr id="9023" name="Box 430"/>
          <p:cNvSpPr/>
          <p:nvPr/>
        </p:nvSpPr>
        <p:spPr>
          <a:xfrm>
            <a:off x="548640" y="1691640"/>
            <a:ext cx="2377440" cy="82296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chemeClr val="tx1"/>
                </a:solidFill>
              </a:rPr>
              <a:t>Member</a:t>
            </a:r>
          </a:p>
          <a:p>
            <a:pPr algn="ctr"/>
            <a:r>
              <a:rPr sz="1100" b="0">
                <a:solidFill>
                  <a:schemeClr val="accent5"/>
                </a:solidFill>
              </a:rPr>
              <a:t>Aeron counters in cnc.dat</a:t>
            </a:r>
          </a:p>
        </p:txBody>
      </p:sp>
      <p:cxnSp>
        <p:nvCxnSpPr>
          <p:cNvPr id="9024" name="Arrow 431"/>
          <p:cNvCxnSpPr/>
          <p:nvPr/>
        </p:nvCxnSpPr>
        <p:spPr>
          <a:xfrm>
            <a:off x="2926080" y="2103120"/>
            <a:ext cx="528218"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5" name="Box 432"/>
          <p:cNvSpPr/>
          <p:nvPr/>
        </p:nvSpPr>
        <p:spPr>
          <a:xfrm>
            <a:off x="3454298" y="1691640"/>
            <a:ext cx="2377440" cy="82296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chemeClr val="tx1"/>
                </a:solidFill>
              </a:rPr>
              <a:t>metrics-exporter</a:t>
            </a:r>
          </a:p>
          <a:p>
            <a:pPr algn="ctr"/>
            <a:r>
              <a:rPr sz="1100" b="0">
                <a:solidFill>
                  <a:schemeClr val="accent5"/>
                </a:solidFill>
              </a:rPr>
              <a:t>HTTP · port 9400 + member id</a:t>
            </a:r>
          </a:p>
        </p:txBody>
      </p:sp>
      <p:cxnSp>
        <p:nvCxnSpPr>
          <p:cNvPr id="9026" name="Arrow 433"/>
          <p:cNvCxnSpPr/>
          <p:nvPr/>
        </p:nvCxnSpPr>
        <p:spPr>
          <a:xfrm>
            <a:off x="5831738" y="2103120"/>
            <a:ext cx="528219"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7" name="Box 434"/>
          <p:cNvSpPr/>
          <p:nvPr/>
        </p:nvSpPr>
        <p:spPr>
          <a:xfrm>
            <a:off x="6359957" y="1691640"/>
            <a:ext cx="2377440" cy="82296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chemeClr val="tx1"/>
                </a:solidFill>
              </a:rPr>
              <a:t>Prometheus</a:t>
            </a:r>
          </a:p>
          <a:p>
            <a:pPr algn="ctr"/>
            <a:r>
              <a:rPr sz="1100" b="0">
                <a:solidFill>
                  <a:schemeClr val="accent5"/>
                </a:solidFill>
              </a:rPr>
              <a:t>pulls every exporter</a:t>
            </a:r>
          </a:p>
        </p:txBody>
      </p:sp>
      <p:cxnSp>
        <p:nvCxnSpPr>
          <p:cNvPr id="9028" name="Arrow 435"/>
          <p:cNvCxnSpPr/>
          <p:nvPr/>
        </p:nvCxnSpPr>
        <p:spPr>
          <a:xfrm>
            <a:off x="8737397" y="2103120"/>
            <a:ext cx="528218"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29" name="Box 436"/>
          <p:cNvSpPr/>
          <p:nvPr/>
        </p:nvSpPr>
        <p:spPr>
          <a:xfrm>
            <a:off x="9265615" y="1691640"/>
            <a:ext cx="2377440" cy="82296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500" b="1">
                <a:solidFill>
                  <a:schemeClr val="tx1"/>
                </a:solidFill>
              </a:rPr>
              <a:t>Grafana</a:t>
            </a:r>
          </a:p>
          <a:p>
            <a:pPr algn="ctr"/>
            <a:r>
              <a:rPr sz="1100" b="0">
                <a:solidFill>
                  <a:schemeClr val="accent5"/>
                </a:solidFill>
              </a:rPr>
              <a:t>one provisioned dashboard</a:t>
            </a:r>
          </a:p>
        </p:txBody>
      </p:sp>
      <p:sp>
        <p:nvSpPr>
          <p:cNvPr id="9030" name="Card 437"/>
          <p:cNvSpPr/>
          <p:nvPr/>
        </p:nvSpPr>
        <p:spPr>
          <a:xfrm>
            <a:off x="548640" y="2880360"/>
            <a:ext cx="3511296" cy="2560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800" b="1" cap="none">
                <a:solidFill>
                  <a:schemeClr val="tx1"/>
                </a:solidFill>
                <a:latin typeface="+mj-lt"/>
              </a:rPr>
              <a:t>Sequencer</a:t>
            </a:r>
          </a:p>
          <a:p>
            <a:pPr algn="l" marL="228600" indent="-228600">
              <a:spcAft>
                <a:spcPts val="400"/>
              </a:spcAft>
              <a:buClr>
                <a:schemeClr val="accent1"/>
              </a:buClr>
              <a:buChar char="•"/>
            </a:pPr>
            <a:r>
              <a:rPr sz="1400" b="0">
                <a:solidFill>
                  <a:schemeClr val="tx1"/>
                </a:solidFill>
              </a:rPr>
              <a:t>globalSeqNo and current leader</a:t>
            </a:r>
          </a:p>
          <a:p>
            <a:pPr algn="l" marL="228600" indent="-228600">
              <a:spcAft>
                <a:spcPts val="400"/>
              </a:spcAft>
              <a:buClr>
                <a:schemeClr val="accent1"/>
              </a:buClr>
              <a:buChar char="•"/>
            </a:pPr>
            <a:r>
              <a:rPr sz="1400" b="0">
                <a:solidFill>
                  <a:schemeClr val="tx1"/>
                </a:solidFill>
              </a:rPr>
              <a:t>Apply lag: now − last heartbeat</a:t>
            </a:r>
          </a:p>
          <a:p>
            <a:pPr algn="l" marL="228600" indent="-228600">
              <a:spcAft>
                <a:spcPts val="400"/>
              </a:spcAft>
              <a:buClr>
                <a:schemeClr val="accent1"/>
              </a:buClr>
              <a:buChar char="•"/>
            </a:pPr>
            <a:r>
              <a:rPr sz="1400" b="0">
                <a:solidFill>
                  <a:schemeClr val="tx1"/>
                </a:solidFill>
              </a:rPr>
              <a:t>Rejected ingress, leadership changes</a:t>
            </a:r>
          </a:p>
          <a:p>
            <a:pPr algn="l" marL="228600" indent="-228600">
              <a:spcAft>
                <a:spcPts val="400"/>
              </a:spcAft>
              <a:buClr>
                <a:schemeClr val="accent1"/>
              </a:buClr>
              <a:buChar char="•"/>
            </a:pPr>
            <a:r>
              <a:rPr sz="1400" b="0">
                <a:solidFill>
                  <a:schemeClr val="tx1"/>
                </a:solidFill>
              </a:rPr>
              <a:t>Queue back-pressure and stall</a:t>
            </a:r>
          </a:p>
          <a:p>
            <a:pPr algn="l" marL="228600" indent="-228600">
              <a:spcAft>
                <a:spcPts val="400"/>
              </a:spcAft>
              <a:buClr>
                <a:schemeClr val="accent1"/>
              </a:buClr>
              <a:buChar char="•"/>
            </a:pPr>
            <a:r>
              <a:rPr sz="1400" b="0">
                <a:solidFill>
                  <a:schemeClr val="tx1"/>
                </a:solidFill>
              </a:rPr>
              <a:t>Gateway promotions</a:t>
            </a:r>
          </a:p>
        </p:txBody>
      </p:sp>
      <p:sp>
        <p:nvSpPr>
          <p:cNvPr id="9031" name="Card 438"/>
          <p:cNvSpPr/>
          <p:nvPr/>
        </p:nvSpPr>
        <p:spPr>
          <a:xfrm>
            <a:off x="4338828" y="2880360"/>
            <a:ext cx="3511296" cy="2560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800" b="1" cap="none">
                <a:solidFill>
                  <a:schemeClr val="tx1"/>
                </a:solidFill>
                <a:latin typeface="+mj-lt"/>
              </a:rPr>
              <a:t>Replayer</a:t>
            </a:r>
          </a:p>
          <a:p>
            <a:pPr algn="l" marL="228600" indent="-228600">
              <a:spcAft>
                <a:spcPts val="400"/>
              </a:spcAft>
              <a:buClr>
                <a:schemeClr val="accent1"/>
              </a:buClr>
              <a:buChar char="•"/>
            </a:pPr>
            <a:r>
              <a:rPr sz="1400" b="0">
                <a:solidFill>
                  <a:schemeClr val="tx1"/>
                </a:solidFill>
              </a:rPr>
              <a:t>Ready, archive errors</a:t>
            </a:r>
          </a:p>
          <a:p>
            <a:pPr algn="l" marL="228600" indent="-228600">
              <a:spcAft>
                <a:spcPts val="400"/>
              </a:spcAft>
              <a:buClr>
                <a:schemeClr val="accent1"/>
              </a:buClr>
              <a:buChar char="•"/>
            </a:pPr>
            <a:r>
              <a:rPr sz="1400" b="0">
                <a:solidFill>
                  <a:schemeClr val="tx1"/>
                </a:solidFill>
              </a:rPr>
              <a:t>Active and pending replays</a:t>
            </a:r>
          </a:p>
          <a:p>
            <a:pPr algn="l" marL="228600" indent="-228600">
              <a:spcAft>
                <a:spcPts val="400"/>
              </a:spcAft>
              <a:buClr>
                <a:schemeClr val="accent1"/>
              </a:buClr>
              <a:buChar char="•"/>
            </a:pPr>
            <a:r>
              <a:rPr sz="1400" b="0">
                <a:solidFill>
                  <a:schemeClr val="tx1"/>
                </a:solidFill>
              </a:rPr>
              <a:t>Throttled: the recorder is behind</a:t>
            </a:r>
          </a:p>
        </p:txBody>
      </p:sp>
      <p:sp>
        <p:nvSpPr>
          <p:cNvPr id="9032" name="Card 439"/>
          <p:cNvSpPr/>
          <p:nvPr/>
        </p:nvSpPr>
        <p:spPr>
          <a:xfrm>
            <a:off x="8129016" y="2880360"/>
            <a:ext cx="3511296" cy="2560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800" b="1" cap="none">
                <a:solidFill>
                  <a:schemeClr val="tx1"/>
                </a:solidFill>
                <a:latin typeface="+mj-lt"/>
              </a:rPr>
              <a:t>Clients</a:t>
            </a:r>
          </a:p>
          <a:p>
            <a:pPr algn="l" marL="228600" indent="-228600">
              <a:spcAft>
                <a:spcPts val="400"/>
              </a:spcAft>
              <a:buClr>
                <a:schemeClr val="accent1"/>
              </a:buClr>
              <a:buChar char="•"/>
            </a:pPr>
            <a:r>
              <a:rPr sz="1400" b="0">
                <a:solidFill>
                  <a:schemeClr val="tx1"/>
                </a:solidFill>
              </a:rPr>
              <a:t>Recovery stalled, per client</a:t>
            </a:r>
          </a:p>
          <a:p>
            <a:pPr algn="l" marL="228600" indent="-228600">
              <a:spcAft>
                <a:spcPts val="400"/>
              </a:spcAft>
              <a:buClr>
                <a:schemeClr val="accent1"/>
              </a:buClr>
              <a:buChar char="•"/>
            </a:pPr>
            <a:r>
              <a:rPr sz="1400" b="0">
                <a:solidFill>
                  <a:schemeClr val="tx1"/>
                </a:solidFill>
              </a:rPr>
              <a:t>Open connections, per gateway instance</a:t>
            </a:r>
          </a:p>
          <a:p>
            <a:pPr algn="l" marL="228600" indent="-228600">
              <a:spcAft>
                <a:spcPts val="400"/>
              </a:spcAft>
              <a:buClr>
                <a:schemeClr val="accent1"/>
              </a:buClr>
              <a:buChar char="•"/>
            </a:pPr>
            <a:r>
              <a:rPr sz="1400" b="0">
                <a:solidFill>
                  <a:schemeClr val="tx1"/>
                </a:solidFill>
              </a:rPr>
              <a:t>Confirmed snapshot round, per instance</a:t>
            </a:r>
          </a:p>
          <a:p>
            <a:pPr algn="l" marL="228600" indent="-228600">
              <a:spcAft>
                <a:spcPts val="400"/>
              </a:spcAft>
              <a:buClr>
                <a:schemeClr val="accent1"/>
              </a:buClr>
              <a:buChar char="•"/>
            </a:pPr>
            <a:r>
              <a:rPr sz="1400" b="0">
                <a:solidFill>
                  <a:schemeClr val="tx1"/>
                </a:solidFill>
              </a:rPr>
              <a:t>An application's own counters, type ids 5201–5297</a:t>
            </a:r>
          </a:p>
          <a:p>
            <a:pPr algn="l" marL="228600" indent="-228600">
              <a:spcAft>
                <a:spcPts val="400"/>
              </a:spcAft>
              <a:buClr>
                <a:schemeClr val="accent1"/>
              </a:buClr>
              <a:buChar char="•"/>
            </a:pPr>
            <a:r>
              <a:rPr sz="1400" b="0">
                <a:solidFill>
                  <a:schemeClr val="tx1"/>
                </a:solidFill>
              </a:rPr>
              <a:t>Labelled member and client</a:t>
            </a:r>
          </a:p>
        </p:txBody>
      </p:sp>
      <p:sp>
        <p:nvSpPr>
          <p:cNvPr id="9033" name="Text 440"/>
          <p:cNvSpPr txBox="1"/>
          <p:nvPr/>
        </p:nvSpPr>
        <p:spPr>
          <a:xfrm>
            <a:off x="548640" y="5669280"/>
            <a:ext cx="11094415" cy="365760"/>
          </a:xfrm>
          <a:prstGeom prst="rect">
            <a:avLst/>
          </a:prstGeom>
          <a:noFill/>
        </p:spPr>
        <p:txBody>
          <a:bodyPr wrap="square" anchor="t" lIns="0" rIns="0" tIns="0" bIns="0">
            <a:spAutoFit/>
          </a:bodyPr>
          <a:lstStyle/>
          <a:p>
            <a:pPr algn="l"/>
            <a:r>
              <a:rPr sz="1400" b="1">
                <a:solidFill>
                  <a:schemeClr val="accent2"/>
                </a:solidFill>
              </a:rPr>
              <a:t>Not provided: </a:t>
            </a:r>
            <a:r>
              <a:rPr sz="1400" b="0">
                <a:solidFill>
                  <a:schemeClr val="tx1"/>
                </a:solidFill>
              </a:rPr>
              <a:t>alert rules, service discovery, authentication on the metrics endpoint.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What Aeron does not tell you</a:t>
            </a:r>
          </a:p>
        </p:txBody>
      </p:sp>
      <p:sp>
        <p:nvSpPr>
          <p:cNvPr id="3" name="Text 441"/>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Behavior learned the hard way, and what seqeron does about it</a:t>
            </a:r>
          </a:p>
        </p:txBody>
      </p:sp>
      <p:sp>
        <p:nvSpPr>
          <p:cNvPr id="9023" name="Slide number"/>
          <p:cNvSpPr txBox="1"/>
          <p:nvPr userDrawn="1"/>
        </p:nvSpPr>
        <p:spPr>
          <a:xfrm>
            <a:off x="10728655" y="6400800"/>
            <a:ext cx="914400" cy="274320"/>
          </a:xfrm>
          <a:prstGeom prst="rect">
            <a:avLst/>
          </a:prstGeom>
          <a:noFill/>
        </p:spPr>
        <p:txBody>
          <a:bodyPr wrap="none" lIns="0" tIns="0" rIns="0" bIns="0" anchor="ctr"/>
          <a:lstStyle/>
          <a:p>
            <a:pPr algn="r"/>
            <a:fld id="{858b41ac-243d-45ab-88c9-25b6ccd532d3}" type="slidenum">
              <a:rPr lang="en-US" sz="1000" dirty="0">
                <a:solidFill>
                  <a:schemeClr val="accent5"/>
                </a:solidFill>
              </a:rPr>
              <a:t>23</a:t>
            </a:fld>
          </a:p>
        </p:txBody>
      </p:sp>
      <p:graphicFrame>
        <p:nvGraphicFramePr>
          <p:cNvPr id="9024" name="Table 442"/>
          <p:cNvGraphicFramePr>
            <a:graphicFrameLocks noGrp="1"/>
          </p:cNvGraphicFramePr>
          <p:nvPr/>
        </p:nvGraphicFramePr>
        <p:xfrm>
          <a:off x="548640" y="1600200"/>
          <a:ext cx="11091672" cy="4389120"/>
        </p:xfrm>
        <a:graphic>
          <a:graphicData uri="http://schemas.openxmlformats.org/drawingml/2006/table">
            <a:tbl>
              <a:tblPr firstRow="1">
                <a:tableStyleId>{5C22544A-7EE6-4342-B048-85BDC9FD1C3A}</a:tableStyleId>
              </a:tblPr>
              <a:tblGrid>
                <a:gridCol w="3383280"/>
                <a:gridCol w="3931920"/>
                <a:gridCol w="3776472"/>
              </a:tblGrid>
              <a:tr h="438912">
                <a:tc>
                  <a:txBody>
                    <a:bodyPr/>
                    <a:lstStyle/>
                    <a:p>
                      <a:pPr algn="l"/>
                      <a:r>
                        <a:rPr sz="1100" b="1">
                          <a:solidFill>
                            <a:schemeClr val="bg1"/>
                          </a:solidFill>
                        </a:rPr>
                        <a:t>Aeron</a:t>
                      </a:r>
                    </a:p>
                  </a:txBody>
                  <a:tcPr marL="91440" marR="91440" marT="45720" marB="45720" anchor="ctr">
                    <a:solidFill>
                      <a:schemeClr val="accent1"/>
                    </a:solidFill>
                  </a:tcPr>
                </a:tc>
                <a:tc>
                  <a:txBody>
                    <a:bodyPr/>
                    <a:lstStyle/>
                    <a:p>
                      <a:pPr algn="l"/>
                      <a:r>
                        <a:rPr sz="1100" b="1">
                          <a:solidFill>
                            <a:schemeClr val="bg1"/>
                          </a:solidFill>
                        </a:rPr>
                        <a:t>Consequence</a:t>
                      </a:r>
                    </a:p>
                  </a:txBody>
                  <a:tcPr marL="91440" marR="91440" marT="45720" marB="45720" anchor="ctr">
                    <a:solidFill>
                      <a:schemeClr val="accent1"/>
                    </a:solidFill>
                  </a:tcPr>
                </a:tc>
                <a:tc>
                  <a:txBody>
                    <a:bodyPr/>
                    <a:lstStyle/>
                    <a:p>
                      <a:pPr algn="l"/>
                      <a:r>
                        <a:rPr sz="1100" b="1">
                          <a:solidFill>
                            <a:schemeClr val="bg1"/>
                          </a:solidFill>
                        </a:rPr>
                        <a:t>seqeron</a:t>
                      </a:r>
                    </a:p>
                  </a:txBody>
                  <a:tcPr marL="91440" marR="91440" marT="45720" marB="45720" anchor="ctr">
                    <a:solidFill>
                      <a:schemeClr val="accent1"/>
                    </a:solidFill>
                  </a:tcPr>
                </a:tc>
              </a:tr>
              <a:tr h="438912">
                <a:tc>
                  <a:txBody>
                    <a:bodyPr/>
                    <a:lstStyle/>
                    <a:p>
                      <a:pPr algn="l"/>
                      <a:r>
                        <a:rPr sz="1200" b="1">
                          <a:solidFill>
                            <a:schemeClr val="tx1"/>
                          </a:solidFill>
                        </a:rPr>
                        <a:t>An accepted offer is not a committed one</a:t>
                      </a:r>
                    </a:p>
                  </a:txBody>
                  <a:tcPr marL="91440" marR="91440" marT="45720" marB="45720" anchor="ctr">
                    <a:solidFill>
                      <a:schemeClr val="bg1"/>
                    </a:solidFill>
                  </a:tcPr>
                </a:tc>
                <a:tc>
                  <a:txBody>
                    <a:bodyPr/>
                    <a:lstStyle/>
                    <a:p>
                      <a:pPr algn="l"/>
                      <a:r>
                        <a:rPr sz="1200" b="0">
                          <a:solidFill>
                            <a:schemeClr val="tx1"/>
                          </a:solidFill>
                        </a:rPr>
                        <a:t>A failover loses it; the session survives, so nobody sees it</a:t>
                      </a:r>
                    </a:p>
                  </a:txBody>
                  <a:tcPr marL="91440" marR="91440" marT="45720" marB="45720" anchor="ctr">
                    <a:solidFill>
                      <a:schemeClr val="bg1"/>
                    </a:solidFill>
                  </a:tcPr>
                </a:tc>
                <a:tc>
                  <a:txBody>
                    <a:bodyPr/>
                    <a:lstStyle/>
                    <a:p>
                      <a:pPr algn="l"/>
                      <a:r>
                        <a:rPr sz="1200" b="0">
                          <a:solidFill>
                            <a:schemeClr val="tx1"/>
                          </a:solidFill>
                        </a:rPr>
                        <a:t>Confirmed on the producer's own queue</a:t>
                      </a:r>
                    </a:p>
                  </a:txBody>
                  <a:tcPr marL="91440" marR="91440" marT="45720" marB="45720" anchor="ctr">
                    <a:solidFill>
                      <a:schemeClr val="bg1"/>
                    </a:solidFill>
                  </a:tcPr>
                </a:tc>
              </a:tr>
              <a:tr h="438912">
                <a:tc>
                  <a:txBody>
                    <a:bodyPr/>
                    <a:lstStyle/>
                    <a:p>
                      <a:pPr algn="l"/>
                      <a:r>
                        <a:rPr sz="1200" b="1">
                          <a:solidFill>
                            <a:schemeClr val="tx1"/>
                          </a:solidFill>
                        </a:rPr>
                        <a:t>A cluster callback that throws</a:t>
                      </a:r>
                    </a:p>
                  </a:txBody>
                  <a:tcPr marL="91440" marR="91440" marT="45720" marB="45720" anchor="ctr">
                    <a:solidFill>
                      <a:schemeClr val="bg2"/>
                    </a:solidFill>
                  </a:tcPr>
                </a:tc>
                <a:tc>
                  <a:txBody>
                    <a:bodyPr/>
                    <a:lstStyle/>
                    <a:p>
                      <a:pPr algn="l"/>
                      <a:r>
                        <a:rPr sz="1200" b="0">
                          <a:solidFill>
                            <a:schemeClr val="tx1"/>
                          </a:solidFill>
                        </a:rPr>
                        <a:t>Its position has advanced: the frame is dropped, the agent runs on</a:t>
                      </a:r>
                    </a:p>
                  </a:txBody>
                  <a:tcPr marL="91440" marR="91440" marT="45720" marB="45720" anchor="ctr">
                    <a:solidFill>
                      <a:schemeClr val="bg2"/>
                    </a:solidFill>
                  </a:tcPr>
                </a:tc>
                <a:tc>
                  <a:txBody>
                    <a:bodyPr/>
                    <a:lstStyle/>
                    <a:p>
                      <a:pPr algn="l"/>
                      <a:r>
                        <a:rPr sz="1200" b="0">
                          <a:solidFill>
                            <a:schemeClr val="tx1"/>
                          </a:solidFill>
                        </a:rPr>
                        <a:t>Never throws; exits with code 70</a:t>
                      </a:r>
                    </a:p>
                  </a:txBody>
                  <a:tcPr marL="91440" marR="91440" marT="45720" marB="45720" anchor="ctr">
                    <a:solidFill>
                      <a:schemeClr val="bg2"/>
                    </a:solidFill>
                  </a:tcPr>
                </a:tc>
              </a:tr>
              <a:tr h="438912">
                <a:tc>
                  <a:txBody>
                    <a:bodyPr/>
                    <a:lstStyle/>
                    <a:p>
                      <a:pPr algn="l"/>
                      <a:r>
                        <a:rPr sz="1200" b="1">
                          <a:solidFill>
                            <a:schemeClr val="tx1"/>
                          </a:solidFill>
                        </a:rPr>
                        <a:t>A handler that throws in Image.poll</a:t>
                      </a:r>
                    </a:p>
                  </a:txBody>
                  <a:tcPr marL="91440" marR="91440" marT="45720" marB="45720" anchor="ctr">
                    <a:solidFill>
                      <a:schemeClr val="bg1"/>
                    </a:solidFill>
                  </a:tcPr>
                </a:tc>
                <a:tc>
                  <a:txBody>
                    <a:bodyPr/>
                    <a:lstStyle/>
                    <a:p>
                      <a:pPr algn="l"/>
                      <a:r>
                        <a:rPr sz="1200" b="0">
                          <a:solidFill>
                            <a:schemeClr val="tx1"/>
                          </a:solidFill>
                        </a:rPr>
                        <a:t>The error handler gets it; the position advances anyway</a:t>
                      </a:r>
                    </a:p>
                  </a:txBody>
                  <a:tcPr marL="91440" marR="91440" marT="45720" marB="45720" anchor="ctr">
                    <a:solidFill>
                      <a:schemeClr val="bg1"/>
                    </a:solidFill>
                  </a:tcPr>
                </a:tc>
                <a:tc>
                  <a:txBody>
                    <a:bodyPr/>
                    <a:lstStyle/>
                    <a:p>
                      <a:pPr algn="l"/>
                      <a:r>
                        <a:rPr sz="1200" b="0">
                          <a:solidFill>
                            <a:schemeClr val="tx1"/>
                          </a:solidFill>
                        </a:rPr>
                        <a:t>Recorded, raised from doWork()</a:t>
                      </a:r>
                    </a:p>
                  </a:txBody>
                  <a:tcPr marL="91440" marR="91440" marT="45720" marB="45720" anchor="ctr">
                    <a:solidFill>
                      <a:schemeClr val="bg1"/>
                    </a:solidFill>
                  </a:tcPr>
                </a:tc>
              </a:tr>
              <a:tr h="438912">
                <a:tc>
                  <a:txBody>
                    <a:bodyPr/>
                    <a:lstStyle/>
                    <a:p>
                      <a:pPr algn="l"/>
                      <a:r>
                        <a:rPr sz="1200" b="1">
                          <a:solidFill>
                            <a:schemeClr val="tx1"/>
                          </a:solidFill>
                        </a:rPr>
                        <a:t>Back-pressure is the caller's</a:t>
                      </a:r>
                    </a:p>
                  </a:txBody>
                  <a:tcPr marL="91440" marR="91440" marT="45720" marB="45720" anchor="ctr">
                    <a:solidFill>
                      <a:schemeClr val="bg2"/>
                    </a:solidFill>
                  </a:tcPr>
                </a:tc>
                <a:tc>
                  <a:txBody>
                    <a:bodyPr/>
                    <a:lstStyle/>
                    <a:p>
                      <a:pPr algn="l"/>
                      <a:r>
                        <a:rPr sz="1200" b="0">
                          <a:solidFill>
                            <a:schemeClr val="tx1"/>
                          </a:solidFill>
                        </a:rPr>
                        <a:t>A service thread that blocks stalls the log and the cluster clock</a:t>
                      </a:r>
                    </a:p>
                  </a:txBody>
                  <a:tcPr marL="91440" marR="91440" marT="45720" marB="45720" anchor="ctr">
                    <a:solidFill>
                      <a:schemeClr val="bg2"/>
                    </a:solidFill>
                  </a:tcPr>
                </a:tc>
                <a:tc>
                  <a:txBody>
                    <a:bodyPr/>
                    <a:lstStyle/>
                    <a:p>
                      <a:pPr algn="l"/>
                      <a:r>
                        <a:rPr sz="1200" b="0">
                          <a:solidFill>
                            <a:schemeClr val="tx1"/>
                          </a:solidFill>
                        </a:rPr>
                        <a:t>A bounded retry watching RecordingPos</a:t>
                      </a:r>
                    </a:p>
                  </a:txBody>
                  <a:tcPr marL="91440" marR="91440" marT="45720" marB="45720" anchor="ctr">
                    <a:solidFill>
                      <a:schemeClr val="bg2"/>
                    </a:solidFill>
                  </a:tcPr>
                </a:tc>
              </a:tr>
              <a:tr h="438912">
                <a:tc>
                  <a:txBody>
                    <a:bodyPr/>
                    <a:lstStyle/>
                    <a:p>
                      <a:pPr algn="l"/>
                      <a:r>
                        <a:rPr sz="1200" b="1">
                          <a:solidFill>
                            <a:schemeClr val="tx1"/>
                          </a:solidFill>
                        </a:rPr>
                        <a:t>A stopped recording</a:t>
                      </a:r>
                    </a:p>
                  </a:txBody>
                  <a:tcPr marL="91440" marR="91440" marT="45720" marB="45720" anchor="ctr">
                    <a:solidFill>
                      <a:schemeClr val="bg1"/>
                    </a:solidFill>
                  </a:tcPr>
                </a:tc>
                <a:tc>
                  <a:txBody>
                    <a:bodyPr/>
                    <a:lstStyle/>
                    <a:p>
                      <a:pPr algn="l"/>
                      <a:r>
                        <a:rPr sz="1200" b="0">
                          <a:solidFill>
                            <a:schemeClr val="tx1"/>
                          </a:solidFill>
                        </a:rPr>
                        <a:t>Back-pressures nothing: untethered readers keep it connected</a:t>
                      </a:r>
                    </a:p>
                  </a:txBody>
                  <a:tcPr marL="91440" marR="91440" marT="45720" marB="45720" anchor="ctr">
                    <a:solidFill>
                      <a:schemeClr val="bg1"/>
                    </a:solidFill>
                  </a:tcPr>
                </a:tc>
                <a:tc>
                  <a:txBody>
                    <a:bodyPr/>
                    <a:lstStyle/>
                    <a:p>
                      <a:pPr algn="l"/>
                      <a:r>
                        <a:rPr sz="1200" b="0">
                          <a:solidFill>
                            <a:schemeClr val="tx1"/>
                          </a:solidFill>
                        </a:rPr>
                        <a:t>The 1 Hz heartbeat's liveness check</a:t>
                      </a:r>
                    </a:p>
                  </a:txBody>
                  <a:tcPr marL="91440" marR="91440" marT="45720" marB="45720" anchor="ctr">
                    <a:solidFill>
                      <a:schemeClr val="bg1"/>
                    </a:solidFill>
                  </a:tcPr>
                </a:tc>
              </a:tr>
              <a:tr h="438912">
                <a:tc>
                  <a:txBody>
                    <a:bodyPr/>
                    <a:lstStyle/>
                    <a:p>
                      <a:pPr algn="l"/>
                      <a:r>
                        <a:rPr sz="1200" b="1">
                          <a:solidFill>
                            <a:schemeClr val="tx1"/>
                          </a:solidFill>
                        </a:rPr>
                        <a:t>CLOSED from an ingress offer</a:t>
                      </a:r>
                    </a:p>
                  </a:txBody>
                  <a:tcPr marL="91440" marR="91440" marT="45720" marB="45720" anchor="ctr">
                    <a:solidFill>
                      <a:schemeClr val="bg2"/>
                    </a:solidFill>
                  </a:tcPr>
                </a:tc>
                <a:tc>
                  <a:txBody>
                    <a:bodyPr/>
                    <a:lstStyle/>
                    <a:p>
                      <a:pPr algn="l"/>
                      <a:r>
                        <a:rPr sz="1200" b="0">
                          <a:solidFill>
                            <a:schemeClr val="tx1"/>
                          </a:solidFill>
                        </a:rPr>
                        <a:t>Looks terminal; it is an election in progress</a:t>
                      </a:r>
                    </a:p>
                  </a:txBody>
                  <a:tcPr marL="91440" marR="91440" marT="45720" marB="45720" anchor="ctr">
                    <a:solidFill>
                      <a:schemeClr val="bg2"/>
                    </a:solidFill>
                  </a:tcPr>
                </a:tc>
                <a:tc>
                  <a:txBody>
                    <a:bodyPr/>
                    <a:lstStyle/>
                    <a:p>
                      <a:pPr algn="l"/>
                      <a:r>
                        <a:rPr sz="1200" b="0">
                          <a:solidFill>
                            <a:schemeClr val="tx1"/>
                          </a:solidFill>
                        </a:rPr>
                        <a:t>Keeps spinning: IngressStallPolicy</a:t>
                      </a:r>
                    </a:p>
                  </a:txBody>
                  <a:tcPr marL="91440" marR="91440" marT="45720" marB="45720" anchor="ctr">
                    <a:solidFill>
                      <a:schemeClr val="bg2"/>
                    </a:solidFill>
                  </a:tcPr>
                </a:tc>
              </a:tr>
              <a:tr h="438912">
                <a:tc>
                  <a:txBody>
                    <a:bodyPr/>
                    <a:lstStyle/>
                    <a:p>
                      <a:pPr algn="l"/>
                      <a:r>
                        <a:rPr sz="1200" b="1">
                          <a:solidFill>
                            <a:schemeClr val="tx1"/>
                          </a:solidFill>
                        </a:rPr>
                        <a:t>A bounded replay of a live recording</a:t>
                      </a:r>
                    </a:p>
                  </a:txBody>
                  <a:tcPr marL="91440" marR="91440" marT="45720" marB="45720" anchor="ctr">
                    <a:solidFill>
                      <a:schemeClr val="bg1"/>
                    </a:solidFill>
                  </a:tcPr>
                </a:tc>
                <a:tc>
                  <a:txBody>
                    <a:bodyPr/>
                    <a:lstStyle/>
                    <a:p>
                      <a:pPr algn="l"/>
                      <a:r>
                        <a:rPr sz="1200" b="0">
                          <a:solidFill>
                            <a:schemeClr val="tx1"/>
                          </a:solidFill>
                        </a:rPr>
                        <a:t>Does not close at its bound</a:t>
                      </a:r>
                    </a:p>
                  </a:txBody>
                  <a:tcPr marL="91440" marR="91440" marT="45720" marB="45720" anchor="ctr">
                    <a:solidFill>
                      <a:schemeClr val="bg1"/>
                    </a:solidFill>
                  </a:tcPr>
                </a:tc>
                <a:tc>
                  <a:txBody>
                    <a:bodyPr/>
                    <a:lstStyle/>
                    <a:p>
                      <a:pPr algn="l"/>
                      <a:r>
                        <a:rPr sz="1200" b="0">
                          <a:solidFill>
                            <a:schemeClr val="tx1"/>
                          </a:solidFill>
                        </a:rPr>
                        <a:t>Completion by position</a:t>
                      </a:r>
                    </a:p>
                  </a:txBody>
                  <a:tcPr marL="91440" marR="91440" marT="45720" marB="45720" anchor="ctr">
                    <a:solidFill>
                      <a:schemeClr val="bg1"/>
                    </a:solidFill>
                  </a:tcPr>
                </a:tc>
              </a:tr>
              <a:tr h="438912">
                <a:tc>
                  <a:txBody>
                    <a:bodyPr/>
                    <a:lstStyle/>
                    <a:p>
                      <a:pPr algn="l"/>
                      <a:r>
                        <a:rPr sz="1200" b="1">
                          <a:solidFill>
                            <a:schemeClr val="tx1"/>
                          </a:solidFill>
                        </a:rPr>
                        <a:t>Aeron.NET's defaults</a:t>
                      </a:r>
                    </a:p>
                  </a:txBody>
                  <a:tcPr marL="91440" marR="91440" marT="45720" marB="45720" anchor="ctr">
                    <a:solidFill>
                      <a:schemeClr val="bg2"/>
                    </a:solidFill>
                  </a:tcPr>
                </a:tc>
                <a:tc>
                  <a:txBody>
                    <a:bodyPr/>
                    <a:lstStyle/>
                    <a:p>
                      <a:pPr algn="l"/>
                      <a:r>
                        <a:rPr sz="1200" b="0">
                          <a:solidFill>
                            <a:schemeClr val="tx1"/>
                          </a:solidFill>
                        </a:rPr>
                        <a:t>A new-leader timeout shorter than an election</a:t>
                      </a:r>
                    </a:p>
                  </a:txBody>
                  <a:tcPr marL="91440" marR="91440" marT="45720" marB="45720" anchor="ctr">
                    <a:solidFill>
                      <a:schemeClr val="bg2"/>
                    </a:solidFill>
                  </a:tcPr>
                </a:tc>
                <a:tc>
                  <a:txBody>
                    <a:bodyPr/>
                    <a:lstStyle/>
                    <a:p>
                      <a:pPr algn="l"/>
                      <a:r>
                        <a:rPr sz="1200" b="0">
                          <a:solidFill>
                            <a:schemeClr val="tx1"/>
                          </a:solidFill>
                        </a:rPr>
                        <a:t>Every timeout set explicitly</a:t>
                      </a:r>
                    </a:p>
                  </a:txBody>
                  <a:tcPr marL="91440" marR="91440" marT="45720" marB="45720" anchor="ctr">
                    <a:solidFill>
                      <a:schemeClr val="bg2"/>
                    </a:solidFill>
                  </a:tcPr>
                </a:tc>
              </a:tr>
              <a:tr h="438912">
                <a:tc>
                  <a:txBody>
                    <a:bodyPr/>
                    <a:lstStyle/>
                    <a:p>
                      <a:pPr algn="l"/>
                      <a:r>
                        <a:rPr sz="1200" b="1">
                          <a:solidFill>
                            <a:schemeClr val="tx1"/>
                          </a:solidFill>
                        </a:rPr>
                        <a:t>No C++ cluster client</a:t>
                      </a:r>
                    </a:p>
                  </a:txBody>
                  <a:tcPr marL="91440" marR="91440" marT="45720" marB="45720" anchor="ctr">
                    <a:solidFill>
                      <a:schemeClr val="bg1"/>
                    </a:solidFill>
                  </a:tcPr>
                </a:tc>
                <a:tc>
                  <a:txBody>
                    <a:bodyPr/>
                    <a:lstStyle/>
                    <a:p>
                      <a:pPr algn="l"/>
                      <a:r>
                        <a:rPr sz="1200" b="0">
                          <a:solidFill>
                            <a:schemeClr val="tx1"/>
                          </a:solidFill>
                        </a:rPr>
                        <a:t>Nothing to build on</a:t>
                      </a:r>
                    </a:p>
                  </a:txBody>
                  <a:tcPr marL="91440" marR="91440" marT="45720" marB="45720" anchor="ctr">
                    <a:solidFill>
                      <a:schemeClr val="bg1"/>
                    </a:solidFill>
                  </a:tcPr>
                </a:tc>
                <a:tc>
                  <a:txBody>
                    <a:bodyPr/>
                    <a:lstStyle/>
                    <a:p>
                      <a:pPr algn="l"/>
                      <a:r>
                        <a:rPr sz="1200" b="0">
                          <a:solidFill>
                            <a:schemeClr val="tx1"/>
                          </a:solidFill>
                        </a:rPr>
                        <a:t>Written against the wire protocol</a:t>
                      </a:r>
                    </a:p>
                  </a:txBody>
                  <a:tcPr marL="91440" marR="91440" marT="45720" marB="45720" anchor="ctr">
                    <a:solidFill>
                      <a:schemeClr val="bg1"/>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lIns="0" rIns="0" anchor="t"/>
          <a:lstStyle/>
          <a:p>
            <a:pPr algn="l"/>
            <a:r>
              <a:rPr sz="4400" b="1" cap="none">
                <a:solidFill>
                  <a:schemeClr val="bg1"/>
                </a:solidFill>
                <a:latin typeface="+mj-lt"/>
              </a:rPr>
              <a:t>Discussion</a:t>
            </a:r>
          </a:p>
        </p:txBody>
      </p:sp>
      <p:sp>
        <p:nvSpPr>
          <p:cNvPr id="3" name="Text Placeholder 2"/>
          <p:cNvSpPr>
            <a:spLocks noGrp="1"/>
          </p:cNvSpPr>
          <p:nvPr>
            <p:ph type="body" idx="1"/>
          </p:nvPr>
        </p:nvSpPr>
        <p:spPr/>
        <p:txBody>
          <a:bodyPr lIns="0" rIns="0"/>
          <a:lstStyle/>
          <a:p>
            <a:pPr algn="l"/>
            <a:r>
              <a:rPr sz="2000" b="0">
                <a:solidFill>
                  <a:schemeClr val="accent3"/>
                </a:solidFill>
              </a:rPr>
              <a:t>Further reading in doc/</a:t>
            </a:r>
          </a:p>
        </p:txBody>
      </p:sp>
      <p:sp>
        <p:nvSpPr>
          <p:cNvPr id="4" name="Tape cell 443"/>
          <p:cNvSpPr/>
          <p:nvPr/>
        </p:nvSpPr>
        <p:spPr>
          <a:xfrm>
            <a:off x="731520" y="1965960"/>
            <a:ext cx="384048" cy="38404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1</a:t>
            </a:r>
          </a:p>
        </p:txBody>
      </p:sp>
      <p:sp>
        <p:nvSpPr>
          <p:cNvPr id="5" name="Tape cell 444"/>
          <p:cNvSpPr/>
          <p:nvPr/>
        </p:nvSpPr>
        <p:spPr>
          <a:xfrm>
            <a:off x="1188720" y="1965960"/>
            <a:ext cx="384048" cy="38404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2</a:t>
            </a:r>
          </a:p>
        </p:txBody>
      </p:sp>
      <p:sp>
        <p:nvSpPr>
          <p:cNvPr id="6" name="Tape cell 445"/>
          <p:cNvSpPr/>
          <p:nvPr/>
        </p:nvSpPr>
        <p:spPr>
          <a:xfrm>
            <a:off x="1645920" y="1965960"/>
            <a:ext cx="384048" cy="38404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3</a:t>
            </a:r>
          </a:p>
        </p:txBody>
      </p:sp>
      <p:sp>
        <p:nvSpPr>
          <p:cNvPr id="7" name="Tape cell 446"/>
          <p:cNvSpPr/>
          <p:nvPr/>
        </p:nvSpPr>
        <p:spPr>
          <a:xfrm>
            <a:off x="2103120" y="1965960"/>
            <a:ext cx="384048" cy="38404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4</a:t>
            </a:r>
          </a:p>
        </p:txBody>
      </p:sp>
      <p:sp>
        <p:nvSpPr>
          <p:cNvPr id="8" name="Tape cell 447"/>
          <p:cNvSpPr/>
          <p:nvPr/>
        </p:nvSpPr>
        <p:spPr>
          <a:xfrm>
            <a:off x="2560320" y="1965960"/>
            <a:ext cx="384048" cy="38404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5</a:t>
            </a:r>
          </a:p>
        </p:txBody>
      </p:sp>
      <p:sp>
        <p:nvSpPr>
          <p:cNvPr id="9" name="Tape cell 448"/>
          <p:cNvSpPr/>
          <p:nvPr/>
        </p:nvSpPr>
        <p:spPr>
          <a:xfrm>
            <a:off x="3017520" y="1965960"/>
            <a:ext cx="384048" cy="384048"/>
          </a:xfrm>
          <a:prstGeom prst="rect">
            <a:avLst/>
          </a:prstGeom>
          <a:solidFill>
            <a:schemeClr val="tx2"/>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0">
                <a:solidFill>
                  <a:schemeClr val="accent3"/>
                </a:solidFill>
              </a:rPr>
              <a:t>6</a:t>
            </a:r>
          </a:p>
        </p:txBody>
      </p:sp>
      <p:sp>
        <p:nvSpPr>
          <p:cNvPr id="10" name="Text 449"/>
          <p:cNvSpPr txBox="1"/>
          <p:nvPr/>
        </p:nvSpPr>
        <p:spPr>
          <a:xfrm>
            <a:off x="731520" y="4892040"/>
            <a:ext cx="10698480" cy="1463040"/>
          </a:xfrm>
          <a:prstGeom prst="rect">
            <a:avLst/>
          </a:prstGeom>
          <a:noFill/>
        </p:spPr>
        <p:txBody>
          <a:bodyPr wrap="square" anchor="t" lIns="0" rIns="0" tIns="0" bIns="0">
            <a:spAutoFit/>
          </a:bodyPr>
          <a:lstStyle/>
          <a:p>
            <a:pPr algn="l">
              <a:spcAft>
                <a:spcPts val="600"/>
              </a:spcAft>
            </a:pPr>
            <a:r>
              <a:rPr sz="1600" b="1">
                <a:solidFill>
                  <a:schemeClr val="bg1"/>
                </a:solidFill>
              </a:rPr>
              <a:t>overview.md</a:t>
            </a:r>
            <a:r>
              <a:rPr sz="1600" b="0">
                <a:solidFill>
                  <a:schemeClr val="accent3"/>
                </a:solidFill>
              </a:rPr>
              <a:t>  the design   </a:t>
            </a:r>
            <a:r>
              <a:rPr sz="1600" b="1">
                <a:solidFill>
                  <a:schemeClr val="bg1"/>
                </a:solidFill>
              </a:rPr>
              <a:t>seqeron-protocol-spec.md</a:t>
            </a:r>
            <a:r>
              <a:rPr sz="1600" b="0">
                <a:solidFill>
                  <a:schemeClr val="accent3"/>
                </a:solidFill>
              </a:rPr>
              <a:t>  normative rules</a:t>
            </a:r>
          </a:p>
          <a:p>
            <a:pPr algn="l">
              <a:spcAft>
                <a:spcPts val="600"/>
              </a:spcAft>
            </a:pPr>
            <a:r>
              <a:rPr sz="1600" b="1">
                <a:solidFill>
                  <a:schemeClr val="bg1"/>
                </a:solidFill>
              </a:rPr>
              <a:t>fault-tolerance.md</a:t>
            </a:r>
            <a:r>
              <a:rPr sz="1600" b="0">
                <a:solidFill>
                  <a:schemeClr val="accent3"/>
                </a:solidFill>
              </a:rPr>
              <a:t>  each failure   </a:t>
            </a:r>
            <a:r>
              <a:rPr sz="1600" b="1">
                <a:solidFill>
                  <a:schemeClr val="bg1"/>
                </a:solidFill>
              </a:rPr>
              <a:t>client-api.md</a:t>
            </a:r>
            <a:r>
              <a:rPr sz="1600" b="0">
                <a:solidFill>
                  <a:schemeClr val="accent3"/>
                </a:solidFill>
              </a:rPr>
              <a:t>  the client tier   </a:t>
            </a:r>
            <a:r>
              <a:rPr sz="1600" b="1">
                <a:solidFill>
                  <a:schemeClr val="bg1"/>
                </a:solidFill>
              </a:rPr>
              <a:t>snapshot.md</a:t>
            </a:r>
            <a:r>
              <a:rPr sz="1600" b="0">
                <a:solidFill>
                  <a:schemeClr val="accent3"/>
                </a:solidFill>
              </a:rPr>
              <a:t>  application snapshots</a:t>
            </a:r>
          </a:p>
          <a:p>
            <a:pPr algn="l"/>
            <a:r>
              <a:rPr sz="1600" b="1">
                <a:solidFill>
                  <a:schemeClr val="bg1"/>
                </a:solidFill>
              </a:rPr>
              <a:t>ops.md</a:t>
            </a:r>
            <a:r>
              <a:rPr sz="1600" b="0">
                <a:solidFill>
                  <a:schemeClr val="accent3"/>
                </a:solidFill>
              </a:rPr>
              <a:t>  ports, counters, runbooks   </a:t>
            </a:r>
            <a:r>
              <a:rPr sz="1600" b="1">
                <a:solidFill>
                  <a:schemeClr val="bg1"/>
                </a:solidFill>
              </a:rPr>
              <a:t>clusterctl.md</a:t>
            </a:r>
            <a:r>
              <a:rPr sz="1600" b="0">
                <a:solidFill>
                  <a:schemeClr val="accent3"/>
                </a:solidFill>
              </a:rPr>
              <a:t>  the operator tool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Failover</a:t>
            </a:r>
          </a:p>
        </p:txBody>
      </p:sp>
      <p:sp>
        <p:nvSpPr>
          <p:cNvPr id="3" name="Text 450"/>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Where a client switches when its primary cannot be reached; the cluster's own election aside</a:t>
            </a:r>
          </a:p>
        </p:txBody>
      </p:sp>
      <p:sp>
        <p:nvSpPr>
          <p:cNvPr id="9025" name="Slide number"/>
          <p:cNvSpPr txBox="1"/>
          <p:nvPr userDrawn="1"/>
        </p:nvSpPr>
        <p:spPr>
          <a:xfrm>
            <a:off x="10728655" y="6400800"/>
            <a:ext cx="914400" cy="274320"/>
          </a:xfrm>
          <a:prstGeom prst="rect">
            <a:avLst/>
          </a:prstGeom>
          <a:noFill/>
        </p:spPr>
        <p:txBody>
          <a:bodyPr wrap="none" lIns="0" tIns="0" rIns="0" bIns="0" anchor="ctr"/>
          <a:lstStyle/>
          <a:p>
            <a:pPr algn="r"/>
            <a:fld id="{881b31bf-de38-48a2-847e-8bb305156961}" type="slidenum">
              <a:rPr lang="en-US" sz="1000" dirty="0">
                <a:solidFill>
                  <a:schemeClr val="accent5"/>
                </a:solidFill>
              </a:rPr>
              <a:t>25</a:t>
            </a:fld>
          </a:p>
        </p:txBody>
      </p:sp>
      <p:graphicFrame>
        <p:nvGraphicFramePr>
          <p:cNvPr id="9026" name="Table 451"/>
          <p:cNvGraphicFramePr>
            <a:graphicFrameLocks noGrp="1"/>
          </p:cNvGraphicFramePr>
          <p:nvPr/>
        </p:nvGraphicFramePr>
        <p:xfrm>
          <a:off x="548640" y="1645920"/>
          <a:ext cx="11091672" cy="4023360"/>
        </p:xfrm>
        <a:graphic>
          <a:graphicData uri="http://schemas.openxmlformats.org/drawingml/2006/table">
            <a:tbl>
              <a:tblPr firstRow="1">
                <a:tableStyleId>{5C22544A-7EE6-4342-B048-85BDC9FD1C3A}</a:tableStyleId>
              </a:tblPr>
              <a:tblGrid>
                <a:gridCol w="2834640"/>
                <a:gridCol w="3383280"/>
                <a:gridCol w="4873752"/>
              </a:tblGrid>
              <a:tr h="502920">
                <a:tc>
                  <a:txBody>
                    <a:bodyPr/>
                    <a:lstStyle/>
                    <a:p>
                      <a:pPr algn="l"/>
                      <a:r>
                        <a:rPr sz="1200" b="1">
                          <a:solidFill>
                            <a:schemeClr val="bg1"/>
                          </a:solidFill>
                        </a:rPr>
                        <a:t>What</a:t>
                      </a:r>
                    </a:p>
                  </a:txBody>
                  <a:tcPr marL="91440" marR="91440" marT="45720" marB="45720" anchor="ctr">
                    <a:solidFill>
                      <a:schemeClr val="accent1"/>
                    </a:solidFill>
                  </a:tcPr>
                </a:tc>
                <a:tc>
                  <a:txBody>
                    <a:bodyPr/>
                    <a:lstStyle/>
                    <a:p>
                      <a:pPr algn="l"/>
                      <a:r>
                        <a:rPr sz="1200" b="1">
                          <a:solidFill>
                            <a:schemeClr val="bg1"/>
                          </a:solidFill>
                        </a:rPr>
                        <a:t>Fails over to</a:t>
                      </a:r>
                    </a:p>
                  </a:txBody>
                  <a:tcPr marL="91440" marR="91440" marT="45720" marB="45720" anchor="ctr">
                    <a:solidFill>
                      <a:schemeClr val="accent1"/>
                    </a:solidFill>
                  </a:tcPr>
                </a:tc>
                <a:tc>
                  <a:txBody>
                    <a:bodyPr/>
                    <a:lstStyle/>
                    <a:p>
                      <a:pPr algn="l"/>
                      <a:r>
                        <a:rPr sz="1200" b="1">
                          <a:solidFill>
                            <a:schemeClr val="bg1"/>
                          </a:solidFill>
                        </a:rPr>
                        <a:t>Trigger</a:t>
                      </a:r>
                    </a:p>
                  </a:txBody>
                  <a:tcPr marL="91440" marR="91440" marT="45720" marB="45720" anchor="ctr">
                    <a:solidFill>
                      <a:schemeClr val="accent1"/>
                    </a:solidFill>
                  </a:tcPr>
                </a:tc>
              </a:tr>
              <a:tr h="502920">
                <a:tc>
                  <a:txBody>
                    <a:bodyPr/>
                    <a:lstStyle/>
                    <a:p>
                      <a:pPr algn="l"/>
                      <a:r>
                        <a:rPr sz="1300" b="1">
                          <a:solidFill>
                            <a:schemeClr val="tx1"/>
                          </a:solidFill>
                        </a:rPr>
                        <a:t>Ingress path</a:t>
                      </a:r>
                    </a:p>
                  </a:txBody>
                  <a:tcPr marL="91440" marR="91440" marT="45720" marB="45720" anchor="ctr">
                    <a:solidFill>
                      <a:schemeClr val="bg1"/>
                    </a:solidFill>
                  </a:tcPr>
                </a:tc>
                <a:tc>
                  <a:txBody>
                    <a:bodyPr/>
                    <a:lstStyle/>
                    <a:p>
                      <a:pPr algn="l"/>
                      <a:r>
                        <a:rPr sz="1300" b="0">
                          <a:solidFill>
                            <a:schemeClr val="tx1"/>
                          </a:solidFill>
                        </a:rPr>
                        <a:t>UDP to the leader</a:t>
                      </a:r>
                    </a:p>
                  </a:txBody>
                  <a:tcPr marL="91440" marR="91440" marT="45720" marB="45720" anchor="ctr">
                    <a:solidFill>
                      <a:schemeClr val="bg1"/>
                    </a:solidFill>
                  </a:tcPr>
                </a:tc>
                <a:tc>
                  <a:txBody>
                    <a:bodyPr/>
                    <a:lstStyle/>
                    <a:p>
                      <a:pPr algn="l"/>
                      <a:r>
                        <a:rPr sz="1300" b="0">
                          <a:solidFill>
                            <a:schemeClr val="tx1"/>
                          </a:solidFill>
                        </a:rPr>
                        <a:t>Own member not leading, or the IPC connect timed out</a:t>
                      </a:r>
                    </a:p>
                  </a:txBody>
                  <a:tcPr marL="91440" marR="91440" marT="45720" marB="45720" anchor="ctr">
                    <a:solidFill>
                      <a:schemeClr val="bg1"/>
                    </a:solidFill>
                  </a:tcPr>
                </a:tc>
              </a:tr>
              <a:tr h="502920">
                <a:tc>
                  <a:txBody>
                    <a:bodyPr/>
                    <a:lstStyle/>
                    <a:p>
                      <a:pPr algn="l"/>
                      <a:r>
                        <a:rPr sz="1300" b="1">
                          <a:solidFill>
                            <a:schemeClr val="tx1"/>
                          </a:solidFill>
                        </a:rPr>
                        <a:t>A send during an election</a:t>
                      </a:r>
                    </a:p>
                  </a:txBody>
                  <a:tcPr marL="91440" marR="91440" marT="45720" marB="45720" anchor="ctr">
                    <a:solidFill>
                      <a:schemeClr val="bg2"/>
                    </a:solidFill>
                  </a:tcPr>
                </a:tc>
                <a:tc>
                  <a:txBody>
                    <a:bodyPr/>
                    <a:lstStyle/>
                    <a:p>
                      <a:pPr algn="l"/>
                      <a:r>
                        <a:rPr sz="1300" b="0">
                          <a:solidFill>
                            <a:schemeClr val="tx1"/>
                          </a:solidFill>
                        </a:rPr>
                        <a:t>The new leader's ingress</a:t>
                      </a:r>
                    </a:p>
                  </a:txBody>
                  <a:tcPr marL="91440" marR="91440" marT="45720" marB="45720" anchor="ctr">
                    <a:solidFill>
                      <a:schemeClr val="bg2"/>
                    </a:solidFill>
                  </a:tcPr>
                </a:tc>
                <a:tc>
                  <a:txBody>
                    <a:bodyPr/>
                    <a:lstStyle/>
                    <a:p>
                      <a:pPr algn="l"/>
                      <a:r>
                        <a:rPr sz="1300" b="0">
                          <a:solidFill>
                            <a:schemeClr val="tx1"/>
                          </a:solidFill>
                        </a:rPr>
                        <a:t>NewLeader; the send spins rather than drop the frame</a:t>
                      </a:r>
                    </a:p>
                  </a:txBody>
                  <a:tcPr marL="91440" marR="91440" marT="45720" marB="45720" anchor="ctr">
                    <a:solidFill>
                      <a:schemeClr val="bg2"/>
                    </a:solidFill>
                  </a:tcPr>
                </a:tc>
              </a:tr>
              <a:tr h="502920">
                <a:tc>
                  <a:txBody>
                    <a:bodyPr/>
                    <a:lstStyle/>
                    <a:p>
                      <a:pPr algn="l"/>
                      <a:r>
                        <a:rPr sz="1300" b="1">
                          <a:solidFill>
                            <a:schemeClr val="tx1"/>
                          </a:solidFill>
                        </a:rPr>
                        <a:t>Cluster session</a:t>
                      </a:r>
                    </a:p>
                  </a:txBody>
                  <a:tcPr marL="91440" marR="91440" marT="45720" marB="45720" anchor="ctr">
                    <a:solidFill>
                      <a:schemeClr val="bg1"/>
                    </a:solidFill>
                  </a:tcPr>
                </a:tc>
                <a:tc>
                  <a:txBody>
                    <a:bodyPr/>
                    <a:lstStyle/>
                    <a:p>
                      <a:pPr algn="l"/>
                      <a:r>
                        <a:rPr sz="1300" b="0">
                          <a:solidFill>
                            <a:schemeClr val="tx1"/>
                          </a:solidFill>
                        </a:rPr>
                        <a:t>A new session</a:t>
                      </a:r>
                    </a:p>
                  </a:txBody>
                  <a:tcPr marL="91440" marR="91440" marT="45720" marB="45720" anchor="ctr">
                    <a:solidFill>
                      <a:schemeClr val="bg1"/>
                    </a:solidFill>
                  </a:tcPr>
                </a:tc>
                <a:tc>
                  <a:txBody>
                    <a:bodyPr/>
                    <a:lstStyle/>
                    <a:p>
                      <a:pPr algn="l"/>
                      <a:r>
                        <a:rPr sz="1300" b="0">
                          <a:solidFill>
                            <a:schemeClr val="tx1"/>
                          </a:solidFill>
                        </a:rPr>
                        <a:t>The cluster closed it; one attempt a second, a fence after 20 s</a:t>
                      </a:r>
                    </a:p>
                  </a:txBody>
                  <a:tcPr marL="91440" marR="91440" marT="45720" marB="45720" anchor="ctr">
                    <a:solidFill>
                      <a:schemeClr val="bg1"/>
                    </a:solidFill>
                  </a:tcPr>
                </a:tc>
              </a:tr>
              <a:tr h="502920">
                <a:tc>
                  <a:txBody>
                    <a:bodyPr/>
                    <a:lstStyle/>
                    <a:p>
                      <a:pPr algn="l"/>
                      <a:r>
                        <a:rPr sz="1300" b="1">
                          <a:solidFill>
                            <a:schemeClr val="tx1"/>
                          </a:solidFill>
                        </a:rPr>
                        <a:t>Ingress the old leader lost</a:t>
                      </a:r>
                    </a:p>
                  </a:txBody>
                  <a:tcPr marL="91440" marR="91440" marT="45720" marB="45720" anchor="ctr">
                    <a:solidFill>
                      <a:schemeClr val="bg2"/>
                    </a:solidFill>
                  </a:tcPr>
                </a:tc>
                <a:tc>
                  <a:txBody>
                    <a:bodyPr/>
                    <a:lstStyle/>
                    <a:p>
                      <a:pPr algn="l"/>
                      <a:r>
                        <a:rPr sz="1300" b="0">
                          <a:solidFill>
                            <a:schemeClr val="tx1"/>
                          </a:solidFill>
                        </a:rPr>
                        <a:t>A resend to the new leader</a:t>
                      </a:r>
                    </a:p>
                  </a:txBody>
                  <a:tcPr marL="91440" marR="91440" marT="45720" marB="45720" anchor="ctr">
                    <a:solidFill>
                      <a:schemeClr val="bg2"/>
                    </a:solidFill>
                  </a:tcPr>
                </a:tc>
                <a:tc>
                  <a:txBody>
                    <a:bodyPr/>
                    <a:lstStyle/>
                    <a:p>
                      <a:pPr algn="l"/>
                      <a:r>
                        <a:rPr sz="1300" b="0">
                          <a:solidFill>
                            <a:schemeClr val="tx1"/>
                          </a:solidFill>
                        </a:rPr>
                        <a:t>A newer term's LeadershipChanged</a:t>
                      </a:r>
                    </a:p>
                  </a:txBody>
                  <a:tcPr marL="91440" marR="91440" marT="45720" marB="45720" anchor="ctr">
                    <a:solidFill>
                      <a:schemeClr val="bg2"/>
                    </a:solidFill>
                  </a:tcPr>
                </a:tc>
              </a:tr>
              <a:tr h="502920">
                <a:tc>
                  <a:txBody>
                    <a:bodyPr/>
                    <a:lstStyle/>
                    <a:p>
                      <a:pPr algn="l"/>
                      <a:r>
                        <a:rPr sz="1300" b="1">
                          <a:solidFill>
                            <a:schemeClr val="tx1"/>
                          </a:solidFill>
                        </a:rPr>
                        <a:t>Gateway pair</a:t>
                      </a:r>
                    </a:p>
                  </a:txBody>
                  <a:tcPr marL="91440" marR="91440" marT="45720" marB="45720" anchor="ctr">
                    <a:solidFill>
                      <a:schemeClr val="bg1"/>
                    </a:solidFill>
                  </a:tcPr>
                </a:tc>
                <a:tc>
                  <a:txBody>
                    <a:bodyPr/>
                    <a:lstStyle/>
                    <a:p>
                      <a:pPr algn="l"/>
                      <a:r>
                        <a:rPr sz="1300" b="0">
                          <a:solidFill>
                            <a:schemeClr val="tx1"/>
                          </a:solidFill>
                        </a:rPr>
                        <a:t>The next instance by rank</a:t>
                      </a:r>
                    </a:p>
                  </a:txBody>
                  <a:tcPr marL="91440" marR="91440" marT="45720" marB="45720" anchor="ctr">
                    <a:solidFill>
                      <a:schemeClr val="bg1"/>
                    </a:solidFill>
                  </a:tcPr>
                </a:tc>
                <a:tc>
                  <a:txBody>
                    <a:bodyPr/>
                    <a:lstStyle/>
                    <a:p>
                      <a:pPr algn="l"/>
                      <a:r>
                        <a:rPr sz="1300" b="0">
                          <a:solidFill>
                            <a:schemeClr val="tx1"/>
                          </a:solidFill>
                        </a:rPr>
                        <a:t>Session closed, 5 s without GatewayStarted, or clusterctl activate</a:t>
                      </a:r>
                    </a:p>
                  </a:txBody>
                  <a:tcPr marL="91440" marR="91440" marT="45720" marB="45720" anchor="ctr">
                    <a:solidFill>
                      <a:schemeClr val="bg1"/>
                    </a:solidFill>
                  </a:tcPr>
                </a:tc>
              </a:tr>
              <a:tr h="502920">
                <a:tc>
                  <a:txBody>
                    <a:bodyPr/>
                    <a:lstStyle/>
                    <a:p>
                      <a:pPr algn="l"/>
                      <a:r>
                        <a:rPr sz="1300" b="1">
                          <a:solidFill>
                            <a:schemeClr val="tx1"/>
                          </a:solidFill>
                        </a:rPr>
                        <a:t>Leader-only work</a:t>
                      </a:r>
                    </a:p>
                  </a:txBody>
                  <a:tcPr marL="91440" marR="91440" marT="45720" marB="45720" anchor="ctr">
                    <a:solidFill>
                      <a:schemeClr val="bg2"/>
                    </a:solidFill>
                  </a:tcPr>
                </a:tc>
                <a:tc>
                  <a:txBody>
                    <a:bodyPr/>
                    <a:lstStyle/>
                    <a:p>
                      <a:pPr algn="l"/>
                      <a:r>
                        <a:rPr sz="1300" b="0">
                          <a:solidFill>
                            <a:schemeClr val="tx1"/>
                          </a:solidFill>
                        </a:rPr>
                        <a:t>The new leader's replica</a:t>
                      </a:r>
                    </a:p>
                  </a:txBody>
                  <a:tcPr marL="91440" marR="91440" marT="45720" marB="45720" anchor="ctr">
                    <a:solidFill>
                      <a:schemeClr val="bg2"/>
                    </a:solidFill>
                  </a:tcPr>
                </a:tc>
                <a:tc>
                  <a:txBody>
                    <a:bodyPr/>
                    <a:lstStyle/>
                    <a:p>
                      <a:pPr algn="l"/>
                      <a:r>
                        <a:rPr sz="1300" b="0">
                          <a:solidFill>
                            <a:schemeClr val="tx1"/>
                          </a:solidFill>
                        </a:rPr>
                        <a:t>LeadershipChanged opens its gate; outstanding work redispatched</a:t>
                      </a:r>
                    </a:p>
                  </a:txBody>
                  <a:tcPr marL="91440" marR="91440" marT="45720" marB="45720" anchor="ctr">
                    <a:solidFill>
                      <a:schemeClr val="bg2"/>
                    </a:solidFill>
                  </a:tcPr>
                </a:tc>
              </a:tr>
              <a:tr h="502920">
                <a:tc>
                  <a:txBody>
                    <a:bodyPr/>
                    <a:lstStyle/>
                    <a:p>
                      <a:pPr algn="l"/>
                      <a:r>
                        <a:rPr sz="1300" b="1">
                          <a:solidFill>
                            <a:schemeClr val="tx1"/>
                          </a:solidFill>
                        </a:rPr>
                        <a:t>Gateway host's queue relay</a:t>
                      </a:r>
                    </a:p>
                  </a:txBody>
                  <a:tcPr marL="91440" marR="91440" marT="45720" marB="45720" anchor="ctr">
                    <a:solidFill>
                      <a:schemeClr val="bg1"/>
                    </a:solidFill>
                  </a:tcPr>
                </a:tc>
                <a:tc>
                  <a:txBody>
                    <a:bodyPr/>
                    <a:lstStyle/>
                    <a:p>
                      <a:pPr algn="l"/>
                      <a:r>
                        <a:rPr sz="1300" b="0">
                          <a:solidFill>
                            <a:schemeClr val="tx1"/>
                          </a:solidFill>
                        </a:rPr>
                        <a:t>The next member's archive</a:t>
                      </a:r>
                    </a:p>
                  </a:txBody>
                  <a:tcPr marL="91440" marR="91440" marT="45720" marB="45720" anchor="ctr">
                    <a:solidFill>
                      <a:schemeClr val="bg1"/>
                    </a:solidFill>
                  </a:tcPr>
                </a:tc>
                <a:tc>
                  <a:txBody>
                    <a:bodyPr/>
                    <a:lstStyle/>
                    <a:p>
                      <a:pPr algn="l"/>
                      <a:r>
                        <a:rPr sz="1300" b="0">
                          <a:solidFill>
                            <a:schemeClr val="tx1"/>
                          </a:solidFill>
                        </a:rPr>
                        <a:t>3 s without a frame, or a failed read; same position</a:t>
                      </a:r>
                    </a:p>
                  </a:txBody>
                  <a:tcPr marL="91440" marR="91440" marT="45720" marB="45720" anchor="ctr">
                    <a:solidFill>
                      <a:schemeClr val="bg1"/>
                    </a:solidFill>
                  </a:tcPr>
                </a:tc>
              </a:tr>
            </a:tbl>
          </a:graphicData>
        </a:graphic>
      </p:graphicFrame>
      <p:sp>
        <p:nvSpPr>
          <p:cNvPr id="9027" name="Card 452"/>
          <p:cNvSpPr/>
          <p:nvPr/>
        </p:nvSpPr>
        <p:spPr>
          <a:xfrm>
            <a:off x="548640" y="5742432"/>
            <a:ext cx="11094415" cy="621792"/>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l"/>
            <a:r>
              <a:rPr sz="1400" b="1">
                <a:solidFill>
                  <a:schemeClr val="accent2"/>
                </a:solidFill>
              </a:rPr>
              <a:t>No failover: </a:t>
            </a:r>
            <a:r>
              <a:rPr sz="1400" b="0">
                <a:solidFill>
                  <a:schemeClr val="tx1"/>
                </a:solidFill>
              </a:rPr>
              <a:t>a client's own Replayer, queue and media driver. An instance that acts fences: a gateway's standby takes over at once, but a leader's application waits for its own restart or a new leader.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Decisions and what they cost</a:t>
            </a:r>
          </a:p>
        </p:txBody>
      </p:sp>
      <p:sp>
        <p:nvSpPr>
          <p:cNvPr id="3" name="Text 453"/>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The choices worth challenging</a:t>
            </a:r>
          </a:p>
        </p:txBody>
      </p:sp>
      <p:sp>
        <p:nvSpPr>
          <p:cNvPr id="9026" name="Slide number"/>
          <p:cNvSpPr txBox="1"/>
          <p:nvPr userDrawn="1"/>
        </p:nvSpPr>
        <p:spPr>
          <a:xfrm>
            <a:off x="10728655" y="6400800"/>
            <a:ext cx="914400" cy="274320"/>
          </a:xfrm>
          <a:prstGeom prst="rect">
            <a:avLst/>
          </a:prstGeom>
          <a:noFill/>
        </p:spPr>
        <p:txBody>
          <a:bodyPr wrap="none" lIns="0" tIns="0" rIns="0" bIns="0" anchor="ctr"/>
          <a:lstStyle/>
          <a:p>
            <a:pPr algn="r"/>
            <a:fld id="{a1ae7fac-3bc2-437b-b5f0-4ce26f6d5e5f}" type="slidenum">
              <a:rPr lang="en-US" sz="1000" dirty="0">
                <a:solidFill>
                  <a:schemeClr val="accent5"/>
                </a:solidFill>
              </a:rPr>
              <a:t>26</a:t>
            </a:fld>
          </a:p>
        </p:txBody>
      </p:sp>
      <p:graphicFrame>
        <p:nvGraphicFramePr>
          <p:cNvPr id="9027" name="Table 454"/>
          <p:cNvGraphicFramePr>
            <a:graphicFrameLocks noGrp="1"/>
          </p:cNvGraphicFramePr>
          <p:nvPr/>
        </p:nvGraphicFramePr>
        <p:xfrm>
          <a:off x="548640" y="1645920"/>
          <a:ext cx="11091672" cy="4096512"/>
        </p:xfrm>
        <a:graphic>
          <a:graphicData uri="http://schemas.openxmlformats.org/drawingml/2006/table">
            <a:tbl>
              <a:tblPr firstRow="1">
                <a:tableStyleId>{5C22544A-7EE6-4342-B048-85BDC9FD1C3A}</a:tableStyleId>
              </a:tblPr>
              <a:tblGrid>
                <a:gridCol w="3429000"/>
                <a:gridCol w="3886200"/>
                <a:gridCol w="3776472"/>
              </a:tblGrid>
              <a:tr h="512064">
                <a:tc>
                  <a:txBody>
                    <a:bodyPr/>
                    <a:lstStyle/>
                    <a:p>
                      <a:pPr algn="l"/>
                      <a:r>
                        <a:rPr sz="1300" b="1">
                          <a:solidFill>
                            <a:schemeClr val="bg1"/>
                          </a:solidFill>
                        </a:rPr>
                        <a:t>Decision</a:t>
                      </a:r>
                    </a:p>
                  </a:txBody>
                  <a:tcPr marL="91440" marR="91440" marT="45720" marB="45720" anchor="ctr">
                    <a:solidFill>
                      <a:schemeClr val="accent1"/>
                    </a:solidFill>
                  </a:tcPr>
                </a:tc>
                <a:tc>
                  <a:txBody>
                    <a:bodyPr/>
                    <a:lstStyle/>
                    <a:p>
                      <a:pPr algn="l"/>
                      <a:r>
                        <a:rPr sz="1300" b="1">
                          <a:solidFill>
                            <a:schemeClr val="bg1"/>
                          </a:solidFill>
                        </a:rPr>
                        <a:t>Buys</a:t>
                      </a:r>
                    </a:p>
                  </a:txBody>
                  <a:tcPr marL="91440" marR="91440" marT="45720" marB="45720" anchor="ctr">
                    <a:solidFill>
                      <a:schemeClr val="accent1"/>
                    </a:solidFill>
                  </a:tcPr>
                </a:tc>
                <a:tc>
                  <a:txBody>
                    <a:bodyPr/>
                    <a:lstStyle/>
                    <a:p>
                      <a:pPr algn="l"/>
                      <a:r>
                        <a:rPr sz="1300" b="1">
                          <a:solidFill>
                            <a:schemeClr val="bg1"/>
                          </a:solidFill>
                        </a:rPr>
                        <a:t>Costs</a:t>
                      </a:r>
                    </a:p>
                  </a:txBody>
                  <a:tcPr marL="91440" marR="91440" marT="45720" marB="45720" anchor="ctr">
                    <a:solidFill>
                      <a:schemeClr val="accent1"/>
                    </a:solidFill>
                  </a:tcPr>
                </a:tc>
              </a:tr>
              <a:tr h="512064">
                <a:tc>
                  <a:txBody>
                    <a:bodyPr/>
                    <a:lstStyle/>
                    <a:p>
                      <a:pPr algn="l"/>
                      <a:r>
                        <a:rPr sz="1400" b="1">
                          <a:solidFill>
                            <a:schemeClr val="tx1"/>
                          </a:solidFill>
                        </a:rPr>
                        <a:t>No cluster snapshots</a:t>
                      </a:r>
                    </a:p>
                  </a:txBody>
                  <a:tcPr marL="91440" marR="91440" marT="45720" marB="45720" anchor="ctr">
                    <a:solidFill>
                      <a:schemeClr val="bg1"/>
                    </a:solidFill>
                  </a:tcPr>
                </a:tc>
                <a:tc>
                  <a:txBody>
                    <a:bodyPr/>
                    <a:lstStyle/>
                    <a:p>
                      <a:pPr algn="l"/>
                      <a:r>
                        <a:rPr sz="1400" b="0">
                          <a:solidFill>
                            <a:schemeClr val="tx1"/>
                          </a:solidFill>
                        </a:rPr>
                        <a:t>Complete history on every member</a:t>
                      </a:r>
                    </a:p>
                  </a:txBody>
                  <a:tcPr marL="91440" marR="91440" marT="45720" marB="45720" anchor="ctr">
                    <a:solidFill>
                      <a:schemeClr val="bg1"/>
                    </a:solidFill>
                  </a:tcPr>
                </a:tc>
                <a:tc>
                  <a:txBody>
                    <a:bodyPr/>
                    <a:lstStyle/>
                    <a:p>
                      <a:pPr algn="l"/>
                      <a:r>
                        <a:rPr sz="1400" b="0">
                          <a:solidFill>
                            <a:schemeClr val="tx1"/>
                          </a:solidFill>
                        </a:rPr>
                        <a:t>Recovery and archive grow with uptime</a:t>
                      </a:r>
                    </a:p>
                  </a:txBody>
                  <a:tcPr marL="91440" marR="91440" marT="45720" marB="45720" anchor="ctr">
                    <a:solidFill>
                      <a:schemeClr val="bg1"/>
                    </a:solidFill>
                  </a:tcPr>
                </a:tc>
              </a:tr>
              <a:tr h="512064">
                <a:tc>
                  <a:txBody>
                    <a:bodyPr/>
                    <a:lstStyle/>
                    <a:p>
                      <a:pPr algn="l"/>
                      <a:r>
                        <a:rPr sz="1400" b="1">
                          <a:solidFill>
                            <a:schemeClr val="tx1"/>
                          </a:solidFill>
                        </a:rPr>
                        <a:t>Each member records its queue</a:t>
                      </a:r>
                    </a:p>
                  </a:txBody>
                  <a:tcPr marL="91440" marR="91440" marT="45720" marB="45720" anchor="ctr">
                    <a:solidFill>
                      <a:schemeClr val="bg2"/>
                    </a:solidFill>
                  </a:tcPr>
                </a:tc>
                <a:tc>
                  <a:txBody>
                    <a:bodyPr/>
                    <a:lstStyle/>
                    <a:p>
                      <a:pPr algn="l"/>
                      <a:r>
                        <a:rPr sz="1400" b="0">
                          <a:solidFill>
                            <a:schemeClr val="tx1"/>
                          </a:solidFill>
                        </a:rPr>
                        <a:t>Local recovery for every client</a:t>
                      </a:r>
                    </a:p>
                  </a:txBody>
                  <a:tcPr marL="91440" marR="91440" marT="45720" marB="45720" anchor="ctr">
                    <a:solidFill>
                      <a:schemeClr val="bg2"/>
                    </a:solidFill>
                  </a:tcPr>
                </a:tc>
                <a:tc>
                  <a:txBody>
                    <a:bodyPr/>
                    <a:lstStyle/>
                    <a:p>
                      <a:pPr algn="l"/>
                      <a:r>
                        <a:rPr sz="1400" b="0">
                          <a:solidFill>
                            <a:schemeClr val="tx1"/>
                          </a:solidFill>
                        </a:rPr>
                        <a:t>Each member stores everything</a:t>
                      </a:r>
                    </a:p>
                  </a:txBody>
                  <a:tcPr marL="91440" marR="91440" marT="45720" marB="45720" anchor="ctr">
                    <a:solidFill>
                      <a:schemeClr val="bg2"/>
                    </a:solidFill>
                  </a:tcPr>
                </a:tc>
              </a:tr>
              <a:tr h="512064">
                <a:tc>
                  <a:txBody>
                    <a:bodyPr/>
                    <a:lstStyle/>
                    <a:p>
                      <a:pPr algn="l"/>
                      <a:r>
                        <a:rPr sz="1400" b="1">
                          <a:solidFill>
                            <a:schemeClr val="tx1"/>
                          </a:solidFill>
                        </a:rPr>
                        <a:t>Untethered consumers</a:t>
                      </a:r>
                    </a:p>
                  </a:txBody>
                  <a:tcPr marL="91440" marR="91440" marT="45720" marB="45720" anchor="ctr">
                    <a:solidFill>
                      <a:schemeClr val="bg1"/>
                    </a:solidFill>
                  </a:tcPr>
                </a:tc>
                <a:tc>
                  <a:txBody>
                    <a:bodyPr/>
                    <a:lstStyle/>
                    <a:p>
                      <a:pPr algn="l"/>
                      <a:r>
                        <a:rPr sz="1400" b="0">
                          <a:solidFill>
                            <a:schemeClr val="tx1"/>
                          </a:solidFill>
                        </a:rPr>
                        <a:t>Nobody slows the sequencer</a:t>
                      </a:r>
                    </a:p>
                  </a:txBody>
                  <a:tcPr marL="91440" marR="91440" marT="45720" marB="45720" anchor="ctr">
                    <a:solidFill>
                      <a:schemeClr val="bg1"/>
                    </a:solidFill>
                  </a:tcPr>
                </a:tc>
                <a:tc>
                  <a:txBody>
                    <a:bodyPr/>
                    <a:lstStyle/>
                    <a:p>
                      <a:pPr algn="l"/>
                      <a:r>
                        <a:rPr sz="1400" b="0">
                          <a:solidFill>
                            <a:schemeClr val="tx1"/>
                          </a:solidFill>
                        </a:rPr>
                        <a:t>A slow consumer pays a replay</a:t>
                      </a:r>
                    </a:p>
                  </a:txBody>
                  <a:tcPr marL="91440" marR="91440" marT="45720" marB="45720" anchor="ctr">
                    <a:solidFill>
                      <a:schemeClr val="bg1"/>
                    </a:solidFill>
                  </a:tcPr>
                </a:tc>
              </a:tr>
              <a:tr h="512064">
                <a:tc>
                  <a:txBody>
                    <a:bodyPr/>
                    <a:lstStyle/>
                    <a:p>
                      <a:pPr algn="l"/>
                      <a:r>
                        <a:rPr sz="1400" b="1">
                          <a:solidFill>
                            <a:schemeClr val="tx1"/>
                          </a:solidFill>
                        </a:rPr>
                        <a:t>Stop on recording failure</a:t>
                      </a:r>
                    </a:p>
                  </a:txBody>
                  <a:tcPr marL="91440" marR="91440" marT="45720" marB="45720" anchor="ctr">
                    <a:solidFill>
                      <a:schemeClr val="bg2"/>
                    </a:solidFill>
                  </a:tcPr>
                </a:tc>
                <a:tc>
                  <a:txBody>
                    <a:bodyPr/>
                    <a:lstStyle/>
                    <a:p>
                      <a:pPr algn="l"/>
                      <a:r>
                        <a:rPr sz="1400" b="0">
                          <a:solidFill>
                            <a:schemeClr val="tx1"/>
                          </a:solidFill>
                        </a:rPr>
                        <a:t>Never serves history it lacks</a:t>
                      </a:r>
                    </a:p>
                  </a:txBody>
                  <a:tcPr marL="91440" marR="91440" marT="45720" marB="45720" anchor="ctr">
                    <a:solidFill>
                      <a:schemeClr val="bg2"/>
                    </a:solidFill>
                  </a:tcPr>
                </a:tc>
                <a:tc>
                  <a:txBody>
                    <a:bodyPr/>
                    <a:lstStyle/>
                    <a:p>
                      <a:pPr algn="l"/>
                      <a:r>
                        <a:rPr sz="1400" b="0">
                          <a:solidFill>
                            <a:schemeClr val="tx1"/>
                          </a:solidFill>
                        </a:rPr>
                        <a:t>Costs a member, not a frame</a:t>
                      </a:r>
                    </a:p>
                  </a:txBody>
                  <a:tcPr marL="91440" marR="91440" marT="45720" marB="45720" anchor="ctr">
                    <a:solidFill>
                      <a:schemeClr val="bg2"/>
                    </a:solidFill>
                  </a:tcPr>
                </a:tc>
              </a:tr>
              <a:tr h="512064">
                <a:tc>
                  <a:txBody>
                    <a:bodyPr/>
                    <a:lstStyle/>
                    <a:p>
                      <a:pPr algn="l"/>
                      <a:r>
                        <a:rPr sz="1400" b="1">
                          <a:solidFill>
                            <a:schemeClr val="tx1"/>
                          </a:solidFill>
                        </a:rPr>
                        <a:t>Opaque payloads</a:t>
                      </a:r>
                    </a:p>
                  </a:txBody>
                  <a:tcPr marL="91440" marR="91440" marT="45720" marB="45720" anchor="ctr">
                    <a:solidFill>
                      <a:schemeClr val="bg1"/>
                    </a:solidFill>
                  </a:tcPr>
                </a:tc>
                <a:tc>
                  <a:txBody>
                    <a:bodyPr/>
                    <a:lstStyle/>
                    <a:p>
                      <a:pPr algn="l"/>
                      <a:r>
                        <a:rPr sz="1400" b="0">
                          <a:solidFill>
                            <a:schemeClr val="tx1"/>
                          </a:solidFill>
                        </a:rPr>
                        <a:t>Applications version alone</a:t>
                      </a:r>
                    </a:p>
                  </a:txBody>
                  <a:tcPr marL="91440" marR="91440" marT="45720" marB="45720" anchor="ctr">
                    <a:solidFill>
                      <a:schemeClr val="bg1"/>
                    </a:solidFill>
                  </a:tcPr>
                </a:tc>
                <a:tc>
                  <a:txBody>
                    <a:bodyPr/>
                    <a:lstStyle/>
                    <a:p>
                      <a:pPr algn="l"/>
                      <a:r>
                        <a:rPr sz="1400" b="0">
                          <a:solidFill>
                            <a:schemeClr val="tx1"/>
                          </a:solidFill>
                        </a:rPr>
                        <a:t>No content routing or checks</a:t>
                      </a:r>
                    </a:p>
                  </a:txBody>
                  <a:tcPr marL="91440" marR="91440" marT="45720" marB="45720" anchor="ctr">
                    <a:solidFill>
                      <a:schemeClr val="bg1"/>
                    </a:solidFill>
                  </a:tcPr>
                </a:tc>
              </a:tr>
              <a:tr h="512064">
                <a:tc>
                  <a:txBody>
                    <a:bodyPr/>
                    <a:lstStyle/>
                    <a:p>
                      <a:pPr algn="l"/>
                      <a:r>
                        <a:rPr sz="1400" b="1">
                          <a:solidFill>
                            <a:schemeClr val="tx1"/>
                          </a:solidFill>
                        </a:rPr>
                        <a:t>One ordered stream</a:t>
                      </a:r>
                    </a:p>
                  </a:txBody>
                  <a:tcPr marL="91440" marR="91440" marT="45720" marB="45720" anchor="ctr">
                    <a:solidFill>
                      <a:schemeClr val="bg2"/>
                    </a:solidFill>
                  </a:tcPr>
                </a:tc>
                <a:tc>
                  <a:txBody>
                    <a:bodyPr/>
                    <a:lstStyle/>
                    <a:p>
                      <a:pPr algn="l"/>
                      <a:r>
                        <a:rPr sz="1400" b="0">
                          <a:solidFill>
                            <a:schemeClr val="tx1"/>
                          </a:solidFill>
                        </a:rPr>
                        <a:t>No coordination anywhere</a:t>
                      </a:r>
                    </a:p>
                  </a:txBody>
                  <a:tcPr marL="91440" marR="91440" marT="45720" marB="45720" anchor="ctr">
                    <a:solidFill>
                      <a:schemeClr val="bg2"/>
                    </a:solidFill>
                  </a:tcPr>
                </a:tc>
                <a:tc>
                  <a:txBody>
                    <a:bodyPr/>
                    <a:lstStyle/>
                    <a:p>
                      <a:pPr algn="l"/>
                      <a:r>
                        <a:rPr sz="1400" b="0">
                          <a:solidFill>
                            <a:schemeClr val="tx1"/>
                          </a:solidFill>
                        </a:rPr>
                        <a:t>One sequencer's throughput</a:t>
                      </a:r>
                    </a:p>
                  </a:txBody>
                  <a:tcPr marL="91440" marR="91440" marT="45720" marB="45720" anchor="ctr">
                    <a:solidFill>
                      <a:schemeClr val="bg2"/>
                    </a:solidFill>
                  </a:tcPr>
                </a:tc>
              </a:tr>
              <a:tr h="512064">
                <a:tc>
                  <a:txBody>
                    <a:bodyPr/>
                    <a:lstStyle/>
                    <a:p>
                      <a:pPr algn="l"/>
                      <a:r>
                        <a:rPr sz="1400" b="1">
                          <a:solidFill>
                            <a:schemeClr val="tx1"/>
                          </a:solidFill>
                        </a:rPr>
                        <a:t>Majority, no fsync</a:t>
                      </a:r>
                    </a:p>
                  </a:txBody>
                  <a:tcPr marL="91440" marR="91440" marT="45720" marB="45720" anchor="ctr">
                    <a:solidFill>
                      <a:schemeClr val="bg1"/>
                    </a:solidFill>
                  </a:tcPr>
                </a:tc>
                <a:tc>
                  <a:txBody>
                    <a:bodyPr/>
                    <a:lstStyle/>
                    <a:p>
                      <a:pPr algn="l"/>
                      <a:r>
                        <a:rPr sz="1400" b="0">
                          <a:solidFill>
                            <a:schemeClr val="tx1"/>
                          </a:solidFill>
                        </a:rPr>
                        <a:t>Memory and network latency</a:t>
                      </a:r>
                    </a:p>
                  </a:txBody>
                  <a:tcPr marL="91440" marR="91440" marT="45720" marB="45720" anchor="ctr">
                    <a:solidFill>
                      <a:schemeClr val="bg1"/>
                    </a:solidFill>
                  </a:tcPr>
                </a:tc>
                <a:tc>
                  <a:txBody>
                    <a:bodyPr/>
                    <a:lstStyle/>
                    <a:p>
                      <a:pPr algn="l"/>
                      <a:r>
                        <a:rPr sz="1400" b="0">
                          <a:solidFill>
                            <a:schemeClr val="tx1"/>
                          </a:solidFill>
                        </a:rPr>
                        <a:t>Correlated power loss</a:t>
                      </a:r>
                    </a:p>
                  </a:txBody>
                  <a:tcPr marL="91440" marR="91440" marT="45720" marB="45720" anchor="ctr">
                    <a:solidFill>
                      <a:schemeClr val="bg1"/>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Limits today</a:t>
            </a:r>
          </a:p>
        </p:txBody>
      </p:sp>
      <p:sp>
        <p:nvSpPr>
          <p:cNvPr id="3" name="Text 455"/>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Stated plainly, so nobody discovers them in production</a:t>
            </a:r>
          </a:p>
        </p:txBody>
      </p:sp>
      <p:sp>
        <p:nvSpPr>
          <p:cNvPr id="9027" name="Slide number"/>
          <p:cNvSpPr txBox="1"/>
          <p:nvPr userDrawn="1"/>
        </p:nvSpPr>
        <p:spPr>
          <a:xfrm>
            <a:off x="10728655" y="6400800"/>
            <a:ext cx="914400" cy="274320"/>
          </a:xfrm>
          <a:prstGeom prst="rect">
            <a:avLst/>
          </a:prstGeom>
          <a:noFill/>
        </p:spPr>
        <p:txBody>
          <a:bodyPr wrap="none" lIns="0" tIns="0" rIns="0" bIns="0" anchor="ctr"/>
          <a:lstStyle/>
          <a:p>
            <a:pPr algn="r"/>
            <a:fld id="{25d10ba2-fb8a-4b97-9e1e-4e964f4f5dc0}" type="slidenum">
              <a:rPr lang="en-US" sz="1000" dirty="0">
                <a:solidFill>
                  <a:schemeClr val="accent5"/>
                </a:solidFill>
              </a:rPr>
              <a:t>27</a:t>
            </a:fld>
          </a:p>
        </p:txBody>
      </p:sp>
      <p:sp>
        <p:nvSpPr>
          <p:cNvPr id="9028" name="Card 456"/>
          <p:cNvSpPr/>
          <p:nvPr/>
        </p:nvSpPr>
        <p:spPr>
          <a:xfrm>
            <a:off x="548640" y="1691640"/>
            <a:ext cx="3511296"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400"/>
              </a:spcAft>
            </a:pPr>
            <a:r>
              <a:rPr sz="2400" b="1" cap="none">
                <a:solidFill>
                  <a:schemeClr val="accent1"/>
                </a:solidFill>
                <a:latin typeface="+mj-lt"/>
              </a:rPr>
              <a:t>7</a:t>
            </a:r>
          </a:p>
          <a:p>
            <a:pPr algn="l">
              <a:spcAft>
                <a:spcPts val="400"/>
              </a:spcAft>
            </a:pPr>
            <a:r>
              <a:rPr sz="1500" b="1">
                <a:solidFill>
                  <a:schemeClr val="tx1"/>
                </a:solidFill>
              </a:rPr>
              <a:t>members at most</a:t>
            </a:r>
          </a:p>
          <a:p>
            <a:pPr algn="l"/>
            <a:r>
              <a:rPr sz="1400" b="0">
                <a:solidFill>
                  <a:schemeClr val="accent5"/>
                </a:solidFill>
              </a:rPr>
              <a:t>bounded by the 70-port cluster block</a:t>
            </a:r>
          </a:p>
        </p:txBody>
      </p:sp>
      <p:sp>
        <p:nvSpPr>
          <p:cNvPr id="9029" name="Card 457"/>
          <p:cNvSpPr/>
          <p:nvPr/>
        </p:nvSpPr>
        <p:spPr>
          <a:xfrm>
            <a:off x="4338828" y="1691640"/>
            <a:ext cx="3511296"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400"/>
              </a:spcAft>
            </a:pPr>
            <a:r>
              <a:rPr sz="2400" b="1" cap="none">
                <a:solidFill>
                  <a:schemeClr val="accent1"/>
                </a:solidFill>
                <a:latin typeface="+mj-lt"/>
              </a:rPr>
              <a:t>8,884 B</a:t>
            </a:r>
          </a:p>
          <a:p>
            <a:pPr algn="l">
              <a:spcAft>
                <a:spcPts val="400"/>
              </a:spcAft>
            </a:pPr>
            <a:r>
              <a:rPr sz="1500" b="1">
                <a:solidFill>
                  <a:schemeClr val="tx1"/>
                </a:solidFill>
              </a:rPr>
              <a:t>payload</a:t>
            </a:r>
          </a:p>
          <a:p>
            <a:pPr algn="l"/>
            <a:r>
              <a:rPr sz="1400" b="0">
                <a:solidFill>
                  <a:schemeClr val="accent5"/>
                </a:solidFill>
              </a:rPr>
              <a:t>larger payloads are split by the application</a:t>
            </a:r>
          </a:p>
        </p:txBody>
      </p:sp>
      <p:sp>
        <p:nvSpPr>
          <p:cNvPr id="9030" name="Card 458"/>
          <p:cNvSpPr/>
          <p:nvPr/>
        </p:nvSpPr>
        <p:spPr>
          <a:xfrm>
            <a:off x="8129016" y="1691640"/>
            <a:ext cx="3511296"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400"/>
              </a:spcAft>
            </a:pPr>
            <a:r>
              <a:rPr sz="2400" b="1" cap="none">
                <a:solidFill>
                  <a:schemeClr val="accent1"/>
                </a:solidFill>
                <a:latin typeface="+mj-lt"/>
              </a:rPr>
              <a:t>4</a:t>
            </a:r>
          </a:p>
          <a:p>
            <a:pPr algn="l">
              <a:spcAft>
                <a:spcPts val="400"/>
              </a:spcAft>
            </a:pPr>
            <a:r>
              <a:rPr sz="1500" b="1">
                <a:solidFill>
                  <a:schemeClr val="tx1"/>
                </a:solidFill>
              </a:rPr>
              <a:t>replays per member concurrently</a:t>
            </a:r>
          </a:p>
          <a:p>
            <a:pPr algn="l"/>
            <a:r>
              <a:rPr sz="1400" b="0">
                <a:solidFill>
                  <a:schemeClr val="accent5"/>
                </a:solidFill>
              </a:rPr>
              <a:t>1 while the recording is behind; more wait</a:t>
            </a:r>
          </a:p>
        </p:txBody>
      </p:sp>
      <p:sp>
        <p:nvSpPr>
          <p:cNvPr id="9031" name="Card 459"/>
          <p:cNvSpPr/>
          <p:nvPr/>
        </p:nvSpPr>
        <p:spPr>
          <a:xfrm>
            <a:off x="548640" y="4023360"/>
            <a:ext cx="3511296"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400"/>
              </a:spcAft>
            </a:pPr>
            <a:r>
              <a:rPr sz="2400" b="1" cap="none">
                <a:solidFill>
                  <a:schemeClr val="accent1"/>
                </a:solidFill>
                <a:latin typeface="+mj-lt"/>
              </a:rPr>
              <a:t>None</a:t>
            </a:r>
          </a:p>
          <a:p>
            <a:pPr algn="l">
              <a:spcAft>
                <a:spcPts val="400"/>
              </a:spcAft>
            </a:pPr>
            <a:r>
              <a:rPr sz="1500" b="1">
                <a:solidFill>
                  <a:schemeClr val="tx1"/>
                </a:solidFill>
              </a:rPr>
              <a:t>wire security</a:t>
            </a:r>
          </a:p>
          <a:p>
            <a:pPr algn="l"/>
            <a:r>
              <a:rPr sz="1400" b="0">
                <a:solidFill>
                  <a:schemeClr val="accent5"/>
                </a:solidFill>
              </a:rPr>
              <a:t>no authentication or encryption on the wire</a:t>
            </a:r>
          </a:p>
        </p:txBody>
      </p:sp>
      <p:sp>
        <p:nvSpPr>
          <p:cNvPr id="9032" name="Card 460"/>
          <p:cNvSpPr/>
          <p:nvPr/>
        </p:nvSpPr>
        <p:spPr>
          <a:xfrm>
            <a:off x="4338828" y="4023360"/>
            <a:ext cx="3511296"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400"/>
              </a:spcAft>
            </a:pPr>
            <a:r>
              <a:rPr sz="2400" b="1" cap="none">
                <a:solidFill>
                  <a:schemeClr val="accent1"/>
                </a:solidFill>
                <a:latin typeface="+mj-lt"/>
              </a:rPr>
              <a:t>Unmeasured</a:t>
            </a:r>
          </a:p>
          <a:p>
            <a:pPr algn="l">
              <a:spcAft>
                <a:spcPts val="400"/>
              </a:spcAft>
            </a:pPr>
            <a:r>
              <a:rPr sz="1500" b="1">
                <a:solidFill>
                  <a:schemeClr val="tx1"/>
                </a:solidFill>
              </a:rPr>
              <a:t>performance</a:t>
            </a:r>
          </a:p>
          <a:p>
            <a:pPr algn="l"/>
            <a:r>
              <a:rPr sz="1400" b="0">
                <a:solidFill>
                  <a:schemeClr val="accent5"/>
                </a:solidFill>
              </a:rPr>
              <a:t>no latency or throughput figures yet</a:t>
            </a:r>
          </a:p>
        </p:txBody>
      </p:sp>
      <p:sp>
        <p:nvSpPr>
          <p:cNvPr id="9033" name="Card 461"/>
          <p:cNvSpPr/>
          <p:nvPr/>
        </p:nvSpPr>
        <p:spPr>
          <a:xfrm>
            <a:off x="8129016" y="4023360"/>
            <a:ext cx="3511296"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400"/>
              </a:spcAft>
            </a:pPr>
            <a:r>
              <a:rPr sz="2400" b="1" cap="none">
                <a:solidFill>
                  <a:schemeClr val="accent1"/>
                </a:solidFill>
                <a:latin typeface="+mj-lt"/>
              </a:rPr>
              <a:t>All at once</a:t>
            </a:r>
          </a:p>
          <a:p>
            <a:pPr algn="l">
              <a:spcAft>
                <a:spcPts val="400"/>
              </a:spcAft>
            </a:pPr>
            <a:r>
              <a:rPr sz="1500" b="1">
                <a:solidFill>
                  <a:schemeClr val="tx1"/>
                </a:solidFill>
              </a:rPr>
              <a:t>framing protocol upgrade</a:t>
            </a:r>
          </a:p>
          <a:p>
            <a:pPr algn="l"/>
            <a:r>
              <a:rPr sz="1400" b="0">
                <a:solidFill>
                  <a:schemeClr val="accent5"/>
                </a:solidFill>
              </a:rPr>
              <a:t>seqeron's own protocol, on purged archives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Non-functional requirements</a:t>
            </a:r>
          </a:p>
        </p:txBody>
      </p:sp>
      <p:sp>
        <p:nvSpPr>
          <p:cNvPr id="3" name="Text 462"/>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What seqeron gives today, attribute by attribute</a:t>
            </a:r>
          </a:p>
        </p:txBody>
      </p:sp>
      <p:sp>
        <p:nvSpPr>
          <p:cNvPr id="9028" name="Slide number"/>
          <p:cNvSpPr txBox="1"/>
          <p:nvPr userDrawn="1"/>
        </p:nvSpPr>
        <p:spPr>
          <a:xfrm>
            <a:off x="10728655" y="6400800"/>
            <a:ext cx="914400" cy="274320"/>
          </a:xfrm>
          <a:prstGeom prst="rect">
            <a:avLst/>
          </a:prstGeom>
          <a:noFill/>
        </p:spPr>
        <p:txBody>
          <a:bodyPr wrap="none" lIns="0" tIns="0" rIns="0" bIns="0" anchor="ctr"/>
          <a:lstStyle/>
          <a:p>
            <a:pPr algn="r"/>
            <a:fld id="{4dbd22b1-ad6f-4ad2-a9aa-e4ef49a53d40}" type="slidenum">
              <a:rPr lang="en-US" sz="1000" dirty="0">
                <a:solidFill>
                  <a:schemeClr val="accent5"/>
                </a:solidFill>
              </a:rPr>
              <a:t>28</a:t>
            </a:fld>
          </a:p>
        </p:txBody>
      </p:sp>
      <p:graphicFrame>
        <p:nvGraphicFramePr>
          <p:cNvPr id="9029" name="Table 463"/>
          <p:cNvGraphicFramePr>
            <a:graphicFrameLocks noGrp="1"/>
          </p:cNvGraphicFramePr>
          <p:nvPr/>
        </p:nvGraphicFramePr>
        <p:xfrm>
          <a:off x="548640" y="1645920"/>
          <a:ext cx="11091672" cy="4279392"/>
        </p:xfrm>
        <a:graphic>
          <a:graphicData uri="http://schemas.openxmlformats.org/drawingml/2006/table">
            <a:tbl>
              <a:tblPr firstRow="1">
                <a:tableStyleId>{5C22544A-7EE6-4342-B048-85BDC9FD1C3A}</a:tableStyleId>
              </a:tblPr>
              <a:tblGrid>
                <a:gridCol w="2743200"/>
                <a:gridCol w="8348472"/>
              </a:tblGrid>
              <a:tr h="475488">
                <a:tc>
                  <a:txBody>
                    <a:bodyPr/>
                    <a:lstStyle/>
                    <a:p>
                      <a:pPr algn="l"/>
                      <a:r>
                        <a:rPr sz="1300" b="1">
                          <a:solidFill>
                            <a:schemeClr val="bg1"/>
                          </a:solidFill>
                        </a:rPr>
                        <a:t>Attribute</a:t>
                      </a:r>
                    </a:p>
                  </a:txBody>
                  <a:tcPr marL="91440" marR="91440" marT="45720" marB="45720" anchor="ctr">
                    <a:solidFill>
                      <a:schemeClr val="accent1"/>
                    </a:solidFill>
                  </a:tcPr>
                </a:tc>
                <a:tc>
                  <a:txBody>
                    <a:bodyPr/>
                    <a:lstStyle/>
                    <a:p>
                      <a:pPr algn="l"/>
                      <a:r>
                        <a:rPr sz="1300" b="1">
                          <a:solidFill>
                            <a:schemeClr val="bg1"/>
                          </a:solidFill>
                        </a:rPr>
                        <a:t>Today</a:t>
                      </a:r>
                    </a:p>
                  </a:txBody>
                  <a:tcPr marL="91440" marR="91440" marT="45720" marB="45720" anchor="ctr">
                    <a:solidFill>
                      <a:schemeClr val="accent1"/>
                    </a:solidFill>
                  </a:tcPr>
                </a:tc>
              </a:tr>
              <a:tr h="475488">
                <a:tc>
                  <a:txBody>
                    <a:bodyPr/>
                    <a:lstStyle/>
                    <a:p>
                      <a:pPr algn="l"/>
                      <a:r>
                        <a:rPr sz="1400" b="1">
                          <a:solidFill>
                            <a:schemeClr val="tx1"/>
                          </a:solidFill>
                        </a:rPr>
                        <a:t>Latency</a:t>
                      </a:r>
                    </a:p>
                  </a:txBody>
                  <a:tcPr marL="91440" marR="91440" marT="45720" marB="45720" anchor="ctr">
                    <a:solidFill>
                      <a:schemeClr val="bg1"/>
                    </a:solidFill>
                  </a:tcPr>
                </a:tc>
                <a:tc>
                  <a:txBody>
                    <a:bodyPr/>
                    <a:lstStyle/>
                    <a:p>
                      <a:pPr algn="l"/>
                      <a:r>
                        <a:rPr sz="1400" b="0">
                          <a:solidFill>
                            <a:schemeClr val="tx1"/>
                          </a:solidFill>
                        </a:rPr>
                        <a:t>Ingress to the producer's own queue: not measured</a:t>
                      </a:r>
                    </a:p>
                  </a:txBody>
                  <a:tcPr marL="91440" marR="91440" marT="45720" marB="45720" anchor="ctr">
                    <a:solidFill>
                      <a:schemeClr val="bg1"/>
                    </a:solidFill>
                  </a:tcPr>
                </a:tc>
              </a:tr>
              <a:tr h="475488">
                <a:tc>
                  <a:txBody>
                    <a:bodyPr/>
                    <a:lstStyle/>
                    <a:p>
                      <a:pPr algn="l"/>
                      <a:r>
                        <a:rPr sz="1400" b="1">
                          <a:solidFill>
                            <a:schemeClr val="tx1"/>
                          </a:solidFill>
                        </a:rPr>
                        <a:t>Throughput</a:t>
                      </a:r>
                    </a:p>
                  </a:txBody>
                  <a:tcPr marL="91440" marR="91440" marT="45720" marB="45720" anchor="ctr">
                    <a:solidFill>
                      <a:schemeClr val="bg2"/>
                    </a:solidFill>
                  </a:tcPr>
                </a:tc>
                <a:tc>
                  <a:txBody>
                    <a:bodyPr/>
                    <a:lstStyle/>
                    <a:p>
                      <a:pPr algn="l"/>
                      <a:r>
                        <a:rPr sz="1400" b="0">
                          <a:solidFill>
                            <a:schemeClr val="tx1"/>
                          </a:solidFill>
                        </a:rPr>
                        <a:t>One stream: not measured; the target is the peak, an estimated 50,000/s at a Nordic close</a:t>
                      </a:r>
                    </a:p>
                  </a:txBody>
                  <a:tcPr marL="91440" marR="91440" marT="45720" marB="45720" anchor="ctr">
                    <a:solidFill>
                      <a:schemeClr val="bg2"/>
                    </a:solidFill>
                  </a:tcPr>
                </a:tc>
              </a:tr>
              <a:tr h="475488">
                <a:tc>
                  <a:txBody>
                    <a:bodyPr/>
                    <a:lstStyle/>
                    <a:p>
                      <a:pPr algn="l"/>
                      <a:r>
                        <a:rPr sz="1400" b="1">
                          <a:solidFill>
                            <a:schemeClr val="tx1"/>
                          </a:solidFill>
                        </a:rPr>
                        <a:t>Fault tolerance</a:t>
                      </a:r>
                    </a:p>
                  </a:txBody>
                  <a:tcPr marL="91440" marR="91440" marT="45720" marB="45720" anchor="ctr">
                    <a:solidFill>
                      <a:schemeClr val="bg1"/>
                    </a:solidFill>
                  </a:tcPr>
                </a:tc>
                <a:tc>
                  <a:txBody>
                    <a:bodyPr/>
                    <a:lstStyle/>
                    <a:p>
                      <a:pPr algn="l"/>
                      <a:r>
                        <a:rPr sz="1400" b="0">
                          <a:solidFill>
                            <a:schemeClr val="tx1"/>
                          </a:solidFill>
                        </a:rPr>
                        <a:t>A minority of members: 1 of 3, 2 of 5, 3 of 7</a:t>
                      </a:r>
                    </a:p>
                  </a:txBody>
                  <a:tcPr marL="91440" marR="91440" marT="45720" marB="45720" anchor="ctr">
                    <a:solidFill>
                      <a:schemeClr val="bg1"/>
                    </a:solidFill>
                  </a:tcPr>
                </a:tc>
              </a:tr>
              <a:tr h="475488">
                <a:tc>
                  <a:txBody>
                    <a:bodyPr/>
                    <a:lstStyle/>
                    <a:p>
                      <a:pPr algn="l"/>
                      <a:r>
                        <a:rPr sz="1400" b="1">
                          <a:solidFill>
                            <a:schemeClr val="tx1"/>
                          </a:solidFill>
                        </a:rPr>
                        <a:t>Failover</a:t>
                      </a:r>
                    </a:p>
                  </a:txBody>
                  <a:tcPr marL="91440" marR="91440" marT="45720" marB="45720" anchor="ctr">
                    <a:solidFill>
                      <a:schemeClr val="bg2"/>
                    </a:solidFill>
                  </a:tcPr>
                </a:tc>
                <a:tc>
                  <a:txBody>
                    <a:bodyPr/>
                    <a:lstStyle/>
                    <a:p>
                      <a:pPr algn="l"/>
                      <a:r>
                        <a:rPr sz="1400" b="0">
                          <a:solidFill>
                            <a:schemeClr val="tx1"/>
                          </a:solidFill>
                        </a:rPr>
                        <a:t>Election after 200 ms without a leader heartbeat; duration not measured</a:t>
                      </a:r>
                    </a:p>
                  </a:txBody>
                  <a:tcPr marL="91440" marR="91440" marT="45720" marB="45720" anchor="ctr">
                    <a:solidFill>
                      <a:schemeClr val="bg2"/>
                    </a:solidFill>
                  </a:tcPr>
                </a:tc>
              </a:tr>
              <a:tr h="475488">
                <a:tc>
                  <a:txBody>
                    <a:bodyPr/>
                    <a:lstStyle/>
                    <a:p>
                      <a:pPr algn="l"/>
                      <a:r>
                        <a:rPr sz="1400" b="1">
                          <a:solidFill>
                            <a:schemeClr val="tx1"/>
                          </a:solidFill>
                        </a:rPr>
                        <a:t>Data loss</a:t>
                      </a:r>
                    </a:p>
                  </a:txBody>
                  <a:tcPr marL="91440" marR="91440" marT="45720" marB="45720" anchor="ctr">
                    <a:solidFill>
                      <a:schemeClr val="bg1"/>
                    </a:solidFill>
                  </a:tcPr>
                </a:tc>
                <a:tc>
                  <a:txBody>
                    <a:bodyPr/>
                    <a:lstStyle/>
                    <a:p>
                      <a:pPr algn="l"/>
                      <a:r>
                        <a:rPr sz="1400" b="0">
                          <a:solidFill>
                            <a:schemeClr val="tx1"/>
                          </a:solidFill>
                        </a:rPr>
                        <a:t>None for a minority's crash; a majority's power loss can lose committed messages</a:t>
                      </a:r>
                    </a:p>
                  </a:txBody>
                  <a:tcPr marL="91440" marR="91440" marT="45720" marB="45720" anchor="ctr">
                    <a:solidFill>
                      <a:schemeClr val="bg1"/>
                    </a:solidFill>
                  </a:tcPr>
                </a:tc>
              </a:tr>
              <a:tr h="475488">
                <a:tc>
                  <a:txBody>
                    <a:bodyPr/>
                    <a:lstStyle/>
                    <a:p>
                      <a:pPr algn="l"/>
                      <a:r>
                        <a:rPr sz="1400" b="1">
                          <a:solidFill>
                            <a:schemeClr val="tx1"/>
                          </a:solidFill>
                        </a:rPr>
                        <a:t>Member restart</a:t>
                      </a:r>
                    </a:p>
                  </a:txBody>
                  <a:tcPr marL="91440" marR="91440" marT="45720" marB="45720" anchor="ctr">
                    <a:solidFill>
                      <a:schemeClr val="bg2"/>
                    </a:solidFill>
                  </a:tcPr>
                </a:tc>
                <a:tc>
                  <a:txBody>
                    <a:bodyPr/>
                    <a:lstStyle/>
                    <a:p>
                      <a:pPr algn="l"/>
                      <a:r>
                        <a:rPr sz="1400" b="0">
                          <a:solidFill>
                            <a:schemeClr val="tx1"/>
                          </a:solidFill>
                        </a:rPr>
                        <a:t>Full-log replay: grows with uptime</a:t>
                      </a:r>
                    </a:p>
                  </a:txBody>
                  <a:tcPr marL="91440" marR="91440" marT="45720" marB="45720" anchor="ctr">
                    <a:solidFill>
                      <a:schemeClr val="bg2"/>
                    </a:solidFill>
                  </a:tcPr>
                </a:tc>
              </a:tr>
              <a:tr h="475488">
                <a:tc>
                  <a:txBody>
                    <a:bodyPr/>
                    <a:lstStyle/>
                    <a:p>
                      <a:pPr algn="l"/>
                      <a:r>
                        <a:rPr sz="1400" b="1">
                          <a:solidFill>
                            <a:schemeClr val="tx1"/>
                          </a:solidFill>
                        </a:rPr>
                        <a:t>Client restart</a:t>
                      </a:r>
                    </a:p>
                  </a:txBody>
                  <a:tcPr marL="91440" marR="91440" marT="45720" marB="45720" anchor="ctr">
                    <a:solidFill>
                      <a:schemeClr val="bg1"/>
                    </a:solidFill>
                  </a:tcPr>
                </a:tc>
                <a:tc>
                  <a:txBody>
                    <a:bodyPr/>
                    <a:lstStyle/>
                    <a:p>
                      <a:pPr algn="l"/>
                      <a:r>
                        <a:rPr sz="1400" b="0">
                          <a:solidFill>
                            <a:schemeClr val="tx1"/>
                          </a:solidFill>
                        </a:rPr>
                        <a:t>Newest confirmed snapshot, then the tail; else the full log</a:t>
                      </a:r>
                    </a:p>
                  </a:txBody>
                  <a:tcPr marL="91440" marR="91440" marT="45720" marB="45720" anchor="ctr">
                    <a:solidFill>
                      <a:schemeClr val="bg1"/>
                    </a:solidFill>
                  </a:tcPr>
                </a:tc>
              </a:tr>
              <a:tr h="475488">
                <a:tc>
                  <a:txBody>
                    <a:bodyPr/>
                    <a:lstStyle/>
                    <a:p>
                      <a:pPr algn="l"/>
                      <a:r>
                        <a:rPr sz="1400" b="1">
                          <a:solidFill>
                            <a:schemeClr val="tx1"/>
                          </a:solidFill>
                        </a:rPr>
                        <a:t>Retention</a:t>
                      </a:r>
                    </a:p>
                  </a:txBody>
                  <a:tcPr marL="91440" marR="91440" marT="45720" marB="45720" anchor="ctr">
                    <a:solidFill>
                      <a:schemeClr val="bg2"/>
                    </a:solidFill>
                  </a:tcPr>
                </a:tc>
                <a:tc>
                  <a:txBody>
                    <a:bodyPr/>
                    <a:lstStyle/>
                    <a:p>
                      <a:pPr algn="l"/>
                      <a:r>
                        <a:rPr sz="1400" b="0">
                          <a:solidFill>
                            <a:schemeClr val="tx1"/>
                          </a:solidFill>
                        </a:rPr>
                        <a:t>Everything, on every member; truncation designed, not built</a:t>
                      </a:r>
                    </a:p>
                  </a:txBody>
                  <a:tcPr marL="91440" marR="91440" marT="45720" marB="45720" anchor="ctr">
                    <a:solidFill>
                      <a:schemeClr val="bg2"/>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Sizing the archive</a:t>
            </a:r>
          </a:p>
        </p:txBody>
      </p:sp>
      <p:sp>
        <p:nvSpPr>
          <p:cNvPr id="3" name="Text 464"/>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Every member records the Raft log and the queue, and keeps both</a:t>
            </a:r>
          </a:p>
        </p:txBody>
      </p:sp>
      <p:sp>
        <p:nvSpPr>
          <p:cNvPr id="9029" name="Slide number"/>
          <p:cNvSpPr txBox="1"/>
          <p:nvPr userDrawn="1"/>
        </p:nvSpPr>
        <p:spPr>
          <a:xfrm>
            <a:off x="10728655" y="6400800"/>
            <a:ext cx="914400" cy="274320"/>
          </a:xfrm>
          <a:prstGeom prst="rect">
            <a:avLst/>
          </a:prstGeom>
          <a:noFill/>
        </p:spPr>
        <p:txBody>
          <a:bodyPr wrap="none" lIns="0" tIns="0" rIns="0" bIns="0" anchor="ctr"/>
          <a:lstStyle/>
          <a:p>
            <a:pPr algn="r"/>
            <a:fld id="{7008703a-2e38-44c8-a381-895fbfbfb6c8}" type="slidenum">
              <a:rPr lang="en-US" sz="1000" dirty="0">
                <a:solidFill>
                  <a:schemeClr val="accent5"/>
                </a:solidFill>
              </a:rPr>
              <a:t>29</a:t>
            </a:fld>
          </a:p>
        </p:txBody>
      </p:sp>
      <p:sp>
        <p:nvSpPr>
          <p:cNvPr id="9030" name="Card 465"/>
          <p:cNvSpPr/>
          <p:nvPr/>
        </p:nvSpPr>
        <p:spPr>
          <a:xfrm>
            <a:off x="548640" y="1645920"/>
            <a:ext cx="5394960" cy="2286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1000"/>
              </a:spcAft>
            </a:pPr>
            <a:r>
              <a:rPr sz="1800" b="1" cap="none">
                <a:solidFill>
                  <a:schemeClr val="tx1"/>
                </a:solidFill>
                <a:latin typeface="+mj-lt"/>
              </a:rPr>
              <a:t>Per message, on every member</a:t>
            </a:r>
          </a:p>
          <a:p>
            <a:pPr algn="l">
              <a:spcAft>
                <a:spcPts val="600"/>
              </a:spcAft>
            </a:pPr>
            <a:r>
              <a:rPr sz="1600" b="1">
                <a:solidFill>
                  <a:schemeClr val="tx1"/>
                </a:solidFill>
              </a:rPr>
              <a:t>Raft log entry   </a:t>
            </a:r>
            <a:r>
              <a:rPr sz="1600" b="1">
                <a:solidFill>
                  <a:schemeClr val="accent1"/>
                </a:solidFill>
              </a:rPr>
              <a:t>align32(92 + payload)</a:t>
            </a:r>
          </a:p>
          <a:p>
            <a:pPr algn="l">
              <a:spcAft>
                <a:spcPts val="1000"/>
              </a:spcAft>
            </a:pPr>
            <a:r>
              <a:rPr sz="1600" b="1">
                <a:solidFill>
                  <a:schemeClr val="tx1"/>
                </a:solidFill>
              </a:rPr>
              <a:t>Queue frame   </a:t>
            </a:r>
            <a:r>
              <a:rPr sz="1600" b="1">
                <a:solidFill>
                  <a:schemeClr val="accent1"/>
                </a:solidFill>
              </a:rPr>
              <a:t>align32(76 + payload)</a:t>
            </a:r>
          </a:p>
          <a:p>
            <a:pPr algn="l"/>
            <a:r>
              <a:rPr sz="1300" b="0">
                <a:solidFill>
                  <a:schemeClr val="accent5"/>
                </a:solidFill>
              </a:rPr>
              <a:t>Aeron frame header 32 B · cluster session header 32 B · seqeron envelope 28 B in, 44 B out</a:t>
            </a:r>
          </a:p>
        </p:txBody>
      </p:sp>
      <p:sp>
        <p:nvSpPr>
          <p:cNvPr id="9031" name="Card 466"/>
          <p:cNvSpPr/>
          <p:nvPr/>
        </p:nvSpPr>
        <p:spPr>
          <a:xfrm>
            <a:off x="6245352" y="1645920"/>
            <a:ext cx="5394960" cy="2286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1000"/>
              </a:spcAft>
            </a:pPr>
            <a:r>
              <a:rPr sz="1800" b="1" cap="none">
                <a:solidFill>
                  <a:schemeClr val="tx1"/>
                </a:solidFill>
                <a:latin typeface="+mj-lt"/>
              </a:rPr>
              <a:t>Illustration: INET Nordic equities</a:t>
            </a:r>
          </a:p>
          <a:p>
            <a:pPr algn="l">
              <a:spcAft>
                <a:spcPts val="400"/>
              </a:spcAft>
            </a:pPr>
            <a:r>
              <a:rPr sz="2600" b="1" cap="none">
                <a:solidFill>
                  <a:schemeClr val="accent1"/>
                </a:solidFill>
                <a:latin typeface="+mj-lt"/>
              </a:rPr>
              <a:t>25 M</a:t>
            </a:r>
            <a:r>
              <a:rPr sz="1400" b="0">
                <a:solidFill>
                  <a:schemeClr val="tx1"/>
                </a:solidFill>
              </a:rPr>
              <a:t>  messages a day at 32 B: 256 B each</a:t>
            </a:r>
          </a:p>
          <a:p>
            <a:pPr algn="l">
              <a:spcAft>
                <a:spcPts val="400"/>
              </a:spcAft>
            </a:pPr>
            <a:r>
              <a:rPr sz="2600" b="1" cap="none">
                <a:solidFill>
                  <a:schemeClr val="accent1"/>
                </a:solidFill>
                <a:latin typeface="+mj-lt"/>
              </a:rPr>
              <a:t>6.4 GB</a:t>
            </a:r>
            <a:r>
              <a:rPr sz="1400" b="0">
                <a:solidFill>
                  <a:schemeClr val="tx1"/>
                </a:solidFill>
              </a:rPr>
              <a:t>  a day on each member; 1.6 TB a year</a:t>
            </a:r>
          </a:p>
          <a:p>
            <a:pPr algn="l"/>
            <a:r>
              <a:rPr sz="1300" b="0">
                <a:solidFill>
                  <a:schemeClr val="accent5"/>
                </a:solidFill>
              </a:rPr>
              <a:t>600k trades a day × 40 messages; 32 B from ITCH and OUCH</a:t>
            </a:r>
          </a:p>
        </p:txBody>
      </p:sp>
      <p:sp>
        <p:nvSpPr>
          <p:cNvPr id="9032" name="Card 467"/>
          <p:cNvSpPr/>
          <p:nvPr/>
        </p:nvSpPr>
        <p:spPr>
          <a:xfrm>
            <a:off x="548640" y="4160520"/>
            <a:ext cx="3511296" cy="146304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400"/>
              </a:spcAft>
            </a:pPr>
            <a:r>
              <a:rPr sz="1500" b="1">
                <a:solidFill>
                  <a:schemeClr val="tx1"/>
                </a:solidFill>
              </a:rPr>
              <a:t>Each restart adds a copy</a:t>
            </a:r>
          </a:p>
          <a:p>
            <a:pPr algn="l"/>
            <a:r>
              <a:rPr sz="1300" b="0">
                <a:solidFill>
                  <a:schemeClr val="tx1"/>
                </a:solidFill>
              </a:rPr>
              <a:t>A member re-records the queue from globalSeqNo 1; earlier recordings stay on disk, unread.</a:t>
            </a:r>
          </a:p>
        </p:txBody>
      </p:sp>
      <p:sp>
        <p:nvSpPr>
          <p:cNvPr id="9033" name="Card 468"/>
          <p:cNvSpPr/>
          <p:nvPr/>
        </p:nvSpPr>
        <p:spPr>
          <a:xfrm>
            <a:off x="4338828" y="4160520"/>
            <a:ext cx="3511296" cy="146304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400"/>
              </a:spcAft>
            </a:pPr>
            <a:r>
              <a:rPr sz="1500" b="1">
                <a:solidFill>
                  <a:schemeClr val="tx1"/>
                </a:solidFill>
              </a:rPr>
              <a:t>Restart time</a:t>
            </a:r>
          </a:p>
          <a:p>
            <a:pPr algn="l"/>
            <a:r>
              <a:rPr sz="1300" b="0">
                <a:solidFill>
                  <a:schemeClr val="tx1"/>
                </a:solidFill>
              </a:rPr>
              <a:t>Raft log ÷ replay rate; the replay rate is not yet measured.</a:t>
            </a:r>
          </a:p>
        </p:txBody>
      </p:sp>
      <p:sp>
        <p:nvSpPr>
          <p:cNvPr id="9034" name="Card 469"/>
          <p:cNvSpPr/>
          <p:nvPr/>
        </p:nvSpPr>
        <p:spPr>
          <a:xfrm>
            <a:off x="8129016" y="4160520"/>
            <a:ext cx="3511296" cy="146304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64592" bIns="164592"/>
          <a:lstStyle/>
          <a:p>
            <a:pPr algn="l">
              <a:spcAft>
                <a:spcPts val="400"/>
              </a:spcAft>
            </a:pPr>
            <a:r>
              <a:rPr sz="1500" b="1">
                <a:solidFill>
                  <a:schemeClr val="tx1"/>
                </a:solidFill>
              </a:rPr>
              <a:t>Bounded later</a:t>
            </a:r>
          </a:p>
          <a:p>
            <a:pPr algn="l"/>
            <a:r>
              <a:rPr sz="1300" b="0">
                <a:solidFill>
                  <a:schemeClr val="tx1"/>
                </a:solidFill>
              </a:rPr>
              <a:t>Cluster snapshots and truncation: designed (snapshot.md §10), not built.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Deployment and disaster recovery</a:t>
            </a:r>
          </a:p>
        </p:txBody>
      </p:sp>
      <p:sp>
        <p:nvSpPr>
          <p:cNvPr id="3" name="Text 470"/>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What a host needs, where members go, and what is not yet designed</a:t>
            </a:r>
          </a:p>
        </p:txBody>
      </p:sp>
      <p:sp>
        <p:nvSpPr>
          <p:cNvPr id="9030" name="Slide number"/>
          <p:cNvSpPr txBox="1"/>
          <p:nvPr userDrawn="1"/>
        </p:nvSpPr>
        <p:spPr>
          <a:xfrm>
            <a:off x="10728655" y="6400800"/>
            <a:ext cx="914400" cy="274320"/>
          </a:xfrm>
          <a:prstGeom prst="rect">
            <a:avLst/>
          </a:prstGeom>
          <a:noFill/>
        </p:spPr>
        <p:txBody>
          <a:bodyPr wrap="none" lIns="0" tIns="0" rIns="0" bIns="0" anchor="ctr"/>
          <a:lstStyle/>
          <a:p>
            <a:pPr algn="r"/>
            <a:fld id="{c5047962-c702-4bc3-a7c9-d383aee634ab}" type="slidenum">
              <a:rPr lang="en-US" sz="1000" dirty="0">
                <a:solidFill>
                  <a:schemeClr val="accent5"/>
                </a:solidFill>
              </a:rPr>
              <a:t>30</a:t>
            </a:fld>
          </a:p>
        </p:txBody>
      </p:sp>
      <p:sp>
        <p:nvSpPr>
          <p:cNvPr id="9031" name="Card 471"/>
          <p:cNvSpPr/>
          <p:nvPr/>
        </p:nvSpPr>
        <p:spPr>
          <a:xfrm>
            <a:off x="548640" y="1691640"/>
            <a:ext cx="3511296" cy="3291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1000"/>
              </a:spcAft>
            </a:pPr>
            <a:r>
              <a:rPr sz="1800" b="1" cap="none">
                <a:solidFill>
                  <a:schemeClr val="tx1"/>
                </a:solidFill>
                <a:latin typeface="+mj-lt"/>
              </a:rPr>
              <a:t>A member host</a:t>
            </a:r>
          </a:p>
          <a:p>
            <a:pPr algn="l" marL="228600" indent="-228600">
              <a:spcAft>
                <a:spcPts val="800"/>
              </a:spcAft>
              <a:buClr>
                <a:schemeClr val="accent1"/>
              </a:buClr>
              <a:buChar char="•"/>
            </a:pPr>
            <a:r>
              <a:rPr sz="1400" b="0">
                <a:solidFill>
                  <a:schemeClr val="tx1"/>
                </a:solidFill>
              </a:rPr>
              <a:t>One JVM (JDK 21): consensus, sequencer, driver, archive, Replayer</a:t>
            </a:r>
          </a:p>
          <a:p>
            <a:pPr algn="l" marL="228600" indent="-228600">
              <a:spcAft>
                <a:spcPts val="800"/>
              </a:spcAft>
              <a:buClr>
                <a:schemeClr val="accent1"/>
              </a:buClr>
              <a:buChar char="•"/>
            </a:pPr>
            <a:r>
              <a:rPr sz="1400" b="0">
                <a:solidFill>
                  <a:schemeClr val="tx1"/>
                </a:solidFill>
              </a:rPr>
              <a:t>Archive and Raft log on local disk; Aeron directory on tmpfs</a:t>
            </a:r>
          </a:p>
          <a:p>
            <a:pPr algn="l" marL="228600" indent="-228600">
              <a:spcAft>
                <a:spcPts val="800"/>
              </a:spcAft>
              <a:buClr>
                <a:schemeClr val="accent1"/>
              </a:buClr>
              <a:buChar char="•"/>
            </a:pPr>
            <a:r>
              <a:rPr sz="1400" b="0">
                <a:solidFill>
                  <a:schemeClr val="tx1"/>
                </a:solidFill>
              </a:rPr>
              <a:t>A 70-port block from 9300; metrics on 9400 + member id</a:t>
            </a:r>
          </a:p>
          <a:p>
            <a:pPr algn="l" marL="228600" indent="-228600">
              <a:spcAft>
                <a:spcPts val="800"/>
              </a:spcAft>
              <a:buClr>
                <a:schemeClr val="accent1"/>
              </a:buClr>
              <a:buChar char="•"/>
            </a:pPr>
            <a:r>
              <a:rPr sz="1400" b="0">
                <a:solidFill>
                  <a:schemeClr val="tx1"/>
                </a:solidFill>
              </a:rPr>
              <a:t>Clients beside a member, or on a gateway host that relays its queue</a:t>
            </a:r>
          </a:p>
        </p:txBody>
      </p:sp>
      <p:sp>
        <p:nvSpPr>
          <p:cNvPr id="9032" name="Card 472"/>
          <p:cNvSpPr/>
          <p:nvPr/>
        </p:nvSpPr>
        <p:spPr>
          <a:xfrm>
            <a:off x="4338828" y="1691640"/>
            <a:ext cx="3511296" cy="3291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1000"/>
              </a:spcAft>
            </a:pPr>
            <a:r>
              <a:rPr sz="1800" b="1" cap="none">
                <a:solidFill>
                  <a:schemeClr val="tx1"/>
                </a:solidFill>
                <a:latin typeface="+mj-lt"/>
              </a:rPr>
              <a:t>Placement</a:t>
            </a:r>
          </a:p>
          <a:p>
            <a:pPr algn="l" marL="228600" indent="-228600">
              <a:spcAft>
                <a:spcPts val="800"/>
              </a:spcAft>
              <a:buClr>
                <a:schemeClr val="accent1"/>
              </a:buClr>
              <a:buChar char="•"/>
            </a:pPr>
            <a:r>
              <a:rPr sz="1400" b="0">
                <a:solidFill>
                  <a:schemeClr val="tx1"/>
                </a:solidFill>
              </a:rPr>
              <a:t>Each member in its own failure domain: rack, power, zone</a:t>
            </a:r>
          </a:p>
          <a:p>
            <a:pPr algn="l" marL="228600" indent="-228600">
              <a:spcAft>
                <a:spcPts val="800"/>
              </a:spcAft>
              <a:buClr>
                <a:schemeClr val="accent1"/>
              </a:buClr>
              <a:buChar char="•"/>
            </a:pPr>
            <a:r>
              <a:rPr sz="1400" b="0">
                <a:solidFill>
                  <a:schemeClr val="tx1"/>
                </a:solidFill>
              </a:rPr>
              <a:t>A commit waits for a majority: the round trip between members is on every message</a:t>
            </a:r>
          </a:p>
          <a:p>
            <a:pPr algn="l" marL="228600" indent="-228600">
              <a:spcAft>
                <a:spcPts val="800"/>
              </a:spcAft>
              <a:buClr>
                <a:schemeClr val="accent1"/>
              </a:buClr>
              <a:buChar char="•"/>
            </a:pPr>
            <a:r>
              <a:rPr sz="1400" b="0">
                <a:solidFill>
                  <a:schemeClr val="tx1"/>
                </a:solidFill>
              </a:rPr>
              <a:t>Separate power keeps committed messages safe without fsync</a:t>
            </a:r>
          </a:p>
        </p:txBody>
      </p:sp>
      <p:sp>
        <p:nvSpPr>
          <p:cNvPr id="9033" name="Card 473"/>
          <p:cNvSpPr/>
          <p:nvPr/>
        </p:nvSpPr>
        <p:spPr>
          <a:xfrm>
            <a:off x="8129016" y="1691640"/>
            <a:ext cx="3511296" cy="3291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1000"/>
              </a:spcAft>
            </a:pPr>
            <a:r>
              <a:rPr sz="1800" b="1" cap="none">
                <a:solidFill>
                  <a:schemeClr val="accent2"/>
                </a:solidFill>
                <a:latin typeface="+mj-lt"/>
              </a:rPr>
              <a:t>Disaster recovery</a:t>
            </a:r>
          </a:p>
          <a:p>
            <a:pPr algn="l" marL="228600" indent="-228600">
              <a:spcAft>
                <a:spcPts val="800"/>
              </a:spcAft>
              <a:buClr>
                <a:schemeClr val="accent1"/>
              </a:buClr>
              <a:buChar char="•"/>
            </a:pPr>
            <a:r>
              <a:rPr sz="1400" b="0">
                <a:solidFill>
                  <a:schemeClr val="tx1"/>
                </a:solidFill>
              </a:rPr>
              <a:t>Archives copied off site: Aeron Cluster Backup, not yet exercised</a:t>
            </a:r>
          </a:p>
          <a:p>
            <a:pPr algn="l" marL="228600" indent="-228600">
              <a:spcAft>
                <a:spcPts val="800"/>
              </a:spcAft>
              <a:buClr>
                <a:schemeClr val="accent1"/>
              </a:buClr>
              <a:buChar char="•"/>
            </a:pPr>
            <a:r>
              <a:rPr sz="1400" b="1">
                <a:solidFill>
                  <a:schemeClr val="tx1"/>
                </a:solidFill>
              </a:rPr>
              <a:t>Open: </a:t>
            </a:r>
            <a:r>
              <a:rPr sz="1400" b="0">
                <a:solidFill>
                  <a:schemeClr val="tx1"/>
                </a:solidFill>
              </a:rPr>
              <a:t>a second site, stretched cluster or standby</a:t>
            </a:r>
          </a:p>
          <a:p>
            <a:pPr algn="l" marL="228600" indent="-228600">
              <a:spcAft>
                <a:spcPts val="800"/>
              </a:spcAft>
              <a:buClr>
                <a:schemeClr val="accent1"/>
              </a:buClr>
              <a:buChar char="•"/>
            </a:pPr>
            <a:r>
              <a:rPr sz="1400" b="1">
                <a:solidFill>
                  <a:schemeClr val="tx1"/>
                </a:solidFill>
              </a:rPr>
              <a:t>Open: </a:t>
            </a:r>
            <a:r>
              <a:rPr sz="1400" b="0">
                <a:solidFill>
                  <a:schemeClr val="tx1"/>
                </a:solidFill>
              </a:rPr>
              <a:t>how a restore is verified</a:t>
            </a:r>
          </a:p>
          <a:p>
            <a:pPr algn="l" marL="228600" indent="-228600">
              <a:spcAft>
                <a:spcPts val="800"/>
              </a:spcAft>
              <a:buClr>
                <a:schemeClr val="accent1"/>
              </a:buClr>
              <a:buChar char="•"/>
            </a:pPr>
            <a:r>
              <a:rPr sz="1400" b="1">
                <a:solidFill>
                  <a:schemeClr val="tx1"/>
                </a:solidFill>
              </a:rPr>
              <a:t>Open: </a:t>
            </a:r>
            <a:r>
              <a:rPr sz="1400" b="0">
                <a:solidFill>
                  <a:schemeClr val="tx1"/>
                </a:solidFill>
              </a:rPr>
              <a:t>recovery time and data loss for a site loss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Security posture</a:t>
            </a:r>
          </a:p>
        </p:txBody>
      </p:sp>
      <p:sp>
        <p:nvSpPr>
          <p:cNvPr id="3" name="Text 474"/>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Crash faults, not malicious ones: the network is the access control</a:t>
            </a:r>
          </a:p>
        </p:txBody>
      </p:sp>
      <p:sp>
        <p:nvSpPr>
          <p:cNvPr id="9031" name="Slide number"/>
          <p:cNvSpPr txBox="1"/>
          <p:nvPr userDrawn="1"/>
        </p:nvSpPr>
        <p:spPr>
          <a:xfrm>
            <a:off x="10728655" y="6400800"/>
            <a:ext cx="914400" cy="274320"/>
          </a:xfrm>
          <a:prstGeom prst="rect">
            <a:avLst/>
          </a:prstGeom>
          <a:noFill/>
        </p:spPr>
        <p:txBody>
          <a:bodyPr wrap="none" lIns="0" tIns="0" rIns="0" bIns="0" anchor="ctr"/>
          <a:lstStyle/>
          <a:p>
            <a:pPr algn="r"/>
            <a:fld id="{389cb5bf-b6a1-4785-9333-f108179f5e08}" type="slidenum">
              <a:rPr lang="en-US" sz="1000" dirty="0">
                <a:solidFill>
                  <a:schemeClr val="accent5"/>
                </a:solidFill>
              </a:rPr>
              <a:t>31</a:t>
            </a:fld>
          </a:p>
        </p:txBody>
      </p:sp>
      <p:graphicFrame>
        <p:nvGraphicFramePr>
          <p:cNvPr id="9032" name="Table 475"/>
          <p:cNvGraphicFramePr>
            <a:graphicFrameLocks noGrp="1"/>
          </p:cNvGraphicFramePr>
          <p:nvPr/>
        </p:nvGraphicFramePr>
        <p:xfrm>
          <a:off x="548640" y="1645920"/>
          <a:ext cx="11091672" cy="3803904"/>
        </p:xfrm>
        <a:graphic>
          <a:graphicData uri="http://schemas.openxmlformats.org/drawingml/2006/table">
            <a:tbl>
              <a:tblPr firstRow="1">
                <a:tableStyleId>{5C22544A-7EE6-4342-B048-85BDC9FD1C3A}</a:tableStyleId>
              </a:tblPr>
              <a:tblGrid>
                <a:gridCol w="2286000"/>
                <a:gridCol w="4663440"/>
                <a:gridCol w="4142232"/>
              </a:tblGrid>
              <a:tr h="475488">
                <a:tc>
                  <a:txBody>
                    <a:bodyPr/>
                    <a:lstStyle/>
                    <a:p>
                      <a:pPr algn="l"/>
                      <a:r>
                        <a:rPr sz="1200" b="1">
                          <a:solidFill>
                            <a:schemeClr val="bg1"/>
                          </a:solidFill>
                        </a:rPr>
                        <a:t>Surface</a:t>
                      </a:r>
                    </a:p>
                  </a:txBody>
                  <a:tcPr marL="91440" marR="91440" marT="45720" marB="45720" anchor="ctr">
                    <a:solidFill>
                      <a:schemeClr val="accent1"/>
                    </a:solidFill>
                  </a:tcPr>
                </a:tc>
                <a:tc>
                  <a:txBody>
                    <a:bodyPr/>
                    <a:lstStyle/>
                    <a:p>
                      <a:pPr algn="l"/>
                      <a:r>
                        <a:rPr sz="1200" b="1">
                          <a:solidFill>
                            <a:schemeClr val="bg1"/>
                          </a:solidFill>
                        </a:rPr>
                        <a:t>Today</a:t>
                      </a:r>
                    </a:p>
                  </a:txBody>
                  <a:tcPr marL="91440" marR="91440" marT="45720" marB="45720" anchor="ctr">
                    <a:solidFill>
                      <a:schemeClr val="accent1"/>
                    </a:solidFill>
                  </a:tcPr>
                </a:tc>
                <a:tc>
                  <a:txBody>
                    <a:bodyPr/>
                    <a:lstStyle/>
                    <a:p>
                      <a:pPr algn="l"/>
                      <a:r>
                        <a:rPr sz="1200" b="1">
                          <a:solidFill>
                            <a:schemeClr val="bg1"/>
                          </a:solidFill>
                        </a:rPr>
                        <a:t>Required of the deployment</a:t>
                      </a:r>
                    </a:p>
                  </a:txBody>
                  <a:tcPr marL="91440" marR="91440" marT="45720" marB="45720" anchor="ctr">
                    <a:solidFill>
                      <a:schemeClr val="accent1"/>
                    </a:solidFill>
                  </a:tcPr>
                </a:tc>
              </a:tr>
              <a:tr h="475488">
                <a:tc>
                  <a:txBody>
                    <a:bodyPr/>
                    <a:lstStyle/>
                    <a:p>
                      <a:pPr algn="l"/>
                      <a:r>
                        <a:rPr sz="1300" b="1">
                          <a:solidFill>
                            <a:schemeClr val="tx1"/>
                          </a:solidFill>
                        </a:rPr>
                        <a:t>Ingress</a:t>
                      </a:r>
                    </a:p>
                  </a:txBody>
                  <a:tcPr marL="91440" marR="91440" marT="45720" marB="45720" anchor="ctr">
                    <a:solidFill>
                      <a:schemeClr val="bg1"/>
                    </a:solidFill>
                  </a:tcPr>
                </a:tc>
                <a:tc>
                  <a:txBody>
                    <a:bodyPr/>
                    <a:lstStyle/>
                    <a:p>
                      <a:pPr algn="l"/>
                      <a:r>
                        <a:rPr sz="1300" b="0">
                          <a:solidFill>
                            <a:schemeClr val="tx1"/>
                          </a:solidFill>
                        </a:rPr>
                        <a:t>Anyone who reaches it can submit, operator events included</a:t>
                      </a:r>
                    </a:p>
                  </a:txBody>
                  <a:tcPr marL="91440" marR="91440" marT="45720" marB="45720" anchor="ctr">
                    <a:solidFill>
                      <a:schemeClr val="bg1"/>
                    </a:solidFill>
                  </a:tcPr>
                </a:tc>
                <a:tc>
                  <a:txBody>
                    <a:bodyPr/>
                    <a:lstStyle/>
                    <a:p>
                      <a:pPr algn="l"/>
                      <a:r>
                        <a:rPr sz="1300" b="0">
                          <a:solidFill>
                            <a:schemeClr val="tx1"/>
                          </a:solidFill>
                        </a:rPr>
                        <a:t>Only producer hosts reach the ports</a:t>
                      </a:r>
                    </a:p>
                  </a:txBody>
                  <a:tcPr marL="91440" marR="91440" marT="45720" marB="45720" anchor="ctr">
                    <a:solidFill>
                      <a:schemeClr val="bg1"/>
                    </a:solidFill>
                  </a:tcPr>
                </a:tc>
              </a:tr>
              <a:tr h="475488">
                <a:tc>
                  <a:txBody>
                    <a:bodyPr/>
                    <a:lstStyle/>
                    <a:p>
                      <a:pPr algn="l"/>
                      <a:r>
                        <a:rPr sz="1300" b="1">
                          <a:solidFill>
                            <a:schemeClr val="tx1"/>
                          </a:solidFill>
                        </a:rPr>
                        <a:t>Producer identity</a:t>
                      </a:r>
                    </a:p>
                  </a:txBody>
                  <a:tcPr marL="91440" marR="91440" marT="45720" marB="45720" anchor="ctr">
                    <a:solidFill>
                      <a:schemeClr val="bg2"/>
                    </a:solidFill>
                  </a:tcPr>
                </a:tc>
                <a:tc>
                  <a:txBody>
                    <a:bodyPr/>
                    <a:lstStyle/>
                    <a:p>
                      <a:pPr algn="l"/>
                      <a:r>
                        <a:rPr sz="1300" b="0">
                          <a:solidFill>
                            <a:schemeClr val="tx1"/>
                          </a:solidFill>
                        </a:rPr>
                        <a:t>Checked for form, not origin; a gateway is held to its session</a:t>
                      </a:r>
                    </a:p>
                  </a:txBody>
                  <a:tcPr marL="91440" marR="91440" marT="45720" marB="45720" anchor="ctr">
                    <a:solidFill>
                      <a:schemeClr val="bg2"/>
                    </a:solidFill>
                  </a:tcPr>
                </a:tc>
                <a:tc>
                  <a:txBody>
                    <a:bodyPr/>
                    <a:lstStyle/>
                    <a:p>
                      <a:pPr algn="l"/>
                      <a:r>
                        <a:rPr sz="1300" b="0">
                          <a:solidFill>
                            <a:schemeClr val="tx1"/>
                          </a:solidFill>
                        </a:rPr>
                        <a:t>Authenticate at the external edges</a:t>
                      </a:r>
                    </a:p>
                  </a:txBody>
                  <a:tcPr marL="91440" marR="91440" marT="45720" marB="45720" anchor="ctr">
                    <a:solidFill>
                      <a:schemeClr val="bg2"/>
                    </a:solidFill>
                  </a:tcPr>
                </a:tc>
              </a:tr>
              <a:tr h="475488">
                <a:tc>
                  <a:txBody>
                    <a:bodyPr/>
                    <a:lstStyle/>
                    <a:p>
                      <a:pPr algn="l"/>
                      <a:r>
                        <a:rPr sz="1300" b="1">
                          <a:solidFill>
                            <a:schemeClr val="tx1"/>
                          </a:solidFill>
                        </a:rPr>
                        <a:t>Archive control</a:t>
                      </a:r>
                    </a:p>
                  </a:txBody>
                  <a:tcPr marL="91440" marR="91440" marT="45720" marB="45720" anchor="ctr">
                    <a:solidFill>
                      <a:schemeClr val="bg1"/>
                    </a:solidFill>
                  </a:tcPr>
                </a:tc>
                <a:tc>
                  <a:txBody>
                    <a:bodyPr/>
                    <a:lstStyle/>
                    <a:p>
                      <a:pPr algn="l"/>
                      <a:r>
                        <a:rPr sz="1300" b="0">
                          <a:solidFill>
                            <a:schemeClr val="tx1"/>
                          </a:solidFill>
                        </a:rPr>
                        <a:t>Recordings can be read and deleted</a:t>
                      </a:r>
                    </a:p>
                  </a:txBody>
                  <a:tcPr marL="91440" marR="91440" marT="45720" marB="45720" anchor="ctr">
                    <a:solidFill>
                      <a:schemeClr val="bg1"/>
                    </a:solidFill>
                  </a:tcPr>
                </a:tc>
                <a:tc>
                  <a:txBody>
                    <a:bodyPr/>
                    <a:lstStyle/>
                    <a:p>
                      <a:pPr algn="l"/>
                      <a:r>
                        <a:rPr sz="1300" b="0">
                          <a:solidFill>
                            <a:schemeClr val="tx1"/>
                          </a:solidFill>
                        </a:rPr>
                        <a:t>Member ports inside the boundary</a:t>
                      </a:r>
                    </a:p>
                  </a:txBody>
                  <a:tcPr marL="91440" marR="91440" marT="45720" marB="45720" anchor="ctr">
                    <a:solidFill>
                      <a:schemeClr val="bg1"/>
                    </a:solidFill>
                  </a:tcPr>
                </a:tc>
              </a:tr>
              <a:tr h="475488">
                <a:tc>
                  <a:txBody>
                    <a:bodyPr/>
                    <a:lstStyle/>
                    <a:p>
                      <a:pPr algn="l"/>
                      <a:r>
                        <a:rPr sz="1300" b="1">
                          <a:solidFill>
                            <a:schemeClr val="tx1"/>
                          </a:solidFill>
                        </a:rPr>
                        <a:t>On the wire</a:t>
                      </a:r>
                    </a:p>
                  </a:txBody>
                  <a:tcPr marL="91440" marR="91440" marT="45720" marB="45720" anchor="ctr">
                    <a:solidFill>
                      <a:schemeClr val="bg2"/>
                    </a:solidFill>
                  </a:tcPr>
                </a:tc>
                <a:tc>
                  <a:txBody>
                    <a:bodyPr/>
                    <a:lstStyle/>
                    <a:p>
                      <a:pPr algn="l"/>
                      <a:r>
                        <a:rPr sz="1300" b="0">
                          <a:solidFill>
                            <a:schemeClr val="tx1"/>
                          </a:solidFill>
                        </a:rPr>
                        <a:t>No encryption</a:t>
                      </a:r>
                    </a:p>
                  </a:txBody>
                  <a:tcPr marL="91440" marR="91440" marT="45720" marB="45720" anchor="ctr">
                    <a:solidFill>
                      <a:schemeClr val="bg2"/>
                    </a:solidFill>
                  </a:tcPr>
                </a:tc>
                <a:tc>
                  <a:txBody>
                    <a:bodyPr/>
                    <a:lstStyle/>
                    <a:p>
                      <a:pPr algn="l"/>
                      <a:r>
                        <a:rPr sz="1300" b="0">
                          <a:solidFill>
                            <a:schemeClr val="tx1"/>
                          </a:solidFill>
                        </a:rPr>
                        <a:t>An encrypted, authenticated layer beneath</a:t>
                      </a:r>
                    </a:p>
                  </a:txBody>
                  <a:tcPr marL="91440" marR="91440" marT="45720" marB="45720" anchor="ctr">
                    <a:solidFill>
                      <a:schemeClr val="bg2"/>
                    </a:solidFill>
                  </a:tcPr>
                </a:tc>
              </a:tr>
              <a:tr h="475488">
                <a:tc>
                  <a:txBody>
                    <a:bodyPr/>
                    <a:lstStyle/>
                    <a:p>
                      <a:pPr algn="l"/>
                      <a:r>
                        <a:rPr sz="1300" b="1">
                          <a:solidFill>
                            <a:schemeClr val="tx1"/>
                          </a:solidFill>
                        </a:rPr>
                        <a:t>At rest</a:t>
                      </a:r>
                    </a:p>
                  </a:txBody>
                  <a:tcPr marL="91440" marR="91440" marT="45720" marB="45720" anchor="ctr">
                    <a:solidFill>
                      <a:schemeClr val="bg1"/>
                    </a:solidFill>
                  </a:tcPr>
                </a:tc>
                <a:tc>
                  <a:txBody>
                    <a:bodyPr/>
                    <a:lstStyle/>
                    <a:p>
                      <a:pPr algn="l"/>
                      <a:r>
                        <a:rPr sz="1300" b="0">
                          <a:solidFill>
                            <a:schemeClr val="tx1"/>
                          </a:solidFill>
                        </a:rPr>
                        <a:t>Unencrypted payloads on every member, kept indefinitely</a:t>
                      </a:r>
                    </a:p>
                  </a:txBody>
                  <a:tcPr marL="91440" marR="91440" marT="45720" marB="45720" anchor="ctr">
                    <a:solidFill>
                      <a:schemeClr val="bg1"/>
                    </a:solidFill>
                  </a:tcPr>
                </a:tc>
                <a:tc>
                  <a:txBody>
                    <a:bodyPr/>
                    <a:lstStyle/>
                    <a:p>
                      <a:pPr algn="l"/>
                      <a:r>
                        <a:rPr sz="1300" b="0">
                          <a:solidFill>
                            <a:schemeClr val="tx1"/>
                          </a:solidFill>
                        </a:rPr>
                        <a:t>Disk encryption; classify payloads</a:t>
                      </a:r>
                    </a:p>
                  </a:txBody>
                  <a:tcPr marL="91440" marR="91440" marT="45720" marB="45720" anchor="ctr">
                    <a:solidFill>
                      <a:schemeClr val="bg1"/>
                    </a:solidFill>
                  </a:tcPr>
                </a:tc>
              </a:tr>
              <a:tr h="475488">
                <a:tc>
                  <a:txBody>
                    <a:bodyPr/>
                    <a:lstStyle/>
                    <a:p>
                      <a:pPr algn="l"/>
                      <a:r>
                        <a:rPr sz="1300" b="1">
                          <a:solidFill>
                            <a:schemeClr val="tx1"/>
                          </a:solidFill>
                        </a:rPr>
                        <a:t>Erasure</a:t>
                      </a:r>
                    </a:p>
                  </a:txBody>
                  <a:tcPr marL="91440" marR="91440" marT="45720" marB="45720" anchor="ctr">
                    <a:solidFill>
                      <a:schemeClr val="bg2"/>
                    </a:solidFill>
                  </a:tcPr>
                </a:tc>
                <a:tc>
                  <a:txBody>
                    <a:bodyPr/>
                    <a:lstStyle/>
                    <a:p>
                      <a:pPr algn="l"/>
                      <a:r>
                        <a:rPr sz="1300" b="0">
                          <a:solidFill>
                            <a:schemeClr val="tx1"/>
                          </a:solidFill>
                        </a:rPr>
                        <a:t>Not possible short of a purge</a:t>
                      </a:r>
                    </a:p>
                  </a:txBody>
                  <a:tcPr marL="91440" marR="91440" marT="45720" marB="45720" anchor="ctr">
                    <a:solidFill>
                      <a:schemeClr val="bg2"/>
                    </a:solidFill>
                  </a:tcPr>
                </a:tc>
                <a:tc>
                  <a:txBody>
                    <a:bodyPr/>
                    <a:lstStyle/>
                    <a:p>
                      <a:pPr algn="l"/>
                      <a:r>
                        <a:rPr sz="1300" b="0">
                          <a:solidFill>
                            <a:schemeClr val="tx1"/>
                          </a:solidFill>
                        </a:rPr>
                        <a:t>No personal data in payloads</a:t>
                      </a:r>
                    </a:p>
                  </a:txBody>
                  <a:tcPr marL="91440" marR="91440" marT="45720" marB="45720" anchor="ctr">
                    <a:solidFill>
                      <a:schemeClr val="bg2"/>
                    </a:solidFill>
                  </a:tcPr>
                </a:tc>
              </a:tr>
              <a:tr h="475488">
                <a:tc>
                  <a:txBody>
                    <a:bodyPr/>
                    <a:lstStyle/>
                    <a:p>
                      <a:pPr algn="l"/>
                      <a:r>
                        <a:rPr sz="1300" b="1">
                          <a:solidFill>
                            <a:schemeClr val="tx1"/>
                          </a:solidFill>
                        </a:rPr>
                        <a:t>Metrics</a:t>
                      </a:r>
                    </a:p>
                  </a:txBody>
                  <a:tcPr marL="91440" marR="91440" marT="45720" marB="45720" anchor="ctr">
                    <a:solidFill>
                      <a:schemeClr val="bg1"/>
                    </a:solidFill>
                  </a:tcPr>
                </a:tc>
                <a:tc>
                  <a:txBody>
                    <a:bodyPr/>
                    <a:lstStyle/>
                    <a:p>
                      <a:pPr algn="l"/>
                      <a:r>
                        <a:rPr sz="1300" b="0">
                          <a:solidFill>
                            <a:schemeClr val="tx1"/>
                          </a:solidFill>
                        </a:rPr>
                        <a:t>No authentication</a:t>
                      </a:r>
                    </a:p>
                  </a:txBody>
                  <a:tcPr marL="91440" marR="91440" marT="45720" marB="45720" anchor="ctr">
                    <a:solidFill>
                      <a:schemeClr val="bg1"/>
                    </a:solidFill>
                  </a:tcPr>
                </a:tc>
                <a:tc>
                  <a:txBody>
                    <a:bodyPr/>
                    <a:lstStyle/>
                    <a:p>
                      <a:pPr algn="l"/>
                      <a:r>
                        <a:rPr sz="1300" b="0">
                          <a:solidFill>
                            <a:schemeClr val="tx1"/>
                          </a:solidFill>
                        </a:rPr>
                        <a:t>Inside the boundary</a:t>
                      </a:r>
                    </a:p>
                  </a:txBody>
                  <a:tcPr marL="91440" marR="91440" marT="45720" marB="45720" anchor="ctr">
                    <a:solidFill>
                      <a:schemeClr val="bg1"/>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Risks and mitigations</a:t>
            </a:r>
          </a:p>
        </p:txBody>
      </p:sp>
      <p:sp>
        <p:nvSpPr>
          <p:cNvPr id="3" name="Text 476"/>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Each risk, and what reduces it</a:t>
            </a:r>
          </a:p>
        </p:txBody>
      </p:sp>
      <p:sp>
        <p:nvSpPr>
          <p:cNvPr id="9032" name="Slide number"/>
          <p:cNvSpPr txBox="1"/>
          <p:nvPr userDrawn="1"/>
        </p:nvSpPr>
        <p:spPr>
          <a:xfrm>
            <a:off x="10728655" y="6400800"/>
            <a:ext cx="914400" cy="274320"/>
          </a:xfrm>
          <a:prstGeom prst="rect">
            <a:avLst/>
          </a:prstGeom>
          <a:noFill/>
        </p:spPr>
        <p:txBody>
          <a:bodyPr wrap="none" lIns="0" tIns="0" rIns="0" bIns="0" anchor="ctr"/>
          <a:lstStyle/>
          <a:p>
            <a:pPr algn="r"/>
            <a:fld id="{d3057196-3398-49db-a460-018b1b026e25}" type="slidenum">
              <a:rPr lang="en-US" sz="1000" dirty="0">
                <a:solidFill>
                  <a:schemeClr val="accent5"/>
                </a:solidFill>
              </a:rPr>
              <a:t>32</a:t>
            </a:fld>
          </a:p>
        </p:txBody>
      </p:sp>
      <p:graphicFrame>
        <p:nvGraphicFramePr>
          <p:cNvPr id="9033" name="Table 477"/>
          <p:cNvGraphicFramePr>
            <a:graphicFrameLocks noGrp="1"/>
          </p:cNvGraphicFramePr>
          <p:nvPr/>
        </p:nvGraphicFramePr>
        <p:xfrm>
          <a:off x="548640" y="1645920"/>
          <a:ext cx="11091672" cy="3803904"/>
        </p:xfrm>
        <a:graphic>
          <a:graphicData uri="http://schemas.openxmlformats.org/drawingml/2006/table">
            <a:tbl>
              <a:tblPr firstRow="1">
                <a:tableStyleId>{5C22544A-7EE6-4342-B048-85BDC9FD1C3A}</a:tableStyleId>
              </a:tblPr>
              <a:tblGrid>
                <a:gridCol w="3657600"/>
                <a:gridCol w="7434072"/>
              </a:tblGrid>
              <a:tr h="475488">
                <a:tc>
                  <a:txBody>
                    <a:bodyPr/>
                    <a:lstStyle/>
                    <a:p>
                      <a:pPr algn="l"/>
                      <a:r>
                        <a:rPr sz="1300" b="1">
                          <a:solidFill>
                            <a:schemeClr val="bg1"/>
                          </a:solidFill>
                        </a:rPr>
                        <a:t>Risk</a:t>
                      </a:r>
                    </a:p>
                  </a:txBody>
                  <a:tcPr marL="91440" marR="91440" marT="45720" marB="45720" anchor="ctr">
                    <a:solidFill>
                      <a:schemeClr val="accent1"/>
                    </a:solidFill>
                  </a:tcPr>
                </a:tc>
                <a:tc>
                  <a:txBody>
                    <a:bodyPr/>
                    <a:lstStyle/>
                    <a:p>
                      <a:pPr algn="l"/>
                      <a:r>
                        <a:rPr sz="1300" b="1">
                          <a:solidFill>
                            <a:schemeClr val="bg1"/>
                          </a:solidFill>
                        </a:rPr>
                        <a:t>Mitigation</a:t>
                      </a:r>
                    </a:p>
                  </a:txBody>
                  <a:tcPr marL="91440" marR="91440" marT="45720" marB="45720" anchor="ctr">
                    <a:solidFill>
                      <a:schemeClr val="accent1"/>
                    </a:solidFill>
                  </a:tcPr>
                </a:tc>
              </a:tr>
              <a:tr h="475488">
                <a:tc>
                  <a:txBody>
                    <a:bodyPr/>
                    <a:lstStyle/>
                    <a:p>
                      <a:pPr algn="l"/>
                      <a:r>
                        <a:rPr sz="1400" b="1">
                          <a:solidFill>
                            <a:schemeClr val="tx1"/>
                          </a:solidFill>
                        </a:rPr>
                        <a:t>Performance falls short</a:t>
                      </a:r>
                    </a:p>
                  </a:txBody>
                  <a:tcPr marL="91440" marR="91440" marT="45720" marB="45720" anchor="ctr">
                    <a:solidFill>
                      <a:schemeClr val="bg1"/>
                    </a:solidFill>
                  </a:tcPr>
                </a:tc>
                <a:tc>
                  <a:txBody>
                    <a:bodyPr/>
                    <a:lstStyle/>
                    <a:p>
                      <a:pPr algn="l"/>
                      <a:r>
                        <a:rPr sz="1400" b="0">
                          <a:solidFill>
                            <a:schemeClr val="tx1"/>
                          </a:solidFill>
                        </a:rPr>
                        <a:t>Benchmark the closing peak on the target hardware</a:t>
                      </a:r>
                    </a:p>
                  </a:txBody>
                  <a:tcPr marL="91440" marR="91440" marT="45720" marB="45720" anchor="ctr">
                    <a:solidFill>
                      <a:schemeClr val="bg1"/>
                    </a:solidFill>
                  </a:tcPr>
                </a:tc>
              </a:tr>
              <a:tr h="475488">
                <a:tc>
                  <a:txBody>
                    <a:bodyPr/>
                    <a:lstStyle/>
                    <a:p>
                      <a:pPr algn="l"/>
                      <a:r>
                        <a:rPr sz="1400" b="1">
                          <a:solidFill>
                            <a:schemeClr val="tx1"/>
                          </a:solidFill>
                        </a:rPr>
                        <a:t>Disk fills; restarts grow long</a:t>
                      </a:r>
                    </a:p>
                  </a:txBody>
                  <a:tcPr marL="91440" marR="91440" marT="45720" marB="45720" anchor="ctr">
                    <a:solidFill>
                      <a:schemeClr val="bg2"/>
                    </a:solidFill>
                  </a:tcPr>
                </a:tc>
                <a:tc>
                  <a:txBody>
                    <a:bodyPr/>
                    <a:lstStyle/>
                    <a:p>
                      <a:pPr algn="l"/>
                      <a:r>
                        <a:rPr sz="1400" b="0">
                          <a:solidFill>
                            <a:schemeClr val="tx1"/>
                          </a:solidFill>
                        </a:rPr>
                        <a:t>Size by the formula; alert on disk; cluster snapshots (designed)</a:t>
                      </a:r>
                    </a:p>
                  </a:txBody>
                  <a:tcPr marL="91440" marR="91440" marT="45720" marB="45720" anchor="ctr">
                    <a:solidFill>
                      <a:schemeClr val="bg2"/>
                    </a:solidFill>
                  </a:tcPr>
                </a:tc>
              </a:tr>
              <a:tr h="475488">
                <a:tc>
                  <a:txBody>
                    <a:bodyPr/>
                    <a:lstStyle/>
                    <a:p>
                      <a:pPr algn="l"/>
                      <a:r>
                        <a:rPr sz="1400" b="1">
                          <a:solidFill>
                            <a:schemeClr val="tx1"/>
                          </a:solidFill>
                        </a:rPr>
                        <a:t>Framing protocol upgrade purges history</a:t>
                      </a:r>
                    </a:p>
                  </a:txBody>
                  <a:tcPr marL="91440" marR="91440" marT="45720" marB="45720" anchor="ctr">
                    <a:solidFill>
                      <a:schemeClr val="bg1"/>
                    </a:solidFill>
                  </a:tcPr>
                </a:tc>
                <a:tc>
                  <a:txBody>
                    <a:bodyPr/>
                    <a:lstStyle/>
                    <a:p>
                      <a:pPr algn="l"/>
                      <a:r>
                        <a:rPr sz="1400" b="0">
                          <a:solidFill>
                            <a:schemeClr val="tx1"/>
                          </a:solidFill>
                        </a:rPr>
                        <a:t>Export history to a system of record before each upgrade</a:t>
                      </a:r>
                    </a:p>
                  </a:txBody>
                  <a:tcPr marL="91440" marR="91440" marT="45720" marB="45720" anchor="ctr">
                    <a:solidFill>
                      <a:schemeClr val="bg1"/>
                    </a:solidFill>
                  </a:tcPr>
                </a:tc>
              </a:tr>
              <a:tr h="475488">
                <a:tc>
                  <a:txBody>
                    <a:bodyPr/>
                    <a:lstStyle/>
                    <a:p>
                      <a:pPr algn="l"/>
                      <a:r>
                        <a:rPr sz="1400" b="1">
                          <a:solidFill>
                            <a:schemeClr val="tx1"/>
                          </a:solidFill>
                        </a:rPr>
                        <a:t>Majority power loss</a:t>
                      </a:r>
                    </a:p>
                  </a:txBody>
                  <a:tcPr marL="91440" marR="91440" marT="45720" marB="45720" anchor="ctr">
                    <a:solidFill>
                      <a:schemeClr val="bg2"/>
                    </a:solidFill>
                  </a:tcPr>
                </a:tc>
                <a:tc>
                  <a:txBody>
                    <a:bodyPr/>
                    <a:lstStyle/>
                    <a:p>
                      <a:pPr algn="l"/>
                      <a:r>
                        <a:rPr sz="1400" b="0">
                          <a:solidFill>
                            <a:schemeClr val="tx1"/>
                          </a:solidFill>
                        </a:rPr>
                        <a:t>Members on separate power</a:t>
                      </a:r>
                    </a:p>
                  </a:txBody>
                  <a:tcPr marL="91440" marR="91440" marT="45720" marB="45720" anchor="ctr">
                    <a:solidFill>
                      <a:schemeClr val="bg2"/>
                    </a:solidFill>
                  </a:tcPr>
                </a:tc>
              </a:tr>
              <a:tr h="475488">
                <a:tc>
                  <a:txBody>
                    <a:bodyPr/>
                    <a:lstStyle/>
                    <a:p>
                      <a:pPr algn="l"/>
                      <a:r>
                        <a:rPr sz="1400" b="1">
                          <a:solidFill>
                            <a:schemeClr val="tx1"/>
                          </a:solidFill>
                        </a:rPr>
                        <a:t>Unauthenticated ports</a:t>
                      </a:r>
                    </a:p>
                  </a:txBody>
                  <a:tcPr marL="91440" marR="91440" marT="45720" marB="45720" anchor="ctr">
                    <a:solidFill>
                      <a:schemeClr val="bg1"/>
                    </a:solidFill>
                  </a:tcPr>
                </a:tc>
                <a:tc>
                  <a:txBody>
                    <a:bodyPr/>
                    <a:lstStyle/>
                    <a:p>
                      <a:pPr algn="l"/>
                      <a:r>
                        <a:rPr sz="1400" b="0">
                          <a:solidFill>
                            <a:schemeClr val="tx1"/>
                          </a:solidFill>
                        </a:rPr>
                        <a:t>Segmented network; an encrypted layer beneath</a:t>
                      </a:r>
                    </a:p>
                  </a:txBody>
                  <a:tcPr marL="91440" marR="91440" marT="45720" marB="45720" anchor="ctr">
                    <a:solidFill>
                      <a:schemeClr val="bg1"/>
                    </a:solidFill>
                  </a:tcPr>
                </a:tc>
              </a:tr>
              <a:tr h="475488">
                <a:tc>
                  <a:txBody>
                    <a:bodyPr/>
                    <a:lstStyle/>
                    <a:p>
                      <a:pPr algn="l"/>
                      <a:r>
                        <a:rPr sz="1400" b="1">
                          <a:solidFill>
                            <a:schemeClr val="tx1"/>
                          </a:solidFill>
                        </a:rPr>
                        <a:t>Site loss</a:t>
                      </a:r>
                    </a:p>
                  </a:txBody>
                  <a:tcPr marL="91440" marR="91440" marT="45720" marB="45720" anchor="ctr">
                    <a:solidFill>
                      <a:schemeClr val="bg2"/>
                    </a:solidFill>
                  </a:tcPr>
                </a:tc>
                <a:tc>
                  <a:txBody>
                    <a:bodyPr/>
                    <a:lstStyle/>
                    <a:p>
                      <a:pPr algn="l"/>
                      <a:r>
                        <a:rPr sz="1400" b="0">
                          <a:solidFill>
                            <a:schemeClr val="tx1"/>
                          </a:solidFill>
                        </a:rPr>
                        <a:t>Archives copied off site: Aeron Cluster Backup, not yet exercised</a:t>
                      </a:r>
                    </a:p>
                  </a:txBody>
                  <a:tcPr marL="91440" marR="91440" marT="45720" marB="45720" anchor="ctr">
                    <a:solidFill>
                      <a:schemeClr val="bg2"/>
                    </a:solidFill>
                  </a:tcPr>
                </a:tc>
              </a:tr>
              <a:tr h="475488">
                <a:tc>
                  <a:txBody>
                    <a:bodyPr/>
                    <a:lstStyle/>
                    <a:p>
                      <a:pPr algn="l"/>
                      <a:r>
                        <a:rPr sz="1400" b="1">
                          <a:solidFill>
                            <a:schemeClr val="tx1"/>
                          </a:solidFill>
                        </a:rPr>
                        <a:t>One stream's ceiling</a:t>
                      </a:r>
                    </a:p>
                  </a:txBody>
                  <a:tcPr marL="91440" marR="91440" marT="45720" marB="45720" anchor="ctr">
                    <a:solidFill>
                      <a:schemeClr val="bg1"/>
                    </a:solidFill>
                  </a:tcPr>
                </a:tc>
                <a:tc>
                  <a:txBody>
                    <a:bodyPr/>
                    <a:lstStyle/>
                    <a:p>
                      <a:pPr algn="l"/>
                      <a:r>
                        <a:rPr sz="1400" b="0">
                          <a:solidFill>
                            <a:schemeClr val="tx1"/>
                          </a:solidFill>
                        </a:rPr>
                        <a:t>Several clusters scale out</a:t>
                      </a:r>
                    </a:p>
                  </a:txBody>
                  <a:tcPr marL="91440" marR="91440" marT="45720" marB="45720" anchor="ctr">
                    <a:solidFill>
                      <a:schemeClr val="bg1"/>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Glossary</a:t>
            </a:r>
          </a:p>
        </p:txBody>
      </p:sp>
      <p:sp>
        <p:nvSpPr>
          <p:cNvPr id="3" name="Text 478"/>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The terms this deck uses, one line each</a:t>
            </a:r>
          </a:p>
        </p:txBody>
      </p:sp>
      <p:sp>
        <p:nvSpPr>
          <p:cNvPr id="9033" name="Slide number"/>
          <p:cNvSpPr txBox="1"/>
          <p:nvPr userDrawn="1"/>
        </p:nvSpPr>
        <p:spPr>
          <a:xfrm>
            <a:off x="10728655" y="6400800"/>
            <a:ext cx="914400" cy="274320"/>
          </a:xfrm>
          <a:prstGeom prst="rect">
            <a:avLst/>
          </a:prstGeom>
          <a:noFill/>
        </p:spPr>
        <p:txBody>
          <a:bodyPr wrap="none" lIns="0" tIns="0" rIns="0" bIns="0" anchor="ctr"/>
          <a:lstStyle/>
          <a:p>
            <a:pPr algn="r"/>
            <a:fld id="{7ba9363e-105e-49a4-99f0-b3dd1ee52f72}" type="slidenum">
              <a:rPr lang="en-US" sz="1000" dirty="0">
                <a:solidFill>
                  <a:schemeClr val="accent5"/>
                </a:solidFill>
              </a:rPr>
              <a:t>33</a:t>
            </a:fld>
          </a:p>
        </p:txBody>
      </p:sp>
      <p:graphicFrame>
        <p:nvGraphicFramePr>
          <p:cNvPr id="9034" name="Table 479"/>
          <p:cNvGraphicFramePr>
            <a:graphicFrameLocks noGrp="1"/>
          </p:cNvGraphicFramePr>
          <p:nvPr/>
        </p:nvGraphicFramePr>
        <p:xfrm>
          <a:off x="548640" y="1645920"/>
          <a:ext cx="5394960" cy="4425696"/>
        </p:xfrm>
        <a:graphic>
          <a:graphicData uri="http://schemas.openxmlformats.org/drawingml/2006/table">
            <a:tbl>
              <a:tblPr firstRow="1">
                <a:tableStyleId>{5C22544A-7EE6-4342-B048-85BDC9FD1C3A}</a:tableStyleId>
              </a:tblPr>
              <a:tblGrid>
                <a:gridCol w="1600200"/>
                <a:gridCol w="3794760"/>
              </a:tblGrid>
              <a:tr h="402336">
                <a:tc>
                  <a:txBody>
                    <a:bodyPr/>
                    <a:lstStyle/>
                    <a:p>
                      <a:pPr algn="l"/>
                      <a:r>
                        <a:rPr sz="1100" b="1">
                          <a:solidFill>
                            <a:schemeClr val="bg1"/>
                          </a:solidFill>
                        </a:rPr>
                        <a:t>Term</a:t>
                      </a:r>
                    </a:p>
                  </a:txBody>
                  <a:tcPr marL="91440" marR="91440" marT="45720" marB="45720" anchor="ctr">
                    <a:solidFill>
                      <a:schemeClr val="accent1"/>
                    </a:solidFill>
                  </a:tcPr>
                </a:tc>
                <a:tc>
                  <a:txBody>
                    <a:bodyPr/>
                    <a:lstStyle/>
                    <a:p>
                      <a:pPr algn="l"/>
                      <a:r>
                        <a:rPr sz="1100" b="1">
                          <a:solidFill>
                            <a:schemeClr val="bg1"/>
                          </a:solidFill>
                        </a:rPr>
                        <a:t>Meaning</a:t>
                      </a:r>
                    </a:p>
                  </a:txBody>
                  <a:tcPr marL="91440" marR="91440" marT="45720" marB="45720" anchor="ctr">
                    <a:solidFill>
                      <a:schemeClr val="accent1"/>
                    </a:solidFill>
                  </a:tcPr>
                </a:tc>
              </a:tr>
              <a:tr h="402336">
                <a:tc>
                  <a:txBody>
                    <a:bodyPr/>
                    <a:lstStyle/>
                    <a:p>
                      <a:pPr algn="l"/>
                      <a:r>
                        <a:rPr sz="1200" b="1">
                          <a:solidFill>
                            <a:schemeClr val="tx1"/>
                          </a:solidFill>
                        </a:rPr>
                        <a:t>Application</a:t>
                      </a:r>
                    </a:p>
                  </a:txBody>
                  <a:tcPr marL="91440" marR="91440" marT="45720" marB="45720" anchor="ctr">
                    <a:solidFill>
                      <a:schemeClr val="bg1"/>
                    </a:solidFill>
                  </a:tcPr>
                </a:tc>
                <a:tc>
                  <a:txBody>
                    <a:bodyPr/>
                    <a:lstStyle/>
                    <a:p>
                      <a:pPr algn="l"/>
                      <a:r>
                        <a:rPr sz="1200" b="0">
                          <a:solidFill>
                            <a:schemeClr val="tx1"/>
                          </a:solidFill>
                        </a:rPr>
                        <a:t>Deterministic service: one per member, or remote</a:t>
                      </a:r>
                    </a:p>
                  </a:txBody>
                  <a:tcPr marL="91440" marR="91440" marT="45720" marB="45720" anchor="ctr">
                    <a:solidFill>
                      <a:schemeClr val="bg1"/>
                    </a:solidFill>
                  </a:tcPr>
                </a:tc>
              </a:tr>
              <a:tr h="402336">
                <a:tc>
                  <a:txBody>
                    <a:bodyPr/>
                    <a:lstStyle/>
                    <a:p>
                      <a:pPr algn="l"/>
                      <a:r>
                        <a:rPr sz="1200" b="1">
                          <a:solidFill>
                            <a:schemeClr val="tx1"/>
                          </a:solidFill>
                        </a:rPr>
                        <a:t>Cluster clock</a:t>
                      </a:r>
                    </a:p>
                  </a:txBody>
                  <a:tcPr marL="91440" marR="91440" marT="45720" marB="45720" anchor="ctr">
                    <a:solidFill>
                      <a:schemeClr val="bg2"/>
                    </a:solidFill>
                  </a:tcPr>
                </a:tc>
                <a:tc>
                  <a:txBody>
                    <a:bodyPr/>
                    <a:lstStyle/>
                    <a:p>
                      <a:pPr algn="l"/>
                      <a:r>
                        <a:rPr sz="1200" b="0">
                          <a:solidFill>
                            <a:schemeClr val="tx1"/>
                          </a:solidFill>
                        </a:rPr>
                        <a:t>ClusterHeartbeat: 1 Hz, on consensus time</a:t>
                      </a:r>
                    </a:p>
                  </a:txBody>
                  <a:tcPr marL="91440" marR="91440" marT="45720" marB="45720" anchor="ctr">
                    <a:solidFill>
                      <a:schemeClr val="bg2"/>
                    </a:solidFill>
                  </a:tcPr>
                </a:tc>
              </a:tr>
              <a:tr h="402336">
                <a:tc>
                  <a:txBody>
                    <a:bodyPr/>
                    <a:lstStyle/>
                    <a:p>
                      <a:pPr algn="l"/>
                      <a:r>
                        <a:rPr sz="1200" b="1">
                          <a:solidFill>
                            <a:schemeClr val="tx1"/>
                          </a:solidFill>
                        </a:rPr>
                        <a:t>Confirmed ingress</a:t>
                      </a:r>
                    </a:p>
                  </a:txBody>
                  <a:tcPr marL="91440" marR="91440" marT="45720" marB="45720" anchor="ctr">
                    <a:solidFill>
                      <a:schemeClr val="bg1"/>
                    </a:solidFill>
                  </a:tcPr>
                </a:tc>
                <a:tc>
                  <a:txBody>
                    <a:bodyPr/>
                    <a:lstStyle/>
                    <a:p>
                      <a:pPr algn="l"/>
                      <a:r>
                        <a:rPr sz="1200" b="0">
                          <a:solidFill>
                            <a:schemeClr val="tx1"/>
                          </a:solidFill>
                        </a:rPr>
                        <a:t>Held until the producer's own queue shows it</a:t>
                      </a:r>
                    </a:p>
                  </a:txBody>
                  <a:tcPr marL="91440" marR="91440" marT="45720" marB="45720" anchor="ctr">
                    <a:solidFill>
                      <a:schemeClr val="bg1"/>
                    </a:solidFill>
                  </a:tcPr>
                </a:tc>
              </a:tr>
              <a:tr h="402336">
                <a:tc>
                  <a:txBody>
                    <a:bodyPr/>
                    <a:lstStyle/>
                    <a:p>
                      <a:pPr algn="l"/>
                      <a:r>
                        <a:rPr sz="1200" b="1">
                          <a:solidFill>
                            <a:schemeClr val="tx1"/>
                          </a:solidFill>
                        </a:rPr>
                        <a:t>Façade</a:t>
                      </a:r>
                    </a:p>
                  </a:txBody>
                  <a:tcPr marL="91440" marR="91440" marT="45720" marB="45720" anchor="ctr">
                    <a:solidFill>
                      <a:schemeClr val="bg2"/>
                    </a:solidFill>
                  </a:tcPr>
                </a:tc>
                <a:tc>
                  <a:txBody>
                    <a:bodyPr/>
                    <a:lstStyle/>
                    <a:p>
                      <a:pPr algn="l"/>
                      <a:r>
                        <a:rPr sz="1200" b="0">
                          <a:solidFill>
                            <a:schemeClr val="tx1"/>
                          </a:solidFill>
                        </a:rPr>
                        <a:t>A client's one entry point, Gateway or Application</a:t>
                      </a:r>
                    </a:p>
                  </a:txBody>
                  <a:tcPr marL="91440" marR="91440" marT="45720" marB="45720" anchor="ctr">
                    <a:solidFill>
                      <a:schemeClr val="bg2"/>
                    </a:solidFill>
                  </a:tcPr>
                </a:tc>
              </a:tr>
              <a:tr h="402336">
                <a:tc>
                  <a:txBody>
                    <a:bodyPr/>
                    <a:lstStyle/>
                    <a:p>
                      <a:pPr algn="l"/>
                      <a:r>
                        <a:rPr sz="1200" b="1">
                          <a:solidFill>
                            <a:schemeClr val="tx1"/>
                          </a:solidFill>
                        </a:rPr>
                        <a:t>Fence</a:t>
                      </a:r>
                    </a:p>
                  </a:txBody>
                  <a:tcPr marL="91440" marR="91440" marT="45720" marB="45720" anchor="ctr">
                    <a:solidFill>
                      <a:schemeClr val="bg1"/>
                    </a:solidFill>
                  </a:tcPr>
                </a:tc>
                <a:tc>
                  <a:txBody>
                    <a:bodyPr/>
                    <a:lstStyle/>
                    <a:p>
                      <a:pPr algn="l"/>
                      <a:r>
                        <a:rPr sz="1200" b="0">
                          <a:solidFill>
                            <a:schemeClr val="tx1"/>
                          </a:solidFill>
                        </a:rPr>
                        <a:t>Stops acting: its view of the log is not trusted</a:t>
                      </a:r>
                    </a:p>
                  </a:txBody>
                  <a:tcPr marL="91440" marR="91440" marT="45720" marB="45720" anchor="ctr">
                    <a:solidFill>
                      <a:schemeClr val="bg1"/>
                    </a:solidFill>
                  </a:tcPr>
                </a:tc>
              </a:tr>
              <a:tr h="402336">
                <a:tc>
                  <a:txBody>
                    <a:bodyPr/>
                    <a:lstStyle/>
                    <a:p>
                      <a:pPr algn="l"/>
                      <a:r>
                        <a:rPr sz="1200" b="1">
                          <a:solidFill>
                            <a:schemeClr val="tx1"/>
                          </a:solidFill>
                        </a:rPr>
                        <a:t>Gate</a:t>
                      </a:r>
                    </a:p>
                  </a:txBody>
                  <a:tcPr marL="91440" marR="91440" marT="45720" marB="45720" anchor="ctr">
                    <a:solidFill>
                      <a:schemeClr val="bg2"/>
                    </a:solidFill>
                  </a:tcPr>
                </a:tc>
                <a:tc>
                  <a:txBody>
                    <a:bodyPr/>
                    <a:lstStyle/>
                    <a:p>
                      <a:pPr algn="l"/>
                      <a:r>
                        <a:rPr sz="1200" b="0">
                          <a:solidFill>
                            <a:schemeClr val="tx1"/>
                          </a:solidFill>
                        </a:rPr>
                        <a:t>Lets an application instance publish; shut each term</a:t>
                      </a:r>
                    </a:p>
                  </a:txBody>
                  <a:tcPr marL="91440" marR="91440" marT="45720" marB="45720" anchor="ctr">
                    <a:solidFill>
                      <a:schemeClr val="bg2"/>
                    </a:solidFill>
                  </a:tcPr>
                </a:tc>
              </a:tr>
              <a:tr h="402336">
                <a:tc>
                  <a:txBody>
                    <a:bodyPr/>
                    <a:lstStyle/>
                    <a:p>
                      <a:pPr algn="l"/>
                      <a:r>
                        <a:rPr sz="1200" b="1">
                          <a:solidFill>
                            <a:schemeClr val="tx1"/>
                          </a:solidFill>
                        </a:rPr>
                        <a:t>Gateway</a:t>
                      </a:r>
                    </a:p>
                  </a:txBody>
                  <a:tcPr marL="91440" marR="91440" marT="45720" marB="45720" anchor="ctr">
                    <a:solidFill>
                      <a:schemeClr val="bg1"/>
                    </a:solidFill>
                  </a:tcPr>
                </a:tc>
                <a:tc>
                  <a:txBody>
                    <a:bodyPr/>
                    <a:lstStyle/>
                    <a:p>
                      <a:pPr algn="l"/>
                      <a:r>
                        <a:rPr sz="1200" b="0">
                          <a:solidFill>
                            <a:schemeClr val="tx1"/>
                          </a:solidFill>
                        </a:rPr>
                        <a:t>Edge producer pair; the cluster designates one</a:t>
                      </a:r>
                    </a:p>
                  </a:txBody>
                  <a:tcPr marL="91440" marR="91440" marT="45720" marB="45720" anchor="ctr">
                    <a:solidFill>
                      <a:schemeClr val="bg1"/>
                    </a:solidFill>
                  </a:tcPr>
                </a:tc>
              </a:tr>
              <a:tr h="402336">
                <a:tc>
                  <a:txBody>
                    <a:bodyPr/>
                    <a:lstStyle/>
                    <a:p>
                      <a:pPr algn="l"/>
                      <a:r>
                        <a:rPr sz="1200" b="1">
                          <a:solidFill>
                            <a:schemeClr val="tx1"/>
                          </a:solidFill>
                        </a:rPr>
                        <a:t>Gateway host</a:t>
                      </a:r>
                    </a:p>
                  </a:txBody>
                  <a:tcPr marL="91440" marR="91440" marT="45720" marB="45720" anchor="ctr">
                    <a:solidFill>
                      <a:schemeClr val="bg2"/>
                    </a:solidFill>
                  </a:tcPr>
                </a:tc>
                <a:tc>
                  <a:txBody>
                    <a:bodyPr/>
                    <a:lstStyle/>
                    <a:p>
                      <a:pPr algn="l"/>
                      <a:r>
                        <a:rPr sz="1200" b="0">
                          <a:solidFill>
                            <a:schemeClr val="tx1"/>
                          </a:solidFill>
                        </a:rPr>
                        <a:t>Clients, no member; relays a member's queue</a:t>
                      </a:r>
                    </a:p>
                  </a:txBody>
                  <a:tcPr marL="91440" marR="91440" marT="45720" marB="45720" anchor="ctr">
                    <a:solidFill>
                      <a:schemeClr val="bg2"/>
                    </a:solidFill>
                  </a:tcPr>
                </a:tc>
              </a:tr>
              <a:tr h="402336">
                <a:tc>
                  <a:txBody>
                    <a:bodyPr/>
                    <a:lstStyle/>
                    <a:p>
                      <a:pPr algn="l"/>
                      <a:r>
                        <a:rPr sz="1200" b="1">
                          <a:solidFill>
                            <a:schemeClr val="tx1"/>
                          </a:solidFill>
                        </a:rPr>
                        <a:t>globalSeqNo</a:t>
                      </a:r>
                    </a:p>
                  </a:txBody>
                  <a:tcPr marL="91440" marR="91440" marT="45720" marB="45720" anchor="ctr">
                    <a:solidFill>
                      <a:schemeClr val="bg1"/>
                    </a:solidFill>
                  </a:tcPr>
                </a:tc>
                <a:tc>
                  <a:txBody>
                    <a:bodyPr/>
                    <a:lstStyle/>
                    <a:p>
                      <a:pPr algn="l"/>
                      <a:r>
                        <a:rPr sz="1200" b="0">
                          <a:solidFill>
                            <a:schemeClr val="tx1"/>
                          </a:solidFill>
                        </a:rPr>
                        <a:t>The sequence number: from 1, no gaps, no reuse</a:t>
                      </a:r>
                    </a:p>
                  </a:txBody>
                  <a:tcPr marL="91440" marR="91440" marT="45720" marB="45720" anchor="ctr">
                    <a:solidFill>
                      <a:schemeClr val="bg1"/>
                    </a:solidFill>
                  </a:tcPr>
                </a:tc>
              </a:tr>
              <a:tr h="402336">
                <a:tc>
                  <a:txBody>
                    <a:bodyPr/>
                    <a:lstStyle/>
                    <a:p>
                      <a:pPr algn="l"/>
                      <a:r>
                        <a:rPr sz="1200" b="1">
                          <a:solidFill>
                            <a:schemeClr val="tx1"/>
                          </a:solidFill>
                        </a:rPr>
                        <a:t>Member</a:t>
                      </a:r>
                    </a:p>
                  </a:txBody>
                  <a:tcPr marL="91440" marR="91440" marT="45720" marB="45720" anchor="ctr">
                    <a:solidFill>
                      <a:schemeClr val="bg2"/>
                    </a:solidFill>
                  </a:tcPr>
                </a:tc>
                <a:tc>
                  <a:txBody>
                    <a:bodyPr/>
                    <a:lstStyle/>
                    <a:p>
                      <a:pPr algn="l"/>
                      <a:r>
                        <a:rPr sz="1200" b="0">
                          <a:solidFill>
                            <a:schemeClr val="tx1"/>
                          </a:solidFill>
                        </a:rPr>
                        <a:t>One cluster node: one JVM, its own archive</a:t>
                      </a:r>
                    </a:p>
                  </a:txBody>
                  <a:tcPr marL="91440" marR="91440" marT="45720" marB="45720" anchor="ctr">
                    <a:solidFill>
                      <a:schemeClr val="bg2"/>
                    </a:solidFill>
                  </a:tcPr>
                </a:tc>
              </a:tr>
            </a:tbl>
          </a:graphicData>
        </a:graphic>
      </p:graphicFrame>
      <p:graphicFrame>
        <p:nvGraphicFramePr>
          <p:cNvPr id="9035" name="Table 480"/>
          <p:cNvGraphicFramePr>
            <a:graphicFrameLocks noGrp="1"/>
          </p:cNvGraphicFramePr>
          <p:nvPr/>
        </p:nvGraphicFramePr>
        <p:xfrm>
          <a:off x="6245352" y="1645920"/>
          <a:ext cx="5394960" cy="4425696"/>
        </p:xfrm>
        <a:graphic>
          <a:graphicData uri="http://schemas.openxmlformats.org/drawingml/2006/table">
            <a:tbl>
              <a:tblPr firstRow="1">
                <a:tableStyleId>{5C22544A-7EE6-4342-B048-85BDC9FD1C3A}</a:tableStyleId>
              </a:tblPr>
              <a:tblGrid>
                <a:gridCol w="1600200"/>
                <a:gridCol w="3794760"/>
              </a:tblGrid>
              <a:tr h="402336">
                <a:tc>
                  <a:txBody>
                    <a:bodyPr/>
                    <a:lstStyle/>
                    <a:p>
                      <a:pPr algn="l"/>
                      <a:r>
                        <a:rPr sz="1100" b="1">
                          <a:solidFill>
                            <a:schemeClr val="bg1"/>
                          </a:solidFill>
                        </a:rPr>
                        <a:t>Term</a:t>
                      </a:r>
                    </a:p>
                  </a:txBody>
                  <a:tcPr marL="91440" marR="91440" marT="45720" marB="45720" anchor="ctr">
                    <a:solidFill>
                      <a:schemeClr val="accent1"/>
                    </a:solidFill>
                  </a:tcPr>
                </a:tc>
                <a:tc>
                  <a:txBody>
                    <a:bodyPr/>
                    <a:lstStyle/>
                    <a:p>
                      <a:pPr algn="l"/>
                      <a:r>
                        <a:rPr sz="1100" b="1">
                          <a:solidFill>
                            <a:schemeClr val="bg1"/>
                          </a:solidFill>
                        </a:rPr>
                        <a:t>Meaning</a:t>
                      </a:r>
                    </a:p>
                  </a:txBody>
                  <a:tcPr marL="91440" marR="91440" marT="45720" marB="45720" anchor="ctr">
                    <a:solidFill>
                      <a:schemeClr val="accent1"/>
                    </a:solidFill>
                  </a:tcPr>
                </a:tc>
              </a:tr>
              <a:tr h="402336">
                <a:tc>
                  <a:txBody>
                    <a:bodyPr/>
                    <a:lstStyle/>
                    <a:p>
                      <a:pPr algn="l"/>
                      <a:r>
                        <a:rPr sz="1200" b="1">
                          <a:solidFill>
                            <a:schemeClr val="tx1"/>
                          </a:solidFill>
                        </a:rPr>
                        <a:t>payloadId</a:t>
                      </a:r>
                    </a:p>
                  </a:txBody>
                  <a:tcPr marL="91440" marR="91440" marT="45720" marB="45720" anchor="ctr">
                    <a:solidFill>
                      <a:schemeClr val="bg1"/>
                    </a:solidFill>
                  </a:tcPr>
                </a:tc>
                <a:tc>
                  <a:txBody>
                    <a:bodyPr/>
                    <a:lstStyle/>
                    <a:p>
                      <a:pPr algn="l"/>
                      <a:r>
                        <a:rPr sz="1200" b="0">
                          <a:solidFill>
                            <a:schemeClr val="tx1"/>
                          </a:solidFill>
                        </a:rPr>
                        <a:t>A payload's type; the cluster never decodes it</a:t>
                      </a:r>
                    </a:p>
                  </a:txBody>
                  <a:tcPr marL="91440" marR="91440" marT="45720" marB="45720" anchor="ctr">
                    <a:solidFill>
                      <a:schemeClr val="bg1"/>
                    </a:solidFill>
                  </a:tcPr>
                </a:tc>
              </a:tr>
              <a:tr h="402336">
                <a:tc>
                  <a:txBody>
                    <a:bodyPr/>
                    <a:lstStyle/>
                    <a:p>
                      <a:pPr algn="l"/>
                      <a:r>
                        <a:rPr sz="1200" b="1">
                          <a:solidFill>
                            <a:schemeClr val="tx1"/>
                          </a:solidFill>
                        </a:rPr>
                        <a:t>Producer</a:t>
                      </a:r>
                    </a:p>
                  </a:txBody>
                  <a:tcPr marL="91440" marR="91440" marT="45720" marB="45720" anchor="ctr">
                    <a:solidFill>
                      <a:schemeClr val="bg2"/>
                    </a:solidFill>
                  </a:tcPr>
                </a:tc>
                <a:tc>
                  <a:txBody>
                    <a:bodyPr/>
                    <a:lstStyle/>
                    <a:p>
                      <a:pPr algn="l"/>
                      <a:r>
                        <a:rPr sz="1200" b="0">
                          <a:solidFill>
                            <a:schemeClr val="tx1"/>
                          </a:solidFill>
                        </a:rPr>
                        <a:t>Submits on ingress: a gateway or an application</a:t>
                      </a:r>
                    </a:p>
                  </a:txBody>
                  <a:tcPr marL="91440" marR="91440" marT="45720" marB="45720" anchor="ctr">
                    <a:solidFill>
                      <a:schemeClr val="bg2"/>
                    </a:solidFill>
                  </a:tcPr>
                </a:tc>
              </a:tr>
              <a:tr h="402336">
                <a:tc>
                  <a:txBody>
                    <a:bodyPr/>
                    <a:lstStyle/>
                    <a:p>
                      <a:pPr algn="l"/>
                      <a:r>
                        <a:rPr sz="1200" b="1">
                          <a:solidFill>
                            <a:schemeClr val="tx1"/>
                          </a:solidFill>
                        </a:rPr>
                        <a:t>Queue</a:t>
                      </a:r>
                    </a:p>
                  </a:txBody>
                  <a:tcPr marL="91440" marR="91440" marT="45720" marB="45720" anchor="ctr">
                    <a:solidFill>
                      <a:schemeClr val="bg1"/>
                    </a:solidFill>
                  </a:tcPr>
                </a:tc>
                <a:tc>
                  <a:txBody>
                    <a:bodyPr/>
                    <a:lstStyle/>
                    <a:p>
                      <a:pPr algn="l"/>
                      <a:r>
                        <a:rPr sz="1200" b="0">
                          <a:solidFill>
                            <a:schemeClr val="tx1"/>
                          </a:solidFill>
                        </a:rPr>
                        <a:t>A member's stream of sequenced frames: IPC 205</a:t>
                      </a:r>
                    </a:p>
                  </a:txBody>
                  <a:tcPr marL="91440" marR="91440" marT="45720" marB="45720" anchor="ctr">
                    <a:solidFill>
                      <a:schemeClr val="bg1"/>
                    </a:solidFill>
                  </a:tcPr>
                </a:tc>
              </a:tr>
              <a:tr h="402336">
                <a:tc>
                  <a:txBody>
                    <a:bodyPr/>
                    <a:lstStyle/>
                    <a:p>
                      <a:pPr algn="l"/>
                      <a:r>
                        <a:rPr sz="1200" b="1">
                          <a:solidFill>
                            <a:schemeClr val="tx1"/>
                          </a:solidFill>
                        </a:rPr>
                        <a:t>Recording</a:t>
                      </a:r>
                    </a:p>
                  </a:txBody>
                  <a:tcPr marL="91440" marR="91440" marT="45720" marB="45720" anchor="ctr">
                    <a:solidFill>
                      <a:schemeClr val="bg2"/>
                    </a:solidFill>
                  </a:tcPr>
                </a:tc>
                <a:tc>
                  <a:txBody>
                    <a:bodyPr/>
                    <a:lstStyle/>
                    <a:p>
                      <a:pPr algn="l"/>
                      <a:r>
                        <a:rPr sz="1200" b="0">
                          <a:solidFill>
                            <a:schemeClr val="tx1"/>
                          </a:solidFill>
                        </a:rPr>
                        <a:t>The archive's copy of a member's queue</a:t>
                      </a:r>
                    </a:p>
                  </a:txBody>
                  <a:tcPr marL="91440" marR="91440" marT="45720" marB="45720" anchor="ctr">
                    <a:solidFill>
                      <a:schemeClr val="bg2"/>
                    </a:solidFill>
                  </a:tcPr>
                </a:tc>
              </a:tr>
              <a:tr h="402336">
                <a:tc>
                  <a:txBody>
                    <a:bodyPr/>
                    <a:lstStyle/>
                    <a:p>
                      <a:pPr algn="l"/>
                      <a:r>
                        <a:rPr sz="1200" b="1">
                          <a:solidFill>
                            <a:schemeClr val="tx1"/>
                          </a:solidFill>
                        </a:rPr>
                        <a:t>Replayer</a:t>
                      </a:r>
                    </a:p>
                  </a:txBody>
                  <a:tcPr marL="91440" marR="91440" marT="45720" marB="45720" anchor="ctr">
                    <a:solidFill>
                      <a:schemeClr val="bg1"/>
                    </a:solidFill>
                  </a:tcPr>
                </a:tc>
                <a:tc>
                  <a:txBody>
                    <a:bodyPr/>
                    <a:lstStyle/>
                    <a:p>
                      <a:pPr algn="l"/>
                      <a:r>
                        <a:rPr sz="1200" b="0">
                          <a:solidFill>
                            <a:schemeClr val="tx1"/>
                          </a:solidFill>
                        </a:rPr>
                        <a:t>Serves history from the recording, per host</a:t>
                      </a:r>
                    </a:p>
                  </a:txBody>
                  <a:tcPr marL="91440" marR="91440" marT="45720" marB="45720" anchor="ctr">
                    <a:solidFill>
                      <a:schemeClr val="bg1"/>
                    </a:solidFill>
                  </a:tcPr>
                </a:tc>
              </a:tr>
              <a:tr h="402336">
                <a:tc>
                  <a:txBody>
                    <a:bodyPr/>
                    <a:lstStyle/>
                    <a:p>
                      <a:pPr algn="l"/>
                      <a:r>
                        <a:rPr sz="1200" b="1">
                          <a:solidFill>
                            <a:schemeClr val="tx1"/>
                          </a:solidFill>
                        </a:rPr>
                        <a:t>Snapshot round</a:t>
                      </a:r>
                    </a:p>
                  </a:txBody>
                  <a:tcPr marL="91440" marR="91440" marT="45720" marB="45720" anchor="ctr">
                    <a:solidFill>
                      <a:schemeClr val="bg2"/>
                    </a:solidFill>
                  </a:tcPr>
                </a:tc>
                <a:tc>
                  <a:txBody>
                    <a:bodyPr/>
                    <a:lstStyle/>
                    <a:p>
                      <a:pPr algn="l"/>
                      <a:r>
                        <a:rPr sz="1200" b="0">
                          <a:solidFill>
                            <a:schemeClr val="tx1"/>
                          </a:solidFill>
                        </a:rPr>
                        <a:t>An application snapshot the log cuts and confirms</a:t>
                      </a:r>
                    </a:p>
                  </a:txBody>
                  <a:tcPr marL="91440" marR="91440" marT="45720" marB="45720" anchor="ctr">
                    <a:solidFill>
                      <a:schemeClr val="bg2"/>
                    </a:solidFill>
                  </a:tcPr>
                </a:tc>
              </a:tr>
              <a:tr h="402336">
                <a:tc>
                  <a:txBody>
                    <a:bodyPr/>
                    <a:lstStyle/>
                    <a:p>
                      <a:pPr algn="l"/>
                      <a:r>
                        <a:rPr sz="1200" b="1">
                          <a:solidFill>
                            <a:schemeClr val="tx1"/>
                          </a:solidFill>
                        </a:rPr>
                        <a:t>sourceId</a:t>
                      </a:r>
                    </a:p>
                  </a:txBody>
                  <a:tcPr marL="91440" marR="91440" marT="45720" marB="45720" anchor="ctr">
                    <a:solidFill>
                      <a:schemeClr val="bg1"/>
                    </a:solidFill>
                  </a:tcPr>
                </a:tc>
                <a:tc>
                  <a:txBody>
                    <a:bodyPr/>
                    <a:lstStyle/>
                    <a:p>
                      <a:pPr algn="l"/>
                      <a:r>
                        <a:rPr sz="1200" b="0">
                          <a:solidFill>
                            <a:schemeClr val="tx1"/>
                          </a:solidFill>
                        </a:rPr>
                        <a:t>A producer's id: per application or gateway pair</a:t>
                      </a:r>
                    </a:p>
                  </a:txBody>
                  <a:tcPr marL="91440" marR="91440" marT="45720" marB="45720" anchor="ctr">
                    <a:solidFill>
                      <a:schemeClr val="bg1"/>
                    </a:solidFill>
                  </a:tcPr>
                </a:tc>
              </a:tr>
              <a:tr h="402336">
                <a:tc>
                  <a:txBody>
                    <a:bodyPr/>
                    <a:lstStyle/>
                    <a:p>
                      <a:pPr algn="l"/>
                      <a:r>
                        <a:rPr sz="1200" b="1">
                          <a:solidFill>
                            <a:schemeClr val="tx1"/>
                          </a:solidFill>
                        </a:rPr>
                        <a:t>Term</a:t>
                      </a:r>
                    </a:p>
                  </a:txBody>
                  <a:tcPr marL="91440" marR="91440" marT="45720" marB="45720" anchor="ctr">
                    <a:solidFill>
                      <a:schemeClr val="bg2"/>
                    </a:solidFill>
                  </a:tcPr>
                </a:tc>
                <a:tc>
                  <a:txBody>
                    <a:bodyPr/>
                    <a:lstStyle/>
                    <a:p>
                      <a:pPr algn="l"/>
                      <a:r>
                        <a:rPr sz="1200" b="0">
                          <a:solidFill>
                            <a:schemeClr val="tx1"/>
                          </a:solidFill>
                        </a:rPr>
                        <a:t>A Raft leadership term; one LeadershipChanged each</a:t>
                      </a:r>
                    </a:p>
                  </a:txBody>
                  <a:tcPr marL="91440" marR="91440" marT="45720" marB="45720" anchor="ctr">
                    <a:solidFill>
                      <a:schemeClr val="bg2"/>
                    </a:solidFill>
                  </a:tcPr>
                </a:tc>
              </a:tr>
              <a:tr h="402336">
                <a:tc>
                  <a:txBody>
                    <a:bodyPr/>
                    <a:lstStyle/>
                    <a:p>
                      <a:pPr algn="l"/>
                      <a:r>
                        <a:rPr sz="1200" b="1">
                          <a:solidFill>
                            <a:schemeClr val="tx1"/>
                          </a:solidFill>
                        </a:rPr>
                        <a:t>Tethered</a:t>
                      </a:r>
                    </a:p>
                  </a:txBody>
                  <a:tcPr marL="91440" marR="91440" marT="45720" marB="45720" anchor="ctr">
                    <a:solidFill>
                      <a:schemeClr val="bg1"/>
                    </a:solidFill>
                  </a:tcPr>
                </a:tc>
                <a:tc>
                  <a:txBody>
                    <a:bodyPr/>
                    <a:lstStyle/>
                    <a:p>
                      <a:pPr algn="l"/>
                      <a:r>
                        <a:rPr sz="1200" b="0">
                          <a:solidFill>
                            <a:schemeClr val="tx1"/>
                          </a:solidFill>
                        </a:rPr>
                        <a:t>Holds the publisher back; untethered is dropped</a:t>
                      </a:r>
                    </a:p>
                  </a:txBody>
                  <a:tcPr marL="91440" marR="91440" marT="45720" marB="45720" anchor="ctr">
                    <a:solidFill>
                      <a:schemeClr val="bg1"/>
                    </a:solidFill>
                  </a:tcPr>
                </a:tc>
              </a:tr>
              <a:tr h="402336">
                <a:tc>
                  <a:txBody>
                    <a:bodyPr/>
                    <a:lstStyle/>
                    <a:p>
                      <a:pPr algn="l"/>
                      <a:r>
                        <a:rPr sz="1200" b="1">
                          <a:solidFill>
                            <a:schemeClr val="tx1"/>
                          </a:solidFill>
                        </a:rPr>
                        <a:t>S-3, A-4, V-1</a:t>
                      </a:r>
                    </a:p>
                  </a:txBody>
                  <a:tcPr marL="91440" marR="91440" marT="45720" marB="45720" anchor="ctr">
                    <a:solidFill>
                      <a:schemeClr val="bg2"/>
                    </a:solidFill>
                  </a:tcPr>
                </a:tc>
                <a:tc>
                  <a:txBody>
                    <a:bodyPr/>
                    <a:lstStyle/>
                    <a:p>
                      <a:pPr algn="l"/>
                      <a:r>
                        <a:rPr sz="1200" b="0">
                          <a:solidFill>
                            <a:schemeClr val="tx1"/>
                          </a:solidFill>
                        </a:rPr>
                        <a:t>Spec rule ids: sequencer, application, versioning</a:t>
                      </a:r>
                    </a:p>
                  </a:txBody>
                  <a:tcPr marL="91440" marR="91440" marT="45720" marB="45720" anchor="ctr">
                    <a:solidFill>
                      <a:schemeClr val="bg2"/>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Aeron's transport model</a:t>
            </a:r>
          </a:p>
        </p:txBody>
      </p:sp>
      <p:sp>
        <p:nvSpPr>
          <p:cNvPr id="3" name="Text 481"/>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Publications, subscriptions, and one byte position that everything shares</a:t>
            </a:r>
          </a:p>
        </p:txBody>
      </p:sp>
      <p:sp>
        <p:nvSpPr>
          <p:cNvPr id="9034" name="Slide number"/>
          <p:cNvSpPr txBox="1"/>
          <p:nvPr userDrawn="1"/>
        </p:nvSpPr>
        <p:spPr>
          <a:xfrm>
            <a:off x="10728655" y="6400800"/>
            <a:ext cx="914400" cy="274320"/>
          </a:xfrm>
          <a:prstGeom prst="rect">
            <a:avLst/>
          </a:prstGeom>
          <a:noFill/>
        </p:spPr>
        <p:txBody>
          <a:bodyPr wrap="none" lIns="0" tIns="0" rIns="0" bIns="0" anchor="ctr"/>
          <a:lstStyle/>
          <a:p>
            <a:pPr algn="r"/>
            <a:fld id="{d9212052-f01a-42c6-a38f-dec7f2a4e9d3}" type="slidenum">
              <a:rPr lang="en-US" sz="1000" dirty="0">
                <a:solidFill>
                  <a:schemeClr val="accent5"/>
                </a:solidFill>
              </a:rPr>
              <a:t>34</a:t>
            </a:fld>
          </a:p>
        </p:txBody>
      </p:sp>
      <p:sp>
        <p:nvSpPr>
          <p:cNvPr id="9035" name="Text 482"/>
          <p:cNvSpPr txBox="1"/>
          <p:nvPr/>
        </p:nvSpPr>
        <p:spPr>
          <a:xfrm>
            <a:off x="548640" y="1737360"/>
            <a:ext cx="5120640" cy="4206240"/>
          </a:xfrm>
          <a:prstGeom prst="rect">
            <a:avLst/>
          </a:prstGeom>
          <a:noFill/>
        </p:spPr>
        <p:txBody>
          <a:bodyPr wrap="square" anchor="t" lIns="0" rIns="0" tIns="0" bIns="0">
            <a:spAutoFit/>
          </a:bodyPr>
          <a:lstStyle/>
          <a:p>
            <a:pPr algn="l" marL="228600" indent="-228600">
              <a:spcAft>
                <a:spcPts val="1000"/>
              </a:spcAft>
              <a:buClr>
                <a:schemeClr val="accent1"/>
              </a:buClr>
              <a:buChar char="•"/>
            </a:pPr>
            <a:r>
              <a:rPr sz="1500" b="1">
                <a:solidFill>
                  <a:schemeClr val="tx1"/>
                </a:solidFill>
              </a:rPr>
              <a:t>Channel  </a:t>
            </a:r>
            <a:r>
              <a:rPr sz="1500" b="0">
                <a:solidFill>
                  <a:schemeClr val="tx1"/>
                </a:solidFill>
              </a:rPr>
              <a:t>aeron:udp (unicast, multicast) or aeron:ipc (shared memory)</a:t>
            </a:r>
          </a:p>
          <a:p>
            <a:pPr algn="l" marL="228600" indent="-228600">
              <a:spcAft>
                <a:spcPts val="1000"/>
              </a:spcAft>
              <a:buClr>
                <a:schemeClr val="accent1"/>
              </a:buClr>
              <a:buChar char="•"/>
            </a:pPr>
            <a:r>
              <a:rPr sz="1500" b="1">
                <a:solidFill>
                  <a:schemeClr val="tx1"/>
                </a:solidFill>
              </a:rPr>
              <a:t>Stream id  </a:t>
            </a:r>
            <a:r>
              <a:rPr sz="1500" b="0">
                <a:solidFill>
                  <a:schemeClr val="tx1"/>
                </a:solidFill>
              </a:rPr>
              <a:t>names one stream on a channel</a:t>
            </a:r>
          </a:p>
          <a:p>
            <a:pPr algn="l" marL="228600" indent="-228600">
              <a:spcAft>
                <a:spcPts val="1000"/>
              </a:spcAft>
              <a:buClr>
                <a:schemeClr val="accent1"/>
              </a:buClr>
              <a:buChar char="•"/>
            </a:pPr>
            <a:r>
              <a:rPr sz="1500" b="1">
                <a:solidFill>
                  <a:schemeClr val="tx1"/>
                </a:solidFill>
              </a:rPr>
              <a:t>Position  </a:t>
            </a:r>
            <a:r>
              <a:rPr sz="1500" b="0">
                <a:solidFill>
                  <a:schemeClr val="tx1"/>
                </a:solidFill>
              </a:rPr>
              <a:t>byte offset into the stream; the coordinate for flow control, loss, recording, replay</a:t>
            </a:r>
          </a:p>
          <a:p>
            <a:pPr algn="l" marL="228600" indent="-228600">
              <a:spcAft>
                <a:spcPts val="1000"/>
              </a:spcAft>
              <a:buClr>
                <a:schemeClr val="accent1"/>
              </a:buClr>
              <a:buChar char="•"/>
            </a:pPr>
            <a:r>
              <a:rPr sz="1500" b="1">
                <a:solidFill>
                  <a:schemeClr val="tx1"/>
                </a:solidFill>
              </a:rPr>
              <a:t>Offer  </a:t>
            </a:r>
            <a:r>
              <a:rPr sz="1500" b="0">
                <a:solidFill>
                  <a:schemeClr val="tx1"/>
                </a:solidFill>
              </a:rPr>
              <a:t>a copy into a mapped term: no lock, no system call</a:t>
            </a:r>
          </a:p>
          <a:p>
            <a:pPr algn="l" marL="228600" indent="-228600">
              <a:buClr>
                <a:schemeClr val="accent1"/>
              </a:buClr>
              <a:buChar char="•"/>
            </a:pPr>
            <a:r>
              <a:rPr sz="1500" b="1">
                <a:solidFill>
                  <a:schemeClr val="tx1"/>
                </a:solidFill>
              </a:rPr>
              <a:t>Back-pressure  </a:t>
            </a:r>
            <a:r>
              <a:rPr sz="1500" b="0">
                <a:solidFill>
                  <a:schemeClr val="tx1"/>
                </a:solidFill>
              </a:rPr>
              <a:t>returned to the caller; nothing queues without bound</a:t>
            </a:r>
          </a:p>
        </p:txBody>
      </p:sp>
      <p:sp>
        <p:nvSpPr>
          <p:cNvPr id="9036" name="Box 483"/>
          <p:cNvSpPr/>
          <p:nvPr/>
        </p:nvSpPr>
        <p:spPr>
          <a:xfrm>
            <a:off x="6172200" y="2148840"/>
            <a:ext cx="1691640" cy="10058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37" name="Text 484"/>
          <p:cNvSpPr txBox="1"/>
          <p:nvPr/>
        </p:nvSpPr>
        <p:spPr>
          <a:xfrm>
            <a:off x="6172200" y="2194560"/>
            <a:ext cx="1691640" cy="274320"/>
          </a:xfrm>
          <a:prstGeom prst="rect">
            <a:avLst/>
          </a:prstGeom>
          <a:noFill/>
        </p:spPr>
        <p:txBody>
          <a:bodyPr wrap="square" anchor="t" lIns="0" rIns="0" tIns="0" bIns="0">
            <a:spAutoFit/>
          </a:bodyPr>
          <a:lstStyle/>
          <a:p>
            <a:pPr algn="ctr"/>
            <a:r>
              <a:rPr sz="1100" b="0">
                <a:solidFill>
                  <a:schemeClr val="accent5"/>
                </a:solidFill>
              </a:rPr>
              <a:t>term 0</a:t>
            </a:r>
          </a:p>
        </p:txBody>
      </p:sp>
      <p:sp>
        <p:nvSpPr>
          <p:cNvPr id="9038" name="Box 485"/>
          <p:cNvSpPr/>
          <p:nvPr/>
        </p:nvSpPr>
        <p:spPr>
          <a:xfrm>
            <a:off x="8001000" y="2148840"/>
            <a:ext cx="1691640" cy="10058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39" name="Text 486"/>
          <p:cNvSpPr txBox="1"/>
          <p:nvPr/>
        </p:nvSpPr>
        <p:spPr>
          <a:xfrm>
            <a:off x="8001000" y="2194560"/>
            <a:ext cx="1691640" cy="274320"/>
          </a:xfrm>
          <a:prstGeom prst="rect">
            <a:avLst/>
          </a:prstGeom>
          <a:noFill/>
        </p:spPr>
        <p:txBody>
          <a:bodyPr wrap="square" anchor="t" lIns="0" rIns="0" tIns="0" bIns="0">
            <a:spAutoFit/>
          </a:bodyPr>
          <a:lstStyle/>
          <a:p>
            <a:pPr algn="ctr"/>
            <a:r>
              <a:rPr sz="1100" b="0">
                <a:solidFill>
                  <a:schemeClr val="accent5"/>
                </a:solidFill>
              </a:rPr>
              <a:t>term 1</a:t>
            </a:r>
          </a:p>
        </p:txBody>
      </p:sp>
      <p:sp>
        <p:nvSpPr>
          <p:cNvPr id="9040" name="Box 487"/>
          <p:cNvSpPr/>
          <p:nvPr/>
        </p:nvSpPr>
        <p:spPr>
          <a:xfrm>
            <a:off x="9829800" y="2148840"/>
            <a:ext cx="1691640" cy="10058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41" name="Text 488"/>
          <p:cNvSpPr txBox="1"/>
          <p:nvPr/>
        </p:nvSpPr>
        <p:spPr>
          <a:xfrm>
            <a:off x="9829800" y="2194560"/>
            <a:ext cx="1691640" cy="274320"/>
          </a:xfrm>
          <a:prstGeom prst="rect">
            <a:avLst/>
          </a:prstGeom>
          <a:noFill/>
        </p:spPr>
        <p:txBody>
          <a:bodyPr wrap="square" anchor="t" lIns="0" rIns="0" tIns="0" bIns="0">
            <a:spAutoFit/>
          </a:bodyPr>
          <a:lstStyle/>
          <a:p>
            <a:pPr algn="ctr"/>
            <a:r>
              <a:rPr sz="1100" b="0">
                <a:solidFill>
                  <a:schemeClr val="accent5"/>
                </a:solidFill>
              </a:rPr>
              <a:t>term 2</a:t>
            </a:r>
          </a:p>
        </p:txBody>
      </p:sp>
      <p:sp>
        <p:nvSpPr>
          <p:cNvPr id="9042" name="Written 489"/>
          <p:cNvSpPr/>
          <p:nvPr/>
        </p:nvSpPr>
        <p:spPr>
          <a:xfrm>
            <a:off x="6172200" y="2487168"/>
            <a:ext cx="1691640" cy="667512"/>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3" name="Written 490"/>
          <p:cNvSpPr/>
          <p:nvPr/>
        </p:nvSpPr>
        <p:spPr>
          <a:xfrm>
            <a:off x="8001000" y="2487168"/>
            <a:ext cx="1188720" cy="667512"/>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044" name="Arrow 491"/>
          <p:cNvCxnSpPr/>
          <p:nvPr/>
        </p:nvCxnSpPr>
        <p:spPr>
          <a:xfrm>
            <a:off x="9189720" y="1783080"/>
            <a:ext cx="0" cy="1463040"/>
          </a:xfrm>
          <a:prstGeom prst="line">
            <a:avLst/>
          </a:prstGeom>
          <a:ln w="22225">
            <a:solidFill>
              <a:schemeClr val="accent1"/>
            </a:solidFill>
          </a:ln>
        </p:spPr>
        <p:style>
          <a:lnRef idx="2">
            <a:schemeClr val="accent1"/>
          </a:lnRef>
          <a:fillRef idx="0">
            <a:schemeClr val="accent1"/>
          </a:fillRef>
          <a:effectRef idx="1">
            <a:schemeClr val="accent1"/>
          </a:effectRef>
          <a:fontRef idx="minor">
            <a:schemeClr val="tx1"/>
          </a:fontRef>
        </p:style>
      </p:cxnSp>
      <p:sp>
        <p:nvSpPr>
          <p:cNvPr id="9045" name="Text 492"/>
          <p:cNvSpPr txBox="1"/>
          <p:nvPr/>
        </p:nvSpPr>
        <p:spPr>
          <a:xfrm>
            <a:off x="8001000" y="1481328"/>
            <a:ext cx="2377440" cy="292608"/>
          </a:xfrm>
          <a:prstGeom prst="rect">
            <a:avLst/>
          </a:prstGeom>
          <a:noFill/>
        </p:spPr>
        <p:txBody>
          <a:bodyPr wrap="square" anchor="t" lIns="0" rIns="0" tIns="0" bIns="0">
            <a:spAutoFit/>
          </a:bodyPr>
          <a:lstStyle/>
          <a:p>
            <a:pPr algn="ctr"/>
            <a:r>
              <a:rPr sz="1100" b="1">
                <a:solidFill>
                  <a:schemeClr val="accent1"/>
                </a:solidFill>
              </a:rPr>
              <a:t>publisher position</a:t>
            </a:r>
          </a:p>
        </p:txBody>
      </p:sp>
      <p:cxnSp>
        <p:nvCxnSpPr>
          <p:cNvPr id="9046" name="Arrow 493"/>
          <p:cNvCxnSpPr/>
          <p:nvPr/>
        </p:nvCxnSpPr>
        <p:spPr>
          <a:xfrm>
            <a:off x="6537960" y="1828800"/>
            <a:ext cx="0" cy="1417320"/>
          </a:xfrm>
          <a:prstGeom prst="line">
            <a:avLst/>
          </a:prstGeom>
          <a:ln w="22225">
            <a:solidFill>
              <a:schemeClr val="accent2"/>
            </a:solidFill>
          </a:ln>
        </p:spPr>
        <p:style>
          <a:lnRef idx="2">
            <a:schemeClr val="accent1"/>
          </a:lnRef>
          <a:fillRef idx="0">
            <a:schemeClr val="accent1"/>
          </a:fillRef>
          <a:effectRef idx="1">
            <a:schemeClr val="accent1"/>
          </a:effectRef>
          <a:fontRef idx="minor">
            <a:schemeClr val="tx1"/>
          </a:fontRef>
        </p:style>
      </p:cxnSp>
      <p:sp>
        <p:nvSpPr>
          <p:cNvPr id="9047" name="Text 494"/>
          <p:cNvSpPr txBox="1"/>
          <p:nvPr/>
        </p:nvSpPr>
        <p:spPr>
          <a:xfrm>
            <a:off x="6172200" y="3291840"/>
            <a:ext cx="2377440" cy="292608"/>
          </a:xfrm>
          <a:prstGeom prst="rect">
            <a:avLst/>
          </a:prstGeom>
          <a:noFill/>
        </p:spPr>
        <p:txBody>
          <a:bodyPr wrap="square" anchor="t" lIns="0" rIns="0" tIns="0" bIns="0">
            <a:spAutoFit/>
          </a:bodyPr>
          <a:lstStyle/>
          <a:p>
            <a:pPr algn="l"/>
            <a:r>
              <a:rPr sz="1100" b="1">
                <a:solidFill>
                  <a:schemeClr val="accent2"/>
                </a:solidFill>
              </a:rPr>
              <a:t>subscriber position</a:t>
            </a:r>
          </a:p>
        </p:txBody>
      </p:sp>
      <p:cxnSp>
        <p:nvCxnSpPr>
          <p:cNvPr id="9048" name="Arrow 495"/>
          <p:cNvCxnSpPr/>
          <p:nvPr/>
        </p:nvCxnSpPr>
        <p:spPr>
          <a:xfrm>
            <a:off x="6537960" y="3685032"/>
            <a:ext cx="2651760" cy="0"/>
          </a:xfrm>
          <a:prstGeom prst="line">
            <a:avLst/>
          </a:prstGeom>
          <a:ln w="15875">
            <a:solidFill>
              <a:schemeClr val="accent5"/>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9049" name="Text 496"/>
          <p:cNvSpPr txBox="1"/>
          <p:nvPr/>
        </p:nvSpPr>
        <p:spPr>
          <a:xfrm>
            <a:off x="6537960" y="3703320"/>
            <a:ext cx="2651760" cy="292608"/>
          </a:xfrm>
          <a:prstGeom prst="rect">
            <a:avLst/>
          </a:prstGeom>
          <a:noFill/>
        </p:spPr>
        <p:txBody>
          <a:bodyPr wrap="square" anchor="t" lIns="0" rIns="0" tIns="0" bIns="0">
            <a:spAutoFit/>
          </a:bodyPr>
          <a:lstStyle/>
          <a:p>
            <a:pPr algn="ctr"/>
            <a:r>
              <a:rPr sz="1100" b="0">
                <a:solidFill>
                  <a:schemeClr val="accent5"/>
                </a:solidFill>
              </a:rPr>
              <a:t>≤ window</a:t>
            </a:r>
          </a:p>
        </p:txBody>
      </p:sp>
      <p:sp>
        <p:nvSpPr>
          <p:cNvPr id="9050" name="Text 497"/>
          <p:cNvSpPr txBox="1"/>
          <p:nvPr/>
        </p:nvSpPr>
        <p:spPr>
          <a:xfrm>
            <a:off x="6172200" y="4069080"/>
            <a:ext cx="5394960" cy="274320"/>
          </a:xfrm>
          <a:prstGeom prst="rect">
            <a:avLst/>
          </a:prstGeom>
          <a:noFill/>
        </p:spPr>
        <p:txBody>
          <a:bodyPr wrap="square" anchor="t" lIns="0" rIns="0" tIns="0" bIns="0">
            <a:spAutoFit/>
          </a:bodyPr>
          <a:lstStyle/>
          <a:p>
            <a:pPr algn="l"/>
            <a:r>
              <a:rPr sz="1100" b="0">
                <a:solidFill>
                  <a:schemeClr val="accent5"/>
                </a:solidFill>
              </a:rPr>
              <a:t>Log buffer: one memory-mapped file, three rotating terms</a:t>
            </a:r>
          </a:p>
        </p:txBody>
      </p:sp>
      <p:sp>
        <p:nvSpPr>
          <p:cNvPr id="9051" name="Card 498"/>
          <p:cNvSpPr/>
          <p:nvPr/>
        </p:nvSpPr>
        <p:spPr>
          <a:xfrm>
            <a:off x="6172200" y="4572000"/>
            <a:ext cx="260604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r>
              <a:rPr sz="1500" b="1">
                <a:solidFill>
                  <a:schemeClr val="tx1"/>
                </a:solidFill>
              </a:rPr>
              <a:t>Tethered</a:t>
            </a:r>
          </a:p>
          <a:p>
            <a:pPr algn="l"/>
            <a:r>
              <a:rPr sz="1300" b="0">
                <a:solidFill>
                  <a:schemeClr val="accent5"/>
                </a:solidFill>
              </a:rPr>
              <a:t>The publication waits for it.</a:t>
            </a:r>
          </a:p>
        </p:txBody>
      </p:sp>
      <p:sp>
        <p:nvSpPr>
          <p:cNvPr id="9052" name="Card 499"/>
          <p:cNvSpPr/>
          <p:nvPr/>
        </p:nvSpPr>
        <p:spPr>
          <a:xfrm>
            <a:off x="9006840" y="4572000"/>
            <a:ext cx="2633472"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r>
              <a:rPr sz="1500" b="1">
                <a:solidFill>
                  <a:schemeClr val="tx1"/>
                </a:solidFill>
              </a:rPr>
              <a:t>Untethered</a:t>
            </a:r>
          </a:p>
          <a:p>
            <a:pPr algn="l"/>
            <a:r>
              <a:rPr sz="1300" b="0">
                <a:solidFill>
                  <a:schemeClr val="accent5"/>
                </a:solidFill>
              </a:rPr>
              <a:t>Dropped when a window behind; may rejoin.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The media driver</a:t>
            </a:r>
          </a:p>
        </p:txBody>
      </p:sp>
      <p:sp>
        <p:nvSpPr>
          <p:cNvPr id="3" name="Text 500"/>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Applications do no networking: a driver owns sockets and log buffers</a:t>
            </a:r>
          </a:p>
        </p:txBody>
      </p:sp>
      <p:sp>
        <p:nvSpPr>
          <p:cNvPr id="9035" name="Slide number"/>
          <p:cNvSpPr txBox="1"/>
          <p:nvPr userDrawn="1"/>
        </p:nvSpPr>
        <p:spPr>
          <a:xfrm>
            <a:off x="10728655" y="6400800"/>
            <a:ext cx="914400" cy="274320"/>
          </a:xfrm>
          <a:prstGeom prst="rect">
            <a:avLst/>
          </a:prstGeom>
          <a:noFill/>
        </p:spPr>
        <p:txBody>
          <a:bodyPr wrap="none" lIns="0" tIns="0" rIns="0" bIns="0" anchor="ctr"/>
          <a:lstStyle/>
          <a:p>
            <a:pPr algn="r"/>
            <a:fld id="{48fbed96-6b02-4f76-825e-5ab5a7f34173}" type="slidenum">
              <a:rPr lang="en-US" sz="1000" dirty="0">
                <a:solidFill>
                  <a:schemeClr val="accent5"/>
                </a:solidFill>
              </a:rPr>
              <a:t>35</a:t>
            </a:fld>
          </a:p>
        </p:txBody>
      </p:sp>
      <p:sp>
        <p:nvSpPr>
          <p:cNvPr id="9036" name="Host 501"/>
          <p:cNvSpPr/>
          <p:nvPr/>
        </p:nvSpPr>
        <p:spPr>
          <a:xfrm>
            <a:off x="664207" y="2339321"/>
            <a:ext cx="1849069" cy="2311336"/>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ctr"/>
            <a:r>
              <a:rPr sz="1100" b="1">
                <a:solidFill>
                  <a:schemeClr val="accent5"/>
                </a:solidFill>
              </a:rPr>
              <a:t>PUBLISHER PROCESS</a:t>
            </a:r>
          </a:p>
        </p:txBody>
      </p:sp>
      <p:sp>
        <p:nvSpPr>
          <p:cNvPr id="9037" name="Box 502"/>
          <p:cNvSpPr/>
          <p:nvPr/>
        </p:nvSpPr>
        <p:spPr>
          <a:xfrm>
            <a:off x="837557" y="2917155"/>
            <a:ext cx="1502369" cy="577834"/>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Publication</a:t>
            </a:r>
          </a:p>
          <a:p>
            <a:pPr algn="ctr"/>
            <a:r>
              <a:rPr sz="1000" b="0">
                <a:solidFill>
                  <a:schemeClr val="accent5"/>
                </a:solidFill>
              </a:rPr>
              <a:t>offer() · tryClaim()</a:t>
            </a:r>
          </a:p>
        </p:txBody>
      </p:sp>
      <p:sp>
        <p:nvSpPr>
          <p:cNvPr id="9038" name="Host 503"/>
          <p:cNvSpPr/>
          <p:nvPr/>
        </p:nvSpPr>
        <p:spPr>
          <a:xfrm>
            <a:off x="2802193" y="2108187"/>
            <a:ext cx="3004737" cy="2773604"/>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ctr"/>
            <a:r>
              <a:rPr sz="1100" b="1">
                <a:solidFill>
                  <a:schemeClr val="accent5"/>
                </a:solidFill>
              </a:rPr>
              <a:t>MEDIA DRIVER</a:t>
            </a:r>
          </a:p>
        </p:txBody>
      </p:sp>
      <p:sp>
        <p:nvSpPr>
          <p:cNvPr id="9039" name="Box 504"/>
          <p:cNvSpPr/>
          <p:nvPr/>
        </p:nvSpPr>
        <p:spPr>
          <a:xfrm>
            <a:off x="2975543" y="2547341"/>
            <a:ext cx="2658037" cy="647174"/>
          </a:xfrm>
          <a:prstGeom prst="rect">
            <a:avLst/>
          </a:prstGeom>
          <a:solidFill>
            <a:schemeClr val="bg2"/>
          </a:solidFill>
          <a:ln w="12700">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Publication log buffer</a:t>
            </a:r>
          </a:p>
          <a:p>
            <a:pPr algn="ctr"/>
            <a:r>
              <a:rPr sz="1000" b="0">
                <a:solidFill>
                  <a:schemeClr val="accent5"/>
                </a:solidFill>
              </a:rPr>
              <a:t>mmap file · 3 terms</a:t>
            </a:r>
          </a:p>
        </p:txBody>
      </p:sp>
      <p:sp>
        <p:nvSpPr>
          <p:cNvPr id="9040" name="Box 505"/>
          <p:cNvSpPr/>
          <p:nvPr/>
        </p:nvSpPr>
        <p:spPr>
          <a:xfrm>
            <a:off x="2975543" y="3437206"/>
            <a:ext cx="1271235" cy="600947"/>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Conductor</a:t>
            </a:r>
          </a:p>
          <a:p>
            <a:pPr algn="ctr"/>
            <a:r>
              <a:rPr sz="1000" b="0">
                <a:solidFill>
                  <a:schemeClr val="accent5"/>
                </a:solidFill>
              </a:rPr>
              <a:t>commands · counters</a:t>
            </a:r>
          </a:p>
        </p:txBody>
      </p:sp>
      <p:sp>
        <p:nvSpPr>
          <p:cNvPr id="9041" name="Box 506"/>
          <p:cNvSpPr/>
          <p:nvPr/>
        </p:nvSpPr>
        <p:spPr>
          <a:xfrm>
            <a:off x="4362345" y="3437206"/>
            <a:ext cx="1271235" cy="600947"/>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Sender</a:t>
            </a:r>
          </a:p>
          <a:p>
            <a:pPr algn="ctr"/>
            <a:r>
              <a:rPr sz="1000" b="0">
                <a:solidFill>
                  <a:schemeClr val="accent5"/>
                </a:solidFill>
              </a:rPr>
              <a:t>send · retransmit</a:t>
            </a:r>
          </a:p>
        </p:txBody>
      </p:sp>
      <p:sp>
        <p:nvSpPr>
          <p:cNvPr id="9042" name="Text 507"/>
          <p:cNvSpPr txBox="1"/>
          <p:nvPr/>
        </p:nvSpPr>
        <p:spPr>
          <a:xfrm>
            <a:off x="2802193" y="4280844"/>
            <a:ext cx="3004737" cy="346700"/>
          </a:xfrm>
          <a:prstGeom prst="rect">
            <a:avLst/>
          </a:prstGeom>
          <a:noFill/>
        </p:spPr>
        <p:txBody>
          <a:bodyPr wrap="square" anchor="ctr" lIns="0" rIns="0" tIns="0" bIns="0">
            <a:spAutoFit/>
          </a:bodyPr>
          <a:lstStyle/>
          <a:p>
            <a:pPr algn="ctr"/>
            <a:r>
              <a:rPr sz="1000" b="0">
                <a:solidFill>
                  <a:schemeClr val="accent5"/>
                </a:solidFill>
              </a:rPr>
              <a:t>clients attach via cnc.dat</a:t>
            </a:r>
          </a:p>
        </p:txBody>
      </p:sp>
      <p:sp>
        <p:nvSpPr>
          <p:cNvPr id="9043" name="Host 508"/>
          <p:cNvSpPr/>
          <p:nvPr/>
        </p:nvSpPr>
        <p:spPr>
          <a:xfrm>
            <a:off x="6384765" y="2108187"/>
            <a:ext cx="3004737" cy="2773604"/>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ctr"/>
            <a:r>
              <a:rPr sz="1100" b="1">
                <a:solidFill>
                  <a:schemeClr val="accent5"/>
                </a:solidFill>
              </a:rPr>
              <a:t>MEDIA DRIVER</a:t>
            </a:r>
          </a:p>
        </p:txBody>
      </p:sp>
      <p:sp>
        <p:nvSpPr>
          <p:cNvPr id="9044" name="Box 509"/>
          <p:cNvSpPr/>
          <p:nvPr/>
        </p:nvSpPr>
        <p:spPr>
          <a:xfrm>
            <a:off x="6558115" y="2547341"/>
            <a:ext cx="2658037" cy="647174"/>
          </a:xfrm>
          <a:prstGeom prst="rect">
            <a:avLst/>
          </a:prstGeom>
          <a:solidFill>
            <a:schemeClr val="bg2"/>
          </a:solidFill>
          <a:ln w="12700">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Image log buffer</a:t>
            </a:r>
          </a:p>
          <a:p>
            <a:pPr algn="ctr"/>
            <a:r>
              <a:rPr sz="1000" b="0">
                <a:solidFill>
                  <a:schemeClr val="accent5"/>
                </a:solidFill>
              </a:rPr>
              <a:t>one per remote publisher</a:t>
            </a:r>
          </a:p>
        </p:txBody>
      </p:sp>
      <p:sp>
        <p:nvSpPr>
          <p:cNvPr id="9045" name="Box 510"/>
          <p:cNvSpPr/>
          <p:nvPr/>
        </p:nvSpPr>
        <p:spPr>
          <a:xfrm>
            <a:off x="6558115" y="3437206"/>
            <a:ext cx="1271235" cy="600947"/>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Receiver</a:t>
            </a:r>
          </a:p>
          <a:p>
            <a:pPr algn="ctr"/>
            <a:r>
              <a:rPr sz="1000" b="0">
                <a:solidFill>
                  <a:schemeClr val="accent5"/>
                </a:solidFill>
              </a:rPr>
              <a:t>reassemble · NAK</a:t>
            </a:r>
          </a:p>
        </p:txBody>
      </p:sp>
      <p:sp>
        <p:nvSpPr>
          <p:cNvPr id="9046" name="Box 511"/>
          <p:cNvSpPr/>
          <p:nvPr/>
        </p:nvSpPr>
        <p:spPr>
          <a:xfrm>
            <a:off x="7944917" y="3437206"/>
            <a:ext cx="1271235" cy="600947"/>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Conductor</a:t>
            </a:r>
          </a:p>
          <a:p>
            <a:pPr algn="ctr"/>
            <a:r>
              <a:rPr sz="1000" b="0">
                <a:solidFill>
                  <a:schemeClr val="accent5"/>
                </a:solidFill>
              </a:rPr>
              <a:t>commands · counters</a:t>
            </a:r>
          </a:p>
        </p:txBody>
      </p:sp>
      <p:sp>
        <p:nvSpPr>
          <p:cNvPr id="9047" name="Text 512"/>
          <p:cNvSpPr txBox="1"/>
          <p:nvPr/>
        </p:nvSpPr>
        <p:spPr>
          <a:xfrm>
            <a:off x="6384765" y="4280844"/>
            <a:ext cx="3004737" cy="346700"/>
          </a:xfrm>
          <a:prstGeom prst="rect">
            <a:avLst/>
          </a:prstGeom>
          <a:noFill/>
        </p:spPr>
        <p:txBody>
          <a:bodyPr wrap="square" anchor="ctr" lIns="0" rIns="0" tIns="0" bIns="0">
            <a:spAutoFit/>
          </a:bodyPr>
          <a:lstStyle/>
          <a:p>
            <a:pPr algn="ctr"/>
            <a:r>
              <a:rPr sz="1000" b="0">
                <a:solidFill>
                  <a:schemeClr val="accent5"/>
                </a:solidFill>
              </a:rPr>
              <a:t>clients attach via cnc.dat</a:t>
            </a:r>
          </a:p>
        </p:txBody>
      </p:sp>
      <p:sp>
        <p:nvSpPr>
          <p:cNvPr id="9048" name="Host 513"/>
          <p:cNvSpPr/>
          <p:nvPr/>
        </p:nvSpPr>
        <p:spPr>
          <a:xfrm>
            <a:off x="9678419" y="2339321"/>
            <a:ext cx="1849069" cy="2311336"/>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tIns="73152" lIns="109728" rIns="109728"/>
          <a:lstStyle/>
          <a:p>
            <a:pPr algn="ctr"/>
            <a:r>
              <a:rPr sz="1100" b="1">
                <a:solidFill>
                  <a:schemeClr val="accent5"/>
                </a:solidFill>
              </a:rPr>
              <a:t>SUBSCRIBER PROCESS</a:t>
            </a:r>
          </a:p>
        </p:txBody>
      </p:sp>
      <p:sp>
        <p:nvSpPr>
          <p:cNvPr id="9049" name="Box 514"/>
          <p:cNvSpPr/>
          <p:nvPr/>
        </p:nvSpPr>
        <p:spPr>
          <a:xfrm>
            <a:off x="9851769" y="2917155"/>
            <a:ext cx="1502369" cy="577834"/>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Subscription</a:t>
            </a:r>
          </a:p>
          <a:p>
            <a:pPr algn="ctr"/>
            <a:r>
              <a:rPr sz="1000" b="0">
                <a:solidFill>
                  <a:schemeClr val="accent5"/>
                </a:solidFill>
              </a:rPr>
              <a:t>poll() fragments</a:t>
            </a:r>
          </a:p>
        </p:txBody>
      </p:sp>
      <p:cxnSp>
        <p:nvCxnSpPr>
          <p:cNvPr id="9050" name="Arrow 515"/>
          <p:cNvCxnSpPr/>
          <p:nvPr/>
        </p:nvCxnSpPr>
        <p:spPr>
          <a:xfrm flipV="1">
            <a:off x="2339926" y="2894042"/>
            <a:ext cx="635617" cy="231133"/>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51" name="Arrow 516"/>
          <p:cNvCxnSpPr/>
          <p:nvPr/>
        </p:nvCxnSpPr>
        <p:spPr>
          <a:xfrm>
            <a:off x="4997963" y="3194515"/>
            <a:ext cx="0" cy="242691"/>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52" name="Arrow 517"/>
          <p:cNvCxnSpPr/>
          <p:nvPr/>
        </p:nvCxnSpPr>
        <p:spPr>
          <a:xfrm>
            <a:off x="5633580" y="3610556"/>
            <a:ext cx="924535"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3" name="Text 518"/>
          <p:cNvSpPr txBox="1"/>
          <p:nvPr/>
        </p:nvSpPr>
        <p:spPr>
          <a:xfrm>
            <a:off x="5691364" y="3333196"/>
            <a:ext cx="808968" cy="254247"/>
          </a:xfrm>
          <a:prstGeom prst="rect">
            <a:avLst/>
          </a:prstGeom>
          <a:noFill/>
        </p:spPr>
        <p:txBody>
          <a:bodyPr wrap="square" anchor="ctr" lIns="0" rIns="0" tIns="0" bIns="0">
            <a:spAutoFit/>
          </a:bodyPr>
          <a:lstStyle/>
          <a:p>
            <a:pPr algn="ctr"/>
            <a:r>
              <a:rPr sz="1000" b="0">
                <a:solidFill>
                  <a:schemeClr val="accent1"/>
                </a:solidFill>
              </a:rPr>
              <a:t>data</a:t>
            </a:r>
          </a:p>
        </p:txBody>
      </p:sp>
      <p:cxnSp>
        <p:nvCxnSpPr>
          <p:cNvPr id="9054" name="Arrow 519"/>
          <p:cNvCxnSpPr/>
          <p:nvPr/>
        </p:nvCxnSpPr>
        <p:spPr>
          <a:xfrm flipH="1">
            <a:off x="5633580" y="3864803"/>
            <a:ext cx="924535"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55" name="Text 520"/>
          <p:cNvSpPr txBox="1"/>
          <p:nvPr/>
        </p:nvSpPr>
        <p:spPr>
          <a:xfrm>
            <a:off x="5633580" y="3911030"/>
            <a:ext cx="924535" cy="254247"/>
          </a:xfrm>
          <a:prstGeom prst="rect">
            <a:avLst/>
          </a:prstGeom>
          <a:noFill/>
        </p:spPr>
        <p:txBody>
          <a:bodyPr wrap="square" anchor="ctr" lIns="0" rIns="0" tIns="0" bIns="0">
            <a:spAutoFit/>
          </a:bodyPr>
          <a:lstStyle/>
          <a:p>
            <a:pPr algn="ctr"/>
            <a:r>
              <a:rPr sz="1000" b="0">
                <a:solidFill>
                  <a:schemeClr val="accent5"/>
                </a:solidFill>
              </a:rPr>
              <a:t>SM · NAK</a:t>
            </a:r>
          </a:p>
        </p:txBody>
      </p:sp>
      <p:cxnSp>
        <p:nvCxnSpPr>
          <p:cNvPr id="9056" name="Arrow 521"/>
          <p:cNvCxnSpPr/>
          <p:nvPr/>
        </p:nvCxnSpPr>
        <p:spPr>
          <a:xfrm flipV="1">
            <a:off x="7193732" y="3194515"/>
            <a:ext cx="0" cy="242691"/>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57" name="Arrow 522"/>
          <p:cNvCxnSpPr/>
          <p:nvPr/>
        </p:nvCxnSpPr>
        <p:spPr>
          <a:xfrm>
            <a:off x="9216152" y="2894042"/>
            <a:ext cx="635617" cy="231133"/>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8" name="Text 523"/>
          <p:cNvSpPr txBox="1"/>
          <p:nvPr/>
        </p:nvSpPr>
        <p:spPr>
          <a:xfrm>
            <a:off x="548640" y="5532120"/>
            <a:ext cx="11094415" cy="548640"/>
          </a:xfrm>
          <a:prstGeom prst="rect">
            <a:avLst/>
          </a:prstGeom>
          <a:noFill/>
        </p:spPr>
        <p:txBody>
          <a:bodyPr wrap="square" anchor="t" lIns="0" rIns="0" tIns="0" bIns="0">
            <a:spAutoFit/>
          </a:bodyPr>
          <a:lstStyle/>
          <a:p>
            <a:pPr algn="l"/>
            <a:r>
              <a:rPr sz="1400" b="1">
                <a:solidFill>
                  <a:schemeClr val="tx1"/>
                </a:solidFill>
              </a:rPr>
              <a:t>Over aeron:ipc </a:t>
            </a:r>
            <a:r>
              <a:rPr sz="1400" b="0">
                <a:solidFill>
                  <a:schemeClr val="accent5"/>
                </a:solidFill>
              </a:rPr>
              <a:t>publisher and subscriber share one log buffer: no sender, no receiver, no socket. Every stage is visible as a position counter.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Aeron Archive</a:t>
            </a:r>
          </a:p>
        </p:txBody>
      </p:sp>
      <p:sp>
        <p:nvSpPr>
          <p:cNvPr id="3" name="Text 524"/>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Streams recorded to local files, replayed from any position</a:t>
            </a:r>
          </a:p>
        </p:txBody>
      </p:sp>
      <p:sp>
        <p:nvSpPr>
          <p:cNvPr id="9036" name="Slide number"/>
          <p:cNvSpPr txBox="1"/>
          <p:nvPr userDrawn="1"/>
        </p:nvSpPr>
        <p:spPr>
          <a:xfrm>
            <a:off x="10728655" y="6400800"/>
            <a:ext cx="914400" cy="274320"/>
          </a:xfrm>
          <a:prstGeom prst="rect">
            <a:avLst/>
          </a:prstGeom>
          <a:noFill/>
        </p:spPr>
        <p:txBody>
          <a:bodyPr wrap="none" lIns="0" tIns="0" rIns="0" bIns="0" anchor="ctr"/>
          <a:lstStyle/>
          <a:p>
            <a:pPr algn="r"/>
            <a:fld id="{875ba03e-f4d4-436e-8b07-ccd76a31cfa0}" type="slidenum">
              <a:rPr lang="en-US" sz="1000" dirty="0">
                <a:solidFill>
                  <a:schemeClr val="accent5"/>
                </a:solidFill>
              </a:rPr>
              <a:t>36</a:t>
            </a:fld>
          </a:p>
        </p:txBody>
      </p:sp>
      <p:sp>
        <p:nvSpPr>
          <p:cNvPr id="9037" name="Box 525"/>
          <p:cNvSpPr/>
          <p:nvPr/>
        </p:nvSpPr>
        <p:spPr>
          <a:xfrm>
            <a:off x="548640" y="1965960"/>
            <a:ext cx="2218883" cy="68580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38" name="Text 526"/>
          <p:cNvSpPr txBox="1"/>
          <p:nvPr/>
        </p:nvSpPr>
        <p:spPr>
          <a:xfrm>
            <a:off x="548640" y="1965960"/>
            <a:ext cx="2218883" cy="685800"/>
          </a:xfrm>
          <a:prstGeom prst="rect">
            <a:avLst/>
          </a:prstGeom>
          <a:noFill/>
        </p:spPr>
        <p:txBody>
          <a:bodyPr wrap="square" anchor="ctr" lIns="0" rIns="0" tIns="0" bIns="0">
            <a:spAutoFit/>
          </a:bodyPr>
          <a:lstStyle/>
          <a:p>
            <a:pPr algn="ctr"/>
            <a:r>
              <a:rPr sz="1200" b="0">
                <a:solidFill>
                  <a:schemeClr val="accent1"/>
                </a:solidFill>
              </a:rPr>
              <a:t>segment file 0</a:t>
            </a:r>
          </a:p>
        </p:txBody>
      </p:sp>
      <p:sp>
        <p:nvSpPr>
          <p:cNvPr id="9039" name="Box 527"/>
          <p:cNvSpPr/>
          <p:nvPr/>
        </p:nvSpPr>
        <p:spPr>
          <a:xfrm>
            <a:off x="2767523" y="1965960"/>
            <a:ext cx="2218883" cy="68580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40" name="Text 528"/>
          <p:cNvSpPr txBox="1"/>
          <p:nvPr/>
        </p:nvSpPr>
        <p:spPr>
          <a:xfrm>
            <a:off x="2767523" y="1965960"/>
            <a:ext cx="2218883" cy="685800"/>
          </a:xfrm>
          <a:prstGeom prst="rect">
            <a:avLst/>
          </a:prstGeom>
          <a:noFill/>
        </p:spPr>
        <p:txBody>
          <a:bodyPr wrap="square" anchor="ctr" lIns="0" rIns="0" tIns="0" bIns="0">
            <a:spAutoFit/>
          </a:bodyPr>
          <a:lstStyle/>
          <a:p>
            <a:pPr algn="ctr"/>
            <a:r>
              <a:rPr sz="1200" b="0">
                <a:solidFill>
                  <a:schemeClr val="accent1"/>
                </a:solidFill>
              </a:rPr>
              <a:t>segment file 1</a:t>
            </a:r>
          </a:p>
        </p:txBody>
      </p:sp>
      <p:sp>
        <p:nvSpPr>
          <p:cNvPr id="9041" name="Box 529"/>
          <p:cNvSpPr/>
          <p:nvPr/>
        </p:nvSpPr>
        <p:spPr>
          <a:xfrm>
            <a:off x="4986406" y="1965960"/>
            <a:ext cx="2218883" cy="68580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42" name="Text 530"/>
          <p:cNvSpPr txBox="1"/>
          <p:nvPr/>
        </p:nvSpPr>
        <p:spPr>
          <a:xfrm>
            <a:off x="4986406" y="1965960"/>
            <a:ext cx="2218883" cy="685800"/>
          </a:xfrm>
          <a:prstGeom prst="rect">
            <a:avLst/>
          </a:prstGeom>
          <a:noFill/>
        </p:spPr>
        <p:txBody>
          <a:bodyPr wrap="square" anchor="ctr" lIns="0" rIns="0" tIns="0" bIns="0">
            <a:spAutoFit/>
          </a:bodyPr>
          <a:lstStyle/>
          <a:p>
            <a:pPr algn="ctr"/>
            <a:r>
              <a:rPr sz="1200" b="0">
                <a:solidFill>
                  <a:schemeClr val="accent1"/>
                </a:solidFill>
              </a:rPr>
              <a:t>segment file 2</a:t>
            </a:r>
          </a:p>
        </p:txBody>
      </p:sp>
      <p:sp>
        <p:nvSpPr>
          <p:cNvPr id="9043" name="Box 531"/>
          <p:cNvSpPr/>
          <p:nvPr/>
        </p:nvSpPr>
        <p:spPr>
          <a:xfrm>
            <a:off x="7205289" y="1965960"/>
            <a:ext cx="2218883" cy="68580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44" name="Text 532"/>
          <p:cNvSpPr txBox="1"/>
          <p:nvPr/>
        </p:nvSpPr>
        <p:spPr>
          <a:xfrm>
            <a:off x="7205289" y="1965960"/>
            <a:ext cx="2218883" cy="685800"/>
          </a:xfrm>
          <a:prstGeom prst="rect">
            <a:avLst/>
          </a:prstGeom>
          <a:noFill/>
        </p:spPr>
        <p:txBody>
          <a:bodyPr wrap="square" anchor="ctr" lIns="0" rIns="0" tIns="0" bIns="0">
            <a:spAutoFit/>
          </a:bodyPr>
          <a:lstStyle/>
          <a:p>
            <a:pPr algn="ctr"/>
            <a:r>
              <a:rPr sz="1200" b="0">
                <a:solidFill>
                  <a:schemeClr val="accent1"/>
                </a:solidFill>
              </a:rPr>
              <a:t>segment file 3</a:t>
            </a:r>
          </a:p>
        </p:txBody>
      </p:sp>
      <p:sp>
        <p:nvSpPr>
          <p:cNvPr id="9045" name="Box 533"/>
          <p:cNvSpPr/>
          <p:nvPr/>
        </p:nvSpPr>
        <p:spPr>
          <a:xfrm>
            <a:off x="9424172" y="1965960"/>
            <a:ext cx="2218883" cy="68580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46" name="Text 534"/>
          <p:cNvSpPr txBox="1"/>
          <p:nvPr/>
        </p:nvSpPr>
        <p:spPr>
          <a:xfrm>
            <a:off x="9424172" y="1965960"/>
            <a:ext cx="2218883" cy="685800"/>
          </a:xfrm>
          <a:prstGeom prst="rect">
            <a:avLst/>
          </a:prstGeom>
          <a:noFill/>
        </p:spPr>
        <p:txBody>
          <a:bodyPr wrap="square" anchor="ctr" lIns="0" rIns="0" tIns="0" bIns="0">
            <a:spAutoFit/>
          </a:bodyPr>
          <a:lstStyle/>
          <a:p>
            <a:pPr algn="ctr"/>
            <a:r>
              <a:rPr sz="1200" b="0">
                <a:solidFill>
                  <a:schemeClr val="accent1"/>
                </a:solidFill>
              </a:rPr>
              <a:t>segment file 4</a:t>
            </a:r>
          </a:p>
        </p:txBody>
      </p:sp>
      <p:sp>
        <p:nvSpPr>
          <p:cNvPr id="9047" name="Text 535"/>
          <p:cNvSpPr txBox="1"/>
          <p:nvPr/>
        </p:nvSpPr>
        <p:spPr>
          <a:xfrm>
            <a:off x="548640" y="1554480"/>
            <a:ext cx="2743200" cy="320040"/>
          </a:xfrm>
          <a:prstGeom prst="rect">
            <a:avLst/>
          </a:prstGeom>
          <a:noFill/>
        </p:spPr>
        <p:txBody>
          <a:bodyPr wrap="square" anchor="t" lIns="0" rIns="0" tIns="0" bIns="0">
            <a:spAutoFit/>
          </a:bodyPr>
          <a:lstStyle/>
          <a:p>
            <a:pPr algn="l"/>
            <a:r>
              <a:rPr sz="1200" b="0">
                <a:solidFill>
                  <a:schemeClr val="accent5"/>
                </a:solidFill>
              </a:rPr>
              <a:t>start position</a:t>
            </a:r>
          </a:p>
        </p:txBody>
      </p:sp>
      <p:sp>
        <p:nvSpPr>
          <p:cNvPr id="9048" name="Text 536"/>
          <p:cNvSpPr txBox="1"/>
          <p:nvPr/>
        </p:nvSpPr>
        <p:spPr>
          <a:xfrm>
            <a:off x="8899855" y="1554480"/>
            <a:ext cx="2743200" cy="320040"/>
          </a:xfrm>
          <a:prstGeom prst="rect">
            <a:avLst/>
          </a:prstGeom>
          <a:noFill/>
        </p:spPr>
        <p:txBody>
          <a:bodyPr wrap="square" anchor="t" lIns="0" rIns="0" tIns="0" bIns="0">
            <a:spAutoFit/>
          </a:bodyPr>
          <a:lstStyle/>
          <a:p>
            <a:pPr algn="r"/>
            <a:r>
              <a:rPr sz="1200" b="1">
                <a:solidFill>
                  <a:schemeClr val="accent1"/>
                </a:solidFill>
              </a:rPr>
              <a:t>RecordingPos (live) →</a:t>
            </a:r>
          </a:p>
        </p:txBody>
      </p:sp>
      <p:sp>
        <p:nvSpPr>
          <p:cNvPr id="4" name="Path 537"/>
          <p:cNvSpPr/>
          <p:nvPr/>
        </p:nvSpPr>
        <p:spPr>
          <a:xfrm>
            <a:off x="5029200" y="2651760"/>
            <a:ext cx="6613855" cy="502920"/>
          </a:xfrm>
          <a:custGeom>
            <a:avLst/>
            <a:gdLst/>
            <a:ahLst/>
            <a:cxnLst/>
            <a:rect l="l" t="t" r="r" b="b"/>
            <a:pathLst>
              <a:path w="6613855" h="502920">
                <a:moveTo>
                  <a:pt x="0" y="0"/>
                </a:moveTo>
                <a:lnTo>
                  <a:pt x="0" y="502920"/>
                </a:lnTo>
                <a:lnTo>
                  <a:pt x="6613855" y="502920"/>
                </a:lnTo>
              </a:path>
            </a:pathLst>
          </a:custGeom>
          <a:noFill/>
          <a:ln w="22225">
            <a:solidFill>
              <a:schemeClr val="accent2"/>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9" name="Text 538"/>
          <p:cNvSpPr txBox="1"/>
          <p:nvPr/>
        </p:nvSpPr>
        <p:spPr>
          <a:xfrm>
            <a:off x="5166360" y="3200400"/>
            <a:ext cx="6400800" cy="320040"/>
          </a:xfrm>
          <a:prstGeom prst="rect">
            <a:avLst/>
          </a:prstGeom>
          <a:noFill/>
        </p:spPr>
        <p:txBody>
          <a:bodyPr wrap="square" anchor="t" lIns="0" rIns="0" tIns="0" bIns="0">
            <a:spAutoFit/>
          </a:bodyPr>
          <a:lstStyle/>
          <a:p>
            <a:pPr algn="l"/>
            <a:r>
              <a:rPr sz="1200" b="0">
                <a:solidFill>
                  <a:schemeClr val="accent2"/>
                </a:solidFill>
              </a:rPr>
              <a:t>replay(recordingId, position, length): a new session on any channel and stream</a:t>
            </a:r>
          </a:p>
        </p:txBody>
      </p:sp>
      <p:sp>
        <p:nvSpPr>
          <p:cNvPr id="9050" name="Card 539"/>
          <p:cNvSpPr/>
          <p:nvPr/>
        </p:nvSpPr>
        <p:spPr>
          <a:xfrm>
            <a:off x="548640" y="3931920"/>
            <a:ext cx="3511296" cy="2057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800" b="1" cap="none">
                <a:solidFill>
                  <a:schemeClr val="tx1"/>
                </a:solidFill>
                <a:latin typeface="+mj-lt"/>
              </a:rPr>
              <a:t>Catalog</a:t>
            </a:r>
          </a:p>
          <a:p>
            <a:pPr algn="l"/>
            <a:r>
              <a:rPr sz="1400" b="0">
                <a:solidFill>
                  <a:schemeClr val="tx1"/>
                </a:solidFill>
              </a:rPr>
              <a:t>Every recording has an id and start and stop positions. Nothing indexes by message.</a:t>
            </a:r>
          </a:p>
        </p:txBody>
      </p:sp>
      <p:sp>
        <p:nvSpPr>
          <p:cNvPr id="9051" name="Card 540"/>
          <p:cNvSpPr/>
          <p:nvPr/>
        </p:nvSpPr>
        <p:spPr>
          <a:xfrm>
            <a:off x="4338828" y="3931920"/>
            <a:ext cx="3511296" cy="2057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800" b="1" cap="none">
                <a:solidFill>
                  <a:schemeClr val="tx1"/>
                </a:solidFill>
                <a:latin typeface="+mj-lt"/>
              </a:rPr>
              <a:t>Replay</a:t>
            </a:r>
          </a:p>
          <a:p>
            <a:pPr algn="l"/>
            <a:r>
              <a:rPr sz="1400" b="0">
                <a:solidFill>
                  <a:schemeClr val="tx1"/>
                </a:solidFill>
              </a:rPr>
              <a:t>From any position, as a new session. A bounded replay of an active recording follows it live.</a:t>
            </a:r>
          </a:p>
        </p:txBody>
      </p:sp>
      <p:sp>
        <p:nvSpPr>
          <p:cNvPr id="9052" name="Card 541"/>
          <p:cNvSpPr/>
          <p:nvPr/>
        </p:nvSpPr>
        <p:spPr>
          <a:xfrm>
            <a:off x="8129016" y="3931920"/>
            <a:ext cx="3511296" cy="2057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800" b="1" cap="none">
                <a:solidFill>
                  <a:schemeClr val="tx1"/>
                </a:solidFill>
                <a:latin typeface="+mj-lt"/>
              </a:rPr>
              <a:t>Control</a:t>
            </a:r>
          </a:p>
          <a:p>
            <a:pPr algn="l"/>
            <a:r>
              <a:rPr sz="1400" b="0">
                <a:solidFill>
                  <a:schemeClr val="tx1"/>
                </a:solidFill>
              </a:rPr>
              <a:t>A request/response protocol drives it; counters expose each recording's progress.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Sequencer components</a:t>
            </a:r>
          </a:p>
        </p:txBody>
      </p:sp>
      <p:sp>
        <p:nvSpPr>
          <p:cNvPr id="3" name="Text 542"/>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The replicated state machine has no Aeron dependency</a:t>
            </a:r>
          </a:p>
        </p:txBody>
      </p:sp>
      <p:sp>
        <p:nvSpPr>
          <p:cNvPr id="9037" name="Slide number"/>
          <p:cNvSpPr txBox="1"/>
          <p:nvPr userDrawn="1"/>
        </p:nvSpPr>
        <p:spPr>
          <a:xfrm>
            <a:off x="10728655" y="6400800"/>
            <a:ext cx="914400" cy="274320"/>
          </a:xfrm>
          <a:prstGeom prst="rect">
            <a:avLst/>
          </a:prstGeom>
          <a:noFill/>
        </p:spPr>
        <p:txBody>
          <a:bodyPr wrap="none" lIns="0" tIns="0" rIns="0" bIns="0" anchor="ctr"/>
          <a:lstStyle/>
          <a:p>
            <a:pPr algn="r"/>
            <a:fld id="{21cc3a74-0f67-44c8-8068-196a87a5df16}" type="slidenum">
              <a:rPr lang="en-US" sz="1000" dirty="0">
                <a:solidFill>
                  <a:schemeClr val="accent5"/>
                </a:solidFill>
              </a:rPr>
              <a:t>37</a:t>
            </a:fld>
          </a:p>
        </p:txBody>
      </p:sp>
      <p:sp>
        <p:nvSpPr>
          <p:cNvPr id="9038" name="Card 543"/>
          <p:cNvSpPr/>
          <p:nvPr/>
        </p:nvSpPr>
        <p:spPr>
          <a:xfrm>
            <a:off x="548640" y="1691640"/>
            <a:ext cx="3511296" cy="201168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r>
              <a:rPr sz="1800" b="1" cap="none">
                <a:solidFill>
                  <a:schemeClr val="tx1"/>
                </a:solidFill>
                <a:latin typeface="+mj-lt"/>
              </a:rPr>
              <a:t>SequencerService</a:t>
            </a:r>
          </a:p>
          <a:p>
            <a:pPr algn="l">
              <a:spcAft>
                <a:spcPts val="800"/>
              </a:spcAft>
            </a:pPr>
            <a:r>
              <a:rPr sz="1300" b="0">
                <a:solidFill>
                  <a:schemeClr val="accent1"/>
                </a:solidFill>
              </a:rPr>
              <a:t>ClusteredService adapter</a:t>
            </a:r>
          </a:p>
          <a:p>
            <a:pPr algn="l"/>
            <a:r>
              <a:rPr sz="1400" b="0">
                <a:solidFill>
                  <a:schemeClr val="tx1"/>
                </a:solidFill>
              </a:rPr>
              <a:t>Decides when to call the sequencer; its queue is the frame sink. Holds no replicated state.</a:t>
            </a:r>
          </a:p>
        </p:txBody>
      </p:sp>
      <p:cxnSp>
        <p:nvCxnSpPr>
          <p:cNvPr id="9039" name="Arrow 544"/>
          <p:cNvCxnSpPr/>
          <p:nvPr/>
        </p:nvCxnSpPr>
        <p:spPr>
          <a:xfrm>
            <a:off x="4059936" y="2697480"/>
            <a:ext cx="278892"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40" name="Card 545"/>
          <p:cNvSpPr/>
          <p:nvPr/>
        </p:nvSpPr>
        <p:spPr>
          <a:xfrm>
            <a:off x="4338828" y="1691640"/>
            <a:ext cx="3511296" cy="201168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r>
              <a:rPr sz="1800" b="1" cap="none">
                <a:solidFill>
                  <a:schemeClr val="tx1"/>
                </a:solidFill>
                <a:latin typeface="+mj-lt"/>
              </a:rPr>
              <a:t>Sequencer</a:t>
            </a:r>
          </a:p>
          <a:p>
            <a:pPr algn="l">
              <a:spcAft>
                <a:spcPts val="800"/>
              </a:spcAft>
            </a:pPr>
            <a:r>
              <a:rPr sz="1300" b="0">
                <a:solidFill>
                  <a:schemeClr val="accent1"/>
                </a:solidFill>
              </a:rPr>
              <a:t>the replicated state machine</a:t>
            </a:r>
          </a:p>
          <a:p>
            <a:pPr algn="l"/>
            <a:r>
              <a:rPr sz="1400" b="0">
                <a:solidFill>
                  <a:schemeClr val="tx1"/>
                </a:solidFill>
              </a:rPr>
              <a:t>Owns globalSeqNo, gateway list, bindings, deadlines. Validates, encodes and publishes in order.</a:t>
            </a:r>
          </a:p>
        </p:txBody>
      </p:sp>
      <p:cxnSp>
        <p:nvCxnSpPr>
          <p:cNvPr id="9041" name="Arrow 546"/>
          <p:cNvCxnSpPr/>
          <p:nvPr/>
        </p:nvCxnSpPr>
        <p:spPr>
          <a:xfrm>
            <a:off x="7850124" y="2697480"/>
            <a:ext cx="278892"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42" name="Card 547"/>
          <p:cNvSpPr/>
          <p:nvPr/>
        </p:nvSpPr>
        <p:spPr>
          <a:xfrm>
            <a:off x="8129016" y="1691640"/>
            <a:ext cx="3511296" cy="201168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r>
              <a:rPr sz="1800" b="1" cap="none">
                <a:solidFill>
                  <a:schemeClr val="tx1"/>
                </a:solidFill>
                <a:latin typeface="+mj-lt"/>
              </a:rPr>
              <a:t>QueuePublisher</a:t>
            </a:r>
          </a:p>
          <a:p>
            <a:pPr algn="l">
              <a:spcAft>
                <a:spcPts val="800"/>
              </a:spcAft>
            </a:pPr>
            <a:r>
              <a:rPr sz="1300" b="0">
                <a:solidFill>
                  <a:schemeClr val="accent1"/>
                </a:solidFill>
              </a:rPr>
              <a:t>reliable, bounded offer</a:t>
            </a:r>
          </a:p>
          <a:p>
            <a:pPr algn="l"/>
            <a:r>
              <a:rPr sz="1400" b="0">
                <a:solidFill>
                  <a:schemeClr val="tx1"/>
                </a:solidFill>
              </a:rPr>
              <a:t>Retries the queue offer; watches RecordingPos; terminates the member on a stalled archive.</a:t>
            </a:r>
          </a:p>
        </p:txBody>
      </p:sp>
      <p:sp>
        <p:nvSpPr>
          <p:cNvPr id="9043" name="Card 548"/>
          <p:cNvSpPr/>
          <p:nvPr/>
        </p:nvSpPr>
        <p:spPr>
          <a:xfrm>
            <a:off x="548640" y="4023360"/>
            <a:ext cx="11094415" cy="1554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600"/>
              </a:spcAft>
            </a:pPr>
            <a:r>
              <a:rPr sz="1300" b="1">
                <a:solidFill>
                  <a:schemeClr val="bg1"/>
                </a:solidFill>
              </a:rPr>
              <a:t>S-3  Determinism</a:t>
            </a:r>
          </a:p>
          <a:p>
            <a:pPr algn="l"/>
            <a:r>
              <a:rPr sz="1700" b="0" cap="none">
                <a:solidFill>
                  <a:schemeClr val="bg1"/>
                </a:solidFill>
                <a:latin typeface="+mj-lt"/>
              </a:rPr>
              <a:t>Every reject decision and every byte of every synthesized frame is a function of the committed log alone: not node configuration, wall-clock time, local state or hash-map iteration order.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Frames created by the sequencer</a:t>
            </a:r>
          </a:p>
        </p:txBody>
      </p:sp>
      <p:sp>
        <p:nvSpPr>
          <p:cNvPr id="3" name="Text 549"/>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Four synthesized frames share the one globalSeqNo counter</a:t>
            </a:r>
          </a:p>
        </p:txBody>
      </p:sp>
      <p:sp>
        <p:nvSpPr>
          <p:cNvPr id="9038" name="Slide number"/>
          <p:cNvSpPr txBox="1"/>
          <p:nvPr userDrawn="1"/>
        </p:nvSpPr>
        <p:spPr>
          <a:xfrm>
            <a:off x="10728655" y="6400800"/>
            <a:ext cx="914400" cy="274320"/>
          </a:xfrm>
          <a:prstGeom prst="rect">
            <a:avLst/>
          </a:prstGeom>
          <a:noFill/>
        </p:spPr>
        <p:txBody>
          <a:bodyPr wrap="none" lIns="0" tIns="0" rIns="0" bIns="0" anchor="ctr"/>
          <a:lstStyle/>
          <a:p>
            <a:pPr algn="r"/>
            <a:fld id="{27f10b4a-5787-48a3-80bc-3e50ec260927}" type="slidenum">
              <a:rPr lang="en-US" sz="1000" dirty="0">
                <a:solidFill>
                  <a:schemeClr val="accent5"/>
                </a:solidFill>
              </a:rPr>
              <a:t>38</a:t>
            </a:fld>
          </a:p>
        </p:txBody>
      </p:sp>
      <p:sp>
        <p:nvSpPr>
          <p:cNvPr id="9039" name="Frame card 550"/>
          <p:cNvSpPr/>
          <p:nvPr/>
        </p:nvSpPr>
        <p:spPr>
          <a:xfrm>
            <a:off x="548640" y="1691640"/>
            <a:ext cx="5394960" cy="210312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0" name="Text 551"/>
          <p:cNvSpPr txBox="1"/>
          <p:nvPr/>
        </p:nvSpPr>
        <p:spPr>
          <a:xfrm>
            <a:off x="777240" y="1856232"/>
            <a:ext cx="4023360" cy="457200"/>
          </a:xfrm>
          <a:prstGeom prst="rect">
            <a:avLst/>
          </a:prstGeom>
          <a:noFill/>
        </p:spPr>
        <p:txBody>
          <a:bodyPr wrap="square" anchor="t" lIns="0" rIns="0" tIns="0" bIns="0">
            <a:spAutoFit/>
          </a:bodyPr>
          <a:lstStyle/>
          <a:p>
            <a:pPr algn="l"/>
            <a:r>
              <a:rPr sz="2000" b="1" cap="none">
                <a:solidFill>
                  <a:schemeClr val="tx1"/>
                </a:solidFill>
                <a:latin typeface="+mj-lt"/>
              </a:rPr>
              <a:t>ClusterHeartbeat</a:t>
            </a:r>
          </a:p>
        </p:txBody>
      </p:sp>
      <p:sp>
        <p:nvSpPr>
          <p:cNvPr id="9041" name="Text 552"/>
          <p:cNvSpPr txBox="1"/>
          <p:nvPr/>
        </p:nvSpPr>
        <p:spPr>
          <a:xfrm>
            <a:off x="4800600" y="1874520"/>
            <a:ext cx="914400" cy="411480"/>
          </a:xfrm>
          <a:prstGeom prst="rect">
            <a:avLst/>
          </a:prstGeom>
          <a:noFill/>
        </p:spPr>
        <p:txBody>
          <a:bodyPr wrap="square" anchor="t" lIns="0" rIns="0" tIns="0" bIns="0">
            <a:spAutoFit/>
          </a:bodyPr>
          <a:lstStyle/>
          <a:p>
            <a:pPr algn="r"/>
            <a:r>
              <a:rPr sz="1400" b="1">
                <a:solidFill>
                  <a:schemeClr val="accent2"/>
                </a:solidFill>
              </a:rPr>
              <a:t>104</a:t>
            </a:r>
          </a:p>
        </p:txBody>
      </p:sp>
      <p:sp>
        <p:nvSpPr>
          <p:cNvPr id="9042" name="Text 553"/>
          <p:cNvSpPr txBox="1"/>
          <p:nvPr/>
        </p:nvSpPr>
        <p:spPr>
          <a:xfrm>
            <a:off x="777240" y="2423160"/>
            <a:ext cx="4937760" cy="548640"/>
          </a:xfrm>
          <a:prstGeom prst="rect">
            <a:avLst/>
          </a:prstGeom>
          <a:noFill/>
        </p:spPr>
        <p:txBody>
          <a:bodyPr wrap="square" anchor="t" lIns="0" rIns="0" tIns="0" bIns="0">
            <a:spAutoFit/>
          </a:bodyPr>
          <a:lstStyle/>
          <a:p>
            <a:pPr algn="l"/>
            <a:r>
              <a:rPr sz="1400" b="1">
                <a:solidFill>
                  <a:schemeClr val="tx1"/>
                </a:solidFill>
              </a:rPr>
              <a:t>When  </a:t>
            </a:r>
            <a:r>
              <a:rPr sz="1400" b="0">
                <a:solidFill>
                  <a:schemeClr val="tx1"/>
                </a:solidFill>
              </a:rPr>
              <a:t>Every second, from a cluster timer.</a:t>
            </a:r>
          </a:p>
        </p:txBody>
      </p:sp>
      <p:sp>
        <p:nvSpPr>
          <p:cNvPr id="9043" name="Text 554"/>
          <p:cNvSpPr txBox="1"/>
          <p:nvPr/>
        </p:nvSpPr>
        <p:spPr>
          <a:xfrm>
            <a:off x="777240" y="2926080"/>
            <a:ext cx="4937760" cy="731520"/>
          </a:xfrm>
          <a:prstGeom prst="rect">
            <a:avLst/>
          </a:prstGeom>
          <a:noFill/>
        </p:spPr>
        <p:txBody>
          <a:bodyPr wrap="square" anchor="t" lIns="0" rIns="0" tIns="0" bIns="0">
            <a:spAutoFit/>
          </a:bodyPr>
          <a:lstStyle/>
          <a:p>
            <a:pPr algn="l"/>
            <a:r>
              <a:rPr sz="1400" b="1">
                <a:solidFill>
                  <a:schemeClr val="tx1"/>
                </a:solidFill>
              </a:rPr>
              <a:t>Why  </a:t>
            </a:r>
            <a:r>
              <a:rPr sz="1400" b="0">
                <a:solidFill>
                  <a:schemeClr val="tx1"/>
                </a:solidFill>
              </a:rPr>
              <a:t>A clock every client agrees on; keeps advancing while producers are silent.</a:t>
            </a:r>
          </a:p>
        </p:txBody>
      </p:sp>
      <p:sp>
        <p:nvSpPr>
          <p:cNvPr id="9044" name="Frame card 555"/>
          <p:cNvSpPr/>
          <p:nvPr/>
        </p:nvSpPr>
        <p:spPr>
          <a:xfrm>
            <a:off x="6245352" y="1691640"/>
            <a:ext cx="5394960" cy="210312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5" name="Text 556"/>
          <p:cNvSpPr txBox="1"/>
          <p:nvPr/>
        </p:nvSpPr>
        <p:spPr>
          <a:xfrm>
            <a:off x="6473952" y="1856232"/>
            <a:ext cx="4023360" cy="457200"/>
          </a:xfrm>
          <a:prstGeom prst="rect">
            <a:avLst/>
          </a:prstGeom>
          <a:noFill/>
        </p:spPr>
        <p:txBody>
          <a:bodyPr wrap="square" anchor="t" lIns="0" rIns="0" tIns="0" bIns="0">
            <a:spAutoFit/>
          </a:bodyPr>
          <a:lstStyle/>
          <a:p>
            <a:pPr algn="l"/>
            <a:r>
              <a:rPr sz="2000" b="1" cap="none">
                <a:solidFill>
                  <a:schemeClr val="tx1"/>
                </a:solidFill>
                <a:latin typeface="+mj-lt"/>
              </a:rPr>
              <a:t>LeadershipChanged</a:t>
            </a:r>
          </a:p>
        </p:txBody>
      </p:sp>
      <p:sp>
        <p:nvSpPr>
          <p:cNvPr id="9046" name="Text 557"/>
          <p:cNvSpPr txBox="1"/>
          <p:nvPr/>
        </p:nvSpPr>
        <p:spPr>
          <a:xfrm>
            <a:off x="10497312" y="1874520"/>
            <a:ext cx="914400" cy="411480"/>
          </a:xfrm>
          <a:prstGeom prst="rect">
            <a:avLst/>
          </a:prstGeom>
          <a:noFill/>
        </p:spPr>
        <p:txBody>
          <a:bodyPr wrap="square" anchor="t" lIns="0" rIns="0" tIns="0" bIns="0">
            <a:spAutoFit/>
          </a:bodyPr>
          <a:lstStyle/>
          <a:p>
            <a:pPr algn="r"/>
            <a:r>
              <a:rPr sz="1400" b="1">
                <a:solidFill>
                  <a:schemeClr val="accent2"/>
                </a:solidFill>
              </a:rPr>
              <a:t>105</a:t>
            </a:r>
          </a:p>
        </p:txBody>
      </p:sp>
      <p:sp>
        <p:nvSpPr>
          <p:cNvPr id="9047" name="Text 558"/>
          <p:cNvSpPr txBox="1"/>
          <p:nvPr/>
        </p:nvSpPr>
        <p:spPr>
          <a:xfrm>
            <a:off x="6473952" y="2423160"/>
            <a:ext cx="4937760" cy="548640"/>
          </a:xfrm>
          <a:prstGeom prst="rect">
            <a:avLst/>
          </a:prstGeom>
          <a:noFill/>
        </p:spPr>
        <p:txBody>
          <a:bodyPr wrap="square" anchor="t" lIns="0" rIns="0" tIns="0" bIns="0">
            <a:spAutoFit/>
          </a:bodyPr>
          <a:lstStyle/>
          <a:p>
            <a:pPr algn="l"/>
            <a:r>
              <a:rPr sz="1400" b="1">
                <a:solidFill>
                  <a:schemeClr val="tx1"/>
                </a:solidFill>
              </a:rPr>
              <a:t>When  </a:t>
            </a:r>
            <a:r>
              <a:rPr sz="1400" b="0">
                <a:solidFill>
                  <a:schemeClr val="tx1"/>
                </a:solidFill>
              </a:rPr>
              <a:t>Once per Raft term, same leader or not.</a:t>
            </a:r>
          </a:p>
        </p:txBody>
      </p:sp>
      <p:sp>
        <p:nvSpPr>
          <p:cNvPr id="9048" name="Text 559"/>
          <p:cNvSpPr txBox="1"/>
          <p:nvPr/>
        </p:nvSpPr>
        <p:spPr>
          <a:xfrm>
            <a:off x="6473952" y="2926080"/>
            <a:ext cx="4937760" cy="731520"/>
          </a:xfrm>
          <a:prstGeom prst="rect">
            <a:avLst/>
          </a:prstGeom>
          <a:noFill/>
        </p:spPr>
        <p:txBody>
          <a:bodyPr wrap="square" anchor="t" lIns="0" rIns="0" tIns="0" bIns="0">
            <a:spAutoFit/>
          </a:bodyPr>
          <a:lstStyle/>
          <a:p>
            <a:pPr algn="l"/>
            <a:r>
              <a:rPr sz="1400" b="1">
                <a:solidFill>
                  <a:schemeClr val="tx1"/>
                </a:solidFill>
              </a:rPr>
              <a:t>Why  </a:t>
            </a:r>
            <a:r>
              <a:rPr sz="1400" b="0">
                <a:solidFill>
                  <a:schemeClr val="tx1"/>
                </a:solidFill>
              </a:rPr>
              <a:t>Gates leader-only work; tells producers which ingress was lost.</a:t>
            </a:r>
          </a:p>
        </p:txBody>
      </p:sp>
      <p:sp>
        <p:nvSpPr>
          <p:cNvPr id="9049" name="Frame card 560"/>
          <p:cNvSpPr/>
          <p:nvPr/>
        </p:nvSpPr>
        <p:spPr>
          <a:xfrm>
            <a:off x="548640" y="4023360"/>
            <a:ext cx="5394960" cy="210312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0" name="Text 561"/>
          <p:cNvSpPr txBox="1"/>
          <p:nvPr/>
        </p:nvSpPr>
        <p:spPr>
          <a:xfrm>
            <a:off x="777240" y="4187952"/>
            <a:ext cx="4023360" cy="457200"/>
          </a:xfrm>
          <a:prstGeom prst="rect">
            <a:avLst/>
          </a:prstGeom>
          <a:noFill/>
        </p:spPr>
        <p:txBody>
          <a:bodyPr wrap="square" anchor="t" lIns="0" rIns="0" tIns="0" bIns="0">
            <a:spAutoFit/>
          </a:bodyPr>
          <a:lstStyle/>
          <a:p>
            <a:pPr algn="l"/>
            <a:r>
              <a:rPr sz="2000" b="1" cap="none">
                <a:solidFill>
                  <a:schemeClr val="tx1"/>
                </a:solidFill>
                <a:latin typeface="+mj-lt"/>
              </a:rPr>
              <a:t>GatewayActive</a:t>
            </a:r>
          </a:p>
        </p:txBody>
      </p:sp>
      <p:sp>
        <p:nvSpPr>
          <p:cNvPr id="9051" name="Text 562"/>
          <p:cNvSpPr txBox="1"/>
          <p:nvPr/>
        </p:nvSpPr>
        <p:spPr>
          <a:xfrm>
            <a:off x="4800600" y="4206240"/>
            <a:ext cx="914400" cy="411480"/>
          </a:xfrm>
          <a:prstGeom prst="rect">
            <a:avLst/>
          </a:prstGeom>
          <a:noFill/>
        </p:spPr>
        <p:txBody>
          <a:bodyPr wrap="square" anchor="t" lIns="0" rIns="0" tIns="0" bIns="0">
            <a:spAutoFit/>
          </a:bodyPr>
          <a:lstStyle/>
          <a:p>
            <a:pPr algn="r"/>
            <a:r>
              <a:rPr sz="1400" b="1">
                <a:solidFill>
                  <a:schemeClr val="accent2"/>
                </a:solidFill>
              </a:rPr>
              <a:t>106</a:t>
            </a:r>
          </a:p>
        </p:txBody>
      </p:sp>
      <p:sp>
        <p:nvSpPr>
          <p:cNvPr id="9052" name="Text 563"/>
          <p:cNvSpPr txBox="1"/>
          <p:nvPr/>
        </p:nvSpPr>
        <p:spPr>
          <a:xfrm>
            <a:off x="777240" y="4754880"/>
            <a:ext cx="4937760" cy="548640"/>
          </a:xfrm>
          <a:prstGeom prst="rect">
            <a:avLst/>
          </a:prstGeom>
          <a:noFill/>
        </p:spPr>
        <p:txBody>
          <a:bodyPr wrap="square" anchor="t" lIns="0" rIns="0" tIns="0" bIns="0">
            <a:spAutoFit/>
          </a:bodyPr>
          <a:lstStyle/>
          <a:p>
            <a:pPr algn="l"/>
            <a:r>
              <a:rPr sz="1400" b="1">
                <a:solidFill>
                  <a:schemeClr val="tx1"/>
                </a:solidFill>
              </a:rPr>
              <a:t>When  </a:t>
            </a:r>
            <a:r>
              <a:rPr sz="1400" b="0">
                <a:solidFill>
                  <a:schemeClr val="tx1"/>
                </a:solidFill>
              </a:rPr>
              <a:t>Bootstrap, session close, timeout, operator.</a:t>
            </a:r>
          </a:p>
        </p:txBody>
      </p:sp>
      <p:sp>
        <p:nvSpPr>
          <p:cNvPr id="9053" name="Text 564"/>
          <p:cNvSpPr txBox="1"/>
          <p:nvPr/>
        </p:nvSpPr>
        <p:spPr>
          <a:xfrm>
            <a:off x="777240" y="5257800"/>
            <a:ext cx="4937760" cy="731520"/>
          </a:xfrm>
          <a:prstGeom prst="rect">
            <a:avLst/>
          </a:prstGeom>
          <a:noFill/>
        </p:spPr>
        <p:txBody>
          <a:bodyPr wrap="square" anchor="t" lIns="0" rIns="0" tIns="0" bIns="0">
            <a:spAutoFit/>
          </a:bodyPr>
          <a:lstStyle/>
          <a:p>
            <a:pPr algn="l"/>
            <a:r>
              <a:rPr sz="1400" b="1">
                <a:solidFill>
                  <a:schemeClr val="tx1"/>
                </a:solidFill>
              </a:rPr>
              <a:t>Why  </a:t>
            </a:r>
            <a:r>
              <a:rPr sz="1400" b="0">
                <a:solidFill>
                  <a:schemeClr val="tx1"/>
                </a:solidFill>
              </a:rPr>
              <a:t>The gateway election's decision, at one position for everyone.</a:t>
            </a:r>
          </a:p>
        </p:txBody>
      </p:sp>
      <p:sp>
        <p:nvSpPr>
          <p:cNvPr id="9054" name="Frame card 565"/>
          <p:cNvSpPr/>
          <p:nvPr/>
        </p:nvSpPr>
        <p:spPr>
          <a:xfrm>
            <a:off x="6245352" y="4023360"/>
            <a:ext cx="5394960" cy="210312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5" name="Text 566"/>
          <p:cNvSpPr txBox="1"/>
          <p:nvPr/>
        </p:nvSpPr>
        <p:spPr>
          <a:xfrm>
            <a:off x="6473952" y="4187952"/>
            <a:ext cx="4023360" cy="457200"/>
          </a:xfrm>
          <a:prstGeom prst="rect">
            <a:avLst/>
          </a:prstGeom>
          <a:noFill/>
        </p:spPr>
        <p:txBody>
          <a:bodyPr wrap="square" anchor="t" lIns="0" rIns="0" tIns="0" bIns="0">
            <a:spAutoFit/>
          </a:bodyPr>
          <a:lstStyle/>
          <a:p>
            <a:pPr algn="l"/>
            <a:r>
              <a:rPr sz="2000" b="1" cap="none">
                <a:solidFill>
                  <a:schemeClr val="tx1"/>
                </a:solidFill>
                <a:latin typeface="+mj-lt"/>
              </a:rPr>
              <a:t>SnapshotStarted</a:t>
            </a:r>
          </a:p>
        </p:txBody>
      </p:sp>
      <p:sp>
        <p:nvSpPr>
          <p:cNvPr id="9056" name="Text 567"/>
          <p:cNvSpPr txBox="1"/>
          <p:nvPr/>
        </p:nvSpPr>
        <p:spPr>
          <a:xfrm>
            <a:off x="10497312" y="4206240"/>
            <a:ext cx="914400" cy="411480"/>
          </a:xfrm>
          <a:prstGeom prst="rect">
            <a:avLst/>
          </a:prstGeom>
          <a:noFill/>
        </p:spPr>
        <p:txBody>
          <a:bodyPr wrap="square" anchor="t" lIns="0" rIns="0" tIns="0" bIns="0">
            <a:spAutoFit/>
          </a:bodyPr>
          <a:lstStyle/>
          <a:p>
            <a:pPr algn="r"/>
            <a:r>
              <a:rPr sz="1400" b="1">
                <a:solidFill>
                  <a:schemeClr val="accent2"/>
                </a:solidFill>
              </a:rPr>
              <a:t>107</a:t>
            </a:r>
          </a:p>
        </p:txBody>
      </p:sp>
      <p:sp>
        <p:nvSpPr>
          <p:cNvPr id="9057" name="Text 568"/>
          <p:cNvSpPr txBox="1"/>
          <p:nvPr/>
        </p:nvSpPr>
        <p:spPr>
          <a:xfrm>
            <a:off x="6473952" y="4754880"/>
            <a:ext cx="4937760" cy="548640"/>
          </a:xfrm>
          <a:prstGeom prst="rect">
            <a:avLst/>
          </a:prstGeom>
          <a:noFill/>
        </p:spPr>
        <p:txBody>
          <a:bodyPr wrap="square" anchor="t" lIns="0" rIns="0" tIns="0" bIns="0">
            <a:spAutoFit/>
          </a:bodyPr>
          <a:lstStyle/>
          <a:p>
            <a:pPr algn="l"/>
            <a:r>
              <a:rPr sz="1400" b="1">
                <a:solidFill>
                  <a:schemeClr val="tx1"/>
                </a:solidFill>
              </a:rPr>
              <a:t>When  </a:t>
            </a:r>
            <a:r>
              <a:rPr sz="1400" b="0">
                <a:solidFill>
                  <a:schemeClr val="tx1"/>
                </a:solidFill>
              </a:rPr>
              <a:t>Operator request or policy interval.</a:t>
            </a:r>
          </a:p>
        </p:txBody>
      </p:sp>
      <p:sp>
        <p:nvSpPr>
          <p:cNvPr id="9058" name="Text 569"/>
          <p:cNvSpPr txBox="1"/>
          <p:nvPr/>
        </p:nvSpPr>
        <p:spPr>
          <a:xfrm>
            <a:off x="6473952" y="5257800"/>
            <a:ext cx="4937760" cy="731520"/>
          </a:xfrm>
          <a:prstGeom prst="rect">
            <a:avLst/>
          </a:prstGeom>
          <a:noFill/>
        </p:spPr>
        <p:txBody>
          <a:bodyPr wrap="square" anchor="t" lIns="0" rIns="0" tIns="0" bIns="0">
            <a:spAutoFit/>
          </a:bodyPr>
          <a:lstStyle/>
          <a:p>
            <a:pPr algn="l"/>
            <a:r>
              <a:rPr sz="1400" b="1">
                <a:solidFill>
                  <a:schemeClr val="tx1"/>
                </a:solidFill>
              </a:rPr>
              <a:t>Why  </a:t>
            </a:r>
            <a:r>
              <a:rPr sz="1400" b="0">
                <a:solidFill>
                  <a:schemeClr val="tx1"/>
                </a:solidFill>
              </a:rPr>
              <a:t>The cut of an application snapshot round.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The replay protocol</a:t>
            </a:r>
          </a:p>
        </p:txBody>
      </p:sp>
      <p:sp>
        <p:nvSpPr>
          <p:cNvPr id="3" name="Text 570"/>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Three node-local messages; never sequenced, never recorded</a:t>
            </a:r>
          </a:p>
        </p:txBody>
      </p:sp>
      <p:sp>
        <p:nvSpPr>
          <p:cNvPr id="9039" name="Slide number"/>
          <p:cNvSpPr txBox="1"/>
          <p:nvPr userDrawn="1"/>
        </p:nvSpPr>
        <p:spPr>
          <a:xfrm>
            <a:off x="10728655" y="6400800"/>
            <a:ext cx="914400" cy="274320"/>
          </a:xfrm>
          <a:prstGeom prst="rect">
            <a:avLst/>
          </a:prstGeom>
          <a:noFill/>
        </p:spPr>
        <p:txBody>
          <a:bodyPr wrap="none" lIns="0" tIns="0" rIns="0" bIns="0" anchor="ctr"/>
          <a:lstStyle/>
          <a:p>
            <a:pPr algn="r"/>
            <a:fld id="{6be8c147-02a7-45a3-a5d3-570c7b9c9073}" type="slidenum">
              <a:rPr lang="en-US" sz="1000" dirty="0">
                <a:solidFill>
                  <a:schemeClr val="accent5"/>
                </a:solidFill>
              </a:rPr>
              <a:t>39</a:t>
            </a:fld>
          </a:p>
        </p:txBody>
      </p:sp>
      <p:graphicFrame>
        <p:nvGraphicFramePr>
          <p:cNvPr id="9040" name="Table 571"/>
          <p:cNvGraphicFramePr>
            <a:graphicFrameLocks noGrp="1"/>
          </p:cNvGraphicFramePr>
          <p:nvPr/>
        </p:nvGraphicFramePr>
        <p:xfrm>
          <a:off x="548640" y="1691640"/>
          <a:ext cx="11091672" cy="2011680"/>
        </p:xfrm>
        <a:graphic>
          <a:graphicData uri="http://schemas.openxmlformats.org/drawingml/2006/table">
            <a:tbl>
              <a:tblPr firstRow="1">
                <a:tableStyleId>{5C22544A-7EE6-4342-B048-85BDC9FD1C3A}</a:tableStyleId>
              </a:tblPr>
              <a:tblGrid>
                <a:gridCol w="3566160"/>
                <a:gridCol w="2011680"/>
                <a:gridCol w="5513832"/>
              </a:tblGrid>
              <a:tr h="502920">
                <a:tc>
                  <a:txBody>
                    <a:bodyPr/>
                    <a:lstStyle/>
                    <a:p>
                      <a:pPr algn="l"/>
                      <a:r>
                        <a:rPr sz="1300" b="1">
                          <a:solidFill>
                            <a:schemeClr val="bg1"/>
                          </a:solidFill>
                        </a:rPr>
                        <a:t>Message</a:t>
                      </a:r>
                    </a:p>
                  </a:txBody>
                  <a:tcPr marL="91440" marR="91440" marT="45720" marB="45720" anchor="ctr">
                    <a:solidFill>
                      <a:schemeClr val="accent1"/>
                    </a:solidFill>
                  </a:tcPr>
                </a:tc>
                <a:tc>
                  <a:txBody>
                    <a:bodyPr/>
                    <a:lstStyle/>
                    <a:p>
                      <a:pPr algn="l"/>
                      <a:r>
                        <a:rPr sz="1300" b="1">
                          <a:solidFill>
                            <a:schemeClr val="bg1"/>
                          </a:solidFill>
                        </a:rPr>
                        <a:t>Direction</a:t>
                      </a:r>
                    </a:p>
                  </a:txBody>
                  <a:tcPr marL="91440" marR="91440" marT="45720" marB="45720" anchor="ctr">
                    <a:solidFill>
                      <a:schemeClr val="accent1"/>
                    </a:solidFill>
                  </a:tcPr>
                </a:tc>
                <a:tc>
                  <a:txBody>
                    <a:bodyPr/>
                    <a:lstStyle/>
                    <a:p>
                      <a:pPr algn="l"/>
                      <a:r>
                        <a:rPr sz="1300" b="1">
                          <a:solidFill>
                            <a:schemeClr val="bg1"/>
                          </a:solidFill>
                        </a:rPr>
                        <a:t>Meaning</a:t>
                      </a:r>
                    </a:p>
                  </a:txBody>
                  <a:tcPr marL="91440" marR="91440" marT="45720" marB="45720" anchor="ctr">
                    <a:solidFill>
                      <a:schemeClr val="accent1"/>
                    </a:solidFill>
                  </a:tcPr>
                </a:tc>
              </a:tr>
              <a:tr h="502920">
                <a:tc>
                  <a:txBody>
                    <a:bodyPr/>
                    <a:lstStyle/>
                    <a:p>
                      <a:pPr algn="l"/>
                      <a:r>
                        <a:rPr sz="1400" b="1">
                          <a:solidFill>
                            <a:schemeClr val="tx1"/>
                          </a:solidFill>
                        </a:rPr>
                        <a:t>ReplayRequest</a:t>
                      </a:r>
                    </a:p>
                  </a:txBody>
                  <a:tcPr marL="91440" marR="91440" marT="45720" marB="45720" anchor="ctr">
                    <a:solidFill>
                      <a:schemeClr val="bg1"/>
                    </a:solidFill>
                  </a:tcPr>
                </a:tc>
                <a:tc>
                  <a:txBody>
                    <a:bodyPr/>
                    <a:lstStyle/>
                    <a:p>
                      <a:pPr algn="l"/>
                      <a:r>
                        <a:rPr sz="1400" b="0">
                          <a:solidFill>
                            <a:schemeClr val="tx1"/>
                          </a:solidFill>
                        </a:rPr>
                        <a:t>client → replayer</a:t>
                      </a:r>
                    </a:p>
                  </a:txBody>
                  <a:tcPr marL="91440" marR="91440" marT="45720" marB="45720" anchor="ctr">
                    <a:solidFill>
                      <a:schemeClr val="bg1"/>
                    </a:solidFill>
                  </a:tcPr>
                </a:tc>
                <a:tc>
                  <a:txBody>
                    <a:bodyPr/>
                    <a:lstStyle/>
                    <a:p>
                      <a:pPr algn="l"/>
                      <a:r>
                        <a:rPr sz="1400" b="0">
                          <a:solidFill>
                            <a:schemeClr val="tx1"/>
                          </a:solidFill>
                        </a:rPr>
                        <a:t>From the start, or resume at a recording position</a:t>
                      </a:r>
                    </a:p>
                  </a:txBody>
                  <a:tcPr marL="91440" marR="91440" marT="45720" marB="45720" anchor="ctr">
                    <a:solidFill>
                      <a:schemeClr val="bg1"/>
                    </a:solidFill>
                  </a:tcPr>
                </a:tc>
              </a:tr>
              <a:tr h="502920">
                <a:tc>
                  <a:txBody>
                    <a:bodyPr/>
                    <a:lstStyle/>
                    <a:p>
                      <a:pPr algn="l"/>
                      <a:r>
                        <a:rPr sz="1400" b="1">
                          <a:solidFill>
                            <a:schemeClr val="tx1"/>
                          </a:solidFill>
                        </a:rPr>
                        <a:t>Replaying</a:t>
                      </a:r>
                    </a:p>
                  </a:txBody>
                  <a:tcPr marL="91440" marR="91440" marT="45720" marB="45720" anchor="ctr">
                    <a:solidFill>
                      <a:schemeClr val="bg2"/>
                    </a:solidFill>
                  </a:tcPr>
                </a:tc>
                <a:tc>
                  <a:txBody>
                    <a:bodyPr/>
                    <a:lstStyle/>
                    <a:p>
                      <a:pPr algn="l"/>
                      <a:r>
                        <a:rPr sz="1400" b="0">
                          <a:solidFill>
                            <a:schemeClr val="tx1"/>
                          </a:solidFill>
                        </a:rPr>
                        <a:t>replayer → client</a:t>
                      </a:r>
                    </a:p>
                  </a:txBody>
                  <a:tcPr marL="91440" marR="91440" marT="45720" marB="45720" anchor="ctr">
                    <a:solidFill>
                      <a:schemeClr val="bg2"/>
                    </a:solidFill>
                  </a:tcPr>
                </a:tc>
                <a:tc>
                  <a:txBody>
                    <a:bodyPr/>
                    <a:lstStyle/>
                    <a:p>
                      <a:pPr algn="l"/>
                      <a:r>
                        <a:rPr sz="1400" b="0">
                          <a:solidFill>
                            <a:schemeClr val="tx1"/>
                          </a:solidFill>
                        </a:rPr>
                        <a:t>Follow this replay session to catchUpPosition</a:t>
                      </a:r>
                    </a:p>
                  </a:txBody>
                  <a:tcPr marL="91440" marR="91440" marT="45720" marB="45720" anchor="ctr">
                    <a:solidFill>
                      <a:schemeClr val="bg2"/>
                    </a:solidFill>
                  </a:tcPr>
                </a:tc>
              </a:tr>
              <a:tr h="502920">
                <a:tc>
                  <a:txBody>
                    <a:bodyPr/>
                    <a:lstStyle/>
                    <a:p>
                      <a:pPr algn="l"/>
                      <a:r>
                        <a:rPr sz="1400" b="1">
                          <a:solidFill>
                            <a:schemeClr val="tx1"/>
                          </a:solidFill>
                        </a:rPr>
                        <a:t>ReplayPending</a:t>
                      </a:r>
                    </a:p>
                  </a:txBody>
                  <a:tcPr marL="91440" marR="91440" marT="45720" marB="45720" anchor="ctr">
                    <a:solidFill>
                      <a:schemeClr val="bg1"/>
                    </a:solidFill>
                  </a:tcPr>
                </a:tc>
                <a:tc>
                  <a:txBody>
                    <a:bodyPr/>
                    <a:lstStyle/>
                    <a:p>
                      <a:pPr algn="l"/>
                      <a:r>
                        <a:rPr sz="1400" b="0">
                          <a:solidFill>
                            <a:schemeClr val="tx1"/>
                          </a:solidFill>
                        </a:rPr>
                        <a:t>replayer → client</a:t>
                      </a:r>
                    </a:p>
                  </a:txBody>
                  <a:tcPr marL="91440" marR="91440" marT="45720" marB="45720" anchor="ctr">
                    <a:solidFill>
                      <a:schemeClr val="bg1"/>
                    </a:solidFill>
                  </a:tcPr>
                </a:tc>
                <a:tc>
                  <a:txBody>
                    <a:bodyPr/>
                    <a:lstStyle/>
                    <a:p>
                      <a:pPr algn="l"/>
                      <a:r>
                        <a:rPr sz="1400" b="0">
                          <a:solidFill>
                            <a:schemeClr val="tx1"/>
                          </a:solidFill>
                        </a:rPr>
                        <a:t>Not now: no free slot, or the position is not recorded yet</a:t>
                      </a:r>
                    </a:p>
                  </a:txBody>
                  <a:tcPr marL="91440" marR="91440" marT="45720" marB="45720" anchor="ctr">
                    <a:solidFill>
                      <a:schemeClr val="bg1"/>
                    </a:solidFill>
                  </a:tcPr>
                </a:tc>
              </a:tr>
            </a:tbl>
          </a:graphicData>
        </a:graphic>
      </p:graphicFrame>
      <p:sp>
        <p:nvSpPr>
          <p:cNvPr id="9041" name="Card 572"/>
          <p:cNvSpPr/>
          <p:nvPr/>
        </p:nvSpPr>
        <p:spPr>
          <a:xfrm>
            <a:off x="548640" y="3931920"/>
            <a:ext cx="11094415" cy="10515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r>
              <a:rPr sz="1400" b="1">
                <a:solidFill>
                  <a:schemeClr val="tx1"/>
                </a:solidFill>
              </a:rPr>
              <a:t>A slot lives as long as its replay's publication. </a:t>
            </a:r>
            <a:r>
              <a:rPr sz="1400" b="0">
                <a:solidFill>
                  <a:schemeClr val="tx1"/>
                </a:solidFill>
              </a:rPr>
              <a:t>The client frees it by closing its replay subscription at catchUpPosition; a client that dies frees it within the driver's 10 s liveness timeout.</a:t>
            </a:r>
          </a:p>
        </p:txBody>
      </p:sp>
      <p:sp>
        <p:nvSpPr>
          <p:cNvPr id="9042" name="Text 573"/>
          <p:cNvSpPr txBox="1"/>
          <p:nvPr/>
        </p:nvSpPr>
        <p:spPr>
          <a:xfrm>
            <a:off x="548640" y="5257800"/>
            <a:ext cx="11094415" cy="365760"/>
          </a:xfrm>
          <a:prstGeom prst="rect">
            <a:avLst/>
          </a:prstGeom>
          <a:noFill/>
        </p:spPr>
        <p:txBody>
          <a:bodyPr wrap="square" anchor="t" lIns="0" rIns="0" tIns="0" bIns="0">
            <a:spAutoFit/>
          </a:bodyPr>
          <a:lstStyle/>
          <a:p>
            <a:pPr algn="l"/>
            <a:r>
              <a:rPr sz="1300" b="0">
                <a:solidFill>
                  <a:schemeClr val="accent5"/>
                </a:solidFill>
              </a:rPr>
              <a:t>clientId comes from the client's media driver; requestId is echoed on every reply, and a client ignores replies to anything but its current request.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Replay sequence: a cold start</a:t>
            </a:r>
          </a:p>
        </p:txBody>
      </p:sp>
      <p:sp>
        <p:nvSpPr>
          <p:cNvPr id="3" name="Text 574"/>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Walk the recording to its end, then follow the queue</a:t>
            </a:r>
          </a:p>
        </p:txBody>
      </p:sp>
      <p:sp>
        <p:nvSpPr>
          <p:cNvPr id="9040" name="Slide number"/>
          <p:cNvSpPr txBox="1"/>
          <p:nvPr userDrawn="1"/>
        </p:nvSpPr>
        <p:spPr>
          <a:xfrm>
            <a:off x="10728655" y="6400800"/>
            <a:ext cx="914400" cy="274320"/>
          </a:xfrm>
          <a:prstGeom prst="rect">
            <a:avLst/>
          </a:prstGeom>
          <a:noFill/>
        </p:spPr>
        <p:txBody>
          <a:bodyPr wrap="none" lIns="0" tIns="0" rIns="0" bIns="0" anchor="ctr"/>
          <a:lstStyle/>
          <a:p>
            <a:pPr algn="r"/>
            <a:fld id="{15b0e92d-fc0d-46f4-b47e-5ddc3c931cba}" type="slidenum">
              <a:rPr lang="en-US" sz="1000" dirty="0">
                <a:solidFill>
                  <a:schemeClr val="accent5"/>
                </a:solidFill>
              </a:rPr>
              <a:t>40</a:t>
            </a:fld>
          </a:p>
        </p:txBody>
      </p:sp>
      <p:sp>
        <p:nvSpPr>
          <p:cNvPr id="9041" name="Lane 575"/>
          <p:cNvSpPr/>
          <p:nvPr/>
        </p:nvSpPr>
        <p:spPr>
          <a:xfrm>
            <a:off x="594360" y="1444752"/>
            <a:ext cx="1920240" cy="42062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Live queue</a:t>
            </a:r>
          </a:p>
          <a:p>
            <a:pPr algn="ctr"/>
            <a:r>
              <a:rPr sz="900" b="0">
                <a:solidFill>
                  <a:schemeClr val="accent5"/>
                </a:solidFill>
              </a:rPr>
              <a:t>stream 205</a:t>
            </a:r>
          </a:p>
        </p:txBody>
      </p:sp>
      <p:sp>
        <p:nvSpPr>
          <p:cNvPr id="9042" name="Lane 576"/>
          <p:cNvSpPr/>
          <p:nvPr/>
        </p:nvSpPr>
        <p:spPr>
          <a:xfrm>
            <a:off x="2788920" y="1444752"/>
            <a:ext cx="1920240" cy="420624"/>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Client</a:t>
            </a:r>
          </a:p>
          <a:p>
            <a:pPr algn="ctr"/>
            <a:r>
              <a:rPr sz="900" b="0">
                <a:solidFill>
                  <a:schemeClr val="accent5"/>
                </a:solidFill>
              </a:rPr>
              <a:t>ReplayerStreamReceiver</a:t>
            </a:r>
          </a:p>
        </p:txBody>
      </p:sp>
      <p:sp>
        <p:nvSpPr>
          <p:cNvPr id="9043" name="Lane 577"/>
          <p:cNvSpPr/>
          <p:nvPr/>
        </p:nvSpPr>
        <p:spPr>
          <a:xfrm>
            <a:off x="6720840" y="1444752"/>
            <a:ext cx="1920240" cy="420624"/>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ReplayerService</a:t>
            </a:r>
          </a:p>
          <a:p>
            <a:pPr algn="ctr"/>
            <a:r>
              <a:rPr sz="900" b="0">
                <a:solidFill>
                  <a:schemeClr val="accent5"/>
                </a:solidFill>
              </a:rPr>
              <a:t>requests 202 · replies 203</a:t>
            </a:r>
          </a:p>
        </p:txBody>
      </p:sp>
      <p:sp>
        <p:nvSpPr>
          <p:cNvPr id="9044" name="Lane 578"/>
          <p:cNvSpPr/>
          <p:nvPr/>
        </p:nvSpPr>
        <p:spPr>
          <a:xfrm>
            <a:off x="9692640" y="1444752"/>
            <a:ext cx="1920240" cy="42062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Archive</a:t>
            </a:r>
          </a:p>
          <a:p>
            <a:pPr algn="ctr"/>
            <a:r>
              <a:rPr sz="900" b="0">
                <a:solidFill>
                  <a:schemeClr val="accent5"/>
                </a:solidFill>
              </a:rPr>
              <a:t>active queue recording</a:t>
            </a:r>
          </a:p>
        </p:txBody>
      </p:sp>
      <p:cxnSp>
        <p:nvCxnSpPr>
          <p:cNvPr id="9045" name="Arrow 579"/>
          <p:cNvCxnSpPr/>
          <p:nvPr/>
        </p:nvCxnSpPr>
        <p:spPr>
          <a:xfrm>
            <a:off x="155448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46" name="Arrow 580"/>
          <p:cNvCxnSpPr/>
          <p:nvPr/>
        </p:nvCxnSpPr>
        <p:spPr>
          <a:xfrm>
            <a:off x="374904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47" name="Arrow 581"/>
          <p:cNvCxnSpPr/>
          <p:nvPr/>
        </p:nvCxnSpPr>
        <p:spPr>
          <a:xfrm>
            <a:off x="768096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48" name="Arrow 582"/>
          <p:cNvCxnSpPr/>
          <p:nvPr/>
        </p:nvCxnSpPr>
        <p:spPr>
          <a:xfrm>
            <a:off x="1065276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49" name="Arrow 583"/>
          <p:cNvCxnSpPr/>
          <p:nvPr/>
        </p:nvCxnSpPr>
        <p:spPr>
          <a:xfrm>
            <a:off x="7619695" y="1197864"/>
            <a:ext cx="32004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0" name="Text 584"/>
          <p:cNvSpPr txBox="1"/>
          <p:nvPr/>
        </p:nvSpPr>
        <p:spPr>
          <a:xfrm>
            <a:off x="8003743" y="1088136"/>
            <a:ext cx="621792" cy="219456"/>
          </a:xfrm>
          <a:prstGeom prst="rect">
            <a:avLst/>
          </a:prstGeom>
          <a:noFill/>
        </p:spPr>
        <p:txBody>
          <a:bodyPr wrap="square" anchor="ctr" lIns="0" rIns="0" tIns="0" bIns="0">
            <a:spAutoFit/>
          </a:bodyPr>
          <a:lstStyle/>
          <a:p>
            <a:pPr algn="l"/>
            <a:r>
              <a:rPr sz="1000" b="0">
                <a:solidFill>
                  <a:schemeClr val="accent5"/>
                </a:solidFill>
              </a:rPr>
              <a:t>live queue</a:t>
            </a:r>
          </a:p>
        </p:txBody>
      </p:sp>
      <p:cxnSp>
        <p:nvCxnSpPr>
          <p:cNvPr id="9051" name="Arrow 585"/>
          <p:cNvCxnSpPr/>
          <p:nvPr/>
        </p:nvCxnSpPr>
        <p:spPr>
          <a:xfrm>
            <a:off x="8625535" y="1197864"/>
            <a:ext cx="320040" cy="0"/>
          </a:xfrm>
          <a:prstGeom prst="line">
            <a:avLst/>
          </a:prstGeom>
          <a:ln w="2222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2" name="Text 586"/>
          <p:cNvSpPr txBox="1"/>
          <p:nvPr/>
        </p:nvSpPr>
        <p:spPr>
          <a:xfrm>
            <a:off x="9009583" y="1088136"/>
            <a:ext cx="621792" cy="219456"/>
          </a:xfrm>
          <a:prstGeom prst="rect">
            <a:avLst/>
          </a:prstGeom>
          <a:noFill/>
        </p:spPr>
        <p:txBody>
          <a:bodyPr wrap="square" anchor="ctr" lIns="0" rIns="0" tIns="0" bIns="0">
            <a:spAutoFit/>
          </a:bodyPr>
          <a:lstStyle/>
          <a:p>
            <a:pPr algn="l"/>
            <a:r>
              <a:rPr sz="1000" b="0">
                <a:solidFill>
                  <a:schemeClr val="accent5"/>
                </a:solidFill>
              </a:rPr>
              <a:t>replay 201</a:t>
            </a:r>
          </a:p>
        </p:txBody>
      </p:sp>
      <p:cxnSp>
        <p:nvCxnSpPr>
          <p:cNvPr id="9053" name="Arrow 587"/>
          <p:cNvCxnSpPr/>
          <p:nvPr/>
        </p:nvCxnSpPr>
        <p:spPr>
          <a:xfrm>
            <a:off x="9631375" y="1197864"/>
            <a:ext cx="32004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4" name="Text 588"/>
          <p:cNvSpPr txBox="1"/>
          <p:nvPr/>
        </p:nvSpPr>
        <p:spPr>
          <a:xfrm>
            <a:off x="10015423" y="1088136"/>
            <a:ext cx="621792" cy="219456"/>
          </a:xfrm>
          <a:prstGeom prst="rect">
            <a:avLst/>
          </a:prstGeom>
          <a:noFill/>
        </p:spPr>
        <p:txBody>
          <a:bodyPr wrap="square" anchor="ctr" lIns="0" rIns="0" tIns="0" bIns="0">
            <a:spAutoFit/>
          </a:bodyPr>
          <a:lstStyle/>
          <a:p>
            <a:pPr algn="l"/>
            <a:r>
              <a:rPr sz="1000" b="0">
                <a:solidFill>
                  <a:schemeClr val="accent5"/>
                </a:solidFill>
              </a:rPr>
              <a:t>request</a:t>
            </a:r>
          </a:p>
        </p:txBody>
      </p:sp>
      <p:cxnSp>
        <p:nvCxnSpPr>
          <p:cNvPr id="9055" name="Arrow 589"/>
          <p:cNvCxnSpPr/>
          <p:nvPr/>
        </p:nvCxnSpPr>
        <p:spPr>
          <a:xfrm>
            <a:off x="10637215" y="1197864"/>
            <a:ext cx="320040"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56" name="Text 590"/>
          <p:cNvSpPr txBox="1"/>
          <p:nvPr/>
        </p:nvSpPr>
        <p:spPr>
          <a:xfrm>
            <a:off x="11021263" y="1088136"/>
            <a:ext cx="621792" cy="219456"/>
          </a:xfrm>
          <a:prstGeom prst="rect">
            <a:avLst/>
          </a:prstGeom>
          <a:noFill/>
        </p:spPr>
        <p:txBody>
          <a:bodyPr wrap="square" anchor="ctr" lIns="0" rIns="0" tIns="0" bIns="0">
            <a:spAutoFit/>
          </a:bodyPr>
          <a:lstStyle/>
          <a:p>
            <a:pPr algn="l"/>
            <a:r>
              <a:rPr sz="1000" b="0">
                <a:solidFill>
                  <a:schemeClr val="accent5"/>
                </a:solidFill>
              </a:rPr>
              <a:t>reply</a:t>
            </a:r>
          </a:p>
        </p:txBody>
      </p:sp>
      <p:sp>
        <p:nvSpPr>
          <p:cNvPr id="9057" name="Text 591"/>
          <p:cNvSpPr txBox="1"/>
          <p:nvPr/>
        </p:nvSpPr>
        <p:spPr>
          <a:xfrm>
            <a:off x="3794760" y="1911096"/>
            <a:ext cx="3840480" cy="228600"/>
          </a:xfrm>
          <a:prstGeom prst="rect">
            <a:avLst/>
          </a:prstGeom>
          <a:noFill/>
        </p:spPr>
        <p:txBody>
          <a:bodyPr wrap="square" anchor="b" lIns="0" rIns="0" tIns="0" bIns="0">
            <a:spAutoFit/>
          </a:bodyPr>
          <a:lstStyle/>
          <a:p>
            <a:pPr algn="ctr"/>
            <a:r>
              <a:rPr sz="1100" b="0">
                <a:solidFill>
                  <a:schemeClr val="tx1"/>
                </a:solidFill>
              </a:rPr>
              <a:t>ReplayRequest(clientId, requestId 1, FROM_START)</a:t>
            </a:r>
          </a:p>
        </p:txBody>
      </p:sp>
      <p:cxnSp>
        <p:nvCxnSpPr>
          <p:cNvPr id="9058" name="Arrow 592"/>
          <p:cNvCxnSpPr/>
          <p:nvPr/>
        </p:nvCxnSpPr>
        <p:spPr>
          <a:xfrm>
            <a:off x="3749040" y="2157984"/>
            <a:ext cx="393192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9" name="Text 593"/>
          <p:cNvSpPr txBox="1"/>
          <p:nvPr/>
        </p:nvSpPr>
        <p:spPr>
          <a:xfrm>
            <a:off x="7726680" y="2203704"/>
            <a:ext cx="2880360" cy="228600"/>
          </a:xfrm>
          <a:prstGeom prst="rect">
            <a:avLst/>
          </a:prstGeom>
          <a:noFill/>
        </p:spPr>
        <p:txBody>
          <a:bodyPr wrap="square" anchor="b" lIns="0" rIns="0" tIns="0" bIns="0">
            <a:spAutoFit/>
          </a:bodyPr>
          <a:lstStyle/>
          <a:p>
            <a:pPr algn="ctr"/>
            <a:r>
              <a:rPr sz="1100" b="0">
                <a:solidFill>
                  <a:schemeClr val="tx1"/>
                </a:solidFill>
              </a:rPr>
              <a:t>startReplay(start → last recorded) · 201</a:t>
            </a:r>
          </a:p>
        </p:txBody>
      </p:sp>
      <p:cxnSp>
        <p:nvCxnSpPr>
          <p:cNvPr id="9060" name="Arrow 594"/>
          <p:cNvCxnSpPr/>
          <p:nvPr/>
        </p:nvCxnSpPr>
        <p:spPr>
          <a:xfrm>
            <a:off x="7680960" y="2450592"/>
            <a:ext cx="297180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1" name="Text 595"/>
          <p:cNvSpPr txBox="1"/>
          <p:nvPr/>
        </p:nvSpPr>
        <p:spPr>
          <a:xfrm>
            <a:off x="3794760" y="2496312"/>
            <a:ext cx="3840480" cy="228600"/>
          </a:xfrm>
          <a:prstGeom prst="rect">
            <a:avLst/>
          </a:prstGeom>
          <a:noFill/>
        </p:spPr>
        <p:txBody>
          <a:bodyPr wrap="square" anchor="b" lIns="0" rIns="0" tIns="0" bIns="0">
            <a:spAutoFit/>
          </a:bodyPr>
          <a:lstStyle/>
          <a:p>
            <a:pPr algn="ctr"/>
            <a:r>
              <a:rPr sz="1100" b="0">
                <a:solidFill>
                  <a:schemeClr val="tx1"/>
                </a:solidFill>
              </a:rPr>
              <a:t>Replaying(session, catchUpPosition = last recorded)</a:t>
            </a:r>
          </a:p>
        </p:txBody>
      </p:sp>
      <p:cxnSp>
        <p:nvCxnSpPr>
          <p:cNvPr id="9062" name="Arrow 596"/>
          <p:cNvCxnSpPr/>
          <p:nvPr/>
        </p:nvCxnSpPr>
        <p:spPr>
          <a:xfrm flipH="1">
            <a:off x="3749040" y="2743200"/>
            <a:ext cx="3931920"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63" name="Note 597"/>
          <p:cNvSpPr/>
          <p:nvPr/>
        </p:nvSpPr>
        <p:spPr>
          <a:xfrm>
            <a:off x="3822192" y="2788920"/>
            <a:ext cx="37490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64" name="Text 598"/>
          <p:cNvSpPr txBox="1"/>
          <p:nvPr/>
        </p:nvSpPr>
        <p:spPr>
          <a:xfrm>
            <a:off x="3895344" y="2788920"/>
            <a:ext cx="3602736" cy="274320"/>
          </a:xfrm>
          <a:prstGeom prst="rect">
            <a:avLst/>
          </a:prstGeom>
          <a:noFill/>
        </p:spPr>
        <p:txBody>
          <a:bodyPr wrap="square" anchor="ctr" lIns="0" rIns="0" tIns="0" bIns="0">
            <a:spAutoFit/>
          </a:bodyPr>
          <a:lstStyle/>
          <a:p>
            <a:pPr algn="l"/>
            <a:r>
              <a:rPr sz="1100" b="0">
                <a:solidFill>
                  <a:schemeClr val="tx1"/>
                </a:solidFill>
              </a:rPr>
              <a:t>subscribe to 201 for this replay session only</a:t>
            </a:r>
          </a:p>
        </p:txBody>
      </p:sp>
      <p:sp>
        <p:nvSpPr>
          <p:cNvPr id="9065" name="Text 599"/>
          <p:cNvSpPr txBox="1"/>
          <p:nvPr/>
        </p:nvSpPr>
        <p:spPr>
          <a:xfrm>
            <a:off x="3794760" y="3081528"/>
            <a:ext cx="6812280" cy="228600"/>
          </a:xfrm>
          <a:prstGeom prst="rect">
            <a:avLst/>
          </a:prstGeom>
          <a:noFill/>
        </p:spPr>
        <p:txBody>
          <a:bodyPr wrap="square" anchor="b" lIns="0" rIns="0" tIns="0" bIns="0">
            <a:spAutoFit/>
          </a:bodyPr>
          <a:lstStyle/>
          <a:p>
            <a:pPr algn="ctr"/>
            <a:r>
              <a:rPr sz="1100" b="0">
                <a:solidFill>
                  <a:schemeClr val="tx1"/>
                </a:solidFill>
              </a:rPr>
              <a:t>frame 1: first frame must be globalSeqNo 1</a:t>
            </a:r>
          </a:p>
        </p:txBody>
      </p:sp>
      <p:cxnSp>
        <p:nvCxnSpPr>
          <p:cNvPr id="9066" name="Arrow 600"/>
          <p:cNvCxnSpPr/>
          <p:nvPr/>
        </p:nvCxnSpPr>
        <p:spPr>
          <a:xfrm flipH="1">
            <a:off x="3749040" y="3328416"/>
            <a:ext cx="6903720" cy="0"/>
          </a:xfrm>
          <a:prstGeom prst="line">
            <a:avLst/>
          </a:prstGeom>
          <a:ln w="2222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7" name="Frame tag 601"/>
          <p:cNvSpPr/>
          <p:nvPr/>
        </p:nvSpPr>
        <p:spPr>
          <a:xfrm>
            <a:off x="548640" y="3438144"/>
            <a:ext cx="566928" cy="21945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chemeClr val="tx1"/>
                </a:solidFill>
              </a:rPr>
              <a:t>LOOP</a:t>
            </a:r>
          </a:p>
        </p:txBody>
      </p:sp>
      <p:sp>
        <p:nvSpPr>
          <p:cNvPr id="9068" name="Frame guard 602"/>
          <p:cNvSpPr/>
          <p:nvPr/>
        </p:nvSpPr>
        <p:spPr>
          <a:xfrm>
            <a:off x="1152144" y="3438144"/>
            <a:ext cx="3138221" cy="2194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9" name="Text 603"/>
          <p:cNvSpPr txBox="1"/>
          <p:nvPr/>
        </p:nvSpPr>
        <p:spPr>
          <a:xfrm>
            <a:off x="1207008" y="3438144"/>
            <a:ext cx="3028493" cy="219456"/>
          </a:xfrm>
          <a:prstGeom prst="rect">
            <a:avLst/>
          </a:prstGeom>
          <a:noFill/>
        </p:spPr>
        <p:txBody>
          <a:bodyPr wrap="none" anchor="ctr" lIns="0" rIns="0" tIns="0" bIns="0">
            <a:spAutoFit/>
          </a:bodyPr>
          <a:lstStyle/>
          <a:p>
            <a:pPr algn="l"/>
            <a:r>
              <a:rPr sz="1000" b="0" i="1">
                <a:solidFill>
                  <a:schemeClr val="accent5"/>
                </a:solidFill>
              </a:rPr>
              <a:t>until the replay image reaches catchUpPosition</a:t>
            </a:r>
          </a:p>
        </p:txBody>
      </p:sp>
      <p:sp>
        <p:nvSpPr>
          <p:cNvPr id="9070" name="Text 604"/>
          <p:cNvSpPr txBox="1"/>
          <p:nvPr/>
        </p:nvSpPr>
        <p:spPr>
          <a:xfrm>
            <a:off x="3794760" y="3621024"/>
            <a:ext cx="6812280" cy="228600"/>
          </a:xfrm>
          <a:prstGeom prst="rect">
            <a:avLst/>
          </a:prstGeom>
          <a:noFill/>
        </p:spPr>
        <p:txBody>
          <a:bodyPr wrap="square" anchor="b" lIns="0" rIns="0" tIns="0" bIns="0">
            <a:spAutoFit/>
          </a:bodyPr>
          <a:lstStyle/>
          <a:p>
            <a:pPr algn="ctr"/>
            <a:r>
              <a:rPr sz="1100" b="0">
                <a:solidFill>
                  <a:schemeClr val="tx1"/>
                </a:solidFill>
              </a:rPr>
              <a:t>replayed frames 2, 3 … → dispatched in globalSeqNo order</a:t>
            </a:r>
          </a:p>
        </p:txBody>
      </p:sp>
      <p:cxnSp>
        <p:nvCxnSpPr>
          <p:cNvPr id="9071" name="Arrow 605"/>
          <p:cNvCxnSpPr/>
          <p:nvPr/>
        </p:nvCxnSpPr>
        <p:spPr>
          <a:xfrm flipH="1">
            <a:off x="3749040" y="3867912"/>
            <a:ext cx="6903720" cy="0"/>
          </a:xfrm>
          <a:prstGeom prst="line">
            <a:avLst/>
          </a:prstGeom>
          <a:ln w="2222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2" name="Text 606"/>
          <p:cNvSpPr txBox="1"/>
          <p:nvPr/>
        </p:nvSpPr>
        <p:spPr>
          <a:xfrm>
            <a:off x="1600200" y="3913632"/>
            <a:ext cx="2103120" cy="228600"/>
          </a:xfrm>
          <a:prstGeom prst="rect">
            <a:avLst/>
          </a:prstGeom>
          <a:noFill/>
        </p:spPr>
        <p:txBody>
          <a:bodyPr wrap="square" anchor="b" lIns="0" rIns="0" tIns="0" bIns="0">
            <a:spAutoFit/>
          </a:bodyPr>
          <a:lstStyle/>
          <a:p>
            <a:pPr algn="ctr"/>
            <a:r>
              <a:rPr sz="1100" b="0">
                <a:solidFill>
                  <a:schemeClr val="tx1"/>
                </a:solidFill>
              </a:rPr>
              <a:t>frames past the end → retained</a:t>
            </a:r>
          </a:p>
        </p:txBody>
      </p:sp>
      <p:cxnSp>
        <p:nvCxnSpPr>
          <p:cNvPr id="9073" name="Arrow 607"/>
          <p:cNvCxnSpPr/>
          <p:nvPr/>
        </p:nvCxnSpPr>
        <p:spPr>
          <a:xfrm>
            <a:off x="1554480" y="4160520"/>
            <a:ext cx="219456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4" name="Frame 608"/>
          <p:cNvSpPr/>
          <p:nvPr/>
        </p:nvSpPr>
        <p:spPr>
          <a:xfrm>
            <a:off x="548640" y="3438144"/>
            <a:ext cx="11094415" cy="832104"/>
          </a:xfrm>
          <a:prstGeom prst="rect">
            <a:avLst/>
          </a:prstGeom>
          <a:noFill/>
          <a:ln w="12700">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5" name="Note 609"/>
          <p:cNvSpPr/>
          <p:nvPr/>
        </p:nvSpPr>
        <p:spPr>
          <a:xfrm>
            <a:off x="3822192" y="4315968"/>
            <a:ext cx="37490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76" name="Text 610"/>
          <p:cNvSpPr txBox="1"/>
          <p:nvPr/>
        </p:nvSpPr>
        <p:spPr>
          <a:xfrm>
            <a:off x="3895344" y="4315968"/>
            <a:ext cx="3602736" cy="274320"/>
          </a:xfrm>
          <a:prstGeom prst="rect">
            <a:avLst/>
          </a:prstGeom>
          <a:noFill/>
        </p:spPr>
        <p:txBody>
          <a:bodyPr wrap="square" anchor="ctr" lIns="0" rIns="0" tIns="0" bIns="0">
            <a:spAutoFit/>
          </a:bodyPr>
          <a:lstStyle/>
          <a:p>
            <a:pPr algn="l"/>
            <a:r>
              <a:rPr sz="1100" b="0">
                <a:solidFill>
                  <a:schemeClr val="tx1"/>
                </a:solidFill>
              </a:rPr>
              <a:t>position ≥ catchUpPosition: close the replay</a:t>
            </a:r>
          </a:p>
        </p:txBody>
      </p:sp>
      <p:sp>
        <p:nvSpPr>
          <p:cNvPr id="9077" name="Note 611"/>
          <p:cNvSpPr/>
          <p:nvPr/>
        </p:nvSpPr>
        <p:spPr>
          <a:xfrm>
            <a:off x="7754112" y="4608576"/>
            <a:ext cx="37490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78" name="Text 612"/>
          <p:cNvSpPr txBox="1"/>
          <p:nvPr/>
        </p:nvSpPr>
        <p:spPr>
          <a:xfrm>
            <a:off x="7827264" y="4608576"/>
            <a:ext cx="3602736" cy="274320"/>
          </a:xfrm>
          <a:prstGeom prst="rect">
            <a:avLst/>
          </a:prstGeom>
          <a:noFill/>
        </p:spPr>
        <p:txBody>
          <a:bodyPr wrap="square" anchor="ctr" lIns="0" rIns="0" tIns="0" bIns="0">
            <a:spAutoFit/>
          </a:bodyPr>
          <a:lstStyle/>
          <a:p>
            <a:pPr algn="l"/>
            <a:r>
              <a:rPr sz="1100" b="0">
                <a:solidFill>
                  <a:schemeClr val="tx1"/>
                </a:solidFill>
              </a:rPr>
              <a:t>publication gone → slot freed for the next request</a:t>
            </a:r>
          </a:p>
        </p:txBody>
      </p:sp>
      <p:sp>
        <p:nvSpPr>
          <p:cNvPr id="9079" name="Note 613"/>
          <p:cNvSpPr/>
          <p:nvPr/>
        </p:nvSpPr>
        <p:spPr>
          <a:xfrm>
            <a:off x="3822192" y="4901184"/>
            <a:ext cx="3749040"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80" name="Text 614"/>
          <p:cNvSpPr txBox="1"/>
          <p:nvPr/>
        </p:nvSpPr>
        <p:spPr>
          <a:xfrm>
            <a:off x="3895344" y="4901184"/>
            <a:ext cx="3602736" cy="274320"/>
          </a:xfrm>
          <a:prstGeom prst="rect">
            <a:avLst/>
          </a:prstGeom>
          <a:noFill/>
        </p:spPr>
        <p:txBody>
          <a:bodyPr wrap="square" anchor="ctr" lIns="0" rIns="0" tIns="0" bIns="0">
            <a:spAutoFit/>
          </a:bodyPr>
          <a:lstStyle/>
          <a:p>
            <a:pPr algn="l"/>
            <a:r>
              <a:rPr sz="1100" b="0">
                <a:solidFill>
                  <a:schemeClr val="tx1"/>
                </a:solidFill>
              </a:rPr>
              <a:t>drain the FIFO → isCaughtUp(), onCaughtUp</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Replay sequence: a gap</a:t>
            </a:r>
          </a:p>
        </p:txBody>
      </p:sp>
      <p:sp>
        <p:nvSpPr>
          <p:cNvPr id="3" name="Text 615"/>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Resume at the last delivered frame; the anchor checks the recording</a:t>
            </a:r>
          </a:p>
        </p:txBody>
      </p:sp>
      <p:sp>
        <p:nvSpPr>
          <p:cNvPr id="9041" name="Slide number"/>
          <p:cNvSpPr txBox="1"/>
          <p:nvPr userDrawn="1"/>
        </p:nvSpPr>
        <p:spPr>
          <a:xfrm>
            <a:off x="10728655" y="6400800"/>
            <a:ext cx="914400" cy="274320"/>
          </a:xfrm>
          <a:prstGeom prst="rect">
            <a:avLst/>
          </a:prstGeom>
          <a:noFill/>
        </p:spPr>
        <p:txBody>
          <a:bodyPr wrap="none" lIns="0" tIns="0" rIns="0" bIns="0" anchor="ctr"/>
          <a:lstStyle/>
          <a:p>
            <a:pPr algn="r"/>
            <a:fld id="{5ebf1210-6e5f-4283-8742-d2596202b71d}" type="slidenum">
              <a:rPr lang="en-US" sz="1000" dirty="0">
                <a:solidFill>
                  <a:schemeClr val="accent5"/>
                </a:solidFill>
              </a:rPr>
              <a:t>41</a:t>
            </a:fld>
          </a:p>
        </p:txBody>
      </p:sp>
      <p:sp>
        <p:nvSpPr>
          <p:cNvPr id="9042" name="Lane 616"/>
          <p:cNvSpPr/>
          <p:nvPr/>
        </p:nvSpPr>
        <p:spPr>
          <a:xfrm>
            <a:off x="594360" y="1444752"/>
            <a:ext cx="1920240" cy="42062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Live queue</a:t>
            </a:r>
          </a:p>
          <a:p>
            <a:pPr algn="ctr"/>
            <a:r>
              <a:rPr sz="900" b="0">
                <a:solidFill>
                  <a:schemeClr val="accent5"/>
                </a:solidFill>
              </a:rPr>
              <a:t>stream 205</a:t>
            </a:r>
          </a:p>
        </p:txBody>
      </p:sp>
      <p:sp>
        <p:nvSpPr>
          <p:cNvPr id="9043" name="Lane 617"/>
          <p:cNvSpPr/>
          <p:nvPr/>
        </p:nvSpPr>
        <p:spPr>
          <a:xfrm>
            <a:off x="2788920" y="1444752"/>
            <a:ext cx="1920240" cy="420624"/>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Client</a:t>
            </a:r>
          </a:p>
          <a:p>
            <a:pPr algn="ctr"/>
            <a:r>
              <a:rPr sz="900" b="0">
                <a:solidFill>
                  <a:schemeClr val="accent5"/>
                </a:solidFill>
              </a:rPr>
              <a:t>ReplayerStreamReceiver</a:t>
            </a:r>
          </a:p>
        </p:txBody>
      </p:sp>
      <p:sp>
        <p:nvSpPr>
          <p:cNvPr id="9044" name="Lane 618"/>
          <p:cNvSpPr/>
          <p:nvPr/>
        </p:nvSpPr>
        <p:spPr>
          <a:xfrm>
            <a:off x="6720840" y="1444752"/>
            <a:ext cx="1920240" cy="420624"/>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ReplayerService</a:t>
            </a:r>
          </a:p>
          <a:p>
            <a:pPr algn="ctr"/>
            <a:r>
              <a:rPr sz="900" b="0">
                <a:solidFill>
                  <a:schemeClr val="accent5"/>
                </a:solidFill>
              </a:rPr>
              <a:t>requests 202 · replies 203</a:t>
            </a:r>
          </a:p>
        </p:txBody>
      </p:sp>
      <p:sp>
        <p:nvSpPr>
          <p:cNvPr id="9045" name="Lane 619"/>
          <p:cNvSpPr/>
          <p:nvPr/>
        </p:nvSpPr>
        <p:spPr>
          <a:xfrm>
            <a:off x="9692640" y="1444752"/>
            <a:ext cx="1920240" cy="42062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Archive</a:t>
            </a:r>
          </a:p>
          <a:p>
            <a:pPr algn="ctr"/>
            <a:r>
              <a:rPr sz="900" b="0">
                <a:solidFill>
                  <a:schemeClr val="accent5"/>
                </a:solidFill>
              </a:rPr>
              <a:t>active queue recording</a:t>
            </a:r>
          </a:p>
        </p:txBody>
      </p:sp>
      <p:cxnSp>
        <p:nvCxnSpPr>
          <p:cNvPr id="9046" name="Arrow 620"/>
          <p:cNvCxnSpPr/>
          <p:nvPr/>
        </p:nvCxnSpPr>
        <p:spPr>
          <a:xfrm>
            <a:off x="155448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47" name="Arrow 621"/>
          <p:cNvCxnSpPr/>
          <p:nvPr/>
        </p:nvCxnSpPr>
        <p:spPr>
          <a:xfrm>
            <a:off x="374904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48" name="Arrow 622"/>
          <p:cNvCxnSpPr/>
          <p:nvPr/>
        </p:nvCxnSpPr>
        <p:spPr>
          <a:xfrm>
            <a:off x="768096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49" name="Arrow 623"/>
          <p:cNvCxnSpPr/>
          <p:nvPr/>
        </p:nvCxnSpPr>
        <p:spPr>
          <a:xfrm>
            <a:off x="1065276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0" name="Arrow 624"/>
          <p:cNvCxnSpPr/>
          <p:nvPr/>
        </p:nvCxnSpPr>
        <p:spPr>
          <a:xfrm>
            <a:off x="7619695" y="1197864"/>
            <a:ext cx="32004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1" name="Text 625"/>
          <p:cNvSpPr txBox="1"/>
          <p:nvPr/>
        </p:nvSpPr>
        <p:spPr>
          <a:xfrm>
            <a:off x="8003743" y="1088136"/>
            <a:ext cx="621792" cy="219456"/>
          </a:xfrm>
          <a:prstGeom prst="rect">
            <a:avLst/>
          </a:prstGeom>
          <a:noFill/>
        </p:spPr>
        <p:txBody>
          <a:bodyPr wrap="square" anchor="ctr" lIns="0" rIns="0" tIns="0" bIns="0">
            <a:spAutoFit/>
          </a:bodyPr>
          <a:lstStyle/>
          <a:p>
            <a:pPr algn="l"/>
            <a:r>
              <a:rPr sz="1000" b="0">
                <a:solidFill>
                  <a:schemeClr val="accent5"/>
                </a:solidFill>
              </a:rPr>
              <a:t>live queue</a:t>
            </a:r>
          </a:p>
        </p:txBody>
      </p:sp>
      <p:cxnSp>
        <p:nvCxnSpPr>
          <p:cNvPr id="9052" name="Arrow 626"/>
          <p:cNvCxnSpPr/>
          <p:nvPr/>
        </p:nvCxnSpPr>
        <p:spPr>
          <a:xfrm>
            <a:off x="8625535" y="1197864"/>
            <a:ext cx="320040" cy="0"/>
          </a:xfrm>
          <a:prstGeom prst="line">
            <a:avLst/>
          </a:prstGeom>
          <a:ln w="2222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3" name="Text 627"/>
          <p:cNvSpPr txBox="1"/>
          <p:nvPr/>
        </p:nvSpPr>
        <p:spPr>
          <a:xfrm>
            <a:off x="9009583" y="1088136"/>
            <a:ext cx="621792" cy="219456"/>
          </a:xfrm>
          <a:prstGeom prst="rect">
            <a:avLst/>
          </a:prstGeom>
          <a:noFill/>
        </p:spPr>
        <p:txBody>
          <a:bodyPr wrap="square" anchor="ctr" lIns="0" rIns="0" tIns="0" bIns="0">
            <a:spAutoFit/>
          </a:bodyPr>
          <a:lstStyle/>
          <a:p>
            <a:pPr algn="l"/>
            <a:r>
              <a:rPr sz="1000" b="0">
                <a:solidFill>
                  <a:schemeClr val="accent5"/>
                </a:solidFill>
              </a:rPr>
              <a:t>replay 201</a:t>
            </a:r>
          </a:p>
        </p:txBody>
      </p:sp>
      <p:cxnSp>
        <p:nvCxnSpPr>
          <p:cNvPr id="9054" name="Arrow 628"/>
          <p:cNvCxnSpPr/>
          <p:nvPr/>
        </p:nvCxnSpPr>
        <p:spPr>
          <a:xfrm>
            <a:off x="9631375" y="1197864"/>
            <a:ext cx="32004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5" name="Text 629"/>
          <p:cNvSpPr txBox="1"/>
          <p:nvPr/>
        </p:nvSpPr>
        <p:spPr>
          <a:xfrm>
            <a:off x="10015423" y="1088136"/>
            <a:ext cx="621792" cy="219456"/>
          </a:xfrm>
          <a:prstGeom prst="rect">
            <a:avLst/>
          </a:prstGeom>
          <a:noFill/>
        </p:spPr>
        <p:txBody>
          <a:bodyPr wrap="square" anchor="ctr" lIns="0" rIns="0" tIns="0" bIns="0">
            <a:spAutoFit/>
          </a:bodyPr>
          <a:lstStyle/>
          <a:p>
            <a:pPr algn="l"/>
            <a:r>
              <a:rPr sz="1000" b="0">
                <a:solidFill>
                  <a:schemeClr val="accent5"/>
                </a:solidFill>
              </a:rPr>
              <a:t>request</a:t>
            </a:r>
          </a:p>
        </p:txBody>
      </p:sp>
      <p:cxnSp>
        <p:nvCxnSpPr>
          <p:cNvPr id="9056" name="Arrow 630"/>
          <p:cNvCxnSpPr/>
          <p:nvPr/>
        </p:nvCxnSpPr>
        <p:spPr>
          <a:xfrm>
            <a:off x="10637215" y="1197864"/>
            <a:ext cx="320040"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57" name="Text 631"/>
          <p:cNvSpPr txBox="1"/>
          <p:nvPr/>
        </p:nvSpPr>
        <p:spPr>
          <a:xfrm>
            <a:off x="11021263" y="1088136"/>
            <a:ext cx="621792" cy="219456"/>
          </a:xfrm>
          <a:prstGeom prst="rect">
            <a:avLst/>
          </a:prstGeom>
          <a:noFill/>
        </p:spPr>
        <p:txBody>
          <a:bodyPr wrap="square" anchor="ctr" lIns="0" rIns="0" tIns="0" bIns="0">
            <a:spAutoFit/>
          </a:bodyPr>
          <a:lstStyle/>
          <a:p>
            <a:pPr algn="l"/>
            <a:r>
              <a:rPr sz="1000" b="0">
                <a:solidFill>
                  <a:schemeClr val="accent5"/>
                </a:solidFill>
              </a:rPr>
              <a:t>reply</a:t>
            </a:r>
          </a:p>
        </p:txBody>
      </p:sp>
      <p:sp>
        <p:nvSpPr>
          <p:cNvPr id="9058" name="Text 632"/>
          <p:cNvSpPr txBox="1"/>
          <p:nvPr/>
        </p:nvSpPr>
        <p:spPr>
          <a:xfrm>
            <a:off x="1600200" y="1911096"/>
            <a:ext cx="2103120" cy="228600"/>
          </a:xfrm>
          <a:prstGeom prst="rect">
            <a:avLst/>
          </a:prstGeom>
          <a:noFill/>
        </p:spPr>
        <p:txBody>
          <a:bodyPr wrap="square" anchor="b" lIns="0" rIns="0" tIns="0" bIns="0">
            <a:spAutoFit/>
          </a:bodyPr>
          <a:lstStyle/>
          <a:p>
            <a:pPr algn="ctr"/>
            <a:r>
              <a:rPr sz="1100" b="0">
                <a:solidFill>
                  <a:schemeClr val="tx1"/>
                </a:solidFill>
              </a:rPr>
              <a:t>104 → dispatched</a:t>
            </a:r>
          </a:p>
        </p:txBody>
      </p:sp>
      <p:cxnSp>
        <p:nvCxnSpPr>
          <p:cNvPr id="9059" name="Arrow 633"/>
          <p:cNvCxnSpPr/>
          <p:nvPr/>
        </p:nvCxnSpPr>
        <p:spPr>
          <a:xfrm>
            <a:off x="1554480" y="2157984"/>
            <a:ext cx="219456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0" name="Text 634"/>
          <p:cNvSpPr txBox="1"/>
          <p:nvPr/>
        </p:nvSpPr>
        <p:spPr>
          <a:xfrm>
            <a:off x="1600200" y="2203704"/>
            <a:ext cx="2103120" cy="228600"/>
          </a:xfrm>
          <a:prstGeom prst="rect">
            <a:avLst/>
          </a:prstGeom>
          <a:noFill/>
        </p:spPr>
        <p:txBody>
          <a:bodyPr wrap="square" anchor="b" lIns="0" rIns="0" tIns="0" bIns="0">
            <a:spAutoFit/>
          </a:bodyPr>
          <a:lstStyle/>
          <a:p>
            <a:pPr algn="ctr"/>
            <a:r>
              <a:rPr sz="1100" b="0">
                <a:solidFill>
                  <a:schemeClr val="accent2"/>
                </a:solidFill>
              </a:rPr>
              <a:t>105</a:t>
            </a:r>
          </a:p>
        </p:txBody>
      </p:sp>
      <p:cxnSp>
        <p:nvCxnSpPr>
          <p:cNvPr id="9061" name="Arrow 635"/>
          <p:cNvCxnSpPr/>
          <p:nvPr/>
        </p:nvCxnSpPr>
        <p:spPr>
          <a:xfrm>
            <a:off x="1554480" y="2450592"/>
            <a:ext cx="1360627" cy="0"/>
          </a:xfrm>
          <a:prstGeom prst="line">
            <a:avLst/>
          </a:prstGeom>
          <a:ln w="22225">
            <a:solidFill>
              <a:schemeClr val="accent2"/>
            </a:solidFill>
          </a:ln>
        </p:spPr>
        <p:style>
          <a:lnRef idx="2">
            <a:schemeClr val="accent1"/>
          </a:lnRef>
          <a:fillRef idx="0">
            <a:schemeClr val="accent1"/>
          </a:fillRef>
          <a:effectRef idx="1">
            <a:schemeClr val="accent1"/>
          </a:effectRef>
          <a:fontRef idx="minor">
            <a:schemeClr val="tx1"/>
          </a:fontRef>
        </p:style>
      </p:cxnSp>
      <p:sp>
        <p:nvSpPr>
          <p:cNvPr id="9062" name="Text 636"/>
          <p:cNvSpPr txBox="1"/>
          <p:nvPr/>
        </p:nvSpPr>
        <p:spPr>
          <a:xfrm>
            <a:off x="2823667" y="2322576"/>
            <a:ext cx="182880" cy="256032"/>
          </a:xfrm>
          <a:prstGeom prst="rect">
            <a:avLst/>
          </a:prstGeom>
          <a:noFill/>
        </p:spPr>
        <p:txBody>
          <a:bodyPr wrap="square" anchor="ctr" lIns="0" rIns="0" tIns="0" bIns="0">
            <a:spAutoFit/>
          </a:bodyPr>
          <a:lstStyle/>
          <a:p>
            <a:pPr algn="ctr"/>
            <a:r>
              <a:rPr sz="1600" b="1">
                <a:solidFill>
                  <a:schemeClr val="accent2"/>
                </a:solidFill>
              </a:rPr>
              <a:t>×</a:t>
            </a:r>
          </a:p>
        </p:txBody>
      </p:sp>
      <p:sp>
        <p:nvSpPr>
          <p:cNvPr id="9063" name="Text 637"/>
          <p:cNvSpPr txBox="1"/>
          <p:nvPr/>
        </p:nvSpPr>
        <p:spPr>
          <a:xfrm>
            <a:off x="1600200" y="2496312"/>
            <a:ext cx="2103120" cy="228600"/>
          </a:xfrm>
          <a:prstGeom prst="rect">
            <a:avLst/>
          </a:prstGeom>
          <a:noFill/>
        </p:spPr>
        <p:txBody>
          <a:bodyPr wrap="square" anchor="b" lIns="0" rIns="0" tIns="0" bIns="0">
            <a:spAutoFit/>
          </a:bodyPr>
          <a:lstStyle/>
          <a:p>
            <a:pPr algn="ctr"/>
            <a:r>
              <a:rPr sz="1100" b="0">
                <a:solidFill>
                  <a:schemeClr val="tx1"/>
                </a:solidFill>
              </a:rPr>
              <a:t>106, ahead of 105</a:t>
            </a:r>
          </a:p>
        </p:txBody>
      </p:sp>
      <p:cxnSp>
        <p:nvCxnSpPr>
          <p:cNvPr id="9064" name="Arrow 638"/>
          <p:cNvCxnSpPr/>
          <p:nvPr/>
        </p:nvCxnSpPr>
        <p:spPr>
          <a:xfrm>
            <a:off x="1554480" y="2743200"/>
            <a:ext cx="219456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5" name="Note 639"/>
          <p:cNvSpPr/>
          <p:nvPr/>
        </p:nvSpPr>
        <p:spPr>
          <a:xfrm>
            <a:off x="3822192" y="2788920"/>
            <a:ext cx="37490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66" name="Text 640"/>
          <p:cNvSpPr txBox="1"/>
          <p:nvPr/>
        </p:nvSpPr>
        <p:spPr>
          <a:xfrm>
            <a:off x="3895344" y="2788920"/>
            <a:ext cx="3602736" cy="274320"/>
          </a:xfrm>
          <a:prstGeom prst="rect">
            <a:avLst/>
          </a:prstGeom>
          <a:noFill/>
        </p:spPr>
        <p:txBody>
          <a:bodyPr wrap="square" anchor="ctr" lIns="0" rIns="0" tIns="0" bIns="0">
            <a:spAutoFit/>
          </a:bodyPr>
          <a:lstStyle/>
          <a:p>
            <a:pPr algn="l"/>
            <a:r>
              <a:rPr sz="1100" b="0">
                <a:solidFill>
                  <a:schemeClr val="tx1"/>
                </a:solidFill>
              </a:rPr>
              <a:t>isCaughtUp() cleared; 106 retained</a:t>
            </a:r>
          </a:p>
        </p:txBody>
      </p:sp>
      <p:sp>
        <p:nvSpPr>
          <p:cNvPr id="9067" name="Text 641"/>
          <p:cNvSpPr txBox="1"/>
          <p:nvPr/>
        </p:nvSpPr>
        <p:spPr>
          <a:xfrm>
            <a:off x="3794760" y="3081528"/>
            <a:ext cx="3840480" cy="228600"/>
          </a:xfrm>
          <a:prstGeom prst="rect">
            <a:avLst/>
          </a:prstGeom>
          <a:noFill/>
        </p:spPr>
        <p:txBody>
          <a:bodyPr wrap="square" anchor="b" lIns="0" rIns="0" tIns="0" bIns="0">
            <a:spAutoFit/>
          </a:bodyPr>
          <a:lstStyle/>
          <a:p>
            <a:pPr algn="ctr"/>
            <a:r>
              <a:rPr sz="1100" b="0">
                <a:solidFill>
                  <a:schemeClr val="tx1"/>
                </a:solidFill>
              </a:rPr>
              <a:t>ReplayRequest(requestId k, fromPosition = end of 104)</a:t>
            </a:r>
          </a:p>
        </p:txBody>
      </p:sp>
      <p:cxnSp>
        <p:nvCxnSpPr>
          <p:cNvPr id="9068" name="Arrow 642"/>
          <p:cNvCxnSpPr/>
          <p:nvPr/>
        </p:nvCxnSpPr>
        <p:spPr>
          <a:xfrm>
            <a:off x="3749040" y="3328416"/>
            <a:ext cx="393192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9" name="Text 643"/>
          <p:cNvSpPr txBox="1"/>
          <p:nvPr/>
        </p:nvSpPr>
        <p:spPr>
          <a:xfrm>
            <a:off x="7726680" y="3374136"/>
            <a:ext cx="2880360" cy="228600"/>
          </a:xfrm>
          <a:prstGeom prst="rect">
            <a:avLst/>
          </a:prstGeom>
          <a:noFill/>
        </p:spPr>
        <p:txBody>
          <a:bodyPr wrap="square" anchor="b" lIns="0" rIns="0" tIns="0" bIns="0">
            <a:spAutoFit/>
          </a:bodyPr>
          <a:lstStyle/>
          <a:p>
            <a:pPr algn="ctr"/>
            <a:r>
              <a:rPr sz="1100" b="0">
                <a:solidFill>
                  <a:schemeClr val="tx1"/>
                </a:solidFill>
              </a:rPr>
              <a:t>startReplay(fromPosition → last recorded)</a:t>
            </a:r>
          </a:p>
        </p:txBody>
      </p:sp>
      <p:cxnSp>
        <p:nvCxnSpPr>
          <p:cNvPr id="9070" name="Arrow 644"/>
          <p:cNvCxnSpPr/>
          <p:nvPr/>
        </p:nvCxnSpPr>
        <p:spPr>
          <a:xfrm>
            <a:off x="7680960" y="3621024"/>
            <a:ext cx="297180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1" name="Text 645"/>
          <p:cNvSpPr txBox="1"/>
          <p:nvPr/>
        </p:nvSpPr>
        <p:spPr>
          <a:xfrm>
            <a:off x="3794760" y="3666744"/>
            <a:ext cx="3840480" cy="228600"/>
          </a:xfrm>
          <a:prstGeom prst="rect">
            <a:avLst/>
          </a:prstGeom>
          <a:noFill/>
        </p:spPr>
        <p:txBody>
          <a:bodyPr wrap="square" anchor="b" lIns="0" rIns="0" tIns="0" bIns="0">
            <a:spAutoFit/>
          </a:bodyPr>
          <a:lstStyle/>
          <a:p>
            <a:pPr algn="ctr"/>
            <a:r>
              <a:rPr sz="1100" b="0">
                <a:solidFill>
                  <a:schemeClr val="tx1"/>
                </a:solidFill>
              </a:rPr>
              <a:t>Replaying(session, catchUpPosition = last recorded)</a:t>
            </a:r>
          </a:p>
        </p:txBody>
      </p:sp>
      <p:cxnSp>
        <p:nvCxnSpPr>
          <p:cNvPr id="9072" name="Arrow 646"/>
          <p:cNvCxnSpPr/>
          <p:nvPr/>
        </p:nvCxnSpPr>
        <p:spPr>
          <a:xfrm flipH="1">
            <a:off x="3749040" y="3913632"/>
            <a:ext cx="3931920"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73" name="Text 647"/>
          <p:cNvSpPr txBox="1"/>
          <p:nvPr/>
        </p:nvSpPr>
        <p:spPr>
          <a:xfrm>
            <a:off x="1600200" y="3959352"/>
            <a:ext cx="2103120" cy="228600"/>
          </a:xfrm>
          <a:prstGeom prst="rect">
            <a:avLst/>
          </a:prstGeom>
          <a:noFill/>
        </p:spPr>
        <p:txBody>
          <a:bodyPr wrap="square" anchor="b" lIns="0" rIns="0" tIns="0" bIns="0">
            <a:spAutoFit/>
          </a:bodyPr>
          <a:lstStyle/>
          <a:p>
            <a:pPr algn="ctr"/>
            <a:r>
              <a:rPr sz="1100" b="0">
                <a:solidFill>
                  <a:schemeClr val="tx1"/>
                </a:solidFill>
              </a:rPr>
              <a:t>107, 108 … → retained</a:t>
            </a:r>
          </a:p>
        </p:txBody>
      </p:sp>
      <p:cxnSp>
        <p:nvCxnSpPr>
          <p:cNvPr id="9074" name="Arrow 648"/>
          <p:cNvCxnSpPr/>
          <p:nvPr/>
        </p:nvCxnSpPr>
        <p:spPr>
          <a:xfrm>
            <a:off x="1554480" y="4206240"/>
            <a:ext cx="219456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5" name="Frame tag 649"/>
          <p:cNvSpPr/>
          <p:nvPr/>
        </p:nvSpPr>
        <p:spPr>
          <a:xfrm>
            <a:off x="548640" y="4315968"/>
            <a:ext cx="566928" cy="21945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chemeClr val="tx1"/>
                </a:solidFill>
              </a:rPr>
              <a:t>ALT</a:t>
            </a:r>
          </a:p>
        </p:txBody>
      </p:sp>
      <p:sp>
        <p:nvSpPr>
          <p:cNvPr id="9076" name="Frame guard 650"/>
          <p:cNvSpPr/>
          <p:nvPr/>
        </p:nvSpPr>
        <p:spPr>
          <a:xfrm>
            <a:off x="1152144" y="4315968"/>
            <a:ext cx="2940710" cy="2194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7" name="Text 651"/>
          <p:cNvSpPr txBox="1"/>
          <p:nvPr/>
        </p:nvSpPr>
        <p:spPr>
          <a:xfrm>
            <a:off x="1207008" y="4315968"/>
            <a:ext cx="2830982" cy="219456"/>
          </a:xfrm>
          <a:prstGeom prst="rect">
            <a:avLst/>
          </a:prstGeom>
          <a:noFill/>
        </p:spPr>
        <p:txBody>
          <a:bodyPr wrap="none" anchor="ctr" lIns="0" rIns="0" tIns="0" bIns="0">
            <a:spAutoFit/>
          </a:bodyPr>
          <a:lstStyle/>
          <a:p>
            <a:pPr algn="l"/>
            <a:r>
              <a:rPr sz="1000" b="0" i="1">
                <a:solidFill>
                  <a:schemeClr val="accent5"/>
                </a:solidFill>
              </a:rPr>
              <a:t>the first replayed frame is 105, the anchor</a:t>
            </a:r>
          </a:p>
        </p:txBody>
      </p:sp>
      <p:sp>
        <p:nvSpPr>
          <p:cNvPr id="9078" name="Text 652"/>
          <p:cNvSpPr txBox="1"/>
          <p:nvPr/>
        </p:nvSpPr>
        <p:spPr>
          <a:xfrm>
            <a:off x="3794760" y="4498848"/>
            <a:ext cx="6812280" cy="228600"/>
          </a:xfrm>
          <a:prstGeom prst="rect">
            <a:avLst/>
          </a:prstGeom>
          <a:noFill/>
        </p:spPr>
        <p:txBody>
          <a:bodyPr wrap="square" anchor="b" lIns="0" rIns="0" tIns="0" bIns="0">
            <a:spAutoFit/>
          </a:bodyPr>
          <a:lstStyle/>
          <a:p>
            <a:pPr algn="ctr"/>
            <a:r>
              <a:rPr sz="1100" b="0">
                <a:solidFill>
                  <a:schemeClr val="tx1"/>
                </a:solidFill>
              </a:rPr>
              <a:t>105 → dispatched</a:t>
            </a:r>
          </a:p>
        </p:txBody>
      </p:sp>
      <p:cxnSp>
        <p:nvCxnSpPr>
          <p:cNvPr id="9079" name="Arrow 653"/>
          <p:cNvCxnSpPr/>
          <p:nvPr/>
        </p:nvCxnSpPr>
        <p:spPr>
          <a:xfrm flipH="1">
            <a:off x="3749040" y="4745736"/>
            <a:ext cx="6903720" cy="0"/>
          </a:xfrm>
          <a:prstGeom prst="line">
            <a:avLst/>
          </a:prstGeom>
          <a:ln w="2222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80" name="Note 654"/>
          <p:cNvSpPr/>
          <p:nvPr/>
        </p:nvSpPr>
        <p:spPr>
          <a:xfrm>
            <a:off x="3822192" y="4791456"/>
            <a:ext cx="37490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81" name="Text 655"/>
          <p:cNvSpPr txBox="1"/>
          <p:nvPr/>
        </p:nvSpPr>
        <p:spPr>
          <a:xfrm>
            <a:off x="3895344" y="4791456"/>
            <a:ext cx="3602736" cy="274320"/>
          </a:xfrm>
          <a:prstGeom prst="rect">
            <a:avLst/>
          </a:prstGeom>
          <a:noFill/>
        </p:spPr>
        <p:txBody>
          <a:bodyPr wrap="square" anchor="ctr" lIns="0" rIns="0" tIns="0" bIns="0">
            <a:spAutoFit/>
          </a:bodyPr>
          <a:lstStyle/>
          <a:p>
            <a:pPr algn="l"/>
            <a:r>
              <a:rPr sz="1100" b="0">
                <a:solidFill>
                  <a:schemeClr val="tx1"/>
                </a:solidFill>
              </a:rPr>
              <a:t>catchUpPosition: close the replay, slot freed</a:t>
            </a:r>
          </a:p>
        </p:txBody>
      </p:sp>
      <p:sp>
        <p:nvSpPr>
          <p:cNvPr id="9082" name="Note 656"/>
          <p:cNvSpPr/>
          <p:nvPr/>
        </p:nvSpPr>
        <p:spPr>
          <a:xfrm>
            <a:off x="3822192" y="5084064"/>
            <a:ext cx="3749040"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83" name="Text 657"/>
          <p:cNvSpPr txBox="1"/>
          <p:nvPr/>
        </p:nvSpPr>
        <p:spPr>
          <a:xfrm>
            <a:off x="3895344" y="5084064"/>
            <a:ext cx="3602736" cy="274320"/>
          </a:xfrm>
          <a:prstGeom prst="rect">
            <a:avLst/>
          </a:prstGeom>
          <a:noFill/>
        </p:spPr>
        <p:txBody>
          <a:bodyPr wrap="square" anchor="ctr" lIns="0" rIns="0" tIns="0" bIns="0">
            <a:spAutoFit/>
          </a:bodyPr>
          <a:lstStyle/>
          <a:p>
            <a:pPr algn="l"/>
            <a:r>
              <a:rPr sz="1100" b="0">
                <a:solidFill>
                  <a:schemeClr val="tx1"/>
                </a:solidFill>
              </a:rPr>
              <a:t>drain 106, 107, 108 → isCaughtUp(), onCaughtUp</a:t>
            </a:r>
          </a:p>
        </p:txBody>
      </p:sp>
      <p:cxnSp>
        <p:nvCxnSpPr>
          <p:cNvPr id="9084" name="Arrow 658"/>
          <p:cNvCxnSpPr/>
          <p:nvPr/>
        </p:nvCxnSpPr>
        <p:spPr>
          <a:xfrm>
            <a:off x="548640" y="5458968"/>
            <a:ext cx="11094415" cy="0"/>
          </a:xfrm>
          <a:prstGeom prst="line">
            <a:avLst/>
          </a:prstGeom>
          <a:ln w="15875">
            <a:solidFill>
              <a:schemeClr val="accent5"/>
            </a:solidFill>
            <a:prstDash val="dash"/>
          </a:ln>
        </p:spPr>
        <p:style>
          <a:lnRef idx="2">
            <a:schemeClr val="accent1"/>
          </a:lnRef>
          <a:fillRef idx="0">
            <a:schemeClr val="accent1"/>
          </a:fillRef>
          <a:effectRef idx="1">
            <a:schemeClr val="accent1"/>
          </a:effectRef>
          <a:fontRef idx="minor">
            <a:schemeClr val="tx1"/>
          </a:fontRef>
        </p:style>
      </p:cxnSp>
      <p:sp>
        <p:nvSpPr>
          <p:cNvPr id="9085" name="Frame tag 659"/>
          <p:cNvSpPr/>
          <p:nvPr/>
        </p:nvSpPr>
        <p:spPr>
          <a:xfrm>
            <a:off x="548640" y="5458968"/>
            <a:ext cx="566928" cy="21945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chemeClr val="tx1"/>
                </a:solidFill>
              </a:rPr>
              <a:t>ELSE</a:t>
            </a:r>
          </a:p>
        </p:txBody>
      </p:sp>
      <p:sp>
        <p:nvSpPr>
          <p:cNvPr id="9086" name="Frame guard 660"/>
          <p:cNvSpPr/>
          <p:nvPr/>
        </p:nvSpPr>
        <p:spPr>
          <a:xfrm>
            <a:off x="1152144" y="5458968"/>
            <a:ext cx="4323283" cy="2194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7" name="Text 661"/>
          <p:cNvSpPr txBox="1"/>
          <p:nvPr/>
        </p:nvSpPr>
        <p:spPr>
          <a:xfrm>
            <a:off x="1207008" y="5458968"/>
            <a:ext cx="4213555" cy="219456"/>
          </a:xfrm>
          <a:prstGeom prst="rect">
            <a:avLst/>
          </a:prstGeom>
          <a:noFill/>
        </p:spPr>
        <p:txBody>
          <a:bodyPr wrap="none" anchor="ctr" lIns="0" rIns="0" tIns="0" bIns="0">
            <a:spAutoFit/>
          </a:bodyPr>
          <a:lstStyle/>
          <a:p>
            <a:pPr algn="l"/>
            <a:r>
              <a:rPr sz="1000" b="0" i="1">
                <a:solidFill>
                  <a:schemeClr val="accent5"/>
                </a:solidFill>
              </a:rPr>
              <a:t>another frame, or NO_REPLAY_NEEDED: the recording does not match</a:t>
            </a:r>
          </a:p>
        </p:txBody>
      </p:sp>
      <p:sp>
        <p:nvSpPr>
          <p:cNvPr id="9088" name="Note 662"/>
          <p:cNvSpPr/>
          <p:nvPr/>
        </p:nvSpPr>
        <p:spPr>
          <a:xfrm>
            <a:off x="3822192" y="5641848"/>
            <a:ext cx="3749040" cy="27432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89" name="Text 663"/>
          <p:cNvSpPr txBox="1"/>
          <p:nvPr/>
        </p:nvSpPr>
        <p:spPr>
          <a:xfrm>
            <a:off x="3895344" y="5641848"/>
            <a:ext cx="3602736" cy="274320"/>
          </a:xfrm>
          <a:prstGeom prst="rect">
            <a:avLst/>
          </a:prstGeom>
          <a:noFill/>
        </p:spPr>
        <p:txBody>
          <a:bodyPr wrap="square" anchor="ctr" lIns="0" rIns="0" tIns="0" bIns="0">
            <a:spAutoFit/>
          </a:bodyPr>
          <a:lstStyle/>
          <a:p>
            <a:pPr algn="l"/>
            <a:r>
              <a:rPr sz="1100" b="0">
                <a:solidFill>
                  <a:schemeClr val="tx1"/>
                </a:solidFill>
              </a:rPr>
              <a:t>fatal: raised from the client's duty cycle</a:t>
            </a:r>
          </a:p>
        </p:txBody>
      </p:sp>
      <p:sp>
        <p:nvSpPr>
          <p:cNvPr id="9090" name="Frame 664"/>
          <p:cNvSpPr/>
          <p:nvPr/>
        </p:nvSpPr>
        <p:spPr>
          <a:xfrm>
            <a:off x="548640" y="4315968"/>
            <a:ext cx="11094415" cy="1682496"/>
          </a:xfrm>
          <a:prstGeom prst="rect">
            <a:avLst/>
          </a:prstGeom>
          <a:noFill/>
          <a:ln w="12700">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Promotion rules</a:t>
            </a:r>
          </a:p>
        </p:txBody>
      </p:sp>
      <p:sp>
        <p:nvSpPr>
          <p:cNvPr id="3" name="Text 665"/>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Four triggers, one target rule, all on consensus time</a:t>
            </a:r>
          </a:p>
        </p:txBody>
      </p:sp>
      <p:sp>
        <p:nvSpPr>
          <p:cNvPr id="9042" name="Slide number"/>
          <p:cNvSpPr txBox="1"/>
          <p:nvPr userDrawn="1"/>
        </p:nvSpPr>
        <p:spPr>
          <a:xfrm>
            <a:off x="10728655" y="6400800"/>
            <a:ext cx="914400" cy="274320"/>
          </a:xfrm>
          <a:prstGeom prst="rect">
            <a:avLst/>
          </a:prstGeom>
          <a:noFill/>
        </p:spPr>
        <p:txBody>
          <a:bodyPr wrap="none" lIns="0" tIns="0" rIns="0" bIns="0" anchor="ctr"/>
          <a:lstStyle/>
          <a:p>
            <a:pPr algn="r"/>
            <a:fld id="{f4704458-edd9-4b41-ba64-0dc6b39e11d4}" type="slidenum">
              <a:rPr lang="en-US" sz="1000" dirty="0">
                <a:solidFill>
                  <a:schemeClr val="accent5"/>
                </a:solidFill>
              </a:rPr>
              <a:t>42</a:t>
            </a:fld>
          </a:p>
        </p:txBody>
      </p:sp>
      <p:sp>
        <p:nvSpPr>
          <p:cNvPr id="9043" name="Trigger 666"/>
          <p:cNvSpPr/>
          <p:nvPr/>
        </p:nvSpPr>
        <p:spPr>
          <a:xfrm>
            <a:off x="548640" y="1691640"/>
            <a:ext cx="2567864"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4" name="Number 667"/>
          <p:cNvSpPr/>
          <p:nvPr/>
        </p:nvSpPr>
        <p:spPr>
          <a:xfrm>
            <a:off x="731520" y="187452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1</a:t>
            </a:r>
          </a:p>
        </p:txBody>
      </p:sp>
      <p:sp>
        <p:nvSpPr>
          <p:cNvPr id="9045" name="Text 668"/>
          <p:cNvSpPr txBox="1"/>
          <p:nvPr/>
        </p:nvSpPr>
        <p:spPr>
          <a:xfrm>
            <a:off x="731520" y="2423160"/>
            <a:ext cx="2202104" cy="411480"/>
          </a:xfrm>
          <a:prstGeom prst="rect">
            <a:avLst/>
          </a:prstGeom>
          <a:noFill/>
        </p:spPr>
        <p:txBody>
          <a:bodyPr wrap="square" anchor="t" lIns="0" rIns="0" tIns="0" bIns="0">
            <a:spAutoFit/>
          </a:bodyPr>
          <a:lstStyle/>
          <a:p>
            <a:pPr algn="l"/>
            <a:r>
              <a:rPr sz="1700" b="1" cap="none">
                <a:solidFill>
                  <a:schemeClr val="tx1"/>
                </a:solidFill>
                <a:latin typeface="+mj-lt"/>
              </a:rPr>
              <a:t>Bootstrap</a:t>
            </a:r>
          </a:p>
        </p:txBody>
      </p:sp>
      <p:sp>
        <p:nvSpPr>
          <p:cNvPr id="9046" name="Text 669"/>
          <p:cNvSpPr txBox="1"/>
          <p:nvPr/>
        </p:nvSpPr>
        <p:spPr>
          <a:xfrm>
            <a:off x="731520" y="2834640"/>
            <a:ext cx="2202104" cy="914400"/>
          </a:xfrm>
          <a:prstGeom prst="rect">
            <a:avLst/>
          </a:prstGeom>
          <a:noFill/>
        </p:spPr>
        <p:txBody>
          <a:bodyPr wrap="square" anchor="t" lIns="0" rIns="0" tIns="0" bIns="0">
            <a:spAutoFit/>
          </a:bodyPr>
          <a:lstStyle/>
          <a:p>
            <a:pPr algn="l"/>
            <a:r>
              <a:rPr sz="1400" b="0">
                <a:solidFill>
                  <a:schemeClr val="tx1"/>
                </a:solidFill>
              </a:rPr>
              <a:t>After the last topology row, each rank-0 instance.</a:t>
            </a:r>
          </a:p>
        </p:txBody>
      </p:sp>
      <p:sp>
        <p:nvSpPr>
          <p:cNvPr id="9047" name="Trigger 670"/>
          <p:cNvSpPr/>
          <p:nvPr/>
        </p:nvSpPr>
        <p:spPr>
          <a:xfrm>
            <a:off x="3390824" y="1691640"/>
            <a:ext cx="2567864"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8" name="Number 671"/>
          <p:cNvSpPr/>
          <p:nvPr/>
        </p:nvSpPr>
        <p:spPr>
          <a:xfrm>
            <a:off x="3573704" y="187452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2</a:t>
            </a:r>
          </a:p>
        </p:txBody>
      </p:sp>
      <p:sp>
        <p:nvSpPr>
          <p:cNvPr id="9049" name="Text 672"/>
          <p:cNvSpPr txBox="1"/>
          <p:nvPr/>
        </p:nvSpPr>
        <p:spPr>
          <a:xfrm>
            <a:off x="3573704" y="2423160"/>
            <a:ext cx="2202104" cy="411480"/>
          </a:xfrm>
          <a:prstGeom prst="rect">
            <a:avLst/>
          </a:prstGeom>
          <a:noFill/>
        </p:spPr>
        <p:txBody>
          <a:bodyPr wrap="square" anchor="t" lIns="0" rIns="0" tIns="0" bIns="0">
            <a:spAutoFit/>
          </a:bodyPr>
          <a:lstStyle/>
          <a:p>
            <a:pPr algn="l"/>
            <a:r>
              <a:rPr sz="1700" b="1" cap="none">
                <a:solidFill>
                  <a:schemeClr val="tx1"/>
                </a:solidFill>
                <a:latin typeface="+mj-lt"/>
              </a:rPr>
              <a:t>Session close</a:t>
            </a:r>
          </a:p>
        </p:txBody>
      </p:sp>
      <p:sp>
        <p:nvSpPr>
          <p:cNvPr id="9050" name="Text 673"/>
          <p:cNvSpPr txBox="1"/>
          <p:nvPr/>
        </p:nvSpPr>
        <p:spPr>
          <a:xfrm>
            <a:off x="3573704" y="2834640"/>
            <a:ext cx="2202104" cy="914400"/>
          </a:xfrm>
          <a:prstGeom prst="rect">
            <a:avLst/>
          </a:prstGeom>
          <a:noFill/>
        </p:spPr>
        <p:txBody>
          <a:bodyPr wrap="square" anchor="t" lIns="0" rIns="0" tIns="0" bIns="0">
            <a:spAutoFit/>
          </a:bodyPr>
          <a:lstStyle/>
          <a:p>
            <a:pPr algn="l"/>
            <a:r>
              <a:rPr sz="1400" b="0">
                <a:solidFill>
                  <a:schemeClr val="tx1"/>
                </a:solidFill>
              </a:rPr>
              <a:t>The designated instance's bound session closes.</a:t>
            </a:r>
          </a:p>
        </p:txBody>
      </p:sp>
      <p:sp>
        <p:nvSpPr>
          <p:cNvPr id="9051" name="Trigger 674"/>
          <p:cNvSpPr/>
          <p:nvPr/>
        </p:nvSpPr>
        <p:spPr>
          <a:xfrm>
            <a:off x="6233008" y="1691640"/>
            <a:ext cx="2567864"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2" name="Number 675"/>
          <p:cNvSpPr/>
          <p:nvPr/>
        </p:nvSpPr>
        <p:spPr>
          <a:xfrm>
            <a:off x="6415888" y="187452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3</a:t>
            </a:r>
          </a:p>
        </p:txBody>
      </p:sp>
      <p:sp>
        <p:nvSpPr>
          <p:cNvPr id="9053" name="Text 676"/>
          <p:cNvSpPr txBox="1"/>
          <p:nvPr/>
        </p:nvSpPr>
        <p:spPr>
          <a:xfrm>
            <a:off x="6415888" y="2423160"/>
            <a:ext cx="2202104" cy="411480"/>
          </a:xfrm>
          <a:prstGeom prst="rect">
            <a:avLst/>
          </a:prstGeom>
          <a:noFill/>
        </p:spPr>
        <p:txBody>
          <a:bodyPr wrap="square" anchor="t" lIns="0" rIns="0" tIns="0" bIns="0">
            <a:spAutoFit/>
          </a:bodyPr>
          <a:lstStyle/>
          <a:p>
            <a:pPr algn="l"/>
            <a:r>
              <a:rPr sz="1700" b="1" cap="none">
                <a:solidFill>
                  <a:schemeClr val="tx1"/>
                </a:solidFill>
                <a:latin typeface="+mj-lt"/>
              </a:rPr>
              <a:t>Activation timeout</a:t>
            </a:r>
          </a:p>
        </p:txBody>
      </p:sp>
      <p:sp>
        <p:nvSpPr>
          <p:cNvPr id="9054" name="Text 677"/>
          <p:cNvSpPr txBox="1"/>
          <p:nvPr/>
        </p:nvSpPr>
        <p:spPr>
          <a:xfrm>
            <a:off x="6415888" y="2834640"/>
            <a:ext cx="2202104" cy="914400"/>
          </a:xfrm>
          <a:prstGeom prst="rect">
            <a:avLst/>
          </a:prstGeom>
          <a:noFill/>
        </p:spPr>
        <p:txBody>
          <a:bodyPr wrap="square" anchor="t" lIns="0" rIns="0" tIns="0" bIns="0">
            <a:spAutoFit/>
          </a:bodyPr>
          <a:lstStyle/>
          <a:p>
            <a:pPr algn="l"/>
            <a:r>
              <a:rPr sz="1400" b="0">
                <a:solidFill>
                  <a:schemeClr val="tx1"/>
                </a:solidFill>
              </a:rPr>
              <a:t>No GatewayStarted within 5 s of consensus time.</a:t>
            </a:r>
          </a:p>
        </p:txBody>
      </p:sp>
      <p:sp>
        <p:nvSpPr>
          <p:cNvPr id="9055" name="Trigger 678"/>
          <p:cNvSpPr/>
          <p:nvPr/>
        </p:nvSpPr>
        <p:spPr>
          <a:xfrm>
            <a:off x="9075191" y="1691640"/>
            <a:ext cx="2567864"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6" name="Number 679"/>
          <p:cNvSpPr/>
          <p:nvPr/>
        </p:nvSpPr>
        <p:spPr>
          <a:xfrm>
            <a:off x="9258071" y="1874520"/>
            <a:ext cx="411480" cy="41148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bg1"/>
                </a:solidFill>
              </a:rPr>
              <a:t>4</a:t>
            </a:r>
          </a:p>
        </p:txBody>
      </p:sp>
      <p:sp>
        <p:nvSpPr>
          <p:cNvPr id="9057" name="Text 680"/>
          <p:cNvSpPr txBox="1"/>
          <p:nvPr/>
        </p:nvSpPr>
        <p:spPr>
          <a:xfrm>
            <a:off x="9258071" y="2423160"/>
            <a:ext cx="2202104" cy="411480"/>
          </a:xfrm>
          <a:prstGeom prst="rect">
            <a:avLst/>
          </a:prstGeom>
          <a:noFill/>
        </p:spPr>
        <p:txBody>
          <a:bodyPr wrap="square" anchor="t" lIns="0" rIns="0" tIns="0" bIns="0">
            <a:spAutoFit/>
          </a:bodyPr>
          <a:lstStyle/>
          <a:p>
            <a:pPr algn="l"/>
            <a:r>
              <a:rPr sz="1700" b="1" cap="none">
                <a:solidFill>
                  <a:schemeClr val="tx1"/>
                </a:solidFill>
                <a:latin typeface="+mj-lt"/>
              </a:rPr>
              <a:t>Operator</a:t>
            </a:r>
          </a:p>
        </p:txBody>
      </p:sp>
      <p:sp>
        <p:nvSpPr>
          <p:cNvPr id="9058" name="Text 681"/>
          <p:cNvSpPr txBox="1"/>
          <p:nvPr/>
        </p:nvSpPr>
        <p:spPr>
          <a:xfrm>
            <a:off x="9258071" y="2834640"/>
            <a:ext cx="2202104" cy="914400"/>
          </a:xfrm>
          <a:prstGeom prst="rect">
            <a:avLst/>
          </a:prstGeom>
          <a:noFill/>
        </p:spPr>
        <p:txBody>
          <a:bodyPr wrap="square" anchor="t" lIns="0" rIns="0" tIns="0" bIns="0">
            <a:spAutoFit/>
          </a:bodyPr>
          <a:lstStyle/>
          <a:p>
            <a:pPr algn="l"/>
            <a:r>
              <a:rPr sz="1400" b="0">
                <a:solidFill>
                  <a:schemeClr val="tx1"/>
                </a:solidFill>
              </a:rPr>
              <a:t>clusterctl activate names an instance directly.</a:t>
            </a:r>
          </a:p>
        </p:txBody>
      </p:sp>
      <p:sp>
        <p:nvSpPr>
          <p:cNvPr id="9059" name="Text 682"/>
          <p:cNvSpPr txBox="1"/>
          <p:nvPr/>
        </p:nvSpPr>
        <p:spPr>
          <a:xfrm>
            <a:off x="548640" y="3977640"/>
            <a:ext cx="11094415" cy="365760"/>
          </a:xfrm>
          <a:prstGeom prst="rect">
            <a:avLst/>
          </a:prstGeom>
          <a:noFill/>
        </p:spPr>
        <p:txBody>
          <a:bodyPr wrap="square" anchor="t" lIns="0" rIns="0" tIns="0" bIns="0">
            <a:spAutoFit/>
          </a:bodyPr>
          <a:lstStyle/>
          <a:p>
            <a:pPr algn="l"/>
            <a:r>
              <a:rPr sz="1500" b="1">
                <a:solidFill>
                  <a:schemeClr val="tx1"/>
                </a:solidFill>
              </a:rPr>
              <a:t>Target: </a:t>
            </a:r>
            <a:r>
              <a:rPr sz="1500" b="0">
                <a:solidFill>
                  <a:schemeClr val="tx1"/>
                </a:solidFill>
              </a:rPr>
              <a:t>lowest rank among siblings, excluding the instance that lost the role.</a:t>
            </a:r>
          </a:p>
        </p:txBody>
      </p:sp>
      <p:sp>
        <p:nvSpPr>
          <p:cNvPr id="9060" name="Card 683"/>
          <p:cNvSpPr/>
          <p:nvPr/>
        </p:nvSpPr>
        <p:spPr>
          <a:xfrm>
            <a:off x="548640" y="4526280"/>
            <a:ext cx="5394960" cy="1554480"/>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700" b="1" cap="none">
                <a:solidFill>
                  <a:schemeClr val="tx1"/>
                </a:solidFill>
                <a:latin typeface="+mj-lt"/>
              </a:rPr>
              <a:t>Superseded → standby</a:t>
            </a:r>
          </a:p>
          <a:p>
            <a:pPr algn="l"/>
            <a:r>
              <a:rPr sz="1400" b="0">
                <a:solidFill>
                  <a:schemeClr val="tx1"/>
                </a:solidFill>
              </a:rPr>
              <a:t>Closes its edge, keeps its session, keeps following the queue. Nothing it sends is sequenced. Can be designated again.</a:t>
            </a:r>
          </a:p>
        </p:txBody>
      </p:sp>
      <p:sp>
        <p:nvSpPr>
          <p:cNvPr id="9061" name="Card 684"/>
          <p:cNvSpPr/>
          <p:nvPr/>
        </p:nvSpPr>
        <p:spPr>
          <a:xfrm>
            <a:off x="6245352" y="4526280"/>
            <a:ext cx="5394960" cy="155448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700" b="1" cap="none">
                <a:solidFill>
                  <a:schemeClr val="accent2"/>
                </a:solidFill>
                <a:latin typeface="+mj-lt"/>
              </a:rPr>
              <a:t>Fenced → session released</a:t>
            </a:r>
          </a:p>
          <a:p>
            <a:pPr algn="l"/>
            <a:r>
              <a:rPr sz="1400" b="0">
                <a:solidFill>
                  <a:schemeClr val="tx1"/>
                </a:solidFill>
              </a:rPr>
              <a:t>Its view of the log can no longer be trusted. Closes its edge, releases its session, reports once; the standby is promoted at the fence.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Applications: cluster member local or remote</a:t>
            </a:r>
          </a:p>
        </p:txBody>
      </p:sp>
      <p:sp>
        <p:nvSpPr>
          <p:cNvPr id="3" name="Text 685"/>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Each application follows its own member's queue; only the leader's publishes</a:t>
            </a:r>
          </a:p>
        </p:txBody>
      </p:sp>
      <p:sp>
        <p:nvSpPr>
          <p:cNvPr id="9043" name="Slide number"/>
          <p:cNvSpPr txBox="1"/>
          <p:nvPr userDrawn="1"/>
        </p:nvSpPr>
        <p:spPr>
          <a:xfrm>
            <a:off x="10728655" y="6400800"/>
            <a:ext cx="914400" cy="274320"/>
          </a:xfrm>
          <a:prstGeom prst="rect">
            <a:avLst/>
          </a:prstGeom>
          <a:noFill/>
        </p:spPr>
        <p:txBody>
          <a:bodyPr wrap="none" lIns="0" tIns="0" rIns="0" bIns="0" anchor="ctr"/>
          <a:lstStyle/>
          <a:p>
            <a:pPr algn="r"/>
            <a:fld id="{c5949be6-3e85-437a-9440-3496bb727d0d}" type="slidenum">
              <a:rPr lang="en-US" sz="1000" dirty="0">
                <a:solidFill>
                  <a:schemeClr val="accent5"/>
                </a:solidFill>
              </a:rPr>
              <a:t>43</a:t>
            </a:fld>
          </a:p>
        </p:txBody>
      </p:sp>
      <p:sp>
        <p:nvSpPr>
          <p:cNvPr id="9044" name="Member 686"/>
          <p:cNvSpPr/>
          <p:nvPr/>
        </p:nvSpPr>
        <p:spPr>
          <a:xfrm>
            <a:off x="548640" y="1783080"/>
            <a:ext cx="3017520" cy="960120"/>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5" name="Text 687"/>
          <p:cNvSpPr txBox="1"/>
          <p:nvPr/>
        </p:nvSpPr>
        <p:spPr>
          <a:xfrm>
            <a:off x="658368" y="1819656"/>
            <a:ext cx="2743200" cy="274320"/>
          </a:xfrm>
          <a:prstGeom prst="rect">
            <a:avLst/>
          </a:prstGeom>
          <a:noFill/>
        </p:spPr>
        <p:txBody>
          <a:bodyPr wrap="square" anchor="t" lIns="0" rIns="0" tIns="0" bIns="0">
            <a:spAutoFit/>
          </a:bodyPr>
          <a:lstStyle/>
          <a:p>
            <a:pPr algn="l"/>
            <a:r>
              <a:rPr sz="1000" b="1">
                <a:solidFill>
                  <a:schemeClr val="accent5"/>
                </a:solidFill>
              </a:rPr>
              <a:t>MEMBER 0 · LEADER</a:t>
            </a:r>
          </a:p>
        </p:txBody>
      </p:sp>
      <p:sp>
        <p:nvSpPr>
          <p:cNvPr id="9046" name="Box 688"/>
          <p:cNvSpPr/>
          <p:nvPr/>
        </p:nvSpPr>
        <p:spPr>
          <a:xfrm>
            <a:off x="685800" y="2103120"/>
            <a:ext cx="1143000" cy="502920"/>
          </a:xfrm>
          <a:prstGeom prst="rect">
            <a:avLst/>
          </a:prstGeom>
          <a:solidFill>
            <a:schemeClr val="bg1"/>
          </a:solidFill>
          <a:ln w="317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Application</a:t>
            </a:r>
          </a:p>
          <a:p>
            <a:pPr algn="ctr"/>
            <a:r>
              <a:rPr sz="1000" b="0">
                <a:solidFill>
                  <a:schemeClr val="accent5"/>
                </a:solidFill>
              </a:rPr>
              <a:t>publishes</a:t>
            </a:r>
          </a:p>
        </p:txBody>
      </p:sp>
      <p:sp>
        <p:nvSpPr>
          <p:cNvPr id="9047" name="Box 689"/>
          <p:cNvSpPr/>
          <p:nvPr/>
        </p:nvSpPr>
        <p:spPr>
          <a:xfrm>
            <a:off x="2286000" y="2103120"/>
            <a:ext cx="1143000" cy="50292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Sequencer</a:t>
            </a:r>
          </a:p>
        </p:txBody>
      </p:sp>
      <p:cxnSp>
        <p:nvCxnSpPr>
          <p:cNvPr id="9048" name="Arrow 690"/>
          <p:cNvCxnSpPr/>
          <p:nvPr/>
        </p:nvCxnSpPr>
        <p:spPr>
          <a:xfrm flipH="1">
            <a:off x="1828800" y="2286000"/>
            <a:ext cx="45720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49" name="Arrow 691"/>
          <p:cNvCxnSpPr/>
          <p:nvPr/>
        </p:nvCxnSpPr>
        <p:spPr>
          <a:xfrm>
            <a:off x="1828800" y="2468880"/>
            <a:ext cx="45720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0" name="Member 692"/>
          <p:cNvSpPr/>
          <p:nvPr/>
        </p:nvSpPr>
        <p:spPr>
          <a:xfrm>
            <a:off x="548640" y="2880360"/>
            <a:ext cx="3017520" cy="960120"/>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1" name="Text 693"/>
          <p:cNvSpPr txBox="1"/>
          <p:nvPr/>
        </p:nvSpPr>
        <p:spPr>
          <a:xfrm>
            <a:off x="658368" y="2916936"/>
            <a:ext cx="2743200" cy="274320"/>
          </a:xfrm>
          <a:prstGeom prst="rect">
            <a:avLst/>
          </a:prstGeom>
          <a:noFill/>
        </p:spPr>
        <p:txBody>
          <a:bodyPr wrap="square" anchor="t" lIns="0" rIns="0" tIns="0" bIns="0">
            <a:spAutoFit/>
          </a:bodyPr>
          <a:lstStyle/>
          <a:p>
            <a:pPr algn="l"/>
            <a:r>
              <a:rPr sz="1000" b="1">
                <a:solidFill>
                  <a:schemeClr val="accent5"/>
                </a:solidFill>
              </a:rPr>
              <a:t>MEMBER 1</a:t>
            </a:r>
          </a:p>
        </p:txBody>
      </p:sp>
      <p:sp>
        <p:nvSpPr>
          <p:cNvPr id="9052" name="Box 694"/>
          <p:cNvSpPr/>
          <p:nvPr/>
        </p:nvSpPr>
        <p:spPr>
          <a:xfrm>
            <a:off x="685800" y="3200400"/>
            <a:ext cx="1143000" cy="50292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Application</a:t>
            </a:r>
          </a:p>
          <a:p>
            <a:pPr algn="ctr"/>
            <a:r>
              <a:rPr sz="1000" b="0">
                <a:solidFill>
                  <a:schemeClr val="accent5"/>
                </a:solidFill>
              </a:rPr>
              <a:t>follows</a:t>
            </a:r>
          </a:p>
        </p:txBody>
      </p:sp>
      <p:sp>
        <p:nvSpPr>
          <p:cNvPr id="9053" name="Box 695"/>
          <p:cNvSpPr/>
          <p:nvPr/>
        </p:nvSpPr>
        <p:spPr>
          <a:xfrm>
            <a:off x="2286000" y="3200400"/>
            <a:ext cx="1143000" cy="50292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Sequencer</a:t>
            </a:r>
          </a:p>
        </p:txBody>
      </p:sp>
      <p:cxnSp>
        <p:nvCxnSpPr>
          <p:cNvPr id="9054" name="Arrow 696"/>
          <p:cNvCxnSpPr/>
          <p:nvPr/>
        </p:nvCxnSpPr>
        <p:spPr>
          <a:xfrm flipH="1">
            <a:off x="1828800" y="3383280"/>
            <a:ext cx="45720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5" name="Member 697"/>
          <p:cNvSpPr/>
          <p:nvPr/>
        </p:nvSpPr>
        <p:spPr>
          <a:xfrm>
            <a:off x="548640" y="3977640"/>
            <a:ext cx="3017520" cy="960120"/>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6" name="Text 698"/>
          <p:cNvSpPr txBox="1"/>
          <p:nvPr/>
        </p:nvSpPr>
        <p:spPr>
          <a:xfrm>
            <a:off x="658368" y="4014216"/>
            <a:ext cx="2743200" cy="274320"/>
          </a:xfrm>
          <a:prstGeom prst="rect">
            <a:avLst/>
          </a:prstGeom>
          <a:noFill/>
        </p:spPr>
        <p:txBody>
          <a:bodyPr wrap="square" anchor="t" lIns="0" rIns="0" tIns="0" bIns="0">
            <a:spAutoFit/>
          </a:bodyPr>
          <a:lstStyle/>
          <a:p>
            <a:pPr algn="l"/>
            <a:r>
              <a:rPr sz="1000" b="1">
                <a:solidFill>
                  <a:schemeClr val="accent5"/>
                </a:solidFill>
              </a:rPr>
              <a:t>MEMBER 2</a:t>
            </a:r>
          </a:p>
        </p:txBody>
      </p:sp>
      <p:sp>
        <p:nvSpPr>
          <p:cNvPr id="9057" name="Box 699"/>
          <p:cNvSpPr/>
          <p:nvPr/>
        </p:nvSpPr>
        <p:spPr>
          <a:xfrm>
            <a:off x="685800" y="4297680"/>
            <a:ext cx="1143000" cy="50292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Application</a:t>
            </a:r>
          </a:p>
          <a:p>
            <a:pPr algn="ctr"/>
            <a:r>
              <a:rPr sz="1000" b="0">
                <a:solidFill>
                  <a:schemeClr val="accent5"/>
                </a:solidFill>
              </a:rPr>
              <a:t>follows</a:t>
            </a:r>
          </a:p>
        </p:txBody>
      </p:sp>
      <p:sp>
        <p:nvSpPr>
          <p:cNvPr id="9058" name="Box 700"/>
          <p:cNvSpPr/>
          <p:nvPr/>
        </p:nvSpPr>
        <p:spPr>
          <a:xfrm>
            <a:off x="2286000" y="4297680"/>
            <a:ext cx="1143000" cy="50292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Sequencer</a:t>
            </a:r>
          </a:p>
        </p:txBody>
      </p:sp>
      <p:cxnSp>
        <p:nvCxnSpPr>
          <p:cNvPr id="9059" name="Arrow 701"/>
          <p:cNvCxnSpPr/>
          <p:nvPr/>
        </p:nvCxnSpPr>
        <p:spPr>
          <a:xfrm flipH="1">
            <a:off x="1828800" y="4480560"/>
            <a:ext cx="45720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0" name="Application host 702"/>
          <p:cNvSpPr/>
          <p:nvPr/>
        </p:nvSpPr>
        <p:spPr>
          <a:xfrm>
            <a:off x="4389120" y="1783080"/>
            <a:ext cx="3017520" cy="2057400"/>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1" name="Text 703"/>
          <p:cNvSpPr txBox="1"/>
          <p:nvPr/>
        </p:nvSpPr>
        <p:spPr>
          <a:xfrm>
            <a:off x="4498848" y="1819656"/>
            <a:ext cx="2743200" cy="274320"/>
          </a:xfrm>
          <a:prstGeom prst="rect">
            <a:avLst/>
          </a:prstGeom>
          <a:noFill/>
        </p:spPr>
        <p:txBody>
          <a:bodyPr wrap="square" anchor="t" lIns="0" rIns="0" tIns="0" bIns="0">
            <a:spAutoFit/>
          </a:bodyPr>
          <a:lstStyle/>
          <a:p>
            <a:pPr algn="l"/>
            <a:r>
              <a:rPr sz="1000" b="1">
                <a:solidFill>
                  <a:schemeClr val="accent5"/>
                </a:solidFill>
              </a:rPr>
              <a:t>REMOTE APPLICATION HOST</a:t>
            </a:r>
          </a:p>
        </p:txBody>
      </p:sp>
      <p:sp>
        <p:nvSpPr>
          <p:cNvPr id="9062" name="Box 704"/>
          <p:cNvSpPr/>
          <p:nvPr/>
        </p:nvSpPr>
        <p:spPr>
          <a:xfrm>
            <a:off x="4526280" y="2103120"/>
            <a:ext cx="2743200" cy="59436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Application</a:t>
            </a:r>
          </a:p>
          <a:p>
            <a:pPr algn="ctr"/>
            <a:r>
              <a:rPr sz="1000" b="0">
                <a:solidFill>
                  <a:schemeClr val="accent5"/>
                </a:solidFill>
              </a:rPr>
              <a:t>one instance · gate open once caught up</a:t>
            </a:r>
          </a:p>
        </p:txBody>
      </p:sp>
      <p:sp>
        <p:nvSpPr>
          <p:cNvPr id="9063" name="Box 705"/>
          <p:cNvSpPr/>
          <p:nvPr/>
        </p:nvSpPr>
        <p:spPr>
          <a:xfrm>
            <a:off x="4526280" y="3063240"/>
            <a:ext cx="2743200" cy="59436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300" b="1">
                <a:solidFill>
                  <a:schemeClr val="tx1"/>
                </a:solidFill>
              </a:rPr>
              <a:t>ReplayerService</a:t>
            </a:r>
          </a:p>
          <a:p>
            <a:pPr algn="ctr"/>
            <a:r>
              <a:rPr sz="1000" b="0">
                <a:solidFill>
                  <a:schemeClr val="accent5"/>
                </a:solidFill>
              </a:rPr>
              <a:t>local · QueueRelay: the host's own queue</a:t>
            </a:r>
          </a:p>
        </p:txBody>
      </p:sp>
      <p:cxnSp>
        <p:nvCxnSpPr>
          <p:cNvPr id="9064" name="Arrow 706"/>
          <p:cNvCxnSpPr/>
          <p:nvPr/>
        </p:nvCxnSpPr>
        <p:spPr>
          <a:xfrm flipV="1">
            <a:off x="5897880" y="2697480"/>
            <a:ext cx="0" cy="36576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65" name="Arrow 707"/>
          <p:cNvCxnSpPr/>
          <p:nvPr/>
        </p:nvCxnSpPr>
        <p:spPr>
          <a:xfrm flipH="1">
            <a:off x="3566160" y="2395728"/>
            <a:ext cx="96012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6" name="Text 708"/>
          <p:cNvSpPr txBox="1"/>
          <p:nvPr/>
        </p:nvSpPr>
        <p:spPr>
          <a:xfrm>
            <a:off x="3566160" y="2130552"/>
            <a:ext cx="822960" cy="228600"/>
          </a:xfrm>
          <a:prstGeom prst="rect">
            <a:avLst/>
          </a:prstGeom>
          <a:noFill/>
        </p:spPr>
        <p:txBody>
          <a:bodyPr wrap="square" anchor="t" lIns="0" rIns="0" tIns="0" bIns="0">
            <a:spAutoFit/>
          </a:bodyPr>
          <a:lstStyle/>
          <a:p>
            <a:pPr algn="ctr"/>
            <a:r>
              <a:rPr sz="1000" b="0">
                <a:solidFill>
                  <a:schemeClr val="accent5"/>
                </a:solidFill>
              </a:rPr>
              <a:t>UDP ingress</a:t>
            </a:r>
          </a:p>
        </p:txBody>
      </p:sp>
      <p:cxnSp>
        <p:nvCxnSpPr>
          <p:cNvPr id="9067" name="Arrow 709"/>
          <p:cNvCxnSpPr/>
          <p:nvPr/>
        </p:nvCxnSpPr>
        <p:spPr>
          <a:xfrm>
            <a:off x="3566160" y="3355848"/>
            <a:ext cx="96012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8" name="Text 710"/>
          <p:cNvSpPr txBox="1"/>
          <p:nvPr/>
        </p:nvSpPr>
        <p:spPr>
          <a:xfrm>
            <a:off x="3566160" y="3090672"/>
            <a:ext cx="822960" cy="228600"/>
          </a:xfrm>
          <a:prstGeom prst="rect">
            <a:avLst/>
          </a:prstGeom>
          <a:noFill/>
        </p:spPr>
        <p:txBody>
          <a:bodyPr wrap="square" anchor="t" lIns="0" rIns="0" tIns="0" bIns="0">
            <a:spAutoFit/>
          </a:bodyPr>
          <a:lstStyle/>
          <a:p>
            <a:pPr algn="ctr"/>
            <a:r>
              <a:rPr sz="1000" b="0">
                <a:solidFill>
                  <a:schemeClr val="accent1"/>
                </a:solidFill>
              </a:rPr>
              <a:t>replay</a:t>
            </a:r>
          </a:p>
        </p:txBody>
      </p:sp>
      <p:sp>
        <p:nvSpPr>
          <p:cNvPr id="9069" name="Text 711"/>
          <p:cNvSpPr txBox="1"/>
          <p:nvPr/>
        </p:nvSpPr>
        <p:spPr>
          <a:xfrm>
            <a:off x="548640" y="5257800"/>
            <a:ext cx="6858000" cy="731520"/>
          </a:xfrm>
          <a:prstGeom prst="rect">
            <a:avLst/>
          </a:prstGeom>
          <a:noFill/>
        </p:spPr>
        <p:txBody>
          <a:bodyPr wrap="square" anchor="t" lIns="0" rIns="0" tIns="0" bIns="0">
            <a:spAutoFit/>
          </a:bodyPr>
          <a:lstStyle/>
          <a:p>
            <a:pPr algn="l">
              <a:spcAft>
                <a:spcPts val="200"/>
              </a:spcAft>
            </a:pPr>
            <a:r>
              <a:rPr sz="1200" b="0">
                <a:solidFill>
                  <a:schemeClr val="accent5"/>
                </a:solidFill>
              </a:rPr>
              <a:t>Teal: the queue, live.</a:t>
            </a:r>
          </a:p>
          <a:p>
            <a:pPr algn="l">
              <a:spcAft>
                <a:spcPts val="200"/>
              </a:spcAft>
            </a:pPr>
            <a:r>
              <a:rPr sz="1200" b="0">
                <a:solidFill>
                  <a:schemeClr val="accent5"/>
                </a:solidFill>
              </a:rPr>
              <a:t>Black: ingress, IPC from the application on the leader and UDP from the remote host.</a:t>
            </a:r>
          </a:p>
        </p:txBody>
      </p:sp>
      <p:sp>
        <p:nvSpPr>
          <p:cNvPr id="9070" name="Text 712"/>
          <p:cNvSpPr txBox="1"/>
          <p:nvPr/>
        </p:nvSpPr>
        <p:spPr>
          <a:xfrm>
            <a:off x="7863840" y="1783080"/>
            <a:ext cx="3776472" cy="4114800"/>
          </a:xfrm>
          <a:prstGeom prst="rect">
            <a:avLst/>
          </a:prstGeom>
          <a:noFill/>
        </p:spPr>
        <p:txBody>
          <a:bodyPr wrap="square" anchor="t" lIns="0" rIns="0" tIns="0" bIns="0">
            <a:spAutoFit/>
          </a:bodyPr>
          <a:lstStyle/>
          <a:p>
            <a:pPr algn="l" marL="228600" indent="-228600">
              <a:spcAft>
                <a:spcPts val="1000"/>
              </a:spcAft>
              <a:buClr>
                <a:schemeClr val="accent1"/>
              </a:buClr>
              <a:buChar char="•"/>
            </a:pPr>
            <a:r>
              <a:rPr sz="1500" b="0">
                <a:solidFill>
                  <a:schemeClr val="tx1"/>
                </a:solidFill>
              </a:rPr>
              <a:t>An application on every member; a member hosts several</a:t>
            </a:r>
          </a:p>
          <a:p>
            <a:pPr algn="l" marL="228600" indent="-228600">
              <a:spcAft>
                <a:spcPts val="1000"/>
              </a:spcAft>
              <a:buClr>
                <a:schemeClr val="accent1"/>
              </a:buClr>
              <a:buChar char="•"/>
            </a:pPr>
            <a:r>
              <a:rPr sz="1500" b="0">
                <a:solidFill>
                  <a:schemeClr val="tx1"/>
                </a:solidFill>
              </a:rPr>
              <a:t>Every application follows its own member's queue and holds the same state</a:t>
            </a:r>
          </a:p>
          <a:p>
            <a:pPr algn="l" marL="228600" indent="-228600">
              <a:spcAft>
                <a:spcPts val="1000"/>
              </a:spcAft>
              <a:buClr>
                <a:schemeClr val="accent1"/>
              </a:buClr>
              <a:buChar char="•"/>
            </a:pPr>
            <a:r>
              <a:rPr sz="1500" b="0">
                <a:solidFill>
                  <a:schemeClr val="tx1"/>
                </a:solidFill>
              </a:rPr>
              <a:t>Only the application on the leader publishes; every LeadershipChanged closes its gate</a:t>
            </a:r>
          </a:p>
          <a:p>
            <a:pPr algn="l" marL="228600" indent="-228600">
              <a:buClr>
                <a:schemeClr val="accent1"/>
              </a:buClr>
              <a:buChar char="•"/>
            </a:pPr>
            <a:r>
              <a:rPr sz="1500" b="0">
                <a:solidFill>
                  <a:schemeClr val="tx1"/>
                </a:solidFill>
              </a:rPr>
              <a:t>Remote: one instance on its own host, beside a local ReplayerService; UDP ingress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Remote hosts: the queue relay</a:t>
            </a:r>
          </a:p>
        </p:txBody>
      </p:sp>
      <p:sp>
        <p:nvSpPr>
          <p:cNvPr id="3" name="Text 713"/>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Clients off the cluster see exactly what they would see on a member</a:t>
            </a:r>
          </a:p>
        </p:txBody>
      </p:sp>
      <p:sp>
        <p:nvSpPr>
          <p:cNvPr id="9044" name="Slide number"/>
          <p:cNvSpPr txBox="1"/>
          <p:nvPr userDrawn="1"/>
        </p:nvSpPr>
        <p:spPr>
          <a:xfrm>
            <a:off x="10728655" y="6400800"/>
            <a:ext cx="914400" cy="274320"/>
          </a:xfrm>
          <a:prstGeom prst="rect">
            <a:avLst/>
          </a:prstGeom>
          <a:noFill/>
        </p:spPr>
        <p:txBody>
          <a:bodyPr wrap="none" lIns="0" tIns="0" rIns="0" bIns="0" anchor="ctr"/>
          <a:lstStyle/>
          <a:p>
            <a:pPr algn="r"/>
            <a:fld id="{058578f6-badf-4d04-bb78-bc7be20ce43f}" type="slidenum">
              <a:rPr lang="en-US" sz="1000" dirty="0">
                <a:solidFill>
                  <a:schemeClr val="accent5"/>
                </a:solidFill>
              </a:rPr>
              <a:t>44</a:t>
            </a:fld>
          </a:p>
        </p:txBody>
      </p:sp>
      <p:sp>
        <p:nvSpPr>
          <p:cNvPr id="9045" name="Box 714"/>
          <p:cNvSpPr/>
          <p:nvPr/>
        </p:nvSpPr>
        <p:spPr>
          <a:xfrm>
            <a:off x="548640" y="1783080"/>
            <a:ext cx="2377440" cy="868680"/>
          </a:xfrm>
          <a:prstGeom prst="rect">
            <a:avLst/>
          </a:prstGeom>
          <a:solidFill>
            <a:schemeClr val="bg1"/>
          </a:solidFill>
          <a:ln w="317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Member 0</a:t>
            </a:r>
          </a:p>
          <a:p>
            <a:pPr algn="ctr"/>
            <a:r>
              <a:rPr sz="1100" b="0">
                <a:solidFill>
                  <a:schemeClr val="accent5"/>
                </a:solidFill>
              </a:rPr>
              <a:t>active recording</a:t>
            </a:r>
          </a:p>
        </p:txBody>
      </p:sp>
      <p:sp>
        <p:nvSpPr>
          <p:cNvPr id="9046" name="Box 715"/>
          <p:cNvSpPr/>
          <p:nvPr/>
        </p:nvSpPr>
        <p:spPr>
          <a:xfrm>
            <a:off x="548640" y="2971800"/>
            <a:ext cx="2377440" cy="86868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Member 1</a:t>
            </a:r>
          </a:p>
          <a:p>
            <a:pPr algn="ctr"/>
            <a:r>
              <a:rPr sz="1100" b="0">
                <a:solidFill>
                  <a:schemeClr val="accent5"/>
                </a:solidFill>
              </a:rPr>
              <a:t>active recording</a:t>
            </a:r>
          </a:p>
        </p:txBody>
      </p:sp>
      <p:sp>
        <p:nvSpPr>
          <p:cNvPr id="9047" name="Box 716"/>
          <p:cNvSpPr/>
          <p:nvPr/>
        </p:nvSpPr>
        <p:spPr>
          <a:xfrm>
            <a:off x="548640" y="4160520"/>
            <a:ext cx="2377440" cy="86868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Member 2</a:t>
            </a:r>
          </a:p>
          <a:p>
            <a:pPr algn="ctr"/>
            <a:r>
              <a:rPr sz="1100" b="0">
                <a:solidFill>
                  <a:schemeClr val="accent5"/>
                </a:solidFill>
              </a:rPr>
              <a:t>active recording</a:t>
            </a:r>
          </a:p>
        </p:txBody>
      </p:sp>
      <p:cxnSp>
        <p:nvCxnSpPr>
          <p:cNvPr id="9048" name="Arrow 717"/>
          <p:cNvCxnSpPr/>
          <p:nvPr/>
        </p:nvCxnSpPr>
        <p:spPr>
          <a:xfrm>
            <a:off x="2926080" y="2212848"/>
            <a:ext cx="868680" cy="1033272"/>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49" name="Arrow 718"/>
          <p:cNvCxnSpPr/>
          <p:nvPr/>
        </p:nvCxnSpPr>
        <p:spPr>
          <a:xfrm>
            <a:off x="2926080" y="3401568"/>
            <a:ext cx="868680" cy="27432"/>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50" name="Text 719"/>
          <p:cNvSpPr txBox="1"/>
          <p:nvPr/>
        </p:nvSpPr>
        <p:spPr>
          <a:xfrm>
            <a:off x="548640" y="5257800"/>
            <a:ext cx="6858000" cy="731520"/>
          </a:xfrm>
          <a:prstGeom prst="rect">
            <a:avLst/>
          </a:prstGeom>
          <a:noFill/>
        </p:spPr>
        <p:txBody>
          <a:bodyPr wrap="square" anchor="t" lIns="0" rIns="0" tIns="0" bIns="0">
            <a:spAutoFit/>
          </a:bodyPr>
          <a:lstStyle/>
          <a:p>
            <a:pPr algn="l">
              <a:spcAft>
                <a:spcPts val="200"/>
              </a:spcAft>
            </a:pPr>
            <a:r>
              <a:rPr sz="1200" b="0">
                <a:solidFill>
                  <a:schemeClr val="accent5"/>
                </a:solidFill>
              </a:rPr>
              <a:t>Solid: one UDP archive replay.</a:t>
            </a:r>
          </a:p>
          <a:p>
            <a:pPr algn="l">
              <a:spcAft>
                <a:spcPts val="200"/>
              </a:spcAft>
            </a:pPr>
            <a:r>
              <a:rPr sz="1200" b="0">
                <a:solidFill>
                  <a:schemeClr val="accent5"/>
                </a:solidFill>
              </a:rPr>
              <a:t>Dashed: failover to next member archive.</a:t>
            </a:r>
          </a:p>
        </p:txBody>
      </p:sp>
      <p:sp>
        <p:nvSpPr>
          <p:cNvPr id="9051" name="Remote host 720"/>
          <p:cNvSpPr/>
          <p:nvPr/>
        </p:nvSpPr>
        <p:spPr>
          <a:xfrm>
            <a:off x="3840480" y="1783080"/>
            <a:ext cx="3566160" cy="3246120"/>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2" name="Text 721"/>
          <p:cNvSpPr txBox="1"/>
          <p:nvPr/>
        </p:nvSpPr>
        <p:spPr>
          <a:xfrm>
            <a:off x="3977640" y="1847088"/>
            <a:ext cx="3291840" cy="320040"/>
          </a:xfrm>
          <a:prstGeom prst="rect">
            <a:avLst/>
          </a:prstGeom>
          <a:noFill/>
        </p:spPr>
        <p:txBody>
          <a:bodyPr wrap="square" anchor="t" lIns="0" rIns="0" tIns="0" bIns="0">
            <a:spAutoFit/>
          </a:bodyPr>
          <a:lstStyle/>
          <a:p>
            <a:pPr algn="l"/>
            <a:r>
              <a:rPr sz="1100" b="1">
                <a:solidFill>
                  <a:schemeClr val="accent5"/>
                </a:solidFill>
              </a:rPr>
              <a:t>GATEWAY OR APPLICATION HOST</a:t>
            </a:r>
          </a:p>
        </p:txBody>
      </p:sp>
      <p:sp>
        <p:nvSpPr>
          <p:cNvPr id="9053" name="Box 722"/>
          <p:cNvSpPr/>
          <p:nvPr/>
        </p:nvSpPr>
        <p:spPr>
          <a:xfrm>
            <a:off x="4023360" y="2286000"/>
            <a:ext cx="3200400" cy="68580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QueueRelay</a:t>
            </a:r>
          </a:p>
          <a:p>
            <a:pPr algn="ctr"/>
            <a:r>
              <a:rPr sz="1100" b="0">
                <a:solidFill>
                  <a:schemeClr val="accent5"/>
                </a:solidFill>
              </a:rPr>
              <a:t>next frame only</a:t>
            </a:r>
          </a:p>
        </p:txBody>
      </p:sp>
      <p:sp>
        <p:nvSpPr>
          <p:cNvPr id="9054" name="Text 723"/>
          <p:cNvSpPr txBox="1"/>
          <p:nvPr/>
        </p:nvSpPr>
        <p:spPr>
          <a:xfrm>
            <a:off x="4526280" y="3044952"/>
            <a:ext cx="1737360" cy="219456"/>
          </a:xfrm>
          <a:prstGeom prst="rect">
            <a:avLst/>
          </a:prstGeom>
          <a:noFill/>
        </p:spPr>
        <p:txBody>
          <a:bodyPr wrap="square" anchor="ctr" lIns="0" rIns="0" tIns="0" bIns="0">
            <a:spAutoFit/>
          </a:bodyPr>
          <a:lstStyle/>
          <a:p>
            <a:pPr algn="l"/>
            <a:r>
              <a:rPr sz="1000" b="1">
                <a:solidFill>
                  <a:schemeClr val="accent1"/>
                </a:solidFill>
              </a:rPr>
              <a:t>Queue · aeron:ipc 205</a:t>
            </a:r>
          </a:p>
        </p:txBody>
      </p:sp>
      <p:sp>
        <p:nvSpPr>
          <p:cNvPr id="9055" name="Queue cell 724"/>
          <p:cNvSpPr/>
          <p:nvPr/>
        </p:nvSpPr>
        <p:spPr>
          <a:xfrm>
            <a:off x="4526280" y="3291840"/>
            <a:ext cx="283464" cy="32918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1</a:t>
            </a:r>
          </a:p>
        </p:txBody>
      </p:sp>
      <p:sp>
        <p:nvSpPr>
          <p:cNvPr id="9056" name="Queue cell 725"/>
          <p:cNvSpPr/>
          <p:nvPr/>
        </p:nvSpPr>
        <p:spPr>
          <a:xfrm>
            <a:off x="4842662" y="3291840"/>
            <a:ext cx="283464" cy="32918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2</a:t>
            </a:r>
          </a:p>
        </p:txBody>
      </p:sp>
      <p:sp>
        <p:nvSpPr>
          <p:cNvPr id="9057" name="Queue cell 726"/>
          <p:cNvSpPr/>
          <p:nvPr/>
        </p:nvSpPr>
        <p:spPr>
          <a:xfrm>
            <a:off x="5159045" y="3291840"/>
            <a:ext cx="283464" cy="32918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3</a:t>
            </a:r>
          </a:p>
        </p:txBody>
      </p:sp>
      <p:sp>
        <p:nvSpPr>
          <p:cNvPr id="9058" name="Queue cell 727"/>
          <p:cNvSpPr/>
          <p:nvPr/>
        </p:nvSpPr>
        <p:spPr>
          <a:xfrm>
            <a:off x="5475427" y="3291840"/>
            <a:ext cx="283464" cy="32918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0">
                <a:solidFill>
                  <a:schemeClr val="accent1"/>
                </a:solidFill>
              </a:rPr>
              <a:t>4</a:t>
            </a:r>
          </a:p>
        </p:txBody>
      </p:sp>
      <p:sp>
        <p:nvSpPr>
          <p:cNvPr id="9059" name="Queue cell 728"/>
          <p:cNvSpPr/>
          <p:nvPr/>
        </p:nvSpPr>
        <p:spPr>
          <a:xfrm>
            <a:off x="5791810" y="3291840"/>
            <a:ext cx="283464"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chemeClr val="bg1"/>
                </a:solidFill>
              </a:rPr>
              <a:t>5</a:t>
            </a:r>
          </a:p>
        </p:txBody>
      </p:sp>
      <p:sp>
        <p:nvSpPr>
          <p:cNvPr id="9060" name="Queue cell 729"/>
          <p:cNvSpPr/>
          <p:nvPr/>
        </p:nvSpPr>
        <p:spPr>
          <a:xfrm>
            <a:off x="6108192" y="3291840"/>
            <a:ext cx="283464" cy="32918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61" name="Queue cell 730"/>
          <p:cNvSpPr/>
          <p:nvPr/>
        </p:nvSpPr>
        <p:spPr>
          <a:xfrm>
            <a:off x="6424574" y="3291840"/>
            <a:ext cx="283464" cy="32918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62" name="Box 731"/>
          <p:cNvSpPr/>
          <p:nvPr/>
        </p:nvSpPr>
        <p:spPr>
          <a:xfrm>
            <a:off x="4023360" y="4114800"/>
            <a:ext cx="1280160" cy="68580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Archive</a:t>
            </a:r>
          </a:p>
          <a:p>
            <a:pPr algn="ctr"/>
            <a:r>
              <a:rPr sz="1100" b="0">
                <a:solidFill>
                  <a:schemeClr val="accent5"/>
                </a:solidFill>
              </a:rPr>
              <a:t>records the queue</a:t>
            </a:r>
          </a:p>
        </p:txBody>
      </p:sp>
      <p:sp>
        <p:nvSpPr>
          <p:cNvPr id="9063" name="Box 732"/>
          <p:cNvSpPr/>
          <p:nvPr/>
        </p:nvSpPr>
        <p:spPr>
          <a:xfrm>
            <a:off x="5486400" y="4114800"/>
            <a:ext cx="1737360" cy="68580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Clients</a:t>
            </a:r>
          </a:p>
          <a:p>
            <a:pPr algn="ctr"/>
            <a:r>
              <a:rPr sz="1100" b="0">
                <a:solidFill>
                  <a:schemeClr val="accent5"/>
                </a:solidFill>
              </a:rPr>
              <a:t>unchanged; UDP ingress</a:t>
            </a:r>
          </a:p>
        </p:txBody>
      </p:sp>
      <p:cxnSp>
        <p:nvCxnSpPr>
          <p:cNvPr id="9064" name="Arrow 733"/>
          <p:cNvCxnSpPr/>
          <p:nvPr/>
        </p:nvCxnSpPr>
        <p:spPr>
          <a:xfrm>
            <a:off x="5933542" y="2971800"/>
            <a:ext cx="0" cy="32004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65" name="Arrow 734"/>
          <p:cNvCxnSpPr/>
          <p:nvPr/>
        </p:nvCxnSpPr>
        <p:spPr>
          <a:xfrm>
            <a:off x="4984394" y="3621024"/>
            <a:ext cx="0" cy="493776"/>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66" name="Arrow 735"/>
          <p:cNvCxnSpPr/>
          <p:nvPr/>
        </p:nvCxnSpPr>
        <p:spPr>
          <a:xfrm>
            <a:off x="5617159" y="3621024"/>
            <a:ext cx="0" cy="493776"/>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7" name="Text 736"/>
          <p:cNvSpPr txBox="1"/>
          <p:nvPr/>
        </p:nvSpPr>
        <p:spPr>
          <a:xfrm>
            <a:off x="7863840" y="1783080"/>
            <a:ext cx="3776472" cy="4114800"/>
          </a:xfrm>
          <a:prstGeom prst="rect">
            <a:avLst/>
          </a:prstGeom>
          <a:noFill/>
        </p:spPr>
        <p:txBody>
          <a:bodyPr wrap="square" anchor="t" lIns="0" rIns="0" tIns="0" bIns="0">
            <a:spAutoFit/>
          </a:bodyPr>
          <a:lstStyle/>
          <a:p>
            <a:pPr algn="l" marL="228600" indent="-228600">
              <a:spcAft>
                <a:spcPts val="1000"/>
              </a:spcAft>
              <a:buClr>
                <a:schemeClr val="accent1"/>
              </a:buClr>
              <a:buChar char="•"/>
            </a:pPr>
            <a:r>
              <a:rPr sz="1500" b="0">
                <a:solidFill>
                  <a:schemeClr val="tx1"/>
                </a:solidFill>
              </a:rPr>
              <a:t>Republishes only globalSeqNo last + 1</a:t>
            </a:r>
          </a:p>
          <a:p>
            <a:pPr algn="l" marL="228600" indent="-228600">
              <a:spcAft>
                <a:spcPts val="1000"/>
              </a:spcAft>
              <a:buClr>
                <a:schemeClr val="accent1"/>
              </a:buClr>
              <a:buChar char="•"/>
            </a:pPr>
            <a:r>
              <a:rPr sz="1500" b="0">
                <a:solidFill>
                  <a:schemeClr val="tx1"/>
                </a:solidFill>
              </a:rPr>
              <a:t>Resumes at the same recording position on the next member</a:t>
            </a:r>
          </a:p>
          <a:p>
            <a:pPr algn="l" marL="228600" indent="-228600">
              <a:spcAft>
                <a:spcPts val="1000"/>
              </a:spcAft>
              <a:buClr>
                <a:schemeClr val="accent1"/>
              </a:buClr>
              <a:buChar char="•"/>
            </a:pPr>
            <a:r>
              <a:rPr sz="1500" b="0">
                <a:solidFill>
                  <a:schemeClr val="tx1"/>
                </a:solidFill>
              </a:rPr>
              <a:t>Restart relays from globalSeqNo 1 into a new recording, as a member's restart does</a:t>
            </a:r>
          </a:p>
          <a:p>
            <a:pPr algn="l" marL="228600" indent="-228600">
              <a:buClr>
                <a:schemeClr val="accent1"/>
              </a:buClr>
              <a:buChar char="•"/>
            </a:pPr>
            <a:r>
              <a:rPr sz="1500" b="0">
                <a:solidFill>
                  <a:schemeClr val="tx1"/>
                </a:solidFill>
              </a:rPr>
              <a:t>Costs the member one archive replay per host; the sequencer nothing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A lost session is replaced, not fenced</a:t>
            </a:r>
          </a:p>
        </p:txBody>
      </p:sp>
      <p:sp>
        <p:nvSpPr>
          <p:cNvPr id="3" name="Text 737"/>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Unless the instance announced itself on it</a:t>
            </a:r>
          </a:p>
        </p:txBody>
      </p:sp>
      <p:sp>
        <p:nvSpPr>
          <p:cNvPr id="9045" name="Slide number"/>
          <p:cNvSpPr txBox="1"/>
          <p:nvPr userDrawn="1"/>
        </p:nvSpPr>
        <p:spPr>
          <a:xfrm>
            <a:off x="10728655" y="6400800"/>
            <a:ext cx="914400" cy="274320"/>
          </a:xfrm>
          <a:prstGeom prst="rect">
            <a:avLst/>
          </a:prstGeom>
          <a:noFill/>
        </p:spPr>
        <p:txBody>
          <a:bodyPr wrap="none" lIns="0" tIns="0" rIns="0" bIns="0" anchor="ctr"/>
          <a:lstStyle/>
          <a:p>
            <a:pPr algn="r"/>
            <a:fld id="{d93f7dfb-a866-4c8c-b66b-75e6daaaea65}" type="slidenum">
              <a:rPr lang="en-US" sz="1000" dirty="0">
                <a:solidFill>
                  <a:schemeClr val="accent5"/>
                </a:solidFill>
              </a:rPr>
              <a:t>45</a:t>
            </a:fld>
          </a:p>
        </p:txBody>
      </p:sp>
      <p:sp>
        <p:nvSpPr>
          <p:cNvPr id="9046" name="Card 738"/>
          <p:cNvSpPr/>
          <p:nvPr/>
        </p:nvSpPr>
        <p:spPr>
          <a:xfrm>
            <a:off x="548640" y="1691640"/>
            <a:ext cx="3511296"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2000" b="1" cap="none">
                <a:solidFill>
                  <a:schemeClr val="accent1"/>
                </a:solidFill>
                <a:latin typeface="+mj-lt"/>
              </a:rPr>
              <a:t>Replaces</a:t>
            </a:r>
          </a:p>
          <a:p>
            <a:pPr algn="l"/>
            <a:r>
              <a:rPr sz="1500" b="0">
                <a:solidFill>
                  <a:schemeClr val="tx1"/>
                </a:solidFill>
              </a:rPr>
              <a:t>An application, a gateway standby, or an instance designated after its session was lost. It opens a new session the way it opened the first.</a:t>
            </a:r>
          </a:p>
        </p:txBody>
      </p:sp>
      <p:sp>
        <p:nvSpPr>
          <p:cNvPr id="9047" name="Card 739"/>
          <p:cNvSpPr/>
          <p:nvPr/>
        </p:nvSpPr>
        <p:spPr>
          <a:xfrm>
            <a:off x="4338828" y="1691640"/>
            <a:ext cx="3511296" cy="283464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2000" b="1" cap="none">
                <a:solidFill>
                  <a:schemeClr val="accent2"/>
                </a:solidFill>
                <a:latin typeface="+mj-lt"/>
              </a:rPr>
              <a:t>Fences</a:t>
            </a:r>
          </a:p>
          <a:p>
            <a:pPr algn="l"/>
            <a:r>
              <a:rPr sz="1500" b="0">
                <a:solidFill>
                  <a:schemeClr val="tx1"/>
                </a:solidFill>
              </a:rPr>
              <a:t>A gateway instance that announced itself on the lost session. Closing that session promotes its sibling, and the queue carries no frame for the close.</a:t>
            </a:r>
          </a:p>
        </p:txBody>
      </p:sp>
      <p:sp>
        <p:nvSpPr>
          <p:cNvPr id="9048" name="Card 740"/>
          <p:cNvSpPr/>
          <p:nvPr/>
        </p:nvSpPr>
        <p:spPr>
          <a:xfrm>
            <a:off x="8129016" y="1691640"/>
            <a:ext cx="3511296"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800"/>
              </a:spcAft>
            </a:pPr>
            <a:r>
              <a:rPr sz="2000" b="1" cap="none">
                <a:solidFill>
                  <a:schemeClr val="tx1"/>
                </a:solidFill>
                <a:latin typeface="+mj-lt"/>
              </a:rPr>
              <a:t>Drops</a:t>
            </a:r>
          </a:p>
          <a:p>
            <a:pPr algn="l"/>
            <a:r>
              <a:rPr sz="1500" b="0">
                <a:solidFill>
                  <a:schemeClr val="tx1"/>
                </a:solidFill>
              </a:rPr>
              <a:t>What was unconfirmed on the old session is not resent: its close is on no queue, so what reached the log cannot be counted.</a:t>
            </a:r>
          </a:p>
        </p:txBody>
      </p:sp>
      <p:sp>
        <p:nvSpPr>
          <p:cNvPr id="9049" name="Card 741"/>
          <p:cNvSpPr/>
          <p:nvPr/>
        </p:nvSpPr>
        <p:spPr>
          <a:xfrm>
            <a:off x="548640" y="4846320"/>
            <a:ext cx="11094415"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r>
              <a:rPr sz="1600" b="1">
                <a:solidFill>
                  <a:schemeClr val="tx1"/>
                </a:solidFill>
              </a:rPr>
              <a:t>Never blocks the duty cycle. </a:t>
            </a:r>
            <a:r>
              <a:rPr sz="1600" b="0">
                <a:solidFill>
                  <a:schemeClr val="tx1"/>
                </a:solidFill>
              </a:rPr>
              <a:t>An attempt starts at most once a second and advances a step per doWork(). With no session after 20 s and the attempt under way failed, the instance fences.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The snapshot protocol</a:t>
            </a:r>
          </a:p>
        </p:txBody>
      </p:sp>
      <p:sp>
        <p:nvSpPr>
          <p:cNvPr id="3" name="Text 742"/>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Four frames on the log; the records never enter it</a:t>
            </a:r>
          </a:p>
        </p:txBody>
      </p:sp>
      <p:sp>
        <p:nvSpPr>
          <p:cNvPr id="9046" name="Slide number"/>
          <p:cNvSpPr txBox="1"/>
          <p:nvPr userDrawn="1"/>
        </p:nvSpPr>
        <p:spPr>
          <a:xfrm>
            <a:off x="10728655" y="6400800"/>
            <a:ext cx="914400" cy="274320"/>
          </a:xfrm>
          <a:prstGeom prst="rect">
            <a:avLst/>
          </a:prstGeom>
          <a:noFill/>
        </p:spPr>
        <p:txBody>
          <a:bodyPr wrap="none" lIns="0" tIns="0" rIns="0" bIns="0" anchor="ctr"/>
          <a:lstStyle/>
          <a:p>
            <a:pPr algn="r"/>
            <a:fld id="{b6a2003c-27c4-43e9-8364-bdf5706d7d07}" type="slidenum">
              <a:rPr lang="en-US" sz="1000" dirty="0">
                <a:solidFill>
                  <a:schemeClr val="accent5"/>
                </a:solidFill>
              </a:rPr>
              <a:t>46</a:t>
            </a:fld>
          </a:p>
        </p:txBody>
      </p:sp>
      <p:graphicFrame>
        <p:nvGraphicFramePr>
          <p:cNvPr id="9047" name="Table 743"/>
          <p:cNvGraphicFramePr>
            <a:graphicFrameLocks noGrp="1"/>
          </p:cNvGraphicFramePr>
          <p:nvPr/>
        </p:nvGraphicFramePr>
        <p:xfrm>
          <a:off x="548640" y="1691640"/>
          <a:ext cx="11091672" cy="3017520"/>
        </p:xfrm>
        <a:graphic>
          <a:graphicData uri="http://schemas.openxmlformats.org/drawingml/2006/table">
            <a:tbl>
              <a:tblPr firstRow="1">
                <a:tableStyleId>{5C22544A-7EE6-4342-B048-85BDC9FD1C3A}</a:tableStyleId>
              </a:tblPr>
              <a:tblGrid>
                <a:gridCol w="2606040"/>
                <a:gridCol w="2377440"/>
                <a:gridCol w="2743200"/>
                <a:gridCol w="3364992"/>
              </a:tblGrid>
              <a:tr h="502920">
                <a:tc>
                  <a:txBody>
                    <a:bodyPr/>
                    <a:lstStyle/>
                    <a:p>
                      <a:pPr algn="l"/>
                      <a:r>
                        <a:rPr sz="1200" b="1">
                          <a:solidFill>
                            <a:schemeClr val="bg1"/>
                          </a:solidFill>
                        </a:rPr>
                        <a:t>Message</a:t>
                      </a:r>
                    </a:p>
                  </a:txBody>
                  <a:tcPr marL="91440" marR="91440" marT="45720" marB="45720" anchor="ctr">
                    <a:solidFill>
                      <a:schemeClr val="accent1"/>
                    </a:solidFill>
                  </a:tcPr>
                </a:tc>
                <a:tc>
                  <a:txBody>
                    <a:bodyPr/>
                    <a:lstStyle/>
                    <a:p>
                      <a:pPr algn="l"/>
                      <a:r>
                        <a:rPr sz="1200" b="1">
                          <a:solidFill>
                            <a:schemeClr val="bg1"/>
                          </a:solidFill>
                        </a:rPr>
                        <a:t>Sent by</a:t>
                      </a:r>
                    </a:p>
                  </a:txBody>
                  <a:tcPr marL="91440" marR="91440" marT="45720" marB="45720" anchor="ctr">
                    <a:solidFill>
                      <a:schemeClr val="accent1"/>
                    </a:solidFill>
                  </a:tcPr>
                </a:tc>
                <a:tc>
                  <a:txBody>
                    <a:bodyPr/>
                    <a:lstStyle/>
                    <a:p>
                      <a:pPr algn="l"/>
                      <a:r>
                        <a:rPr sz="1200" b="1">
                          <a:solidFill>
                            <a:schemeClr val="bg1"/>
                          </a:solidFill>
                        </a:rPr>
                        <a:t>Fields</a:t>
                      </a:r>
                    </a:p>
                  </a:txBody>
                  <a:tcPr marL="91440" marR="91440" marT="45720" marB="45720" anchor="ctr">
                    <a:solidFill>
                      <a:schemeClr val="accent1"/>
                    </a:solidFill>
                  </a:tcPr>
                </a:tc>
                <a:tc>
                  <a:txBody>
                    <a:bodyPr/>
                    <a:lstStyle/>
                    <a:p>
                      <a:pPr algn="l"/>
                      <a:r>
                        <a:rPr sz="1200" b="1">
                          <a:solidFill>
                            <a:schemeClr val="bg1"/>
                          </a:solidFill>
                        </a:rPr>
                        <a:t>Effect</a:t>
                      </a:r>
                    </a:p>
                  </a:txBody>
                  <a:tcPr marL="91440" marR="91440" marT="45720" marB="45720" anchor="ctr">
                    <a:solidFill>
                      <a:schemeClr val="accent1"/>
                    </a:solidFill>
                  </a:tcPr>
                </a:tc>
              </a:tr>
              <a:tr h="502920">
                <a:tc>
                  <a:txBody>
                    <a:bodyPr/>
                    <a:lstStyle/>
                    <a:p>
                      <a:pPr algn="l"/>
                      <a:r>
                        <a:rPr sz="1300" b="1">
                          <a:solidFill>
                            <a:schemeClr val="tx1"/>
                          </a:solidFill>
                        </a:rPr>
                        <a:t>SnapshotPolicyRegistered</a:t>
                      </a:r>
                    </a:p>
                  </a:txBody>
                  <a:tcPr marL="91440" marR="91440" marT="45720" marB="45720" anchor="ctr">
                    <a:solidFill>
                      <a:schemeClr val="bg1"/>
                    </a:solidFill>
                  </a:tcPr>
                </a:tc>
                <a:tc>
                  <a:txBody>
                    <a:bodyPr/>
                    <a:lstStyle/>
                    <a:p>
                      <a:pPr algn="l"/>
                      <a:r>
                        <a:rPr sz="1300" b="0">
                          <a:solidFill>
                            <a:schemeClr val="tx1"/>
                          </a:solidFill>
                        </a:rPr>
                        <a:t>clusterctl load-topology</a:t>
                      </a:r>
                    </a:p>
                  </a:txBody>
                  <a:tcPr marL="91440" marR="91440" marT="45720" marB="45720" anchor="ctr">
                    <a:solidFill>
                      <a:schemeClr val="bg1"/>
                    </a:solidFill>
                  </a:tcPr>
                </a:tc>
                <a:tc>
                  <a:txBody>
                    <a:bodyPr/>
                    <a:lstStyle/>
                    <a:p>
                      <a:pPr algn="l"/>
                      <a:r>
                        <a:rPr sz="1300" b="0">
                          <a:solidFill>
                            <a:schemeClr val="tx1"/>
                          </a:solidFill>
                        </a:rPr>
                        <a:t>intervalSeconds</a:t>
                      </a:r>
                    </a:p>
                  </a:txBody>
                  <a:tcPr marL="91440" marR="91440" marT="45720" marB="45720" anchor="ctr">
                    <a:solidFill>
                      <a:schemeClr val="bg1"/>
                    </a:solidFill>
                  </a:tcPr>
                </a:tc>
                <a:tc>
                  <a:txBody>
                    <a:bodyPr/>
                    <a:lstStyle/>
                    <a:p>
                      <a:pPr algn="l"/>
                      <a:r>
                        <a:rPr sz="1300" b="0">
                          <a:solidFill>
                            <a:schemeClr val="tx1"/>
                          </a:solidFill>
                        </a:rPr>
                        <a:t>Turns rounds on; 0 is operator requests only</a:t>
                      </a:r>
                    </a:p>
                  </a:txBody>
                  <a:tcPr marL="91440" marR="91440" marT="45720" marB="45720" anchor="ctr">
                    <a:solidFill>
                      <a:schemeClr val="bg1"/>
                    </a:solidFill>
                  </a:tcPr>
                </a:tc>
              </a:tr>
              <a:tr h="502920">
                <a:tc>
                  <a:txBody>
                    <a:bodyPr/>
                    <a:lstStyle/>
                    <a:p>
                      <a:pPr algn="l"/>
                      <a:r>
                        <a:rPr sz="1300" b="1">
                          <a:solidFill>
                            <a:schemeClr val="tx1"/>
                          </a:solidFill>
                        </a:rPr>
                        <a:t>GatewayRegistered, ApplicationRegistered</a:t>
                      </a:r>
                    </a:p>
                  </a:txBody>
                  <a:tcPr marL="91440" marR="91440" marT="45720" marB="45720" anchor="ctr">
                    <a:solidFill>
                      <a:schemeClr val="bg2"/>
                    </a:solidFill>
                  </a:tcPr>
                </a:tc>
                <a:tc>
                  <a:txBody>
                    <a:bodyPr/>
                    <a:lstStyle/>
                    <a:p>
                      <a:pPr algn="l"/>
                      <a:r>
                        <a:rPr sz="1300" b="0">
                          <a:solidFill>
                            <a:schemeClr val="tx1"/>
                          </a:solidFill>
                        </a:rPr>
                        <a:t>clusterctl load-topology</a:t>
                      </a:r>
                    </a:p>
                  </a:txBody>
                  <a:tcPr marL="91440" marR="91440" marT="45720" marB="45720" anchor="ctr">
                    <a:solidFill>
                      <a:schemeClr val="bg2"/>
                    </a:solidFill>
                  </a:tcPr>
                </a:tc>
                <a:tc>
                  <a:txBody>
                    <a:bodyPr/>
                    <a:lstStyle/>
                    <a:p>
                      <a:pPr algn="l"/>
                      <a:r>
                        <a:rPr sz="1300" b="0">
                          <a:solidFill>
                            <a:schemeClr val="tx1"/>
                          </a:solidFill>
                        </a:rPr>
                        <a:t>snapshot</a:t>
                      </a:r>
                    </a:p>
                  </a:txBody>
                  <a:tcPr marL="91440" marR="91440" marT="45720" marB="45720" anchor="ctr">
                    <a:solidFill>
                      <a:schemeClr val="bg2"/>
                    </a:solidFill>
                  </a:tcPr>
                </a:tc>
                <a:tc>
                  <a:txBody>
                    <a:bodyPr/>
                    <a:lstStyle/>
                    <a:p>
                      <a:pPr algn="l"/>
                      <a:r>
                        <a:rPr sz="1300" b="0">
                          <a:solidFill>
                            <a:schemeClr val="tx1"/>
                          </a:solidFill>
                        </a:rPr>
                        <a:t>Whether that source takes part; read by its façades</a:t>
                      </a:r>
                    </a:p>
                  </a:txBody>
                  <a:tcPr marL="91440" marR="91440" marT="45720" marB="45720" anchor="ctr">
                    <a:solidFill>
                      <a:schemeClr val="bg2"/>
                    </a:solidFill>
                  </a:tcPr>
                </a:tc>
              </a:tr>
              <a:tr h="502920">
                <a:tc>
                  <a:txBody>
                    <a:bodyPr/>
                    <a:lstStyle/>
                    <a:p>
                      <a:pPr algn="l"/>
                      <a:r>
                        <a:rPr sz="1300" b="1">
                          <a:solidFill>
                            <a:schemeClr val="tx1"/>
                          </a:solidFill>
                        </a:rPr>
                        <a:t>SnapshotRequested</a:t>
                      </a:r>
                    </a:p>
                  </a:txBody>
                  <a:tcPr marL="91440" marR="91440" marT="45720" marB="45720" anchor="ctr">
                    <a:solidFill>
                      <a:schemeClr val="bg1"/>
                    </a:solidFill>
                  </a:tcPr>
                </a:tc>
                <a:tc>
                  <a:txBody>
                    <a:bodyPr/>
                    <a:lstStyle/>
                    <a:p>
                      <a:pPr algn="l"/>
                      <a:r>
                        <a:rPr sz="1300" b="0">
                          <a:solidFill>
                            <a:schemeClr val="tx1"/>
                          </a:solidFill>
                        </a:rPr>
                        <a:t>clusterctl request-snapshot</a:t>
                      </a:r>
                    </a:p>
                  </a:txBody>
                  <a:tcPr marL="91440" marR="91440" marT="45720" marB="45720" anchor="ctr">
                    <a:solidFill>
                      <a:schemeClr val="bg1"/>
                    </a:solidFill>
                  </a:tcPr>
                </a:tc>
                <a:tc>
                  <a:txBody>
                    <a:bodyPr/>
                    <a:lstStyle/>
                    <a:p>
                      <a:pPr algn="l"/>
                      <a:r>
                        <a:rPr sz="1300" b="0">
                          <a:solidFill>
                            <a:schemeClr val="tx1"/>
                          </a:solidFill>
                        </a:rPr>
                        <a:t>correlationId</a:t>
                      </a:r>
                    </a:p>
                  </a:txBody>
                  <a:tcPr marL="91440" marR="91440" marT="45720" marB="45720" anchor="ctr">
                    <a:solidFill>
                      <a:schemeClr val="bg1"/>
                    </a:solidFill>
                  </a:tcPr>
                </a:tc>
                <a:tc>
                  <a:txBody>
                    <a:bodyPr/>
                    <a:lstStyle/>
                    <a:p>
                      <a:pPr algn="l"/>
                      <a:r>
                        <a:rPr sz="1300" b="0">
                          <a:solidFill>
                            <a:schemeClr val="tx1"/>
                          </a:solidFill>
                        </a:rPr>
                        <a:t>SnapshotStarted at the next globalSeqNo</a:t>
                      </a:r>
                    </a:p>
                  </a:txBody>
                  <a:tcPr marL="91440" marR="91440" marT="45720" marB="45720" anchor="ctr">
                    <a:solidFill>
                      <a:schemeClr val="bg1"/>
                    </a:solidFill>
                  </a:tcPr>
                </a:tc>
              </a:tr>
              <a:tr h="502920">
                <a:tc>
                  <a:txBody>
                    <a:bodyPr/>
                    <a:lstStyle/>
                    <a:p>
                      <a:pPr algn="l"/>
                      <a:r>
                        <a:rPr sz="1300" b="1">
                          <a:solidFill>
                            <a:schemeClr val="tx1"/>
                          </a:solidFill>
                        </a:rPr>
                        <a:t>SnapshotStarted</a:t>
                      </a:r>
                    </a:p>
                  </a:txBody>
                  <a:tcPr marL="91440" marR="91440" marT="45720" marB="45720" anchor="ctr">
                    <a:solidFill>
                      <a:schemeClr val="bg2"/>
                    </a:solidFill>
                  </a:tcPr>
                </a:tc>
                <a:tc>
                  <a:txBody>
                    <a:bodyPr/>
                    <a:lstStyle/>
                    <a:p>
                      <a:pPr algn="l"/>
                      <a:r>
                        <a:rPr sz="1300" b="0">
                          <a:solidFill>
                            <a:schemeClr val="tx1"/>
                          </a:solidFill>
                        </a:rPr>
                        <a:t>the sequencer only</a:t>
                      </a:r>
                    </a:p>
                  </a:txBody>
                  <a:tcPr marL="91440" marR="91440" marT="45720" marB="45720" anchor="ctr">
                    <a:solidFill>
                      <a:schemeClr val="bg2"/>
                    </a:solidFill>
                  </a:tcPr>
                </a:tc>
                <a:tc>
                  <a:txBody>
                    <a:bodyPr/>
                    <a:lstStyle/>
                    <a:p>
                      <a:pPr algn="l"/>
                      <a:r>
                        <a:rPr sz="1300" b="0">
                          <a:solidFill>
                            <a:schemeClr val="tx1"/>
                          </a:solidFill>
                        </a:rPr>
                        <a:t>round</a:t>
                      </a:r>
                    </a:p>
                  </a:txBody>
                  <a:tcPr marL="91440" marR="91440" marT="45720" marB="45720" anchor="ctr">
                    <a:solidFill>
                      <a:schemeClr val="bg2"/>
                    </a:solidFill>
                  </a:tcPr>
                </a:tc>
                <a:tc>
                  <a:txBody>
                    <a:bodyPr/>
                    <a:lstStyle/>
                    <a:p>
                      <a:pPr algn="l"/>
                      <a:r>
                        <a:rPr sz="1300" b="0">
                          <a:solidFill>
                            <a:schemeClr val="tx1"/>
                          </a:solidFill>
                        </a:rPr>
                        <a:t>The cut: every participating instance serializes here</a:t>
                      </a:r>
                    </a:p>
                  </a:txBody>
                  <a:tcPr marL="91440" marR="91440" marT="45720" marB="45720" anchor="ctr">
                    <a:solidFill>
                      <a:schemeClr val="bg2"/>
                    </a:solidFill>
                  </a:tcPr>
                </a:tc>
              </a:tr>
              <a:tr h="502920">
                <a:tc>
                  <a:txBody>
                    <a:bodyPr/>
                    <a:lstStyle/>
                    <a:p>
                      <a:pPr algn="l"/>
                      <a:r>
                        <a:rPr sz="1300" b="1">
                          <a:solidFill>
                            <a:schemeClr val="tx1"/>
                          </a:solidFill>
                        </a:rPr>
                        <a:t>SnapshotEnd</a:t>
                      </a:r>
                    </a:p>
                  </a:txBody>
                  <a:tcPr marL="91440" marR="91440" marT="45720" marB="45720" anchor="ctr">
                    <a:solidFill>
                      <a:schemeClr val="bg1"/>
                    </a:solidFill>
                  </a:tcPr>
                </a:tc>
                <a:tc>
                  <a:txBody>
                    <a:bodyPr/>
                    <a:lstStyle/>
                    <a:p>
                      <a:pPr algn="l"/>
                      <a:r>
                        <a:rPr sz="1300" b="0">
                          <a:solidFill>
                            <a:schemeClr val="tx1"/>
                          </a:solidFill>
                        </a:rPr>
                        <a:t>the instance that may publish</a:t>
                      </a:r>
                    </a:p>
                  </a:txBody>
                  <a:tcPr marL="91440" marR="91440" marT="45720" marB="45720" anchor="ctr">
                    <a:solidFill>
                      <a:schemeClr val="bg1"/>
                    </a:solidFill>
                  </a:tcPr>
                </a:tc>
                <a:tc>
                  <a:txBody>
                    <a:bodyPr/>
                    <a:lstStyle/>
                    <a:p>
                      <a:pPr algn="l"/>
                      <a:r>
                        <a:rPr sz="1300" b="0">
                          <a:solidFill>
                            <a:schemeClr val="tx1"/>
                          </a:solidFill>
                        </a:rPr>
                        <a:t>round, recordCount, length, crc32c</a:t>
                      </a:r>
                    </a:p>
                  </a:txBody>
                  <a:tcPr marL="91440" marR="91440" marT="45720" marB="45720" anchor="ctr">
                    <a:solidFill>
                      <a:schemeClr val="bg1"/>
                    </a:solidFill>
                  </a:tcPr>
                </a:tc>
                <a:tc>
                  <a:txBody>
                    <a:bodyPr/>
                    <a:lstStyle/>
                    <a:p>
                      <a:pPr algn="l"/>
                      <a:r>
                        <a:rPr sz="1300" b="0">
                          <a:solidFill>
                            <a:schemeClr val="tx1"/>
                          </a:solidFill>
                        </a:rPr>
                        <a:t>Each instance compares: a match confirms its file, a difference fences</a:t>
                      </a:r>
                    </a:p>
                  </a:txBody>
                  <a:tcPr marL="91440" marR="91440" marT="45720" marB="45720" anchor="ctr">
                    <a:solidFill>
                      <a:schemeClr val="bg1"/>
                    </a:solidFill>
                  </a:tcPr>
                </a:tc>
              </a:tr>
            </a:tbl>
          </a:graphicData>
        </a:graphic>
      </p:graphicFrame>
      <p:sp>
        <p:nvSpPr>
          <p:cNvPr id="9048" name="Text 744"/>
          <p:cNvSpPr txBox="1"/>
          <p:nvPr/>
        </p:nvSpPr>
        <p:spPr>
          <a:xfrm>
            <a:off x="548640" y="5074920"/>
            <a:ext cx="11094415" cy="365760"/>
          </a:xfrm>
          <a:prstGeom prst="rect">
            <a:avLst/>
          </a:prstGeom>
          <a:noFill/>
        </p:spPr>
        <p:txBody>
          <a:bodyPr wrap="square" anchor="t" lIns="0" rIns="0" tIns="0" bIns="0">
            <a:spAutoFit/>
          </a:bodyPr>
          <a:lstStyle/>
          <a:p>
            <a:pPr algn="l"/>
            <a:r>
              <a:rPr sz="1300" b="0">
                <a:solidFill>
                  <a:schemeClr val="accent5"/>
                </a:solidFill>
              </a:rPr>
              <a:t>All schema 210. A file's trailer carries its round, record count, length, CRC32C and cut: globalSeqNo, recording position and timestamp.</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Replay sequence: when history is not served</a:t>
            </a:r>
          </a:p>
        </p:txBody>
      </p:sp>
      <p:sp>
        <p:nvSpPr>
          <p:cNvPr id="3" name="Text 745"/>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Pending holds the client at the gap; a mismatch stops it</a:t>
            </a:r>
          </a:p>
        </p:txBody>
      </p:sp>
      <p:sp>
        <p:nvSpPr>
          <p:cNvPr id="9047" name="Slide number"/>
          <p:cNvSpPr txBox="1"/>
          <p:nvPr userDrawn="1"/>
        </p:nvSpPr>
        <p:spPr>
          <a:xfrm>
            <a:off x="10728655" y="6400800"/>
            <a:ext cx="914400" cy="274320"/>
          </a:xfrm>
          <a:prstGeom prst="rect">
            <a:avLst/>
          </a:prstGeom>
          <a:noFill/>
        </p:spPr>
        <p:txBody>
          <a:bodyPr wrap="none" lIns="0" tIns="0" rIns="0" bIns="0" anchor="ctr"/>
          <a:lstStyle/>
          <a:p>
            <a:pPr algn="r"/>
            <a:fld id="{baf84e9f-9383-468a-970e-7c2e3d876b74}" type="slidenum">
              <a:rPr lang="en-US" sz="1000" dirty="0">
                <a:solidFill>
                  <a:schemeClr val="accent5"/>
                </a:solidFill>
              </a:rPr>
              <a:t>47</a:t>
            </a:fld>
          </a:p>
        </p:txBody>
      </p:sp>
      <p:sp>
        <p:nvSpPr>
          <p:cNvPr id="9048" name="Lane 746"/>
          <p:cNvSpPr/>
          <p:nvPr/>
        </p:nvSpPr>
        <p:spPr>
          <a:xfrm>
            <a:off x="594360" y="1444752"/>
            <a:ext cx="1920240" cy="420624"/>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Live queue</a:t>
            </a:r>
          </a:p>
          <a:p>
            <a:pPr algn="ctr"/>
            <a:r>
              <a:rPr sz="900" b="0">
                <a:solidFill>
                  <a:schemeClr val="accent5"/>
                </a:solidFill>
              </a:rPr>
              <a:t>stream 205</a:t>
            </a:r>
          </a:p>
        </p:txBody>
      </p:sp>
      <p:sp>
        <p:nvSpPr>
          <p:cNvPr id="9049" name="Lane 747"/>
          <p:cNvSpPr/>
          <p:nvPr/>
        </p:nvSpPr>
        <p:spPr>
          <a:xfrm>
            <a:off x="2788920" y="1444752"/>
            <a:ext cx="1920240" cy="420624"/>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Client</a:t>
            </a:r>
          </a:p>
          <a:p>
            <a:pPr algn="ctr"/>
            <a:r>
              <a:rPr sz="900" b="0">
                <a:solidFill>
                  <a:schemeClr val="accent5"/>
                </a:solidFill>
              </a:rPr>
              <a:t>ReplayerStreamReceiver</a:t>
            </a:r>
          </a:p>
        </p:txBody>
      </p:sp>
      <p:sp>
        <p:nvSpPr>
          <p:cNvPr id="9050" name="Lane 748"/>
          <p:cNvSpPr/>
          <p:nvPr/>
        </p:nvSpPr>
        <p:spPr>
          <a:xfrm>
            <a:off x="6720840" y="1444752"/>
            <a:ext cx="1920240" cy="420624"/>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ReplayerService</a:t>
            </a:r>
          </a:p>
          <a:p>
            <a:pPr algn="ctr"/>
            <a:r>
              <a:rPr sz="900" b="0">
                <a:solidFill>
                  <a:schemeClr val="accent5"/>
                </a:solidFill>
              </a:rPr>
              <a:t>requests 202 · replies 203</a:t>
            </a:r>
          </a:p>
        </p:txBody>
      </p:sp>
      <p:sp>
        <p:nvSpPr>
          <p:cNvPr id="9051" name="Lane 749"/>
          <p:cNvSpPr/>
          <p:nvPr/>
        </p:nvSpPr>
        <p:spPr>
          <a:xfrm>
            <a:off x="9692640" y="1444752"/>
            <a:ext cx="1920240" cy="42062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Archive</a:t>
            </a:r>
          </a:p>
          <a:p>
            <a:pPr algn="ctr"/>
            <a:r>
              <a:rPr sz="900" b="0">
                <a:solidFill>
                  <a:schemeClr val="accent5"/>
                </a:solidFill>
              </a:rPr>
              <a:t>active queue recording</a:t>
            </a:r>
          </a:p>
        </p:txBody>
      </p:sp>
      <p:cxnSp>
        <p:nvCxnSpPr>
          <p:cNvPr id="9052" name="Arrow 750"/>
          <p:cNvCxnSpPr/>
          <p:nvPr/>
        </p:nvCxnSpPr>
        <p:spPr>
          <a:xfrm>
            <a:off x="155448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3" name="Arrow 751"/>
          <p:cNvCxnSpPr/>
          <p:nvPr/>
        </p:nvCxnSpPr>
        <p:spPr>
          <a:xfrm>
            <a:off x="374904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4" name="Arrow 752"/>
          <p:cNvCxnSpPr/>
          <p:nvPr/>
        </p:nvCxnSpPr>
        <p:spPr>
          <a:xfrm>
            <a:off x="768096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5" name="Arrow 753"/>
          <p:cNvCxnSpPr/>
          <p:nvPr/>
        </p:nvCxnSpPr>
        <p:spPr>
          <a:xfrm>
            <a:off x="1065276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6" name="Arrow 754"/>
          <p:cNvCxnSpPr/>
          <p:nvPr/>
        </p:nvCxnSpPr>
        <p:spPr>
          <a:xfrm>
            <a:off x="7619695" y="1197864"/>
            <a:ext cx="32004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7" name="Text 755"/>
          <p:cNvSpPr txBox="1"/>
          <p:nvPr/>
        </p:nvSpPr>
        <p:spPr>
          <a:xfrm>
            <a:off x="8003743" y="1088136"/>
            <a:ext cx="621792" cy="219456"/>
          </a:xfrm>
          <a:prstGeom prst="rect">
            <a:avLst/>
          </a:prstGeom>
          <a:noFill/>
        </p:spPr>
        <p:txBody>
          <a:bodyPr wrap="square" anchor="ctr" lIns="0" rIns="0" tIns="0" bIns="0">
            <a:spAutoFit/>
          </a:bodyPr>
          <a:lstStyle/>
          <a:p>
            <a:pPr algn="l"/>
            <a:r>
              <a:rPr sz="1000" b="0">
                <a:solidFill>
                  <a:schemeClr val="accent5"/>
                </a:solidFill>
              </a:rPr>
              <a:t>live queue</a:t>
            </a:r>
          </a:p>
        </p:txBody>
      </p:sp>
      <p:cxnSp>
        <p:nvCxnSpPr>
          <p:cNvPr id="9058" name="Arrow 756"/>
          <p:cNvCxnSpPr/>
          <p:nvPr/>
        </p:nvCxnSpPr>
        <p:spPr>
          <a:xfrm>
            <a:off x="8625535" y="1197864"/>
            <a:ext cx="320040" cy="0"/>
          </a:xfrm>
          <a:prstGeom prst="line">
            <a:avLst/>
          </a:prstGeom>
          <a:ln w="2222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9" name="Text 757"/>
          <p:cNvSpPr txBox="1"/>
          <p:nvPr/>
        </p:nvSpPr>
        <p:spPr>
          <a:xfrm>
            <a:off x="9009583" y="1088136"/>
            <a:ext cx="621792" cy="219456"/>
          </a:xfrm>
          <a:prstGeom prst="rect">
            <a:avLst/>
          </a:prstGeom>
          <a:noFill/>
        </p:spPr>
        <p:txBody>
          <a:bodyPr wrap="square" anchor="ctr" lIns="0" rIns="0" tIns="0" bIns="0">
            <a:spAutoFit/>
          </a:bodyPr>
          <a:lstStyle/>
          <a:p>
            <a:pPr algn="l"/>
            <a:r>
              <a:rPr sz="1000" b="0">
                <a:solidFill>
                  <a:schemeClr val="accent5"/>
                </a:solidFill>
              </a:rPr>
              <a:t>replay 201</a:t>
            </a:r>
          </a:p>
        </p:txBody>
      </p:sp>
      <p:cxnSp>
        <p:nvCxnSpPr>
          <p:cNvPr id="9060" name="Arrow 758"/>
          <p:cNvCxnSpPr/>
          <p:nvPr/>
        </p:nvCxnSpPr>
        <p:spPr>
          <a:xfrm>
            <a:off x="9631375" y="1197864"/>
            <a:ext cx="32004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1" name="Text 759"/>
          <p:cNvSpPr txBox="1"/>
          <p:nvPr/>
        </p:nvSpPr>
        <p:spPr>
          <a:xfrm>
            <a:off x="10015423" y="1088136"/>
            <a:ext cx="621792" cy="219456"/>
          </a:xfrm>
          <a:prstGeom prst="rect">
            <a:avLst/>
          </a:prstGeom>
          <a:noFill/>
        </p:spPr>
        <p:txBody>
          <a:bodyPr wrap="square" anchor="ctr" lIns="0" rIns="0" tIns="0" bIns="0">
            <a:spAutoFit/>
          </a:bodyPr>
          <a:lstStyle/>
          <a:p>
            <a:pPr algn="l"/>
            <a:r>
              <a:rPr sz="1000" b="0">
                <a:solidFill>
                  <a:schemeClr val="accent5"/>
                </a:solidFill>
              </a:rPr>
              <a:t>request</a:t>
            </a:r>
          </a:p>
        </p:txBody>
      </p:sp>
      <p:cxnSp>
        <p:nvCxnSpPr>
          <p:cNvPr id="9062" name="Arrow 760"/>
          <p:cNvCxnSpPr/>
          <p:nvPr/>
        </p:nvCxnSpPr>
        <p:spPr>
          <a:xfrm>
            <a:off x="10637215" y="1197864"/>
            <a:ext cx="320040"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63" name="Text 761"/>
          <p:cNvSpPr txBox="1"/>
          <p:nvPr/>
        </p:nvSpPr>
        <p:spPr>
          <a:xfrm>
            <a:off x="11021263" y="1088136"/>
            <a:ext cx="621792" cy="219456"/>
          </a:xfrm>
          <a:prstGeom prst="rect">
            <a:avLst/>
          </a:prstGeom>
          <a:noFill/>
        </p:spPr>
        <p:txBody>
          <a:bodyPr wrap="square" anchor="ctr" lIns="0" rIns="0" tIns="0" bIns="0">
            <a:spAutoFit/>
          </a:bodyPr>
          <a:lstStyle/>
          <a:p>
            <a:pPr algn="l"/>
            <a:r>
              <a:rPr sz="1000" b="0">
                <a:solidFill>
                  <a:schemeClr val="accent5"/>
                </a:solidFill>
              </a:rPr>
              <a:t>reply</a:t>
            </a:r>
          </a:p>
        </p:txBody>
      </p:sp>
      <p:sp>
        <p:nvSpPr>
          <p:cNvPr id="9064" name="Text 762"/>
          <p:cNvSpPr txBox="1"/>
          <p:nvPr/>
        </p:nvSpPr>
        <p:spPr>
          <a:xfrm>
            <a:off x="3794760" y="1911096"/>
            <a:ext cx="3840480" cy="228600"/>
          </a:xfrm>
          <a:prstGeom prst="rect">
            <a:avLst/>
          </a:prstGeom>
          <a:noFill/>
        </p:spPr>
        <p:txBody>
          <a:bodyPr wrap="square" anchor="b" lIns="0" rIns="0" tIns="0" bIns="0">
            <a:spAutoFit/>
          </a:bodyPr>
          <a:lstStyle/>
          <a:p>
            <a:pPr algn="ctr"/>
            <a:r>
              <a:rPr sz="1100" b="0">
                <a:solidFill>
                  <a:schemeClr val="tx1"/>
                </a:solidFill>
              </a:rPr>
              <a:t>ReplayRequest(requestId n, fromPosition)</a:t>
            </a:r>
          </a:p>
        </p:txBody>
      </p:sp>
      <p:cxnSp>
        <p:nvCxnSpPr>
          <p:cNvPr id="9065" name="Arrow 763"/>
          <p:cNvCxnSpPr/>
          <p:nvPr/>
        </p:nvCxnSpPr>
        <p:spPr>
          <a:xfrm>
            <a:off x="3749040" y="2157984"/>
            <a:ext cx="393192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6" name="Frame tag 764"/>
          <p:cNvSpPr/>
          <p:nvPr/>
        </p:nvSpPr>
        <p:spPr>
          <a:xfrm>
            <a:off x="548640" y="2267712"/>
            <a:ext cx="566928" cy="21945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chemeClr val="tx1"/>
                </a:solidFill>
              </a:rPr>
              <a:t>ALT</a:t>
            </a:r>
          </a:p>
        </p:txBody>
      </p:sp>
      <p:sp>
        <p:nvSpPr>
          <p:cNvPr id="9067" name="Frame guard 765"/>
          <p:cNvSpPr/>
          <p:nvPr/>
        </p:nvSpPr>
        <p:spPr>
          <a:xfrm>
            <a:off x="1152144" y="2267712"/>
            <a:ext cx="6561734" cy="2194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8" name="Text 766"/>
          <p:cNvSpPr txBox="1"/>
          <p:nvPr/>
        </p:nvSpPr>
        <p:spPr>
          <a:xfrm>
            <a:off x="1207008" y="2267712"/>
            <a:ext cx="6452006" cy="219456"/>
          </a:xfrm>
          <a:prstGeom prst="rect">
            <a:avLst/>
          </a:prstGeom>
          <a:noFill/>
        </p:spPr>
        <p:txBody>
          <a:bodyPr wrap="none" anchor="ctr" lIns="0" rIns="0" tIns="0" bIns="0">
            <a:spAutoFit/>
          </a:bodyPr>
          <a:lstStyle/>
          <a:p>
            <a:pPr algn="l"/>
            <a:r>
              <a:rPr sz="1000" b="0" i="1">
                <a:solidFill>
                  <a:schemeClr val="accent5"/>
                </a:solidFill>
              </a:rPr>
              <a:t>no free slot (4, or 1 while the recorder trails), not ready, not recorded yet, or an archive error</a:t>
            </a:r>
          </a:p>
        </p:txBody>
      </p:sp>
      <p:sp>
        <p:nvSpPr>
          <p:cNvPr id="9069" name="Text 767"/>
          <p:cNvSpPr txBox="1"/>
          <p:nvPr/>
        </p:nvSpPr>
        <p:spPr>
          <a:xfrm>
            <a:off x="3794760" y="2450592"/>
            <a:ext cx="3840480" cy="228600"/>
          </a:xfrm>
          <a:prstGeom prst="rect">
            <a:avLst/>
          </a:prstGeom>
          <a:noFill/>
        </p:spPr>
        <p:txBody>
          <a:bodyPr wrap="square" anchor="b" lIns="0" rIns="0" tIns="0" bIns="0">
            <a:spAutoFit/>
          </a:bodyPr>
          <a:lstStyle/>
          <a:p>
            <a:pPr algn="ctr"/>
            <a:r>
              <a:rPr sz="1100" b="0">
                <a:solidFill>
                  <a:schemeClr val="tx1"/>
                </a:solidFill>
              </a:rPr>
              <a:t>ReplayPending(n): hold at the gap</a:t>
            </a:r>
          </a:p>
        </p:txBody>
      </p:sp>
      <p:cxnSp>
        <p:nvCxnSpPr>
          <p:cNvPr id="9070" name="Arrow 768"/>
          <p:cNvCxnSpPr/>
          <p:nvPr/>
        </p:nvCxnSpPr>
        <p:spPr>
          <a:xfrm flipH="1">
            <a:off x="3749040" y="2697480"/>
            <a:ext cx="3931920"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71" name="Text 769"/>
          <p:cNvSpPr txBox="1"/>
          <p:nvPr/>
        </p:nvSpPr>
        <p:spPr>
          <a:xfrm>
            <a:off x="3794760" y="2743200"/>
            <a:ext cx="3840480" cy="228600"/>
          </a:xfrm>
          <a:prstGeom prst="rect">
            <a:avLst/>
          </a:prstGeom>
          <a:noFill/>
        </p:spPr>
        <p:txBody>
          <a:bodyPr wrap="square" anchor="b" lIns="0" rIns="0" tIns="0" bIns="0">
            <a:spAutoFit/>
          </a:bodyPr>
          <a:lstStyle/>
          <a:p>
            <a:pPr algn="ctr"/>
            <a:r>
              <a:rPr sz="1100" b="0">
                <a:solidFill>
                  <a:schemeClr val="tx1"/>
                </a:solidFill>
              </a:rPr>
              <a:t>ReplayRequest(n + 1, same position) after 500 ms</a:t>
            </a:r>
          </a:p>
        </p:txBody>
      </p:sp>
      <p:cxnSp>
        <p:nvCxnSpPr>
          <p:cNvPr id="9072" name="Arrow 770"/>
          <p:cNvCxnSpPr/>
          <p:nvPr/>
        </p:nvCxnSpPr>
        <p:spPr>
          <a:xfrm>
            <a:off x="3749040" y="2990088"/>
            <a:ext cx="393192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73" name="Arrow 771"/>
          <p:cNvCxnSpPr/>
          <p:nvPr/>
        </p:nvCxnSpPr>
        <p:spPr>
          <a:xfrm>
            <a:off x="548640" y="3118104"/>
            <a:ext cx="11094415" cy="0"/>
          </a:xfrm>
          <a:prstGeom prst="line">
            <a:avLst/>
          </a:prstGeom>
          <a:ln w="15875">
            <a:solidFill>
              <a:schemeClr val="accent5"/>
            </a:solidFill>
            <a:prstDash val="dash"/>
          </a:ln>
        </p:spPr>
        <p:style>
          <a:lnRef idx="2">
            <a:schemeClr val="accent1"/>
          </a:lnRef>
          <a:fillRef idx="0">
            <a:schemeClr val="accent1"/>
          </a:fillRef>
          <a:effectRef idx="1">
            <a:schemeClr val="accent1"/>
          </a:effectRef>
          <a:fontRef idx="minor">
            <a:schemeClr val="tx1"/>
          </a:fontRef>
        </p:style>
      </p:cxnSp>
      <p:sp>
        <p:nvSpPr>
          <p:cNvPr id="9074" name="Frame tag 772"/>
          <p:cNvSpPr/>
          <p:nvPr/>
        </p:nvSpPr>
        <p:spPr>
          <a:xfrm>
            <a:off x="548640" y="3118104"/>
            <a:ext cx="566928" cy="21945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chemeClr val="tx1"/>
                </a:solidFill>
              </a:rPr>
              <a:t>ELSE</a:t>
            </a:r>
          </a:p>
        </p:txBody>
      </p:sp>
      <p:sp>
        <p:nvSpPr>
          <p:cNvPr id="9075" name="Frame guard 773"/>
          <p:cNvSpPr/>
          <p:nvPr/>
        </p:nvSpPr>
        <p:spPr>
          <a:xfrm>
            <a:off x="1152144" y="3118104"/>
            <a:ext cx="3006547" cy="2194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6" name="Text 774"/>
          <p:cNvSpPr txBox="1"/>
          <p:nvPr/>
        </p:nvSpPr>
        <p:spPr>
          <a:xfrm>
            <a:off x="1207008" y="3118104"/>
            <a:ext cx="2896819" cy="219456"/>
          </a:xfrm>
          <a:prstGeom prst="rect">
            <a:avLst/>
          </a:prstGeom>
          <a:noFill/>
        </p:spPr>
        <p:txBody>
          <a:bodyPr wrap="none" anchor="ctr" lIns="0" rIns="0" tIns="0" bIns="0">
            <a:spAutoFit/>
          </a:bodyPr>
          <a:lstStyle/>
          <a:p>
            <a:pPr algn="l"/>
            <a:r>
              <a:rPr sz="1000" b="0" i="1">
                <a:solidFill>
                  <a:schemeClr val="accent5"/>
                </a:solidFill>
              </a:rPr>
              <a:t>the position is not a frame in the recording</a:t>
            </a:r>
          </a:p>
        </p:txBody>
      </p:sp>
      <p:sp>
        <p:nvSpPr>
          <p:cNvPr id="9077" name="Text 775"/>
          <p:cNvSpPr txBox="1"/>
          <p:nvPr/>
        </p:nvSpPr>
        <p:spPr>
          <a:xfrm>
            <a:off x="3794760" y="3300984"/>
            <a:ext cx="3840480" cy="228600"/>
          </a:xfrm>
          <a:prstGeom prst="rect">
            <a:avLst/>
          </a:prstGeom>
          <a:noFill/>
        </p:spPr>
        <p:txBody>
          <a:bodyPr wrap="square" anchor="b" lIns="0" rIns="0" tIns="0" bIns="0">
            <a:spAutoFit/>
          </a:bodyPr>
          <a:lstStyle/>
          <a:p>
            <a:pPr algn="ctr"/>
            <a:r>
              <a:rPr sz="1100" b="0">
                <a:solidFill>
                  <a:schemeClr val="tx1"/>
                </a:solidFill>
              </a:rPr>
              <a:t>Replaying(n, NO_REPLAY_NEEDED)</a:t>
            </a:r>
          </a:p>
        </p:txBody>
      </p:sp>
      <p:cxnSp>
        <p:nvCxnSpPr>
          <p:cNvPr id="9078" name="Arrow 776"/>
          <p:cNvCxnSpPr/>
          <p:nvPr/>
        </p:nvCxnSpPr>
        <p:spPr>
          <a:xfrm flipH="1">
            <a:off x="3749040" y="3547872"/>
            <a:ext cx="3931920"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79" name="Note 777"/>
          <p:cNvSpPr/>
          <p:nvPr/>
        </p:nvSpPr>
        <p:spPr>
          <a:xfrm>
            <a:off x="3822192" y="3593592"/>
            <a:ext cx="3749040" cy="27432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80" name="Text 778"/>
          <p:cNvSpPr txBox="1"/>
          <p:nvPr/>
        </p:nvSpPr>
        <p:spPr>
          <a:xfrm>
            <a:off x="3895344" y="3593592"/>
            <a:ext cx="3602736" cy="274320"/>
          </a:xfrm>
          <a:prstGeom prst="rect">
            <a:avLst/>
          </a:prstGeom>
          <a:noFill/>
        </p:spPr>
        <p:txBody>
          <a:bodyPr wrap="square" anchor="ctr" lIns="0" rIns="0" tIns="0" bIns="0">
            <a:spAutoFit/>
          </a:bodyPr>
          <a:lstStyle/>
          <a:p>
            <a:pPr algn="l"/>
            <a:r>
              <a:rPr sz="1100" b="0">
                <a:solidFill>
                  <a:schemeClr val="tx1"/>
                </a:solidFill>
              </a:rPr>
              <a:t>fatal: raised from the client's duty cycle</a:t>
            </a:r>
          </a:p>
        </p:txBody>
      </p:sp>
      <p:sp>
        <p:nvSpPr>
          <p:cNvPr id="9081" name="Frame 779"/>
          <p:cNvSpPr/>
          <p:nvPr/>
        </p:nvSpPr>
        <p:spPr>
          <a:xfrm>
            <a:off x="548640" y="2267712"/>
            <a:ext cx="11094415" cy="1682496"/>
          </a:xfrm>
          <a:prstGeom prst="rect">
            <a:avLst/>
          </a:prstGeom>
          <a:noFill/>
          <a:ln w="12700">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2" name="Frame tag 780"/>
          <p:cNvSpPr/>
          <p:nvPr/>
        </p:nvSpPr>
        <p:spPr>
          <a:xfrm>
            <a:off x="548640" y="4059936"/>
            <a:ext cx="566928" cy="21945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chemeClr val="tx1"/>
                </a:solidFill>
              </a:rPr>
              <a:t>ALT</a:t>
            </a:r>
          </a:p>
        </p:txBody>
      </p:sp>
      <p:sp>
        <p:nvSpPr>
          <p:cNvPr id="9083" name="Frame guard 781"/>
          <p:cNvSpPr/>
          <p:nvPr/>
        </p:nvSpPr>
        <p:spPr>
          <a:xfrm>
            <a:off x="1152144" y="4059936"/>
            <a:ext cx="5047488" cy="2194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4" name="Text 782"/>
          <p:cNvSpPr txBox="1"/>
          <p:nvPr/>
        </p:nvSpPr>
        <p:spPr>
          <a:xfrm>
            <a:off x="1207008" y="4059936"/>
            <a:ext cx="4937760" cy="219456"/>
          </a:xfrm>
          <a:prstGeom prst="rect">
            <a:avLst/>
          </a:prstGeom>
          <a:noFill/>
        </p:spPr>
        <p:txBody>
          <a:bodyPr wrap="none" anchor="ctr" lIns="0" rIns="0" tIns="0" bIns="0">
            <a:spAutoFit/>
          </a:bodyPr>
          <a:lstStyle/>
          <a:p>
            <a:pPr algn="l"/>
            <a:r>
              <a:rPr sz="1000" b="0" i="1">
                <a:solidFill>
                  <a:schemeClr val="accent5"/>
                </a:solidFill>
              </a:rPr>
              <a:t>an established replay stops: no progress for 5 s, or its image closes short</a:t>
            </a:r>
          </a:p>
        </p:txBody>
      </p:sp>
      <p:sp>
        <p:nvSpPr>
          <p:cNvPr id="9085" name="Text 783"/>
          <p:cNvSpPr txBox="1"/>
          <p:nvPr/>
        </p:nvSpPr>
        <p:spPr>
          <a:xfrm>
            <a:off x="3794760" y="4242816"/>
            <a:ext cx="3840480" cy="228600"/>
          </a:xfrm>
          <a:prstGeom prst="rect">
            <a:avLst/>
          </a:prstGeom>
          <a:noFill/>
        </p:spPr>
        <p:txBody>
          <a:bodyPr wrap="square" anchor="b" lIns="0" rIns="0" tIns="0" bIns="0">
            <a:spAutoFit/>
          </a:bodyPr>
          <a:lstStyle/>
          <a:p>
            <a:pPr algn="ctr"/>
            <a:r>
              <a:rPr sz="1100" b="0">
                <a:solidFill>
                  <a:schemeClr val="tx1"/>
                </a:solidFill>
              </a:rPr>
              <a:t>ReplayRequest(new requestId); a resume re-anchors</a:t>
            </a:r>
          </a:p>
        </p:txBody>
      </p:sp>
      <p:cxnSp>
        <p:nvCxnSpPr>
          <p:cNvPr id="9086" name="Arrow 784"/>
          <p:cNvCxnSpPr/>
          <p:nvPr/>
        </p:nvCxnSpPr>
        <p:spPr>
          <a:xfrm>
            <a:off x="3749040" y="4489704"/>
            <a:ext cx="393192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87" name="Frame 785"/>
          <p:cNvSpPr/>
          <p:nvPr/>
        </p:nvSpPr>
        <p:spPr>
          <a:xfrm>
            <a:off x="548640" y="4059936"/>
            <a:ext cx="11094415" cy="539496"/>
          </a:xfrm>
          <a:prstGeom prst="rect">
            <a:avLst/>
          </a:prstGeom>
          <a:noFill/>
          <a:ln w="12700">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8" name="Note 786"/>
          <p:cNvSpPr/>
          <p:nvPr/>
        </p:nvSpPr>
        <p:spPr>
          <a:xfrm>
            <a:off x="3822192" y="4645152"/>
            <a:ext cx="37490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89" name="Text 787"/>
          <p:cNvSpPr txBox="1"/>
          <p:nvPr/>
        </p:nvSpPr>
        <p:spPr>
          <a:xfrm>
            <a:off x="3895344" y="4645152"/>
            <a:ext cx="3602736" cy="274320"/>
          </a:xfrm>
          <a:prstGeom prst="rect">
            <a:avLst/>
          </a:prstGeom>
          <a:noFill/>
        </p:spPr>
        <p:txBody>
          <a:bodyPr wrap="square" anchor="ctr" lIns="0" rIns="0" tIns="0" bIns="0">
            <a:spAutoFit/>
          </a:bodyPr>
          <a:lstStyle/>
          <a:p>
            <a:pPr algn="l"/>
            <a:r>
              <a:rPr sz="1100" b="0">
                <a:solidFill>
                  <a:schemeClr val="tx1"/>
                </a:solidFill>
              </a:rPr>
              <a:t>30 s with nothing dispatched: recoveryStalled gauge</a:t>
            </a:r>
          </a:p>
        </p:txBody>
      </p:sp>
      <p:sp>
        <p:nvSpPr>
          <p:cNvPr id="9090" name="Note 788"/>
          <p:cNvSpPr/>
          <p:nvPr/>
        </p:nvSpPr>
        <p:spPr>
          <a:xfrm>
            <a:off x="3822192" y="4937760"/>
            <a:ext cx="3749040" cy="27432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91" name="Text 789"/>
          <p:cNvSpPr txBox="1"/>
          <p:nvPr/>
        </p:nvSpPr>
        <p:spPr>
          <a:xfrm>
            <a:off x="3895344" y="4937760"/>
            <a:ext cx="3602736" cy="274320"/>
          </a:xfrm>
          <a:prstGeom prst="rect">
            <a:avLst/>
          </a:prstGeom>
          <a:noFill/>
        </p:spPr>
        <p:txBody>
          <a:bodyPr wrap="square" anchor="ctr" lIns="0" rIns="0" tIns="0" bIns="0">
            <a:spAutoFit/>
          </a:bodyPr>
          <a:lstStyle/>
          <a:p>
            <a:pPr algn="l"/>
            <a:r>
              <a:rPr sz="1100" b="0">
                <a:solidFill>
                  <a:schemeClr val="tx1"/>
                </a:solidFill>
              </a:rPr>
              <a:t>60 s: the façade fences RECOVERY_STALLED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Replay sequence: a snapshot restore</a:t>
            </a:r>
          </a:p>
        </p:txBody>
      </p:sp>
      <p:sp>
        <p:nvSpPr>
          <p:cNvPr id="3" name="Text 790"/>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Check the file's cut on the recording, restore, then resume after it</a:t>
            </a:r>
          </a:p>
        </p:txBody>
      </p:sp>
      <p:sp>
        <p:nvSpPr>
          <p:cNvPr id="9048" name="Slide number"/>
          <p:cNvSpPr txBox="1"/>
          <p:nvPr userDrawn="1"/>
        </p:nvSpPr>
        <p:spPr>
          <a:xfrm>
            <a:off x="10728655" y="6400800"/>
            <a:ext cx="914400" cy="274320"/>
          </a:xfrm>
          <a:prstGeom prst="rect">
            <a:avLst/>
          </a:prstGeom>
          <a:noFill/>
        </p:spPr>
        <p:txBody>
          <a:bodyPr wrap="none" lIns="0" tIns="0" rIns="0" bIns="0" anchor="ctr"/>
          <a:lstStyle/>
          <a:p>
            <a:pPr algn="r"/>
            <a:fld id="{5d769e2c-49cc-4142-a6c8-10d61492d9e3}" type="slidenum">
              <a:rPr lang="en-US" sz="1000" dirty="0">
                <a:solidFill>
                  <a:schemeClr val="accent5"/>
                </a:solidFill>
              </a:rPr>
              <a:t>48</a:t>
            </a:fld>
          </a:p>
        </p:txBody>
      </p:sp>
      <p:sp>
        <p:nvSpPr>
          <p:cNvPr id="9049" name="Lane 791"/>
          <p:cNvSpPr/>
          <p:nvPr/>
        </p:nvSpPr>
        <p:spPr>
          <a:xfrm>
            <a:off x="594360" y="1444752"/>
            <a:ext cx="192024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Snapshot files</a:t>
            </a:r>
          </a:p>
          <a:p>
            <a:pPr algn="ctr"/>
            <a:r>
              <a:rPr sz="900" b="0">
                <a:solidFill>
                  <a:schemeClr val="accent5"/>
                </a:solidFill>
              </a:rPr>
              <a:t>SnapshotStore, local</a:t>
            </a:r>
          </a:p>
        </p:txBody>
      </p:sp>
      <p:sp>
        <p:nvSpPr>
          <p:cNvPr id="9050" name="Lane 792"/>
          <p:cNvSpPr/>
          <p:nvPr/>
        </p:nvSpPr>
        <p:spPr>
          <a:xfrm>
            <a:off x="2788920" y="1444752"/>
            <a:ext cx="1920240" cy="420624"/>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Client</a:t>
            </a:r>
          </a:p>
          <a:p>
            <a:pPr algn="ctr"/>
            <a:r>
              <a:rPr sz="900" b="0">
                <a:solidFill>
                  <a:schemeClr val="accent5"/>
                </a:solidFill>
              </a:rPr>
              <a:t>ReplayerStreamReceiver</a:t>
            </a:r>
          </a:p>
        </p:txBody>
      </p:sp>
      <p:sp>
        <p:nvSpPr>
          <p:cNvPr id="9051" name="Lane 793"/>
          <p:cNvSpPr/>
          <p:nvPr/>
        </p:nvSpPr>
        <p:spPr>
          <a:xfrm>
            <a:off x="6720840" y="1444752"/>
            <a:ext cx="1920240" cy="420624"/>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ReplayerService</a:t>
            </a:r>
          </a:p>
          <a:p>
            <a:pPr algn="ctr"/>
            <a:r>
              <a:rPr sz="900" b="0">
                <a:solidFill>
                  <a:schemeClr val="accent5"/>
                </a:solidFill>
              </a:rPr>
              <a:t>requests 202 · replies 203</a:t>
            </a:r>
          </a:p>
        </p:txBody>
      </p:sp>
      <p:sp>
        <p:nvSpPr>
          <p:cNvPr id="9052" name="Lane 794"/>
          <p:cNvSpPr/>
          <p:nvPr/>
        </p:nvSpPr>
        <p:spPr>
          <a:xfrm>
            <a:off x="9692640" y="1444752"/>
            <a:ext cx="1920240" cy="42062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Archive</a:t>
            </a:r>
          </a:p>
          <a:p>
            <a:pPr algn="ctr"/>
            <a:r>
              <a:rPr sz="900" b="0">
                <a:solidFill>
                  <a:schemeClr val="accent5"/>
                </a:solidFill>
              </a:rPr>
              <a:t>active queue recording</a:t>
            </a:r>
          </a:p>
        </p:txBody>
      </p:sp>
      <p:cxnSp>
        <p:nvCxnSpPr>
          <p:cNvPr id="9053" name="Arrow 795"/>
          <p:cNvCxnSpPr/>
          <p:nvPr/>
        </p:nvCxnSpPr>
        <p:spPr>
          <a:xfrm>
            <a:off x="155448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4" name="Arrow 796"/>
          <p:cNvCxnSpPr/>
          <p:nvPr/>
        </p:nvCxnSpPr>
        <p:spPr>
          <a:xfrm>
            <a:off x="374904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5" name="Arrow 797"/>
          <p:cNvCxnSpPr/>
          <p:nvPr/>
        </p:nvCxnSpPr>
        <p:spPr>
          <a:xfrm>
            <a:off x="768096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6" name="Arrow 798"/>
          <p:cNvCxnSpPr/>
          <p:nvPr/>
        </p:nvCxnSpPr>
        <p:spPr>
          <a:xfrm>
            <a:off x="1065276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7" name="Arrow 799"/>
          <p:cNvCxnSpPr/>
          <p:nvPr/>
        </p:nvCxnSpPr>
        <p:spPr>
          <a:xfrm>
            <a:off x="7619695" y="1197864"/>
            <a:ext cx="32004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8" name="Text 800"/>
          <p:cNvSpPr txBox="1"/>
          <p:nvPr/>
        </p:nvSpPr>
        <p:spPr>
          <a:xfrm>
            <a:off x="8003743" y="1088136"/>
            <a:ext cx="621792" cy="219456"/>
          </a:xfrm>
          <a:prstGeom prst="rect">
            <a:avLst/>
          </a:prstGeom>
          <a:noFill/>
        </p:spPr>
        <p:txBody>
          <a:bodyPr wrap="square" anchor="ctr" lIns="0" rIns="0" tIns="0" bIns="0">
            <a:spAutoFit/>
          </a:bodyPr>
          <a:lstStyle/>
          <a:p>
            <a:pPr algn="l"/>
            <a:r>
              <a:rPr sz="1000" b="0">
                <a:solidFill>
                  <a:schemeClr val="accent5"/>
                </a:solidFill>
              </a:rPr>
              <a:t>live queue</a:t>
            </a:r>
          </a:p>
        </p:txBody>
      </p:sp>
      <p:cxnSp>
        <p:nvCxnSpPr>
          <p:cNvPr id="9059" name="Arrow 801"/>
          <p:cNvCxnSpPr/>
          <p:nvPr/>
        </p:nvCxnSpPr>
        <p:spPr>
          <a:xfrm>
            <a:off x="8625535" y="1197864"/>
            <a:ext cx="320040" cy="0"/>
          </a:xfrm>
          <a:prstGeom prst="line">
            <a:avLst/>
          </a:prstGeom>
          <a:ln w="2222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0" name="Text 802"/>
          <p:cNvSpPr txBox="1"/>
          <p:nvPr/>
        </p:nvSpPr>
        <p:spPr>
          <a:xfrm>
            <a:off x="9009583" y="1088136"/>
            <a:ext cx="621792" cy="219456"/>
          </a:xfrm>
          <a:prstGeom prst="rect">
            <a:avLst/>
          </a:prstGeom>
          <a:noFill/>
        </p:spPr>
        <p:txBody>
          <a:bodyPr wrap="square" anchor="ctr" lIns="0" rIns="0" tIns="0" bIns="0">
            <a:spAutoFit/>
          </a:bodyPr>
          <a:lstStyle/>
          <a:p>
            <a:pPr algn="l"/>
            <a:r>
              <a:rPr sz="1000" b="0">
                <a:solidFill>
                  <a:schemeClr val="accent5"/>
                </a:solidFill>
              </a:rPr>
              <a:t>replay 201</a:t>
            </a:r>
          </a:p>
        </p:txBody>
      </p:sp>
      <p:cxnSp>
        <p:nvCxnSpPr>
          <p:cNvPr id="9061" name="Arrow 803"/>
          <p:cNvCxnSpPr/>
          <p:nvPr/>
        </p:nvCxnSpPr>
        <p:spPr>
          <a:xfrm>
            <a:off x="9631375" y="1197864"/>
            <a:ext cx="32004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2" name="Text 804"/>
          <p:cNvSpPr txBox="1"/>
          <p:nvPr/>
        </p:nvSpPr>
        <p:spPr>
          <a:xfrm>
            <a:off x="10015423" y="1088136"/>
            <a:ext cx="621792" cy="219456"/>
          </a:xfrm>
          <a:prstGeom prst="rect">
            <a:avLst/>
          </a:prstGeom>
          <a:noFill/>
        </p:spPr>
        <p:txBody>
          <a:bodyPr wrap="square" anchor="ctr" lIns="0" rIns="0" tIns="0" bIns="0">
            <a:spAutoFit/>
          </a:bodyPr>
          <a:lstStyle/>
          <a:p>
            <a:pPr algn="l"/>
            <a:r>
              <a:rPr sz="1000" b="0">
                <a:solidFill>
                  <a:schemeClr val="accent5"/>
                </a:solidFill>
              </a:rPr>
              <a:t>request</a:t>
            </a:r>
          </a:p>
        </p:txBody>
      </p:sp>
      <p:cxnSp>
        <p:nvCxnSpPr>
          <p:cNvPr id="9063" name="Arrow 805"/>
          <p:cNvCxnSpPr/>
          <p:nvPr/>
        </p:nvCxnSpPr>
        <p:spPr>
          <a:xfrm>
            <a:off x="10637215" y="1197864"/>
            <a:ext cx="320040"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64" name="Text 806"/>
          <p:cNvSpPr txBox="1"/>
          <p:nvPr/>
        </p:nvSpPr>
        <p:spPr>
          <a:xfrm>
            <a:off x="11021263" y="1088136"/>
            <a:ext cx="621792" cy="219456"/>
          </a:xfrm>
          <a:prstGeom prst="rect">
            <a:avLst/>
          </a:prstGeom>
          <a:noFill/>
        </p:spPr>
        <p:txBody>
          <a:bodyPr wrap="square" anchor="ctr" lIns="0" rIns="0" tIns="0" bIns="0">
            <a:spAutoFit/>
          </a:bodyPr>
          <a:lstStyle/>
          <a:p>
            <a:pPr algn="l"/>
            <a:r>
              <a:rPr sz="1000" b="0">
                <a:solidFill>
                  <a:schemeClr val="accent5"/>
                </a:solidFill>
              </a:rPr>
              <a:t>reply</a:t>
            </a:r>
          </a:p>
        </p:txBody>
      </p:sp>
      <p:sp>
        <p:nvSpPr>
          <p:cNvPr id="9065" name="Text 807"/>
          <p:cNvSpPr txBox="1"/>
          <p:nvPr/>
        </p:nvSpPr>
        <p:spPr>
          <a:xfrm>
            <a:off x="1600200" y="1911096"/>
            <a:ext cx="2103120" cy="228600"/>
          </a:xfrm>
          <a:prstGeom prst="rect">
            <a:avLst/>
          </a:prstGeom>
          <a:noFill/>
        </p:spPr>
        <p:txBody>
          <a:bodyPr wrap="square" anchor="b" lIns="0" rIns="0" tIns="0" bIns="0">
            <a:spAutoFit/>
          </a:bodyPr>
          <a:lstStyle/>
          <a:p>
            <a:pPr algn="ctr"/>
            <a:r>
              <a:rPr sz="1100" b="0">
                <a:solidFill>
                  <a:schemeClr val="tx1"/>
                </a:solidFill>
              </a:rPr>
              <a:t>newest round r and its cut</a:t>
            </a:r>
          </a:p>
        </p:txBody>
      </p:sp>
      <p:cxnSp>
        <p:nvCxnSpPr>
          <p:cNvPr id="9066" name="Arrow 808"/>
          <p:cNvCxnSpPr/>
          <p:nvPr/>
        </p:nvCxnSpPr>
        <p:spPr>
          <a:xfrm>
            <a:off x="1554480" y="2157984"/>
            <a:ext cx="219456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7" name="Text 809"/>
          <p:cNvSpPr txBox="1"/>
          <p:nvPr/>
        </p:nvSpPr>
        <p:spPr>
          <a:xfrm>
            <a:off x="3794760" y="2203704"/>
            <a:ext cx="3840480" cy="228600"/>
          </a:xfrm>
          <a:prstGeom prst="rect">
            <a:avLst/>
          </a:prstGeom>
          <a:noFill/>
        </p:spPr>
        <p:txBody>
          <a:bodyPr wrap="square" anchor="b" lIns="0" rIns="0" tIns="0" bIns="0">
            <a:spAutoFit/>
          </a:bodyPr>
          <a:lstStyle/>
          <a:p>
            <a:pPr algn="ctr"/>
            <a:r>
              <a:rPr sz="1100" b="0">
                <a:solidFill>
                  <a:schemeClr val="tx1"/>
                </a:solidFill>
              </a:rPr>
              <a:t>ReplayRequest(cut position), anchor = the cut</a:t>
            </a:r>
          </a:p>
        </p:txBody>
      </p:sp>
      <p:cxnSp>
        <p:nvCxnSpPr>
          <p:cNvPr id="9068" name="Arrow 810"/>
          <p:cNvCxnSpPr/>
          <p:nvPr/>
        </p:nvCxnSpPr>
        <p:spPr>
          <a:xfrm>
            <a:off x="3749040" y="2450592"/>
            <a:ext cx="393192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9" name="Text 811"/>
          <p:cNvSpPr txBox="1"/>
          <p:nvPr/>
        </p:nvSpPr>
        <p:spPr>
          <a:xfrm>
            <a:off x="3794760" y="2496312"/>
            <a:ext cx="3840480" cy="228600"/>
          </a:xfrm>
          <a:prstGeom prst="rect">
            <a:avLst/>
          </a:prstGeom>
          <a:noFill/>
        </p:spPr>
        <p:txBody>
          <a:bodyPr wrap="square" anchor="b" lIns="0" rIns="0" tIns="0" bIns="0">
            <a:spAutoFit/>
          </a:bodyPr>
          <a:lstStyle/>
          <a:p>
            <a:pPr algn="ctr"/>
            <a:r>
              <a:rPr sz="1100" b="0">
                <a:solidFill>
                  <a:schemeClr val="tx1"/>
                </a:solidFill>
              </a:rPr>
              <a:t>Replaying(session, catchUpPosition)</a:t>
            </a:r>
          </a:p>
        </p:txBody>
      </p:sp>
      <p:cxnSp>
        <p:nvCxnSpPr>
          <p:cNvPr id="9070" name="Arrow 812"/>
          <p:cNvCxnSpPr/>
          <p:nvPr/>
        </p:nvCxnSpPr>
        <p:spPr>
          <a:xfrm flipH="1">
            <a:off x="3749040" y="2743200"/>
            <a:ext cx="3931920"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71" name="Text 813"/>
          <p:cNvSpPr txBox="1"/>
          <p:nvPr/>
        </p:nvSpPr>
        <p:spPr>
          <a:xfrm>
            <a:off x="3794760" y="2788920"/>
            <a:ext cx="6812280" cy="228600"/>
          </a:xfrm>
          <a:prstGeom prst="rect">
            <a:avLst/>
          </a:prstGeom>
          <a:noFill/>
        </p:spPr>
        <p:txBody>
          <a:bodyPr wrap="square" anchor="b" lIns="0" rIns="0" tIns="0" bIns="0">
            <a:spAutoFit/>
          </a:bodyPr>
          <a:lstStyle/>
          <a:p>
            <a:pPr algn="ctr"/>
            <a:r>
              <a:rPr sz="1100" b="0">
                <a:solidFill>
                  <a:schemeClr val="tx1"/>
                </a:solidFill>
              </a:rPr>
              <a:t>first frame: SnapshotStarted(r) at the cut?</a:t>
            </a:r>
          </a:p>
        </p:txBody>
      </p:sp>
      <p:cxnSp>
        <p:nvCxnSpPr>
          <p:cNvPr id="9072" name="Arrow 814"/>
          <p:cNvCxnSpPr/>
          <p:nvPr/>
        </p:nvCxnSpPr>
        <p:spPr>
          <a:xfrm flipH="1">
            <a:off x="3749040" y="3035808"/>
            <a:ext cx="6903720" cy="0"/>
          </a:xfrm>
          <a:prstGeom prst="line">
            <a:avLst/>
          </a:prstGeom>
          <a:ln w="2222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3" name="Frame tag 815"/>
          <p:cNvSpPr/>
          <p:nvPr/>
        </p:nvSpPr>
        <p:spPr>
          <a:xfrm>
            <a:off x="548640" y="3145536"/>
            <a:ext cx="566928" cy="21945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chemeClr val="tx1"/>
                </a:solidFill>
              </a:rPr>
              <a:t>ALT</a:t>
            </a:r>
          </a:p>
        </p:txBody>
      </p:sp>
      <p:sp>
        <p:nvSpPr>
          <p:cNvPr id="9074" name="Frame guard 816"/>
          <p:cNvSpPr/>
          <p:nvPr/>
        </p:nvSpPr>
        <p:spPr>
          <a:xfrm>
            <a:off x="1152144" y="3145536"/>
            <a:ext cx="3994099" cy="2194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5" name="Text 817"/>
          <p:cNvSpPr txBox="1"/>
          <p:nvPr/>
        </p:nvSpPr>
        <p:spPr>
          <a:xfrm>
            <a:off x="1207008" y="3145536"/>
            <a:ext cx="3884371" cy="219456"/>
          </a:xfrm>
          <a:prstGeom prst="rect">
            <a:avLst/>
          </a:prstGeom>
          <a:noFill/>
        </p:spPr>
        <p:txBody>
          <a:bodyPr wrap="none" anchor="ctr" lIns="0" rIns="0" tIns="0" bIns="0">
            <a:spAutoFit/>
          </a:bodyPr>
          <a:lstStyle/>
          <a:p>
            <a:pPr algn="l"/>
            <a:r>
              <a:rPr sz="1000" b="0" i="1">
                <a:solidFill>
                  <a:schemeClr val="accent5"/>
                </a:solidFill>
              </a:rPr>
              <a:t>another frame, or NO_REPLAY_NEEDED: a file from another log</a:t>
            </a:r>
          </a:p>
        </p:txBody>
      </p:sp>
      <p:sp>
        <p:nvSpPr>
          <p:cNvPr id="9076" name="Text 818"/>
          <p:cNvSpPr txBox="1"/>
          <p:nvPr/>
        </p:nvSpPr>
        <p:spPr>
          <a:xfrm>
            <a:off x="1600200" y="3328416"/>
            <a:ext cx="2103120" cy="228600"/>
          </a:xfrm>
          <a:prstGeom prst="rect">
            <a:avLst/>
          </a:prstGeom>
          <a:noFill/>
        </p:spPr>
        <p:txBody>
          <a:bodyPr wrap="square" anchor="b" lIns="0" rIns="0" tIns="0" bIns="0">
            <a:spAutoFit/>
          </a:bodyPr>
          <a:lstStyle/>
          <a:p>
            <a:pPr algn="ctr"/>
            <a:r>
              <a:rPr sz="1100" b="0">
                <a:solidFill>
                  <a:schemeClr val="tx1"/>
                </a:solidFill>
              </a:rPr>
              <a:t>the next older round</a:t>
            </a:r>
          </a:p>
        </p:txBody>
      </p:sp>
      <p:cxnSp>
        <p:nvCxnSpPr>
          <p:cNvPr id="9077" name="Arrow 819"/>
          <p:cNvCxnSpPr/>
          <p:nvPr/>
        </p:nvCxnSpPr>
        <p:spPr>
          <a:xfrm flipH="1">
            <a:off x="1554480" y="3575304"/>
            <a:ext cx="219456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8" name="Note 820"/>
          <p:cNvSpPr/>
          <p:nvPr/>
        </p:nvSpPr>
        <p:spPr>
          <a:xfrm>
            <a:off x="3822192" y="3621024"/>
            <a:ext cx="37490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79" name="Text 821"/>
          <p:cNvSpPr txBox="1"/>
          <p:nvPr/>
        </p:nvSpPr>
        <p:spPr>
          <a:xfrm>
            <a:off x="3895344" y="3621024"/>
            <a:ext cx="3602736" cy="274320"/>
          </a:xfrm>
          <a:prstGeom prst="rect">
            <a:avLst/>
          </a:prstGeom>
          <a:noFill/>
        </p:spPr>
        <p:txBody>
          <a:bodyPr wrap="square" anchor="ctr" lIns="0" rIns="0" tIns="0" bIns="0">
            <a:spAutoFit/>
          </a:bodyPr>
          <a:lstStyle/>
          <a:p>
            <a:pPr algn="l"/>
            <a:r>
              <a:rPr sz="1100" b="0">
                <a:solidFill>
                  <a:schemeClr val="tx1"/>
                </a:solidFill>
              </a:rPr>
              <a:t>none left: ReplayRequest(FROM_START), a walk</a:t>
            </a:r>
          </a:p>
        </p:txBody>
      </p:sp>
      <p:sp>
        <p:nvSpPr>
          <p:cNvPr id="9080" name="Frame 822"/>
          <p:cNvSpPr/>
          <p:nvPr/>
        </p:nvSpPr>
        <p:spPr>
          <a:xfrm>
            <a:off x="548640" y="3145536"/>
            <a:ext cx="11094415" cy="832104"/>
          </a:xfrm>
          <a:prstGeom prst="rect">
            <a:avLst/>
          </a:prstGeom>
          <a:noFill/>
          <a:ln w="12700">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1" name="Text 823"/>
          <p:cNvSpPr txBox="1"/>
          <p:nvPr/>
        </p:nvSpPr>
        <p:spPr>
          <a:xfrm>
            <a:off x="1600200" y="4023360"/>
            <a:ext cx="2103120" cy="228600"/>
          </a:xfrm>
          <a:prstGeom prst="rect">
            <a:avLst/>
          </a:prstGeom>
          <a:noFill/>
        </p:spPr>
        <p:txBody>
          <a:bodyPr wrap="square" anchor="b" lIns="0" rIns="0" tIns="0" bIns="0">
            <a:spAutoFit/>
          </a:bodyPr>
          <a:lstStyle/>
          <a:p>
            <a:pPr algn="ctr"/>
            <a:r>
              <a:rPr sz="1100" b="0">
                <a:solidFill>
                  <a:schemeClr val="tx1"/>
                </a:solidFill>
              </a:rPr>
              <a:t>records, ≤ 1,024 per poll</a:t>
            </a:r>
          </a:p>
        </p:txBody>
      </p:sp>
      <p:cxnSp>
        <p:nvCxnSpPr>
          <p:cNvPr id="9082" name="Arrow 824"/>
          <p:cNvCxnSpPr/>
          <p:nvPr/>
        </p:nvCxnSpPr>
        <p:spPr>
          <a:xfrm>
            <a:off x="1554480" y="4270248"/>
            <a:ext cx="219456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83" name="Note 825"/>
          <p:cNvSpPr/>
          <p:nvPr/>
        </p:nvSpPr>
        <p:spPr>
          <a:xfrm>
            <a:off x="3822192" y="4315968"/>
            <a:ext cx="37490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84" name="Text 826"/>
          <p:cNvSpPr txBox="1"/>
          <p:nvPr/>
        </p:nvSpPr>
        <p:spPr>
          <a:xfrm>
            <a:off x="3895344" y="4315968"/>
            <a:ext cx="3602736" cy="274320"/>
          </a:xfrm>
          <a:prstGeom prst="rect">
            <a:avLst/>
          </a:prstGeom>
          <a:noFill/>
        </p:spPr>
        <p:txBody>
          <a:bodyPr wrap="square" anchor="ctr" lIns="0" rIns="0" tIns="0" bIns="0">
            <a:spAutoFit/>
          </a:bodyPr>
          <a:lstStyle/>
          <a:p>
            <a:pPr algn="l"/>
            <a:r>
              <a:rPr sz="1100" b="0">
                <a:solidFill>
                  <a:schemeClr val="tx1"/>
                </a:solidFill>
              </a:rPr>
              <a:t>lastGlobalSeqNo = cut; leadership from the header</a:t>
            </a:r>
          </a:p>
        </p:txBody>
      </p:sp>
      <p:sp>
        <p:nvSpPr>
          <p:cNvPr id="9085" name="Text 827"/>
          <p:cNvSpPr txBox="1"/>
          <p:nvPr/>
        </p:nvSpPr>
        <p:spPr>
          <a:xfrm>
            <a:off x="3794760" y="4608576"/>
            <a:ext cx="3840480" cy="228600"/>
          </a:xfrm>
          <a:prstGeom prst="rect">
            <a:avLst/>
          </a:prstGeom>
          <a:noFill/>
        </p:spPr>
        <p:txBody>
          <a:bodyPr wrap="square" anchor="b" lIns="0" rIns="0" tIns="0" bIns="0">
            <a:spAutoFit/>
          </a:bodyPr>
          <a:lstStyle/>
          <a:p>
            <a:pPr algn="ctr"/>
            <a:r>
              <a:rPr sz="1100" b="0">
                <a:solidFill>
                  <a:schemeClr val="tx1"/>
                </a:solidFill>
              </a:rPr>
              <a:t>ReplayRequest(cut position), anchor = the cut</a:t>
            </a:r>
          </a:p>
        </p:txBody>
      </p:sp>
      <p:cxnSp>
        <p:nvCxnSpPr>
          <p:cNvPr id="9086" name="Arrow 828"/>
          <p:cNvCxnSpPr/>
          <p:nvPr/>
        </p:nvCxnSpPr>
        <p:spPr>
          <a:xfrm>
            <a:off x="3749040" y="4855464"/>
            <a:ext cx="393192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87" name="Text 829"/>
          <p:cNvSpPr txBox="1"/>
          <p:nvPr/>
        </p:nvSpPr>
        <p:spPr>
          <a:xfrm>
            <a:off x="3794760" y="4901184"/>
            <a:ext cx="3840480" cy="228600"/>
          </a:xfrm>
          <a:prstGeom prst="rect">
            <a:avLst/>
          </a:prstGeom>
          <a:noFill/>
        </p:spPr>
        <p:txBody>
          <a:bodyPr wrap="square" anchor="b" lIns="0" rIns="0" tIns="0" bIns="0">
            <a:spAutoFit/>
          </a:bodyPr>
          <a:lstStyle/>
          <a:p>
            <a:pPr algn="ctr"/>
            <a:r>
              <a:rPr sz="1100" b="0">
                <a:solidFill>
                  <a:schemeClr val="tx1"/>
                </a:solidFill>
              </a:rPr>
              <a:t>Replaying(session, catchUpPosition = last recorded)</a:t>
            </a:r>
          </a:p>
        </p:txBody>
      </p:sp>
      <p:cxnSp>
        <p:nvCxnSpPr>
          <p:cNvPr id="9088" name="Arrow 830"/>
          <p:cNvCxnSpPr/>
          <p:nvPr/>
        </p:nvCxnSpPr>
        <p:spPr>
          <a:xfrm flipH="1">
            <a:off x="3749040" y="5148072"/>
            <a:ext cx="3931920" cy="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089" name="Text 831"/>
          <p:cNvSpPr txBox="1"/>
          <p:nvPr/>
        </p:nvSpPr>
        <p:spPr>
          <a:xfrm>
            <a:off x="3794760" y="5193792"/>
            <a:ext cx="6812280" cy="228600"/>
          </a:xfrm>
          <a:prstGeom prst="rect">
            <a:avLst/>
          </a:prstGeom>
          <a:noFill/>
        </p:spPr>
        <p:txBody>
          <a:bodyPr wrap="square" anchor="b" lIns="0" rIns="0" tIns="0" bIns="0">
            <a:spAutoFit/>
          </a:bodyPr>
          <a:lstStyle/>
          <a:p>
            <a:pPr algn="ctr"/>
            <a:r>
              <a:rPr sz="1100" b="0">
                <a:solidFill>
                  <a:schemeClr val="tx1"/>
                </a:solidFill>
              </a:rPr>
              <a:t>SnapshotStarted (the cut, dropped), then the frames after it</a:t>
            </a:r>
          </a:p>
        </p:txBody>
      </p:sp>
      <p:cxnSp>
        <p:nvCxnSpPr>
          <p:cNvPr id="9090" name="Arrow 832"/>
          <p:cNvCxnSpPr/>
          <p:nvPr/>
        </p:nvCxnSpPr>
        <p:spPr>
          <a:xfrm flipH="1">
            <a:off x="3749040" y="5440680"/>
            <a:ext cx="6903720" cy="0"/>
          </a:xfrm>
          <a:prstGeom prst="line">
            <a:avLst/>
          </a:prstGeom>
          <a:ln w="2222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91" name="Note 833"/>
          <p:cNvSpPr/>
          <p:nvPr/>
        </p:nvSpPr>
        <p:spPr>
          <a:xfrm>
            <a:off x="3822192" y="5486400"/>
            <a:ext cx="3749040"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92" name="Text 834"/>
          <p:cNvSpPr txBox="1"/>
          <p:nvPr/>
        </p:nvSpPr>
        <p:spPr>
          <a:xfrm>
            <a:off x="3895344" y="5486400"/>
            <a:ext cx="3602736" cy="274320"/>
          </a:xfrm>
          <a:prstGeom prst="rect">
            <a:avLst/>
          </a:prstGeom>
          <a:noFill/>
        </p:spPr>
        <p:txBody>
          <a:bodyPr wrap="square" anchor="ctr" lIns="0" rIns="0" tIns="0" bIns="0">
            <a:spAutoFit/>
          </a:bodyPr>
          <a:lstStyle/>
          <a:p>
            <a:pPr algn="l"/>
            <a:r>
              <a:rPr sz="1100" b="0">
                <a:solidFill>
                  <a:schemeClr val="tx1"/>
                </a:solidFill>
              </a:rPr>
              <a:t>close the replay, drain the FIFO → caught up</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Snapshot sequence: a round</a:t>
            </a:r>
          </a:p>
        </p:txBody>
      </p:sp>
      <p:sp>
        <p:nvSpPr>
          <p:cNvPr id="3" name="Text 835"/>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Cut, serialize, end, compare; the records never enter the log</a:t>
            </a:r>
          </a:p>
        </p:txBody>
      </p:sp>
      <p:sp>
        <p:nvSpPr>
          <p:cNvPr id="9049" name="Slide number"/>
          <p:cNvSpPr txBox="1"/>
          <p:nvPr userDrawn="1"/>
        </p:nvSpPr>
        <p:spPr>
          <a:xfrm>
            <a:off x="10728655" y="6400800"/>
            <a:ext cx="914400" cy="274320"/>
          </a:xfrm>
          <a:prstGeom prst="rect">
            <a:avLst/>
          </a:prstGeom>
          <a:noFill/>
        </p:spPr>
        <p:txBody>
          <a:bodyPr wrap="none" lIns="0" tIns="0" rIns="0" bIns="0" anchor="ctr"/>
          <a:lstStyle/>
          <a:p>
            <a:pPr algn="r"/>
            <a:fld id="{78dabe81-0bb8-4366-939d-4816477eb5e7}" type="slidenum">
              <a:rPr lang="en-US" sz="1000" dirty="0">
                <a:solidFill>
                  <a:schemeClr val="accent5"/>
                </a:solidFill>
              </a:rPr>
              <a:t>49</a:t>
            </a:fld>
          </a:p>
        </p:txBody>
      </p:sp>
      <p:sp>
        <p:nvSpPr>
          <p:cNvPr id="9050" name="Lane 836"/>
          <p:cNvSpPr/>
          <p:nvPr/>
        </p:nvSpPr>
        <p:spPr>
          <a:xfrm>
            <a:off x="777240" y="1444752"/>
            <a:ext cx="1920240" cy="420624"/>
          </a:xfrm>
          <a:prstGeom prst="rect">
            <a:avLst/>
          </a:prstGeom>
          <a:solidFill>
            <a:schemeClr val="bg1"/>
          </a:solidFill>
          <a:ln w="1270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clusterctl</a:t>
            </a:r>
          </a:p>
          <a:p>
            <a:pPr algn="ctr"/>
            <a:r>
              <a:rPr sz="900" b="0">
                <a:solidFill>
                  <a:schemeClr val="accent5"/>
                </a:solidFill>
              </a:rPr>
              <a:t>request-snapshot</a:t>
            </a:r>
          </a:p>
        </p:txBody>
      </p:sp>
      <p:sp>
        <p:nvSpPr>
          <p:cNvPr id="9051" name="Lane 837"/>
          <p:cNvSpPr/>
          <p:nvPr/>
        </p:nvSpPr>
        <p:spPr>
          <a:xfrm>
            <a:off x="3703320" y="1444752"/>
            <a:ext cx="1920240" cy="420624"/>
          </a:xfrm>
          <a:prstGeom prst="rect">
            <a:avLst/>
          </a:prstGeom>
          <a:solidFill>
            <a:schemeClr val="bg1"/>
          </a:solidFill>
          <a:ln w="317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Sequencer</a:t>
            </a:r>
          </a:p>
          <a:p>
            <a:pPr algn="ctr"/>
            <a:r>
              <a:rPr sz="900" b="0">
                <a:solidFill>
                  <a:schemeClr val="accent5"/>
                </a:solidFill>
              </a:rPr>
              <a:t>every member</a:t>
            </a:r>
          </a:p>
        </p:txBody>
      </p:sp>
      <p:sp>
        <p:nvSpPr>
          <p:cNvPr id="9052" name="Lane 838"/>
          <p:cNvSpPr/>
          <p:nvPr/>
        </p:nvSpPr>
        <p:spPr>
          <a:xfrm>
            <a:off x="6629400" y="1444752"/>
            <a:ext cx="1920240" cy="420624"/>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Instance A</a:t>
            </a:r>
          </a:p>
          <a:p>
            <a:pPr algn="ctr"/>
            <a:r>
              <a:rPr sz="900" b="0">
                <a:solidFill>
                  <a:schemeClr val="accent5"/>
                </a:solidFill>
              </a:rPr>
              <a:t>gate open: publishes</a:t>
            </a:r>
          </a:p>
        </p:txBody>
      </p:sp>
      <p:sp>
        <p:nvSpPr>
          <p:cNvPr id="9053" name="Lane 839"/>
          <p:cNvSpPr/>
          <p:nvPr/>
        </p:nvSpPr>
        <p:spPr>
          <a:xfrm>
            <a:off x="9555480" y="1444752"/>
            <a:ext cx="1920240" cy="420624"/>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200" b="1">
                <a:solidFill>
                  <a:schemeClr val="tx1"/>
                </a:solidFill>
              </a:rPr>
              <a:t>Instance B</a:t>
            </a:r>
          </a:p>
          <a:p>
            <a:pPr algn="ctr"/>
            <a:r>
              <a:rPr sz="900" b="0">
                <a:solidFill>
                  <a:schemeClr val="accent5"/>
                </a:solidFill>
              </a:rPr>
              <a:t>every other instance</a:t>
            </a:r>
          </a:p>
        </p:txBody>
      </p:sp>
      <p:cxnSp>
        <p:nvCxnSpPr>
          <p:cNvPr id="9054" name="Arrow 840"/>
          <p:cNvCxnSpPr/>
          <p:nvPr/>
        </p:nvCxnSpPr>
        <p:spPr>
          <a:xfrm>
            <a:off x="173736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5" name="Arrow 841"/>
          <p:cNvCxnSpPr/>
          <p:nvPr/>
        </p:nvCxnSpPr>
        <p:spPr>
          <a:xfrm>
            <a:off x="466344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6" name="Arrow 842"/>
          <p:cNvCxnSpPr/>
          <p:nvPr/>
        </p:nvCxnSpPr>
        <p:spPr>
          <a:xfrm>
            <a:off x="758952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7" name="Arrow 843"/>
          <p:cNvCxnSpPr/>
          <p:nvPr/>
        </p:nvCxnSpPr>
        <p:spPr>
          <a:xfrm>
            <a:off x="10515600" y="1865376"/>
            <a:ext cx="0" cy="4398264"/>
          </a:xfrm>
          <a:prstGeom prst="line">
            <a:avLst/>
          </a:prstGeom>
          <a:ln w="15875">
            <a:solidFill>
              <a:schemeClr val="accent3"/>
            </a:solidFill>
          </a:ln>
        </p:spPr>
        <p:style>
          <a:lnRef idx="2">
            <a:schemeClr val="accent1"/>
          </a:lnRef>
          <a:fillRef idx="0">
            <a:schemeClr val="accent1"/>
          </a:fillRef>
          <a:effectRef idx="1">
            <a:schemeClr val="accent1"/>
          </a:effectRef>
          <a:fontRef idx="minor">
            <a:schemeClr val="tx1"/>
          </a:fontRef>
        </p:style>
      </p:cxnSp>
      <p:cxnSp>
        <p:nvCxnSpPr>
          <p:cNvPr id="9058" name="Arrow 844"/>
          <p:cNvCxnSpPr/>
          <p:nvPr/>
        </p:nvCxnSpPr>
        <p:spPr>
          <a:xfrm>
            <a:off x="9631375" y="1197864"/>
            <a:ext cx="32004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59" name="Text 845"/>
          <p:cNvSpPr txBox="1"/>
          <p:nvPr/>
        </p:nvSpPr>
        <p:spPr>
          <a:xfrm>
            <a:off x="10015423" y="1088136"/>
            <a:ext cx="621792" cy="219456"/>
          </a:xfrm>
          <a:prstGeom prst="rect">
            <a:avLst/>
          </a:prstGeom>
          <a:noFill/>
        </p:spPr>
        <p:txBody>
          <a:bodyPr wrap="square" anchor="ctr" lIns="0" rIns="0" tIns="0" bIns="0">
            <a:spAutoFit/>
          </a:bodyPr>
          <a:lstStyle/>
          <a:p>
            <a:pPr algn="l"/>
            <a:r>
              <a:rPr sz="1000" b="0">
                <a:solidFill>
                  <a:schemeClr val="accent5"/>
                </a:solidFill>
              </a:rPr>
              <a:t>queue</a:t>
            </a:r>
          </a:p>
        </p:txBody>
      </p:sp>
      <p:cxnSp>
        <p:nvCxnSpPr>
          <p:cNvPr id="9060" name="Arrow 846"/>
          <p:cNvCxnSpPr/>
          <p:nvPr/>
        </p:nvCxnSpPr>
        <p:spPr>
          <a:xfrm>
            <a:off x="10637215" y="1197864"/>
            <a:ext cx="32004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1" name="Text 847"/>
          <p:cNvSpPr txBox="1"/>
          <p:nvPr/>
        </p:nvSpPr>
        <p:spPr>
          <a:xfrm>
            <a:off x="11021263" y="1088136"/>
            <a:ext cx="621792" cy="219456"/>
          </a:xfrm>
          <a:prstGeom prst="rect">
            <a:avLst/>
          </a:prstGeom>
          <a:noFill/>
        </p:spPr>
        <p:txBody>
          <a:bodyPr wrap="square" anchor="ctr" lIns="0" rIns="0" tIns="0" bIns="0">
            <a:spAutoFit/>
          </a:bodyPr>
          <a:lstStyle/>
          <a:p>
            <a:pPr algn="l"/>
            <a:r>
              <a:rPr sz="1000" b="0">
                <a:solidFill>
                  <a:schemeClr val="accent5"/>
                </a:solidFill>
              </a:rPr>
              <a:t>ingress</a:t>
            </a:r>
          </a:p>
        </p:txBody>
      </p:sp>
      <p:sp>
        <p:nvSpPr>
          <p:cNvPr id="9062" name="Text 848"/>
          <p:cNvSpPr txBox="1"/>
          <p:nvPr/>
        </p:nvSpPr>
        <p:spPr>
          <a:xfrm>
            <a:off x="1783080" y="1911096"/>
            <a:ext cx="2834640" cy="228600"/>
          </a:xfrm>
          <a:prstGeom prst="rect">
            <a:avLst/>
          </a:prstGeom>
          <a:noFill/>
        </p:spPr>
        <p:txBody>
          <a:bodyPr wrap="square" anchor="b" lIns="0" rIns="0" tIns="0" bIns="0">
            <a:spAutoFit/>
          </a:bodyPr>
          <a:lstStyle/>
          <a:p>
            <a:pPr algn="ctr"/>
            <a:r>
              <a:rPr sz="1100" b="0">
                <a:solidFill>
                  <a:schemeClr val="tx1"/>
                </a:solidFill>
              </a:rPr>
              <a:t>SnapshotRequested</a:t>
            </a:r>
          </a:p>
        </p:txBody>
      </p:sp>
      <p:cxnSp>
        <p:nvCxnSpPr>
          <p:cNvPr id="9063" name="Arrow 849"/>
          <p:cNvCxnSpPr/>
          <p:nvPr/>
        </p:nvCxnSpPr>
        <p:spPr>
          <a:xfrm>
            <a:off x="1737360" y="2157984"/>
            <a:ext cx="292608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4" name="Note 850"/>
          <p:cNvSpPr/>
          <p:nvPr/>
        </p:nvSpPr>
        <p:spPr>
          <a:xfrm>
            <a:off x="4736592" y="2203704"/>
            <a:ext cx="237744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65" name="Text 851"/>
          <p:cNvSpPr txBox="1"/>
          <p:nvPr/>
        </p:nvSpPr>
        <p:spPr>
          <a:xfrm>
            <a:off x="4809744" y="2203704"/>
            <a:ext cx="2231136" cy="274320"/>
          </a:xfrm>
          <a:prstGeom prst="rect">
            <a:avLst/>
          </a:prstGeom>
          <a:noFill/>
        </p:spPr>
        <p:txBody>
          <a:bodyPr wrap="square" anchor="ctr" lIns="0" rIns="0" tIns="0" bIns="0">
            <a:spAutoFit/>
          </a:bodyPr>
          <a:lstStyle/>
          <a:p>
            <a:pPr algn="l"/>
            <a:r>
              <a:rPr sz="1100" b="0">
                <a:solidFill>
                  <a:schemeClr val="tx1"/>
                </a:solidFill>
              </a:rPr>
              <a:t>or: interval, at a heartbeat</a:t>
            </a:r>
          </a:p>
        </p:txBody>
      </p:sp>
      <p:sp>
        <p:nvSpPr>
          <p:cNvPr id="9066" name="Text 852"/>
          <p:cNvSpPr txBox="1"/>
          <p:nvPr/>
        </p:nvSpPr>
        <p:spPr>
          <a:xfrm>
            <a:off x="4709160" y="2496312"/>
            <a:ext cx="5760720" cy="228600"/>
          </a:xfrm>
          <a:prstGeom prst="rect">
            <a:avLst/>
          </a:prstGeom>
          <a:noFill/>
        </p:spPr>
        <p:txBody>
          <a:bodyPr wrap="square" anchor="b" lIns="0" rIns="0" tIns="0" bIns="0">
            <a:spAutoFit/>
          </a:bodyPr>
          <a:lstStyle/>
          <a:p>
            <a:pPr algn="ctr"/>
            <a:r>
              <a:rPr sz="1100" b="0">
                <a:solidFill>
                  <a:schemeClr val="tx1"/>
                </a:solidFill>
              </a:rPr>
              <a:t>SnapshotStarted(r) on every queue: the cut R</a:t>
            </a:r>
          </a:p>
        </p:txBody>
      </p:sp>
      <p:cxnSp>
        <p:nvCxnSpPr>
          <p:cNvPr id="9067" name="Arrow 853"/>
          <p:cNvCxnSpPr/>
          <p:nvPr/>
        </p:nvCxnSpPr>
        <p:spPr>
          <a:xfrm>
            <a:off x="4663440" y="2743200"/>
            <a:ext cx="585216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68" name="Note 854"/>
          <p:cNvSpPr/>
          <p:nvPr/>
        </p:nvSpPr>
        <p:spPr>
          <a:xfrm>
            <a:off x="7662672" y="2788920"/>
            <a:ext cx="347472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69" name="Text 855"/>
          <p:cNvSpPr txBox="1"/>
          <p:nvPr/>
        </p:nvSpPr>
        <p:spPr>
          <a:xfrm>
            <a:off x="7735824" y="2788920"/>
            <a:ext cx="3328416" cy="274320"/>
          </a:xfrm>
          <a:prstGeom prst="rect">
            <a:avLst/>
          </a:prstGeom>
          <a:noFill/>
        </p:spPr>
        <p:txBody>
          <a:bodyPr wrap="square" anchor="ctr" lIns="0" rIns="0" tIns="0" bIns="0">
            <a:spAutoFit/>
          </a:bodyPr>
          <a:lstStyle/>
          <a:p>
            <a:pPr algn="l"/>
            <a:r>
              <a:rPr sz="1100" b="0">
                <a:solidFill>
                  <a:schemeClr val="tx1"/>
                </a:solidFill>
              </a:rPr>
              <a:t>each serializes at R to its own &lt;r&gt;.tmp</a:t>
            </a:r>
          </a:p>
        </p:txBody>
      </p:sp>
      <p:sp>
        <p:nvSpPr>
          <p:cNvPr id="9070" name="Text 856"/>
          <p:cNvSpPr txBox="1"/>
          <p:nvPr/>
        </p:nvSpPr>
        <p:spPr>
          <a:xfrm>
            <a:off x="4709160" y="3081528"/>
            <a:ext cx="2834640" cy="228600"/>
          </a:xfrm>
          <a:prstGeom prst="rect">
            <a:avLst/>
          </a:prstGeom>
          <a:noFill/>
        </p:spPr>
        <p:txBody>
          <a:bodyPr wrap="square" anchor="b" lIns="0" rIns="0" tIns="0" bIns="0">
            <a:spAutoFit/>
          </a:bodyPr>
          <a:lstStyle/>
          <a:p>
            <a:pPr algn="ctr"/>
            <a:r>
              <a:rPr sz="1100" b="0">
                <a:solidFill>
                  <a:schemeClr val="tx1"/>
                </a:solidFill>
              </a:rPr>
              <a:t>SnapshotEnd(r, count, length, crc)</a:t>
            </a:r>
          </a:p>
        </p:txBody>
      </p:sp>
      <p:cxnSp>
        <p:nvCxnSpPr>
          <p:cNvPr id="9071" name="Arrow 857"/>
          <p:cNvCxnSpPr/>
          <p:nvPr/>
        </p:nvCxnSpPr>
        <p:spPr>
          <a:xfrm flipH="1">
            <a:off x="4663440" y="3328416"/>
            <a:ext cx="292608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2" name="Text 858"/>
          <p:cNvSpPr txBox="1"/>
          <p:nvPr/>
        </p:nvSpPr>
        <p:spPr>
          <a:xfrm>
            <a:off x="4709160" y="3374136"/>
            <a:ext cx="5760720" cy="228600"/>
          </a:xfrm>
          <a:prstGeom prst="rect">
            <a:avLst/>
          </a:prstGeom>
          <a:noFill/>
        </p:spPr>
        <p:txBody>
          <a:bodyPr wrap="square" anchor="b" lIns="0" rIns="0" tIns="0" bIns="0">
            <a:spAutoFit/>
          </a:bodyPr>
          <a:lstStyle/>
          <a:p>
            <a:pPr algn="ctr"/>
            <a:r>
              <a:rPr sz="1100" b="0">
                <a:solidFill>
                  <a:schemeClr val="tx1"/>
                </a:solidFill>
              </a:rPr>
              <a:t>SnapshotEnd sequenced, on every queue</a:t>
            </a:r>
          </a:p>
        </p:txBody>
      </p:sp>
      <p:cxnSp>
        <p:nvCxnSpPr>
          <p:cNvPr id="9073" name="Arrow 859"/>
          <p:cNvCxnSpPr/>
          <p:nvPr/>
        </p:nvCxnSpPr>
        <p:spPr>
          <a:xfrm>
            <a:off x="4663440" y="3621024"/>
            <a:ext cx="585216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9074" name="Note 860"/>
          <p:cNvSpPr/>
          <p:nvPr/>
        </p:nvSpPr>
        <p:spPr>
          <a:xfrm>
            <a:off x="7662672" y="3666744"/>
            <a:ext cx="3474720" cy="274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75" name="Text 861"/>
          <p:cNvSpPr txBox="1"/>
          <p:nvPr/>
        </p:nvSpPr>
        <p:spPr>
          <a:xfrm>
            <a:off x="7735824" y="3666744"/>
            <a:ext cx="3328416" cy="274320"/>
          </a:xfrm>
          <a:prstGeom prst="rect">
            <a:avLst/>
          </a:prstGeom>
          <a:noFill/>
        </p:spPr>
        <p:txBody>
          <a:bodyPr wrap="square" anchor="ctr" lIns="0" rIns="0" tIns="0" bIns="0">
            <a:spAutoFit/>
          </a:bodyPr>
          <a:lstStyle/>
          <a:p>
            <a:pPr algn="l"/>
            <a:r>
              <a:rPr sz="1100" b="0">
                <a:solidFill>
                  <a:schemeClr val="tx1"/>
                </a:solidFill>
              </a:rPr>
              <a:t>each compares its own file with the end</a:t>
            </a:r>
          </a:p>
        </p:txBody>
      </p:sp>
      <p:sp>
        <p:nvSpPr>
          <p:cNvPr id="9076" name="Frame tag 862"/>
          <p:cNvSpPr/>
          <p:nvPr/>
        </p:nvSpPr>
        <p:spPr>
          <a:xfrm>
            <a:off x="548640" y="4023360"/>
            <a:ext cx="566928" cy="21945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chemeClr val="tx1"/>
                </a:solidFill>
              </a:rPr>
              <a:t>ALT</a:t>
            </a:r>
          </a:p>
        </p:txBody>
      </p:sp>
      <p:sp>
        <p:nvSpPr>
          <p:cNvPr id="9077" name="Frame guard 863"/>
          <p:cNvSpPr/>
          <p:nvPr/>
        </p:nvSpPr>
        <p:spPr>
          <a:xfrm>
            <a:off x="1152144" y="4023360"/>
            <a:ext cx="2348179" cy="2194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8" name="Text 864"/>
          <p:cNvSpPr txBox="1"/>
          <p:nvPr/>
        </p:nvSpPr>
        <p:spPr>
          <a:xfrm>
            <a:off x="1207008" y="4023360"/>
            <a:ext cx="2238451" cy="219456"/>
          </a:xfrm>
          <a:prstGeom prst="rect">
            <a:avLst/>
          </a:prstGeom>
          <a:noFill/>
        </p:spPr>
        <p:txBody>
          <a:bodyPr wrap="none" anchor="ctr" lIns="0" rIns="0" tIns="0" bIns="0">
            <a:spAutoFit/>
          </a:bodyPr>
          <a:lstStyle/>
          <a:p>
            <a:pPr algn="l"/>
            <a:r>
              <a:rPr sz="1000" b="0" i="1">
                <a:solidFill>
                  <a:schemeClr val="accent5"/>
                </a:solidFill>
              </a:rPr>
              <a:t>an instance's file matches the end</a:t>
            </a:r>
          </a:p>
        </p:txBody>
      </p:sp>
      <p:sp>
        <p:nvSpPr>
          <p:cNvPr id="9079" name="Note 865"/>
          <p:cNvSpPr/>
          <p:nvPr/>
        </p:nvSpPr>
        <p:spPr>
          <a:xfrm>
            <a:off x="7662672" y="4206240"/>
            <a:ext cx="3474720" cy="27432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80" name="Text 866"/>
          <p:cNvSpPr txBox="1"/>
          <p:nvPr/>
        </p:nvSpPr>
        <p:spPr>
          <a:xfrm>
            <a:off x="7735824" y="4206240"/>
            <a:ext cx="3328416" cy="274320"/>
          </a:xfrm>
          <a:prstGeom prst="rect">
            <a:avLst/>
          </a:prstGeom>
          <a:noFill/>
        </p:spPr>
        <p:txBody>
          <a:bodyPr wrap="square" anchor="ctr" lIns="0" rIns="0" tIns="0" bIns="0">
            <a:spAutoFit/>
          </a:bodyPr>
          <a:lstStyle/>
          <a:p>
            <a:pPr algn="l"/>
            <a:r>
              <a:rPr sz="1100" b="0">
                <a:solidFill>
                  <a:schemeClr val="tx1"/>
                </a:solidFill>
              </a:rPr>
              <a:t>it confirms: &lt;r&gt;.snapshot, older files deleted</a:t>
            </a:r>
          </a:p>
        </p:txBody>
      </p:sp>
      <p:cxnSp>
        <p:nvCxnSpPr>
          <p:cNvPr id="9081" name="Arrow 867"/>
          <p:cNvCxnSpPr/>
          <p:nvPr/>
        </p:nvCxnSpPr>
        <p:spPr>
          <a:xfrm>
            <a:off x="548640" y="4581144"/>
            <a:ext cx="11094415" cy="0"/>
          </a:xfrm>
          <a:prstGeom prst="line">
            <a:avLst/>
          </a:prstGeom>
          <a:ln w="15875">
            <a:solidFill>
              <a:schemeClr val="accent5"/>
            </a:solidFill>
            <a:prstDash val="dash"/>
          </a:ln>
        </p:spPr>
        <p:style>
          <a:lnRef idx="2">
            <a:schemeClr val="accent1"/>
          </a:lnRef>
          <a:fillRef idx="0">
            <a:schemeClr val="accent1"/>
          </a:fillRef>
          <a:effectRef idx="1">
            <a:schemeClr val="accent1"/>
          </a:effectRef>
          <a:fontRef idx="minor">
            <a:schemeClr val="tx1"/>
          </a:fontRef>
        </p:style>
      </p:cxnSp>
      <p:sp>
        <p:nvSpPr>
          <p:cNvPr id="9082" name="Frame tag 868"/>
          <p:cNvSpPr/>
          <p:nvPr/>
        </p:nvSpPr>
        <p:spPr>
          <a:xfrm>
            <a:off x="548640" y="4581144"/>
            <a:ext cx="566928" cy="21945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900" b="1">
                <a:solidFill>
                  <a:schemeClr val="tx1"/>
                </a:solidFill>
              </a:rPr>
              <a:t>ELSE</a:t>
            </a:r>
          </a:p>
        </p:txBody>
      </p:sp>
      <p:sp>
        <p:nvSpPr>
          <p:cNvPr id="9083" name="Frame guard 869"/>
          <p:cNvSpPr/>
          <p:nvPr/>
        </p:nvSpPr>
        <p:spPr>
          <a:xfrm>
            <a:off x="1152144" y="4581144"/>
            <a:ext cx="768096" cy="2194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4" name="Text 870"/>
          <p:cNvSpPr txBox="1"/>
          <p:nvPr/>
        </p:nvSpPr>
        <p:spPr>
          <a:xfrm>
            <a:off x="1207008" y="4581144"/>
            <a:ext cx="658368" cy="219456"/>
          </a:xfrm>
          <a:prstGeom prst="rect">
            <a:avLst/>
          </a:prstGeom>
          <a:noFill/>
        </p:spPr>
        <p:txBody>
          <a:bodyPr wrap="none" anchor="ctr" lIns="0" rIns="0" tIns="0" bIns="0">
            <a:spAutoFit/>
          </a:bodyPr>
          <a:lstStyle/>
          <a:p>
            <a:pPr algn="l"/>
            <a:r>
              <a:rPr sz="1000" b="0" i="1">
                <a:solidFill>
                  <a:schemeClr val="accent5"/>
                </a:solidFill>
              </a:rPr>
              <a:t>it differs</a:t>
            </a:r>
          </a:p>
        </p:txBody>
      </p:sp>
      <p:sp>
        <p:nvSpPr>
          <p:cNvPr id="9085" name="Note 871"/>
          <p:cNvSpPr/>
          <p:nvPr/>
        </p:nvSpPr>
        <p:spPr>
          <a:xfrm>
            <a:off x="7662672" y="4764024"/>
            <a:ext cx="3474720" cy="27432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p>
        </p:txBody>
      </p:sp>
      <p:sp>
        <p:nvSpPr>
          <p:cNvPr id="9086" name="Text 872"/>
          <p:cNvSpPr txBox="1"/>
          <p:nvPr/>
        </p:nvSpPr>
        <p:spPr>
          <a:xfrm>
            <a:off x="7735824" y="4764024"/>
            <a:ext cx="3328416" cy="274320"/>
          </a:xfrm>
          <a:prstGeom prst="rect">
            <a:avLst/>
          </a:prstGeom>
          <a:noFill/>
        </p:spPr>
        <p:txBody>
          <a:bodyPr wrap="square" anchor="ctr" lIns="0" rIns="0" tIns="0" bIns="0">
            <a:spAutoFit/>
          </a:bodyPr>
          <a:lstStyle/>
          <a:p>
            <a:pPr algn="l"/>
            <a:r>
              <a:rPr sz="1100" b="0">
                <a:solidFill>
                  <a:schemeClr val="tx1"/>
                </a:solidFill>
              </a:rPr>
              <a:t>it fences: SNAPSHOT_DIVERGED</a:t>
            </a:r>
          </a:p>
        </p:txBody>
      </p:sp>
      <p:sp>
        <p:nvSpPr>
          <p:cNvPr id="9087" name="Frame 873"/>
          <p:cNvSpPr/>
          <p:nvPr/>
        </p:nvSpPr>
        <p:spPr>
          <a:xfrm>
            <a:off x="548640" y="4023360"/>
            <a:ext cx="11094415" cy="1097280"/>
          </a:xfrm>
          <a:prstGeom prst="rect">
            <a:avLst/>
          </a:prstGeom>
          <a:noFill/>
          <a:ln w="12700">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The gateway protocol</a:t>
            </a:r>
          </a:p>
        </p:txBody>
      </p:sp>
      <p:sp>
        <p:nvSpPr>
          <p:cNvPr id="3" name="Text 874"/>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Six system frames; only the sequencer designates</a:t>
            </a:r>
          </a:p>
        </p:txBody>
      </p:sp>
      <p:sp>
        <p:nvSpPr>
          <p:cNvPr id="9050" name="Slide number"/>
          <p:cNvSpPr txBox="1"/>
          <p:nvPr userDrawn="1"/>
        </p:nvSpPr>
        <p:spPr>
          <a:xfrm>
            <a:off x="10728655" y="6400800"/>
            <a:ext cx="914400" cy="274320"/>
          </a:xfrm>
          <a:prstGeom prst="rect">
            <a:avLst/>
          </a:prstGeom>
          <a:noFill/>
        </p:spPr>
        <p:txBody>
          <a:bodyPr wrap="none" lIns="0" tIns="0" rIns="0" bIns="0" anchor="ctr"/>
          <a:lstStyle/>
          <a:p>
            <a:pPr algn="r"/>
            <a:fld id="{4a24f5de-e44f-487f-b18b-01188e0421b9}" type="slidenum">
              <a:rPr lang="en-US" sz="1000" dirty="0">
                <a:solidFill>
                  <a:schemeClr val="accent5"/>
                </a:solidFill>
              </a:rPr>
              <a:t>50</a:t>
            </a:fld>
          </a:p>
        </p:txBody>
      </p:sp>
      <p:graphicFrame>
        <p:nvGraphicFramePr>
          <p:cNvPr id="9051" name="Table 875"/>
          <p:cNvGraphicFramePr>
            <a:graphicFrameLocks noGrp="1"/>
          </p:cNvGraphicFramePr>
          <p:nvPr/>
        </p:nvGraphicFramePr>
        <p:xfrm>
          <a:off x="548640" y="1691640"/>
          <a:ext cx="11091672" cy="3328416"/>
        </p:xfrm>
        <a:graphic>
          <a:graphicData uri="http://schemas.openxmlformats.org/drawingml/2006/table">
            <a:tbl>
              <a:tblPr firstRow="1">
                <a:tableStyleId>{5C22544A-7EE6-4342-B048-85BDC9FD1C3A}</a:tableStyleId>
              </a:tblPr>
              <a:tblGrid>
                <a:gridCol w="2697480"/>
                <a:gridCol w="2286000"/>
                <a:gridCol w="2743200"/>
                <a:gridCol w="3364992"/>
              </a:tblGrid>
              <a:tr h="475488">
                <a:tc>
                  <a:txBody>
                    <a:bodyPr/>
                    <a:lstStyle/>
                    <a:p>
                      <a:pPr algn="l"/>
                      <a:r>
                        <a:rPr sz="1200" b="1">
                          <a:solidFill>
                            <a:schemeClr val="bg1"/>
                          </a:solidFill>
                        </a:rPr>
                        <a:t>Frame</a:t>
                      </a:r>
                    </a:p>
                  </a:txBody>
                  <a:tcPr marL="91440" marR="91440" marT="45720" marB="45720" anchor="ctr">
                    <a:solidFill>
                      <a:schemeClr val="accent1"/>
                    </a:solidFill>
                  </a:tcPr>
                </a:tc>
                <a:tc>
                  <a:txBody>
                    <a:bodyPr/>
                    <a:lstStyle/>
                    <a:p>
                      <a:pPr algn="l"/>
                      <a:r>
                        <a:rPr sz="1200" b="1">
                          <a:solidFill>
                            <a:schemeClr val="bg1"/>
                          </a:solidFill>
                        </a:rPr>
                        <a:t>Sent by</a:t>
                      </a:r>
                    </a:p>
                  </a:txBody>
                  <a:tcPr marL="91440" marR="91440" marT="45720" marB="45720" anchor="ctr">
                    <a:solidFill>
                      <a:schemeClr val="accent1"/>
                    </a:solidFill>
                  </a:tcPr>
                </a:tc>
                <a:tc>
                  <a:txBody>
                    <a:bodyPr/>
                    <a:lstStyle/>
                    <a:p>
                      <a:pPr algn="l"/>
                      <a:r>
                        <a:rPr sz="1200" b="1">
                          <a:solidFill>
                            <a:schemeClr val="bg1"/>
                          </a:solidFill>
                        </a:rPr>
                        <a:t>Fields</a:t>
                      </a:r>
                    </a:p>
                  </a:txBody>
                  <a:tcPr marL="91440" marR="91440" marT="45720" marB="45720" anchor="ctr">
                    <a:solidFill>
                      <a:schemeClr val="accent1"/>
                    </a:solidFill>
                  </a:tcPr>
                </a:tc>
                <a:tc>
                  <a:txBody>
                    <a:bodyPr/>
                    <a:lstStyle/>
                    <a:p>
                      <a:pPr algn="l"/>
                      <a:r>
                        <a:rPr sz="1200" b="1">
                          <a:solidFill>
                            <a:schemeClr val="bg1"/>
                          </a:solidFill>
                        </a:rPr>
                        <a:t>The sequencer</a:t>
                      </a:r>
                    </a:p>
                  </a:txBody>
                  <a:tcPr marL="91440" marR="91440" marT="45720" marB="45720" anchor="ctr">
                    <a:solidFill>
                      <a:schemeClr val="accent1"/>
                    </a:solidFill>
                  </a:tcPr>
                </a:tc>
              </a:tr>
              <a:tr h="475488">
                <a:tc>
                  <a:txBody>
                    <a:bodyPr/>
                    <a:lstStyle/>
                    <a:p>
                      <a:pPr algn="l"/>
                      <a:r>
                        <a:rPr sz="1300" b="1">
                          <a:solidFill>
                            <a:schemeClr val="tx1"/>
                          </a:solidFill>
                        </a:rPr>
                        <a:t>GatewayRegistered</a:t>
                      </a:r>
                    </a:p>
                  </a:txBody>
                  <a:tcPr marL="91440" marR="91440" marT="45720" marB="45720" anchor="ctr">
                    <a:solidFill>
                      <a:schemeClr val="bg1"/>
                    </a:solidFill>
                  </a:tcPr>
                </a:tc>
                <a:tc>
                  <a:txBody>
                    <a:bodyPr/>
                    <a:lstStyle/>
                    <a:p>
                      <a:pPr algn="l"/>
                      <a:r>
                        <a:rPr sz="1300" b="0">
                          <a:solidFill>
                            <a:schemeClr val="tx1"/>
                          </a:solidFill>
                        </a:rPr>
                        <a:t>clusterctl load-topology</a:t>
                      </a:r>
                    </a:p>
                  </a:txBody>
                  <a:tcPr marL="91440" marR="91440" marT="45720" marB="45720" anchor="ctr">
                    <a:solidFill>
                      <a:schemeClr val="bg1"/>
                    </a:solidFill>
                  </a:tcPr>
                </a:tc>
                <a:tc>
                  <a:txBody>
                    <a:bodyPr/>
                    <a:lstStyle/>
                    <a:p>
                      <a:pPr algn="l"/>
                      <a:r>
                        <a:rPr sz="1300" b="0">
                          <a:solidFill>
                            <a:schemeClr val="tx1"/>
                          </a:solidFill>
                        </a:rPr>
                        <a:t>gatewayId, sourceId, name, rank, remaining</a:t>
                      </a:r>
                    </a:p>
                  </a:txBody>
                  <a:tcPr marL="91440" marR="91440" marT="45720" marB="45720" anchor="ctr">
                    <a:solidFill>
                      <a:schemeClr val="bg1"/>
                    </a:solidFill>
                  </a:tcPr>
                </a:tc>
                <a:tc>
                  <a:txBody>
                    <a:bodyPr/>
                    <a:lstStyle/>
                    <a:p>
                      <a:pPr algn="l"/>
                      <a:r>
                        <a:rPr sz="1300" b="0">
                          <a:solidFill>
                            <a:schemeClr val="tx1"/>
                          </a:solidFill>
                        </a:rPr>
                        <a:t>Builds the list; remaining 0 bootstraps rank 0</a:t>
                      </a:r>
                    </a:p>
                  </a:txBody>
                  <a:tcPr marL="91440" marR="91440" marT="45720" marB="45720" anchor="ctr">
                    <a:solidFill>
                      <a:schemeClr val="bg1"/>
                    </a:solidFill>
                  </a:tcPr>
                </a:tc>
              </a:tr>
              <a:tr h="475488">
                <a:tc>
                  <a:txBody>
                    <a:bodyPr/>
                    <a:lstStyle/>
                    <a:p>
                      <a:pPr algn="l"/>
                      <a:r>
                        <a:rPr sz="1300" b="1">
                          <a:solidFill>
                            <a:schemeClr val="tx1"/>
                          </a:solidFill>
                        </a:rPr>
                        <a:t>GatewayActive</a:t>
                      </a:r>
                    </a:p>
                  </a:txBody>
                  <a:tcPr marL="91440" marR="91440" marT="45720" marB="45720" anchor="ctr">
                    <a:solidFill>
                      <a:schemeClr val="bg2"/>
                    </a:solidFill>
                  </a:tcPr>
                </a:tc>
                <a:tc>
                  <a:txBody>
                    <a:bodyPr/>
                    <a:lstStyle/>
                    <a:p>
                      <a:pPr algn="l"/>
                      <a:r>
                        <a:rPr sz="1300" b="0">
                          <a:solidFill>
                            <a:schemeClr val="tx1"/>
                          </a:solidFill>
                        </a:rPr>
                        <a:t>the sequencer only</a:t>
                      </a:r>
                    </a:p>
                  </a:txBody>
                  <a:tcPr marL="91440" marR="91440" marT="45720" marB="45720" anchor="ctr">
                    <a:solidFill>
                      <a:schemeClr val="bg2"/>
                    </a:solidFill>
                  </a:tcPr>
                </a:tc>
                <a:tc>
                  <a:txBody>
                    <a:bodyPr/>
                    <a:lstStyle/>
                    <a:p>
                      <a:pPr algn="l"/>
                      <a:r>
                        <a:rPr sz="1300" b="0">
                          <a:solidFill>
                            <a:schemeClr val="tx1"/>
                          </a:solidFill>
                        </a:rPr>
                        <a:t>gatewayId</a:t>
                      </a:r>
                    </a:p>
                  </a:txBody>
                  <a:tcPr marL="91440" marR="91440" marT="45720" marB="45720" anchor="ctr">
                    <a:solidFill>
                      <a:schemeClr val="bg2"/>
                    </a:solidFill>
                  </a:tcPr>
                </a:tc>
                <a:tc>
                  <a:txBody>
                    <a:bodyPr/>
                    <a:lstStyle/>
                    <a:p>
                      <a:pPr algn="l"/>
                      <a:r>
                        <a:rPr sz="1300" b="0">
                          <a:solidFill>
                            <a:schemeClr val="tx1"/>
                          </a:solidFill>
                        </a:rPr>
                        <a:t>Designates one instance; arms a 5 s deadline</a:t>
                      </a:r>
                    </a:p>
                  </a:txBody>
                  <a:tcPr marL="91440" marR="91440" marT="45720" marB="45720" anchor="ctr">
                    <a:solidFill>
                      <a:schemeClr val="bg2"/>
                    </a:solidFill>
                  </a:tcPr>
                </a:tc>
              </a:tr>
              <a:tr h="475488">
                <a:tc>
                  <a:txBody>
                    <a:bodyPr/>
                    <a:lstStyle/>
                    <a:p>
                      <a:pPr algn="l"/>
                      <a:r>
                        <a:rPr sz="1300" b="1">
                          <a:solidFill>
                            <a:schemeClr val="tx1"/>
                          </a:solidFill>
                        </a:rPr>
                        <a:t>GatewayStarted</a:t>
                      </a:r>
                    </a:p>
                  </a:txBody>
                  <a:tcPr marL="91440" marR="91440" marT="45720" marB="45720" anchor="ctr">
                    <a:solidFill>
                      <a:schemeClr val="bg1"/>
                    </a:solidFill>
                  </a:tcPr>
                </a:tc>
                <a:tc>
                  <a:txBody>
                    <a:bodyPr/>
                    <a:lstStyle/>
                    <a:p>
                      <a:pPr algn="l"/>
                      <a:r>
                        <a:rPr sz="1300" b="0">
                          <a:solidFill>
                            <a:schemeClr val="tx1"/>
                          </a:solidFill>
                        </a:rPr>
                        <a:t>the designated instance</a:t>
                      </a:r>
                    </a:p>
                  </a:txBody>
                  <a:tcPr marL="91440" marR="91440" marT="45720" marB="45720" anchor="ctr">
                    <a:solidFill>
                      <a:schemeClr val="bg1"/>
                    </a:solidFill>
                  </a:tcPr>
                </a:tc>
                <a:tc>
                  <a:txBody>
                    <a:bodyPr/>
                    <a:lstStyle/>
                    <a:p>
                      <a:pPr algn="l"/>
                      <a:r>
                        <a:rPr sz="1300" b="0">
                          <a:solidFill>
                            <a:schemeClr val="tx1"/>
                          </a:solidFill>
                        </a:rPr>
                        <a:t>gatewayId, firstConnectionId</a:t>
                      </a:r>
                    </a:p>
                  </a:txBody>
                  <a:tcPr marL="91440" marR="91440" marT="45720" marB="45720" anchor="ctr">
                    <a:solidFill>
                      <a:schemeClr val="bg1"/>
                    </a:solidFill>
                  </a:tcPr>
                </a:tc>
                <a:tc>
                  <a:txBody>
                    <a:bodyPr/>
                    <a:lstStyle/>
                    <a:p>
                      <a:pPr algn="l"/>
                      <a:r>
                        <a:rPr sz="1300" b="0">
                          <a:solidFill>
                            <a:schemeClr val="tx1"/>
                          </a:solidFill>
                        </a:rPr>
                        <a:t>Binds its session</a:t>
                      </a:r>
                    </a:p>
                  </a:txBody>
                  <a:tcPr marL="91440" marR="91440" marT="45720" marB="45720" anchor="ctr">
                    <a:solidFill>
                      <a:schemeClr val="bg1"/>
                    </a:solidFill>
                  </a:tcPr>
                </a:tc>
              </a:tr>
              <a:tr h="475488">
                <a:tc>
                  <a:txBody>
                    <a:bodyPr/>
                    <a:lstStyle/>
                    <a:p>
                      <a:pPr algn="l"/>
                      <a:r>
                        <a:rPr sz="1300" b="1">
                          <a:solidFill>
                            <a:schemeClr val="tx1"/>
                          </a:solidFill>
                        </a:rPr>
                        <a:t>GatewayActivationRequested</a:t>
                      </a:r>
                    </a:p>
                  </a:txBody>
                  <a:tcPr marL="91440" marR="91440" marT="45720" marB="45720" anchor="ctr">
                    <a:solidFill>
                      <a:schemeClr val="bg2"/>
                    </a:solidFill>
                  </a:tcPr>
                </a:tc>
                <a:tc>
                  <a:txBody>
                    <a:bodyPr/>
                    <a:lstStyle/>
                    <a:p>
                      <a:pPr algn="l"/>
                      <a:r>
                        <a:rPr sz="1300" b="0">
                          <a:solidFill>
                            <a:schemeClr val="tx1"/>
                          </a:solidFill>
                        </a:rPr>
                        <a:t>clusterctl activate</a:t>
                      </a:r>
                    </a:p>
                  </a:txBody>
                  <a:tcPr marL="91440" marR="91440" marT="45720" marB="45720" anchor="ctr">
                    <a:solidFill>
                      <a:schemeClr val="bg2"/>
                    </a:solidFill>
                  </a:tcPr>
                </a:tc>
                <a:tc>
                  <a:txBody>
                    <a:bodyPr/>
                    <a:lstStyle/>
                    <a:p>
                      <a:pPr algn="l"/>
                      <a:r>
                        <a:rPr sz="1300" b="0">
                          <a:solidFill>
                            <a:schemeClr val="tx1"/>
                          </a:solidFill>
                        </a:rPr>
                        <a:t>gatewayId</a:t>
                      </a:r>
                    </a:p>
                  </a:txBody>
                  <a:tcPr marL="91440" marR="91440" marT="45720" marB="45720" anchor="ctr">
                    <a:solidFill>
                      <a:schemeClr val="bg2"/>
                    </a:solidFill>
                  </a:tcPr>
                </a:tc>
                <a:tc>
                  <a:txBody>
                    <a:bodyPr/>
                    <a:lstStyle/>
                    <a:p>
                      <a:pPr algn="l"/>
                      <a:r>
                        <a:rPr sz="1300" b="0">
                          <a:solidFill>
                            <a:schemeClr val="tx1"/>
                          </a:solidFill>
                        </a:rPr>
                        <a:t>Validates it, then a GatewayActive at the next number</a:t>
                      </a:r>
                    </a:p>
                  </a:txBody>
                  <a:tcPr marL="91440" marR="91440" marT="45720" marB="45720" anchor="ctr">
                    <a:solidFill>
                      <a:schemeClr val="bg2"/>
                    </a:solidFill>
                  </a:tcPr>
                </a:tc>
              </a:tr>
              <a:tr h="475488">
                <a:tc>
                  <a:txBody>
                    <a:bodyPr/>
                    <a:lstStyle/>
                    <a:p>
                      <a:pPr algn="l"/>
                      <a:r>
                        <a:rPr sz="1300" b="1">
                          <a:solidFill>
                            <a:schemeClr val="tx1"/>
                          </a:solidFill>
                        </a:rPr>
                        <a:t>ConnectionOpened</a:t>
                      </a:r>
                    </a:p>
                  </a:txBody>
                  <a:tcPr marL="91440" marR="91440" marT="45720" marB="45720" anchor="ctr">
                    <a:solidFill>
                      <a:schemeClr val="bg1"/>
                    </a:solidFill>
                  </a:tcPr>
                </a:tc>
                <a:tc>
                  <a:txBody>
                    <a:bodyPr/>
                    <a:lstStyle/>
                    <a:p>
                      <a:pPr algn="l"/>
                      <a:r>
                        <a:rPr sz="1300" b="0">
                          <a:solidFill>
                            <a:schemeClr val="tx1"/>
                          </a:solidFill>
                        </a:rPr>
                        <a:t>the active instance</a:t>
                      </a:r>
                    </a:p>
                  </a:txBody>
                  <a:tcPr marL="91440" marR="91440" marT="45720" marB="45720" anchor="ctr">
                    <a:solidFill>
                      <a:schemeClr val="bg1"/>
                    </a:solidFill>
                  </a:tcPr>
                </a:tc>
                <a:tc>
                  <a:txBody>
                    <a:bodyPr/>
                    <a:lstStyle/>
                    <a:p>
                      <a:pPr algn="l"/>
                      <a:r>
                        <a:rPr sz="1300" b="0">
                          <a:solidFill>
                            <a:schemeClr val="tx1"/>
                          </a:solidFill>
                        </a:rPr>
                        <a:t>connectionData, opaque</a:t>
                      </a:r>
                    </a:p>
                  </a:txBody>
                  <a:tcPr marL="91440" marR="91440" marT="45720" marB="45720" anchor="ctr">
                    <a:solidFill>
                      <a:schemeClr val="bg1"/>
                    </a:solidFill>
                  </a:tcPr>
                </a:tc>
                <a:tc>
                  <a:txBody>
                    <a:bodyPr/>
                    <a:lstStyle/>
                    <a:p>
                      <a:pPr algn="l"/>
                      <a:r>
                        <a:rPr sz="1300" b="0">
                          <a:solidFill>
                            <a:schemeClr val="tx1"/>
                          </a:solidFill>
                        </a:rPr>
                        <a:t>Forwards it unopened</a:t>
                      </a:r>
                    </a:p>
                  </a:txBody>
                  <a:tcPr marL="91440" marR="91440" marT="45720" marB="45720" anchor="ctr">
                    <a:solidFill>
                      <a:schemeClr val="bg1"/>
                    </a:solidFill>
                  </a:tcPr>
                </a:tc>
              </a:tr>
              <a:tr h="475488">
                <a:tc>
                  <a:txBody>
                    <a:bodyPr/>
                    <a:lstStyle/>
                    <a:p>
                      <a:pPr algn="l"/>
                      <a:r>
                        <a:rPr sz="1300" b="1">
                          <a:solidFill>
                            <a:schemeClr val="tx1"/>
                          </a:solidFill>
                        </a:rPr>
                        <a:t>ConnectionClosed</a:t>
                      </a:r>
                    </a:p>
                  </a:txBody>
                  <a:tcPr marL="91440" marR="91440" marT="45720" marB="45720" anchor="ctr">
                    <a:solidFill>
                      <a:schemeClr val="bg2"/>
                    </a:solidFill>
                  </a:tcPr>
                </a:tc>
                <a:tc>
                  <a:txBody>
                    <a:bodyPr/>
                    <a:lstStyle/>
                    <a:p>
                      <a:pPr algn="l"/>
                      <a:r>
                        <a:rPr sz="1300" b="0">
                          <a:solidFill>
                            <a:schemeClr val="tx1"/>
                          </a:solidFill>
                        </a:rPr>
                        <a:t>the active instance</a:t>
                      </a:r>
                    </a:p>
                  </a:txBody>
                  <a:tcPr marL="91440" marR="91440" marT="45720" marB="45720" anchor="ctr">
                    <a:solidFill>
                      <a:schemeClr val="bg2"/>
                    </a:solidFill>
                  </a:tcPr>
                </a:tc>
                <a:tc>
                  <a:txBody>
                    <a:bodyPr/>
                    <a:lstStyle/>
                    <a:p>
                      <a:pPr algn="l"/>
                      <a:r>
                        <a:rPr sz="1300" b="0">
                          <a:solidFill>
                            <a:schemeClr val="tx1"/>
                          </a:solidFill>
                        </a:rPr>
                        <a:t>none</a:t>
                      </a:r>
                    </a:p>
                  </a:txBody>
                  <a:tcPr marL="91440" marR="91440" marT="45720" marB="45720" anchor="ctr">
                    <a:solidFill>
                      <a:schemeClr val="bg2"/>
                    </a:solidFill>
                  </a:tcPr>
                </a:tc>
                <a:tc>
                  <a:txBody>
                    <a:bodyPr/>
                    <a:lstStyle/>
                    <a:p>
                      <a:pPr algn="l"/>
                      <a:r>
                        <a:rPr sz="1300" b="0">
                          <a:solidFill>
                            <a:schemeClr val="tx1"/>
                          </a:solidFill>
                        </a:rPr>
                        <a:t>Forwards it</a:t>
                      </a:r>
                    </a:p>
                  </a:txBody>
                  <a:tcPr marL="91440" marR="91440" marT="45720" marB="45720" anchor="ctr">
                    <a:solidFill>
                      <a:schemeClr val="bg2"/>
                    </a:solidFill>
                  </a:tcPr>
                </a:tc>
              </a:tr>
            </a:tbl>
          </a:graphicData>
        </a:graphic>
      </p:graphicFrame>
      <p:sp>
        <p:nvSpPr>
          <p:cNvPr id="9052" name="Card 876"/>
          <p:cNvSpPr/>
          <p:nvPr/>
        </p:nvSpPr>
        <p:spPr>
          <a:xfrm>
            <a:off x="548640" y="5257800"/>
            <a:ext cx="11094415" cy="868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201168" bIns="201168"/>
          <a:lstStyle/>
          <a:p>
            <a:pPr algn="l"/>
            <a:r>
              <a:rPr sz="1400" b="1">
                <a:solidFill>
                  <a:schemeClr val="tx1"/>
                </a:solidFill>
              </a:rPr>
              <a:t>The log is the judge (S-6). </a:t>
            </a:r>
            <a:r>
              <a:rPr sz="1400" b="0">
                <a:solidFill>
                  <a:schemeClr val="tx1"/>
                </a:solidFill>
              </a:rPr>
              <a:t>A GatewayStarted must name the instance the latest GatewayActive designated. Once a GatewayActive names a sibling, nothing from the old instance's session is sequenced, even while that session stays open.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The application protocol</a:t>
            </a:r>
          </a:p>
        </p:txBody>
      </p:sp>
      <p:sp>
        <p:nvSpPr>
          <p:cNvPr id="3" name="Text 877"/>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What one replica reads and submits</a:t>
            </a:r>
          </a:p>
        </p:txBody>
      </p:sp>
      <p:sp>
        <p:nvSpPr>
          <p:cNvPr id="9051" name="Slide number"/>
          <p:cNvSpPr txBox="1"/>
          <p:nvPr userDrawn="1"/>
        </p:nvSpPr>
        <p:spPr>
          <a:xfrm>
            <a:off x="10728655" y="6400800"/>
            <a:ext cx="914400" cy="274320"/>
          </a:xfrm>
          <a:prstGeom prst="rect">
            <a:avLst/>
          </a:prstGeom>
          <a:noFill/>
        </p:spPr>
        <p:txBody>
          <a:bodyPr wrap="none" lIns="0" tIns="0" rIns="0" bIns="0" anchor="ctr"/>
          <a:lstStyle/>
          <a:p>
            <a:pPr algn="r"/>
            <a:fld id="{beae07c2-856c-4a9b-bd55-bbd862782fe2}" type="slidenum">
              <a:rPr lang="en-US" sz="1000" dirty="0">
                <a:solidFill>
                  <a:schemeClr val="accent5"/>
                </a:solidFill>
              </a:rPr>
              <a:t>51</a:t>
            </a:fld>
          </a:p>
        </p:txBody>
      </p:sp>
      <p:graphicFrame>
        <p:nvGraphicFramePr>
          <p:cNvPr id="9052" name="Table 878"/>
          <p:cNvGraphicFramePr>
            <a:graphicFrameLocks noGrp="1"/>
          </p:cNvGraphicFramePr>
          <p:nvPr/>
        </p:nvGraphicFramePr>
        <p:xfrm>
          <a:off x="548640" y="1691640"/>
          <a:ext cx="11091672" cy="2057400"/>
        </p:xfrm>
        <a:graphic>
          <a:graphicData uri="http://schemas.openxmlformats.org/drawingml/2006/table">
            <a:tbl>
              <a:tblPr firstRow="1">
                <a:tableStyleId>{5C22544A-7EE6-4342-B048-85BDC9FD1C3A}</a:tableStyleId>
              </a:tblPr>
              <a:tblGrid>
                <a:gridCol w="2697480"/>
                <a:gridCol w="1097280"/>
                <a:gridCol w="7296912"/>
              </a:tblGrid>
              <a:tr h="411480">
                <a:tc>
                  <a:txBody>
                    <a:bodyPr/>
                    <a:lstStyle/>
                    <a:p>
                      <a:pPr algn="l"/>
                      <a:r>
                        <a:rPr sz="1300" b="1">
                          <a:solidFill>
                            <a:schemeClr val="bg1"/>
                          </a:solidFill>
                        </a:rPr>
                        <a:t>Frame</a:t>
                      </a:r>
                    </a:p>
                  </a:txBody>
                  <a:tcPr marL="91440" marR="91440" marT="45720" marB="45720" anchor="ctr">
                    <a:solidFill>
                      <a:schemeClr val="accent1"/>
                    </a:solidFill>
                  </a:tcPr>
                </a:tc>
                <a:tc>
                  <a:txBody>
                    <a:bodyPr/>
                    <a:lstStyle/>
                    <a:p>
                      <a:pPr algn="l"/>
                      <a:r>
                        <a:rPr sz="1300" b="1">
                          <a:solidFill>
                            <a:schemeClr val="bg1"/>
                          </a:solidFill>
                        </a:rPr>
                        <a:t>Direction</a:t>
                      </a:r>
                    </a:p>
                  </a:txBody>
                  <a:tcPr marL="91440" marR="91440" marT="45720" marB="45720" anchor="ctr">
                    <a:solidFill>
                      <a:schemeClr val="accent1"/>
                    </a:solidFill>
                  </a:tcPr>
                </a:tc>
                <a:tc>
                  <a:txBody>
                    <a:bodyPr/>
                    <a:lstStyle/>
                    <a:p>
                      <a:pPr algn="l"/>
                      <a:r>
                        <a:rPr sz="1300" b="1">
                          <a:solidFill>
                            <a:schemeClr val="bg1"/>
                          </a:solidFill>
                        </a:rPr>
                        <a:t>The façade</a:t>
                      </a:r>
                    </a:p>
                  </a:txBody>
                  <a:tcPr marL="91440" marR="91440" marT="45720" marB="45720" anchor="ctr">
                    <a:solidFill>
                      <a:schemeClr val="accent1"/>
                    </a:solidFill>
                  </a:tcPr>
                </a:tc>
              </a:tr>
              <a:tr h="411480">
                <a:tc>
                  <a:txBody>
                    <a:bodyPr/>
                    <a:lstStyle/>
                    <a:p>
                      <a:pPr algn="l"/>
                      <a:r>
                        <a:rPr sz="1400" b="1">
                          <a:solidFill>
                            <a:schemeClr val="tx1"/>
                          </a:solidFill>
                        </a:rPr>
                        <a:t>Sequenced</a:t>
                      </a:r>
                    </a:p>
                  </a:txBody>
                  <a:tcPr marL="91440" marR="91440" marT="45720" marB="45720" anchor="ctr">
                    <a:solidFill>
                      <a:schemeClr val="bg1"/>
                    </a:solidFill>
                  </a:tcPr>
                </a:tc>
                <a:tc>
                  <a:txBody>
                    <a:bodyPr/>
                    <a:lstStyle/>
                    <a:p>
                      <a:pPr algn="l"/>
                      <a:r>
                        <a:rPr sz="1400" b="0">
                          <a:solidFill>
                            <a:schemeClr val="tx1"/>
                          </a:solidFill>
                        </a:rPr>
                        <a:t>reads</a:t>
                      </a:r>
                    </a:p>
                  </a:txBody>
                  <a:tcPr marL="91440" marR="91440" marT="45720" marB="45720" anchor="ctr">
                    <a:solidFill>
                      <a:schemeClr val="bg1"/>
                    </a:solidFill>
                  </a:tcPr>
                </a:tc>
                <a:tc>
                  <a:txBody>
                    <a:bodyPr/>
                    <a:lstStyle/>
                    <a:p>
                      <a:pPr algn="l"/>
                      <a:r>
                        <a:rPr sz="1400" b="0">
                          <a:solidFill>
                            <a:schemeClr val="tx1"/>
                          </a:solidFill>
                        </a:rPr>
                        <a:t>onSequenced, in sequence number order; its own frames confirm its sends</a:t>
                      </a:r>
                    </a:p>
                  </a:txBody>
                  <a:tcPr marL="91440" marR="91440" marT="45720" marB="45720" anchor="ctr">
                    <a:solidFill>
                      <a:schemeClr val="bg1"/>
                    </a:solidFill>
                  </a:tcPr>
                </a:tc>
              </a:tr>
              <a:tr h="411480">
                <a:tc>
                  <a:txBody>
                    <a:bodyPr/>
                    <a:lstStyle/>
                    <a:p>
                      <a:pPr algn="l"/>
                      <a:r>
                        <a:rPr sz="1400" b="1">
                          <a:solidFill>
                            <a:schemeClr val="tx1"/>
                          </a:solidFill>
                        </a:rPr>
                        <a:t>Unsequenced</a:t>
                      </a:r>
                    </a:p>
                  </a:txBody>
                  <a:tcPr marL="91440" marR="91440" marT="45720" marB="45720" anchor="ctr">
                    <a:solidFill>
                      <a:schemeClr val="bg2"/>
                    </a:solidFill>
                  </a:tcPr>
                </a:tc>
                <a:tc>
                  <a:txBody>
                    <a:bodyPr/>
                    <a:lstStyle/>
                    <a:p>
                      <a:pPr algn="l"/>
                      <a:r>
                        <a:rPr sz="1400" b="0">
                          <a:solidFill>
                            <a:schemeClr val="tx1"/>
                          </a:solidFill>
                        </a:rPr>
                        <a:t>submits</a:t>
                      </a:r>
                    </a:p>
                  </a:txBody>
                  <a:tcPr marL="91440" marR="91440" marT="45720" marB="45720" anchor="ctr">
                    <a:solidFill>
                      <a:schemeClr val="bg2"/>
                    </a:solidFill>
                  </a:tcPr>
                </a:tc>
                <a:tc>
                  <a:txBody>
                    <a:bodyPr/>
                    <a:lstStyle/>
                    <a:p>
                      <a:pPr algn="l"/>
                      <a:r>
                        <a:rPr sz="1400" b="0">
                          <a:solidFill>
                            <a:schemeClr val="tx1"/>
                          </a:solidFill>
                        </a:rPr>
                        <a:t>publish under its own sourceId; reply under the requester's. Only while the gate is open</a:t>
                      </a:r>
                    </a:p>
                  </a:txBody>
                  <a:tcPr marL="91440" marR="91440" marT="45720" marB="45720" anchor="ctr">
                    <a:solidFill>
                      <a:schemeClr val="bg2"/>
                    </a:solidFill>
                  </a:tcPr>
                </a:tc>
              </a:tr>
              <a:tr h="411480">
                <a:tc>
                  <a:txBody>
                    <a:bodyPr/>
                    <a:lstStyle/>
                    <a:p>
                      <a:pPr algn="l"/>
                      <a:r>
                        <a:rPr sz="1400" b="1">
                          <a:solidFill>
                            <a:schemeClr val="tx1"/>
                          </a:solidFill>
                        </a:rPr>
                        <a:t>LeadershipChanged</a:t>
                      </a:r>
                    </a:p>
                  </a:txBody>
                  <a:tcPr marL="91440" marR="91440" marT="45720" marB="45720" anchor="ctr">
                    <a:solidFill>
                      <a:schemeClr val="bg1"/>
                    </a:solidFill>
                  </a:tcPr>
                </a:tc>
                <a:tc>
                  <a:txBody>
                    <a:bodyPr/>
                    <a:lstStyle/>
                    <a:p>
                      <a:pPr algn="l"/>
                      <a:r>
                        <a:rPr sz="1400" b="0">
                          <a:solidFill>
                            <a:schemeClr val="tx1"/>
                          </a:solidFill>
                        </a:rPr>
                        <a:t>reads</a:t>
                      </a:r>
                    </a:p>
                  </a:txBody>
                  <a:tcPr marL="91440" marR="91440" marT="45720" marB="45720" anchor="ctr">
                    <a:solidFill>
                      <a:schemeClr val="bg1"/>
                    </a:solidFill>
                  </a:tcPr>
                </a:tc>
                <a:tc>
                  <a:txBody>
                    <a:bodyPr/>
                    <a:lstStyle/>
                    <a:p>
                      <a:pPr algn="l"/>
                      <a:r>
                        <a:rPr sz="1400" b="0">
                          <a:solidFill>
                            <a:schemeClr val="tx1"/>
                          </a:solidFill>
                        </a:rPr>
                        <a:t>Closes the leader gate; a newer term resends what the old leader lost</a:t>
                      </a:r>
                    </a:p>
                  </a:txBody>
                  <a:tcPr marL="91440" marR="91440" marT="45720" marB="45720" anchor="ctr">
                    <a:solidFill>
                      <a:schemeClr val="bg1"/>
                    </a:solidFill>
                  </a:tcPr>
                </a:tc>
              </a:tr>
              <a:tr h="411480">
                <a:tc>
                  <a:txBody>
                    <a:bodyPr/>
                    <a:lstStyle/>
                    <a:p>
                      <a:pPr algn="l"/>
                      <a:r>
                        <a:rPr sz="1400" b="1">
                          <a:solidFill>
                            <a:schemeClr val="tx1"/>
                          </a:solidFill>
                        </a:rPr>
                        <a:t>ClusterHeartbeat</a:t>
                      </a:r>
                    </a:p>
                  </a:txBody>
                  <a:tcPr marL="91440" marR="91440" marT="45720" marB="45720" anchor="ctr">
                    <a:solidFill>
                      <a:schemeClr val="bg2"/>
                    </a:solidFill>
                  </a:tcPr>
                </a:tc>
                <a:tc>
                  <a:txBody>
                    <a:bodyPr/>
                    <a:lstStyle/>
                    <a:p>
                      <a:pPr algn="l"/>
                      <a:r>
                        <a:rPr sz="1400" b="0">
                          <a:solidFill>
                            <a:schemeClr val="tx1"/>
                          </a:solidFill>
                        </a:rPr>
                        <a:t>reads</a:t>
                      </a:r>
                    </a:p>
                  </a:txBody>
                  <a:tcPr marL="91440" marR="91440" marT="45720" marB="45720" anchor="ctr">
                    <a:solidFill>
                      <a:schemeClr val="bg2"/>
                    </a:solidFill>
                  </a:tcPr>
                </a:tc>
                <a:tc>
                  <a:txBody>
                    <a:bodyPr/>
                    <a:lstStyle/>
                    <a:p>
                      <a:pPr algn="l"/>
                      <a:r>
                        <a:rPr sz="1400" b="0">
                          <a:solidFill>
                            <a:schemeClr val="tx1"/>
                          </a:solidFill>
                        </a:rPr>
                        <a:t>onClusterHeartbeat, on consensus time; resets the queue-stall fence</a:t>
                      </a:r>
                    </a:p>
                  </a:txBody>
                  <a:tcPr marL="91440" marR="91440" marT="45720" marB="45720" anchor="ctr">
                    <a:solidFill>
                      <a:schemeClr val="bg2"/>
                    </a:solidFill>
                  </a:tcPr>
                </a:tc>
              </a:tr>
            </a:tbl>
          </a:graphicData>
        </a:graphic>
      </p:graphicFrame>
      <p:sp>
        <p:nvSpPr>
          <p:cNvPr id="9053" name="Text 879"/>
          <p:cNvSpPr txBox="1"/>
          <p:nvPr/>
        </p:nvSpPr>
        <p:spPr>
          <a:xfrm>
            <a:off x="548640" y="3858768"/>
            <a:ext cx="11094415" cy="365760"/>
          </a:xfrm>
          <a:prstGeom prst="rect">
            <a:avLst/>
          </a:prstGeom>
          <a:noFill/>
        </p:spPr>
        <p:txBody>
          <a:bodyPr wrap="square" anchor="t" lIns="0" rIns="0" tIns="0" bIns="0">
            <a:spAutoFit/>
          </a:bodyPr>
          <a:lstStyle/>
          <a:p>
            <a:pPr algn="l"/>
            <a:r>
              <a:rPr sz="1300" b="0">
                <a:solidFill>
                  <a:schemeClr val="accent5"/>
                </a:solidFill>
              </a:rPr>
              <a:t>Snapshot frames are covered under the snapshot protocol. Every other system frame is skipped (P-2).</a:t>
            </a:r>
          </a:p>
        </p:txBody>
      </p:sp>
      <p:sp>
        <p:nvSpPr>
          <p:cNvPr id="9054" name="Card 880"/>
          <p:cNvSpPr/>
          <p:nvPr/>
        </p:nvSpPr>
        <p:spPr>
          <a:xfrm>
            <a:off x="548640" y="4297680"/>
            <a:ext cx="3511296"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500" b="1" cap="none">
                <a:solidFill>
                  <a:schemeClr val="tx1"/>
                </a:solidFill>
                <a:latin typeface="+mj-lt"/>
              </a:rPr>
              <a:t>payloadId names a protocol</a:t>
            </a:r>
          </a:p>
          <a:p>
            <a:pPr algn="l"/>
            <a:r>
              <a:rPr sz="1300" b="0">
                <a:solidFill>
                  <a:schemeClr val="tx1"/>
                </a:solidFill>
              </a:rPr>
              <a:t>One schema or encoding, never one message: SBE, protobuf, raw FIX. Encoded once by its producer and copied through unopened. Versioning is the application's.</a:t>
            </a:r>
          </a:p>
        </p:txBody>
      </p:sp>
      <p:sp>
        <p:nvSpPr>
          <p:cNvPr id="9055" name="Card 881"/>
          <p:cNvSpPr/>
          <p:nvPr/>
        </p:nvSpPr>
        <p:spPr>
          <a:xfrm>
            <a:off x="4338828" y="4297680"/>
            <a:ext cx="3511296"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500" b="1" cap="none">
                <a:solidFill>
                  <a:schemeClr val="tx1"/>
                </a:solidFill>
                <a:latin typeface="+mj-lt"/>
              </a:rPr>
              <a:t>Consumers skip what they do not know</a:t>
            </a:r>
          </a:p>
          <a:p>
            <a:pPr algn="l"/>
            <a:r>
              <a:rPr sz="1300" b="0">
                <a:solidFill>
                  <a:schemeClr val="tx1"/>
                </a:solidFill>
              </a:rPr>
              <a:t>An unknown protocol or an unsupported version is skipped, not an error. Continuity uses the sequence number, so a skip hides no gap. Check the payload's own framing, an SBE schemaId, before decoding.</a:t>
            </a:r>
          </a:p>
        </p:txBody>
      </p:sp>
      <p:sp>
        <p:nvSpPr>
          <p:cNvPr id="9056" name="Card 882"/>
          <p:cNvSpPr/>
          <p:nvPr/>
        </p:nvSpPr>
        <p:spPr>
          <a:xfrm>
            <a:off x="8129016" y="4297680"/>
            <a:ext cx="3511296"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pPr>
            <a:r>
              <a:rPr sz="1500" b="1" cap="none">
                <a:solidFill>
                  <a:schemeClr val="tx1"/>
                </a:solidFill>
                <a:latin typeface="+mj-lt"/>
              </a:rPr>
              <a:t>Registration labels; it does not admit</a:t>
            </a:r>
          </a:p>
          <a:p>
            <a:pPr algn="l"/>
            <a:r>
              <a:rPr sz="1300" b="0">
                <a:solidFill>
                  <a:schemeClr val="tx1"/>
                </a:solidFill>
              </a:rPr>
              <a:t>PayloadIdRegistered names a protocol for SbeLogPrinter. The sequencer rejects nothing for lacking a row. A protocol shared by applications needs a row and one owning repository.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Fences</a:t>
            </a:r>
          </a:p>
        </p:txBody>
      </p:sp>
      <p:sp>
        <p:nvSpPr>
          <p:cNvPr id="3" name="Text 883"/>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An instance that cannot trust its view stops before it acts on stale state</a:t>
            </a:r>
          </a:p>
        </p:txBody>
      </p:sp>
      <p:sp>
        <p:nvSpPr>
          <p:cNvPr id="9052" name="Slide number"/>
          <p:cNvSpPr txBox="1"/>
          <p:nvPr userDrawn="1"/>
        </p:nvSpPr>
        <p:spPr>
          <a:xfrm>
            <a:off x="10728655" y="6400800"/>
            <a:ext cx="914400" cy="274320"/>
          </a:xfrm>
          <a:prstGeom prst="rect">
            <a:avLst/>
          </a:prstGeom>
          <a:noFill/>
        </p:spPr>
        <p:txBody>
          <a:bodyPr wrap="none" lIns="0" tIns="0" rIns="0" bIns="0" anchor="ctr"/>
          <a:lstStyle/>
          <a:p>
            <a:pPr algn="r"/>
            <a:fld id="{2eefc841-b5da-4204-8797-c043e926df55}" type="slidenum">
              <a:rPr lang="en-US" sz="1000" dirty="0">
                <a:solidFill>
                  <a:schemeClr val="accent5"/>
                </a:solidFill>
              </a:rPr>
              <a:t>52</a:t>
            </a:fld>
          </a:p>
        </p:txBody>
      </p:sp>
      <p:graphicFrame>
        <p:nvGraphicFramePr>
          <p:cNvPr id="9053" name="Table 884"/>
          <p:cNvGraphicFramePr>
            <a:graphicFrameLocks noGrp="1"/>
          </p:cNvGraphicFramePr>
          <p:nvPr/>
        </p:nvGraphicFramePr>
        <p:xfrm>
          <a:off x="548640" y="1691640"/>
          <a:ext cx="11091672" cy="3712464"/>
        </p:xfrm>
        <a:graphic>
          <a:graphicData uri="http://schemas.openxmlformats.org/drawingml/2006/table">
            <a:tbl>
              <a:tblPr firstRow="1">
                <a:tableStyleId>{5C22544A-7EE6-4342-B048-85BDC9FD1C3A}</a:tableStyleId>
              </a:tblPr>
              <a:tblGrid>
                <a:gridCol w="3566160"/>
                <a:gridCol w="7525512"/>
              </a:tblGrid>
              <a:tr h="530352">
                <a:tc>
                  <a:txBody>
                    <a:bodyPr/>
                    <a:lstStyle/>
                    <a:p>
                      <a:pPr algn="l"/>
                      <a:r>
                        <a:rPr sz="1300" b="1">
                          <a:solidFill>
                            <a:schemeClr val="bg1"/>
                          </a:solidFill>
                        </a:rPr>
                        <a:t>Fence</a:t>
                      </a:r>
                    </a:p>
                  </a:txBody>
                  <a:tcPr marL="91440" marR="91440" marT="45720" marB="45720" anchor="ctr">
                    <a:solidFill>
                      <a:schemeClr val="accent1"/>
                    </a:solidFill>
                  </a:tcPr>
                </a:tc>
                <a:tc>
                  <a:txBody>
                    <a:bodyPr/>
                    <a:lstStyle/>
                    <a:p>
                      <a:pPr algn="l"/>
                      <a:r>
                        <a:rPr sz="1300" b="1">
                          <a:solidFill>
                            <a:schemeClr val="bg1"/>
                          </a:solidFill>
                        </a:rPr>
                        <a:t>Condition</a:t>
                      </a:r>
                    </a:p>
                  </a:txBody>
                  <a:tcPr marL="91440" marR="91440" marT="45720" marB="45720" anchor="ctr">
                    <a:solidFill>
                      <a:schemeClr val="accent1"/>
                    </a:solidFill>
                  </a:tcPr>
                </a:tc>
              </a:tr>
              <a:tr h="530352">
                <a:tc>
                  <a:txBody>
                    <a:bodyPr/>
                    <a:lstStyle/>
                    <a:p>
                      <a:pPr algn="l"/>
                      <a:r>
                        <a:rPr sz="1400" b="1">
                          <a:solidFill>
                            <a:schemeClr val="tx1"/>
                          </a:solidFill>
                        </a:rPr>
                        <a:t>CLUSTER_SESSION_LOST</a:t>
                      </a:r>
                    </a:p>
                  </a:txBody>
                  <a:tcPr marL="91440" marR="91440" marT="45720" marB="45720" anchor="ctr">
                    <a:solidFill>
                      <a:schemeClr val="bg1"/>
                    </a:solidFill>
                  </a:tcPr>
                </a:tc>
                <a:tc>
                  <a:txBody>
                    <a:bodyPr/>
                    <a:lstStyle/>
                    <a:p>
                      <a:pPr algn="l"/>
                      <a:r>
                        <a:rPr sz="1400" b="0">
                          <a:solidFill>
                            <a:schemeClr val="tx1"/>
                          </a:solidFill>
                        </a:rPr>
                        <a:t>Lost on a gateway instance that announced on it; elsewhere, not replaced in 20 s</a:t>
                      </a:r>
                    </a:p>
                  </a:txBody>
                  <a:tcPr marL="91440" marR="91440" marT="45720" marB="45720" anchor="ctr">
                    <a:solidFill>
                      <a:schemeClr val="bg1"/>
                    </a:solidFill>
                  </a:tcPr>
                </a:tc>
              </a:tr>
              <a:tr h="530352">
                <a:tc>
                  <a:txBody>
                    <a:bodyPr/>
                    <a:lstStyle/>
                    <a:p>
                      <a:pPr algn="l"/>
                      <a:r>
                        <a:rPr sz="1400" b="1">
                          <a:solidFill>
                            <a:schemeClr val="tx1"/>
                          </a:solidFill>
                        </a:rPr>
                        <a:t>QUEUE_STALLED</a:t>
                      </a:r>
                    </a:p>
                  </a:txBody>
                  <a:tcPr marL="91440" marR="91440" marT="45720" marB="45720" anchor="ctr">
                    <a:solidFill>
                      <a:schemeClr val="bg2"/>
                    </a:solidFill>
                  </a:tcPr>
                </a:tc>
                <a:tc>
                  <a:txBody>
                    <a:bodyPr/>
                    <a:lstStyle/>
                    <a:p>
                      <a:pPr algn="l"/>
                      <a:r>
                        <a:rPr sz="1400" b="0">
                          <a:solidFill>
                            <a:schemeClr val="tx1"/>
                          </a:solidFill>
                        </a:rPr>
                        <a:t>No ClusterHeartbeat for 20 s while caught up, on an instance that acts</a:t>
                      </a:r>
                    </a:p>
                  </a:txBody>
                  <a:tcPr marL="91440" marR="91440" marT="45720" marB="45720" anchor="ctr">
                    <a:solidFill>
                      <a:schemeClr val="bg2"/>
                    </a:solidFill>
                  </a:tcPr>
                </a:tc>
              </a:tr>
              <a:tr h="530352">
                <a:tc>
                  <a:txBody>
                    <a:bodyPr/>
                    <a:lstStyle/>
                    <a:p>
                      <a:pPr algn="l"/>
                      <a:r>
                        <a:rPr sz="1400" b="1">
                          <a:solidFill>
                            <a:schemeClr val="tx1"/>
                          </a:solidFill>
                        </a:rPr>
                        <a:t>RECOVERY_STALLED</a:t>
                      </a:r>
                    </a:p>
                  </a:txBody>
                  <a:tcPr marL="91440" marR="91440" marT="45720" marB="45720" anchor="ctr">
                    <a:solidFill>
                      <a:schemeClr val="bg1"/>
                    </a:solidFill>
                  </a:tcPr>
                </a:tc>
                <a:tc>
                  <a:txBody>
                    <a:bodyPr/>
                    <a:lstStyle/>
                    <a:p>
                      <a:pPr algn="l"/>
                      <a:r>
                        <a:rPr sz="1400" b="0">
                          <a:solidFill>
                            <a:schemeClr val="tx1"/>
                          </a:solidFill>
                        </a:rPr>
                        <a:t>Nothing recovered for 60 s after a first catch-up, on an instance that acts</a:t>
                      </a:r>
                    </a:p>
                  </a:txBody>
                  <a:tcPr marL="91440" marR="91440" marT="45720" marB="45720" anchor="ctr">
                    <a:solidFill>
                      <a:schemeClr val="bg1"/>
                    </a:solidFill>
                  </a:tcPr>
                </a:tc>
              </a:tr>
              <a:tr h="530352">
                <a:tc>
                  <a:txBody>
                    <a:bodyPr/>
                    <a:lstStyle/>
                    <a:p>
                      <a:pPr algn="l"/>
                      <a:r>
                        <a:rPr sz="1400" b="1">
                          <a:solidFill>
                            <a:schemeClr val="tx1"/>
                          </a:solidFill>
                        </a:rPr>
                        <a:t>INGRESS_CONFIRM_FAULTED</a:t>
                      </a:r>
                    </a:p>
                  </a:txBody>
                  <a:tcPr marL="91440" marR="91440" marT="45720" marB="45720" anchor="ctr">
                    <a:solidFill>
                      <a:schemeClr val="bg2"/>
                    </a:solidFill>
                  </a:tcPr>
                </a:tc>
                <a:tc>
                  <a:txBody>
                    <a:bodyPr/>
                    <a:lstStyle/>
                    <a:p>
                      <a:pPr algn="l"/>
                      <a:r>
                        <a:rPr sz="1400" b="0">
                          <a:solidFill>
                            <a:schemeClr val="tx1"/>
                          </a:solidFill>
                        </a:rPr>
                        <a:t>An own frame on the queue differs from the oldest pending one</a:t>
                      </a:r>
                    </a:p>
                  </a:txBody>
                  <a:tcPr marL="91440" marR="91440" marT="45720" marB="45720" anchor="ctr">
                    <a:solidFill>
                      <a:schemeClr val="bg2"/>
                    </a:solidFill>
                  </a:tcPr>
                </a:tc>
              </a:tr>
              <a:tr h="530352">
                <a:tc>
                  <a:txBody>
                    <a:bodyPr/>
                    <a:lstStyle/>
                    <a:p>
                      <a:pPr algn="l"/>
                      <a:r>
                        <a:rPr sz="1400" b="1">
                          <a:solidFill>
                            <a:schemeClr val="tx1"/>
                          </a:solidFill>
                        </a:rPr>
                        <a:t>SNAPSHOT_DIVERGED</a:t>
                      </a:r>
                    </a:p>
                  </a:txBody>
                  <a:tcPr marL="91440" marR="91440" marT="45720" marB="45720" anchor="ctr">
                    <a:solidFill>
                      <a:schemeClr val="bg1"/>
                    </a:solidFill>
                  </a:tcPr>
                </a:tc>
                <a:tc>
                  <a:txBody>
                    <a:bodyPr/>
                    <a:lstStyle/>
                    <a:p>
                      <a:pPr algn="l"/>
                      <a:r>
                        <a:rPr sz="1400" b="0">
                          <a:solidFill>
                            <a:schemeClr val="tx1"/>
                          </a:solidFill>
                        </a:rPr>
                        <a:t>Own snapshot differs from the one its source sequenced</a:t>
                      </a:r>
                    </a:p>
                  </a:txBody>
                  <a:tcPr marL="91440" marR="91440" marT="45720" marB="45720" anchor="ctr">
                    <a:solidFill>
                      <a:schemeClr val="bg1"/>
                    </a:solidFill>
                  </a:tcPr>
                </a:tc>
              </a:tr>
              <a:tr h="530352">
                <a:tc>
                  <a:txBody>
                    <a:bodyPr/>
                    <a:lstStyle/>
                    <a:p>
                      <a:pPr algn="l"/>
                      <a:r>
                        <a:rPr sz="1400" b="1">
                          <a:solidFill>
                            <a:schemeClr val="tx1"/>
                          </a:solidFill>
                        </a:rPr>
                        <a:t>SNAPSHOT_UNRESTORABLE</a:t>
                      </a:r>
                    </a:p>
                  </a:txBody>
                  <a:tcPr marL="91440" marR="91440" marT="45720" marB="45720" anchor="ctr">
                    <a:solidFill>
                      <a:schemeClr val="bg2"/>
                    </a:solidFill>
                  </a:tcPr>
                </a:tc>
                <a:tc>
                  <a:txBody>
                    <a:bodyPr/>
                    <a:lstStyle/>
                    <a:p>
                      <a:pPr algn="l"/>
                      <a:r>
                        <a:rPr sz="1400" b="0">
                          <a:solidFill>
                            <a:schemeClr val="tx1"/>
                          </a:solidFill>
                        </a:rPr>
                        <a:t>Newest confirmed snapshot cannot be restored</a:t>
                      </a:r>
                    </a:p>
                  </a:txBody>
                  <a:tcPr marL="91440" marR="91440" marT="45720" marB="45720" anchor="ctr">
                    <a:solidFill>
                      <a:schemeClr val="bg2"/>
                    </a:solidFill>
                  </a:tcPr>
                </a:tc>
              </a:tr>
            </a:tbl>
          </a:graphicData>
        </a:graphic>
      </p:graphicFrame>
      <p:sp>
        <p:nvSpPr>
          <p:cNvPr id="9054" name="Text 885"/>
          <p:cNvSpPr txBox="1"/>
          <p:nvPr/>
        </p:nvSpPr>
        <p:spPr>
          <a:xfrm>
            <a:off x="548640" y="5577840"/>
            <a:ext cx="11094415" cy="457200"/>
          </a:xfrm>
          <a:prstGeom prst="rect">
            <a:avLst/>
          </a:prstGeom>
          <a:noFill/>
        </p:spPr>
        <p:txBody>
          <a:bodyPr wrap="square" anchor="t" lIns="0" rIns="0" tIns="0" bIns="0">
            <a:spAutoFit/>
          </a:bodyPr>
          <a:lstStyle/>
          <a:p>
            <a:pPr algn="l"/>
            <a:r>
              <a:rPr sz="1300" b="0">
                <a:solidFill>
                  <a:schemeClr val="accent5"/>
                </a:solidFill>
              </a:rPr>
              <a:t>An instance that acts: the designated gateway instance, or the leader's replica. Any other logs a stall and keeps following.</a:t>
            </a:r>
          </a:p>
        </p:txBody>
      </p:sp>
      <p:sp>
        <p:nvSpPr>
          <p:cNvPr id="9055" name="Text 886"/>
          <p:cNvSpPr txBox="1"/>
          <p:nvPr/>
        </p:nvSpPr>
        <p:spPr>
          <a:xfrm>
            <a:off x="548640" y="5943600"/>
            <a:ext cx="11094415" cy="365760"/>
          </a:xfrm>
          <a:prstGeom prst="rect">
            <a:avLst/>
          </a:prstGeom>
          <a:noFill/>
        </p:spPr>
        <p:txBody>
          <a:bodyPr wrap="square" anchor="t" lIns="0" rIns="0" tIns="0" bIns="0">
            <a:spAutoFit/>
          </a:bodyPr>
          <a:lstStyle/>
          <a:p>
            <a:pPr algn="l"/>
            <a:r>
              <a:rPr sz="1300" b="1">
                <a:solidFill>
                  <a:schemeClr val="tx1"/>
                </a:solidFill>
              </a:rPr>
              <a:t>Before onFenced: </a:t>
            </a:r>
            <a:r>
              <a:rPr sz="1300" b="0">
                <a:solidFill>
                  <a:schemeClr val="tx1"/>
                </a:solidFill>
              </a:rPr>
              <a:t>the edge or leader gate closes and the session is released. Then exit, by convention with 70.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chor="t" lIns="0" rIns="0" tIns="0" bIns="0"/>
          <a:lstStyle/>
          <a:p>
            <a:pPr algn="l"/>
            <a:r>
              <a:rPr sz="3400" b="1" cap="none">
                <a:solidFill>
                  <a:schemeClr val="tx1"/>
                </a:solidFill>
                <a:latin typeface="+mj-lt"/>
              </a:rPr>
              <a:t>faulteron</a:t>
            </a:r>
          </a:p>
        </p:txBody>
      </p:sp>
      <p:sp>
        <p:nvSpPr>
          <p:cNvPr id="3" name="Text 887"/>
          <p:cNvSpPr txBox="1"/>
          <p:nvPr/>
        </p:nvSpPr>
        <p:spPr>
          <a:xfrm>
            <a:off x="548640" y="987552"/>
            <a:ext cx="11094415" cy="411480"/>
          </a:xfrm>
          <a:prstGeom prst="rect">
            <a:avLst/>
          </a:prstGeom>
          <a:noFill/>
        </p:spPr>
        <p:txBody>
          <a:bodyPr wrap="square" anchor="t" lIns="0" rIns="0" tIns="0" bIns="0">
            <a:spAutoFit/>
          </a:bodyPr>
          <a:lstStyle/>
          <a:p>
            <a:pPr algn="l"/>
            <a:r>
              <a:rPr sz="1600" b="0">
                <a:solidFill>
                  <a:schemeClr val="accent5"/>
                </a:solidFill>
              </a:rPr>
              <a:t>Network faults for Aeron, injected in eBPF</a:t>
            </a:r>
          </a:p>
        </p:txBody>
      </p:sp>
      <p:sp>
        <p:nvSpPr>
          <p:cNvPr id="9053" name="Slide number"/>
          <p:cNvSpPr txBox="1"/>
          <p:nvPr userDrawn="1"/>
        </p:nvSpPr>
        <p:spPr>
          <a:xfrm>
            <a:off x="10728655" y="6400800"/>
            <a:ext cx="914400" cy="274320"/>
          </a:xfrm>
          <a:prstGeom prst="rect">
            <a:avLst/>
          </a:prstGeom>
          <a:noFill/>
        </p:spPr>
        <p:txBody>
          <a:bodyPr wrap="none" lIns="0" tIns="0" rIns="0" bIns="0" anchor="ctr"/>
          <a:lstStyle/>
          <a:p>
            <a:pPr algn="r"/>
            <a:fld id="{6c1bcc72-9f17-4d25-983b-bb08fe539ee9}" type="slidenum">
              <a:rPr lang="en-US" sz="1000" dirty="0">
                <a:solidFill>
                  <a:schemeClr val="accent5"/>
                </a:solidFill>
              </a:rPr>
              <a:t>53</a:t>
            </a:fld>
          </a:p>
        </p:txBody>
      </p:sp>
      <p:sp>
        <p:nvSpPr>
          <p:cNvPr id="9054" name="Shape 888"/>
          <p:cNvSpPr/>
          <p:nvPr/>
        </p:nvSpPr>
        <p:spPr>
          <a:xfrm>
            <a:off x="548640" y="1691640"/>
            <a:ext cx="6537960" cy="3931920"/>
          </a:xfrm>
          <a:prstGeom prst="rect">
            <a:avLst/>
          </a:prstGeom>
          <a:noFill/>
          <a:ln w="12700">
            <a:solidFill>
              <a:schemeClr val="accent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5" name="Text 889"/>
          <p:cNvSpPr txBox="1"/>
          <p:nvPr/>
        </p:nvSpPr>
        <p:spPr>
          <a:xfrm>
            <a:off x="685800" y="1737360"/>
            <a:ext cx="4572000" cy="274320"/>
          </a:xfrm>
          <a:prstGeom prst="rect">
            <a:avLst/>
          </a:prstGeom>
          <a:noFill/>
        </p:spPr>
        <p:txBody>
          <a:bodyPr wrap="square" anchor="t" lIns="0" rIns="0" tIns="0" bIns="0">
            <a:spAutoFit/>
          </a:bodyPr>
          <a:lstStyle/>
          <a:p>
            <a:pPr algn="l"/>
            <a:r>
              <a:rPr sz="1100" b="0">
                <a:solidFill>
                  <a:schemeClr val="accent5"/>
                </a:solidFill>
              </a:rPr>
              <a:t>One container's network namespace</a:t>
            </a:r>
          </a:p>
        </p:txBody>
      </p:sp>
      <p:sp>
        <p:nvSpPr>
          <p:cNvPr id="9056" name="Box 890"/>
          <p:cNvSpPr/>
          <p:nvPr/>
        </p:nvSpPr>
        <p:spPr>
          <a:xfrm>
            <a:off x="777240" y="2148840"/>
            <a:ext cx="1554480" cy="3063240"/>
          </a:xfrm>
          <a:prstGeom prst="rect">
            <a:avLst/>
          </a:prstGeom>
          <a:solidFill>
            <a:schemeClr val="bg1"/>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seqeron member</a:t>
            </a:r>
          </a:p>
          <a:p>
            <a:pPr algn="ctr"/>
            <a:r>
              <a:rPr sz="1100" b="0">
                <a:solidFill>
                  <a:schemeClr val="accent5"/>
                </a:solidFill>
              </a:rPr>
              <a:t>Aeron UDP: Raft, archive, ingress</a:t>
            </a:r>
          </a:p>
        </p:txBody>
      </p:sp>
      <p:sp>
        <p:nvSpPr>
          <p:cNvPr id="9057" name="Box 891"/>
          <p:cNvSpPr/>
          <p:nvPr/>
        </p:nvSpPr>
        <p:spPr>
          <a:xfrm>
            <a:off x="2697480" y="3291840"/>
            <a:ext cx="1645920" cy="77724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faulteron CLI</a:t>
            </a:r>
          </a:p>
          <a:p>
            <a:pPr algn="ctr"/>
            <a:r>
              <a:rPr sz="1100" b="0">
                <a:solidFill>
                  <a:schemeClr val="accent5"/>
                </a:solidFill>
              </a:rPr>
              <a:t>privileged; bpftool</a:t>
            </a:r>
          </a:p>
        </p:txBody>
      </p:sp>
      <p:sp>
        <p:nvSpPr>
          <p:cNvPr id="9058" name="Box 892"/>
          <p:cNvSpPr/>
          <p:nvPr/>
        </p:nvSpPr>
        <p:spPr>
          <a:xfrm>
            <a:off x="4709160" y="2148840"/>
            <a:ext cx="1828800" cy="7772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tc egress</a:t>
            </a:r>
          </a:p>
          <a:p>
            <a:pPr algn="ctr"/>
            <a:r>
              <a:rPr sz="1100" b="0">
                <a:solidFill>
                  <a:schemeClr val="accent5"/>
                </a:solidFill>
              </a:rPr>
              <a:t>drop, duplicate, delay</a:t>
            </a:r>
          </a:p>
        </p:txBody>
      </p:sp>
      <p:sp>
        <p:nvSpPr>
          <p:cNvPr id="9059" name="Box 893"/>
          <p:cNvSpPr/>
          <p:nvPr/>
        </p:nvSpPr>
        <p:spPr>
          <a:xfrm>
            <a:off x="4709160" y="3291840"/>
            <a:ext cx="1828800" cy="777240"/>
          </a:xfrm>
          <a:prstGeom prst="rect">
            <a:avLst/>
          </a:prstGeom>
          <a:solidFill>
            <a:schemeClr val="accent4"/>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rules map</a:t>
            </a:r>
          </a:p>
          <a:p>
            <a:pPr algn="ctr"/>
            <a:r>
              <a:rPr sz="1100" b="0">
                <a:solidFill>
                  <a:schemeClr val="accent5"/>
                </a:solidFill>
              </a:rPr>
              <a:t>peer, port, type, message</a:t>
            </a:r>
          </a:p>
        </p:txBody>
      </p:sp>
      <p:sp>
        <p:nvSpPr>
          <p:cNvPr id="9060" name="Box 894"/>
          <p:cNvSpPr/>
          <p:nvPr/>
        </p:nvSpPr>
        <p:spPr>
          <a:xfrm>
            <a:off x="4709160" y="4434840"/>
            <a:ext cx="1828800" cy="777240"/>
          </a:xfrm>
          <a:prstGeom prst="rect">
            <a:avLst/>
          </a:prstGeom>
          <a:solidFill>
            <a:schemeClr val="accent3"/>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chemeClr val="tx1"/>
                </a:solidFill>
              </a:rPr>
              <a:t>tc ingress</a:t>
            </a:r>
          </a:p>
          <a:p>
            <a:pPr algn="ctr"/>
            <a:r>
              <a:rPr sz="1100" b="0">
                <a:solidFill>
                  <a:schemeClr val="accent5"/>
                </a:solidFill>
              </a:rPr>
              <a:t>drop, duplicate</a:t>
            </a:r>
          </a:p>
        </p:txBody>
      </p:sp>
      <p:sp>
        <p:nvSpPr>
          <p:cNvPr id="9061" name="Box 895"/>
          <p:cNvSpPr/>
          <p:nvPr/>
        </p:nvSpPr>
        <p:spPr>
          <a:xfrm>
            <a:off x="6858000" y="2148840"/>
            <a:ext cx="457200" cy="3063240"/>
          </a:xfrm>
          <a:prstGeom prst="rect">
            <a:avLst/>
          </a:prstGeom>
          <a:solidFill>
            <a:schemeClr val="bg2"/>
          </a:solidFill>
          <a:ln w="1587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100" b="1">
                <a:solidFill>
                  <a:schemeClr val="tx1"/>
                </a:solidFill>
              </a:rPr>
              <a:t>eth0</a:t>
            </a:r>
          </a:p>
        </p:txBody>
      </p:sp>
      <p:cxnSp>
        <p:nvCxnSpPr>
          <p:cNvPr id="9062" name="Arrow 896"/>
          <p:cNvCxnSpPr/>
          <p:nvPr/>
        </p:nvCxnSpPr>
        <p:spPr>
          <a:xfrm>
            <a:off x="2331720" y="2537460"/>
            <a:ext cx="237744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63" name="Arrow 897"/>
          <p:cNvCxnSpPr/>
          <p:nvPr/>
        </p:nvCxnSpPr>
        <p:spPr>
          <a:xfrm>
            <a:off x="6537960" y="2537460"/>
            <a:ext cx="32004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64" name="Arrow 898"/>
          <p:cNvCxnSpPr/>
          <p:nvPr/>
        </p:nvCxnSpPr>
        <p:spPr>
          <a:xfrm flipH="1">
            <a:off x="6537960" y="4823460"/>
            <a:ext cx="32004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65" name="Arrow 899"/>
          <p:cNvCxnSpPr/>
          <p:nvPr/>
        </p:nvCxnSpPr>
        <p:spPr>
          <a:xfrm flipH="1">
            <a:off x="2331720" y="4823460"/>
            <a:ext cx="2377440" cy="0"/>
          </a:xfrm>
          <a:prstGeom prst="line">
            <a:avLst/>
          </a:prstGeom>
          <a:ln w="15875">
            <a:solidFill>
              <a:schemeClr val="tx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66" name="Arrow 900"/>
          <p:cNvCxnSpPr/>
          <p:nvPr/>
        </p:nvCxnSpPr>
        <p:spPr>
          <a:xfrm>
            <a:off x="4343400" y="3680460"/>
            <a:ext cx="365760" cy="0"/>
          </a:xfrm>
          <a:prstGeom prst="line">
            <a:avLst/>
          </a:prstGeom>
          <a:ln w="2222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67" name="Arrow 901"/>
          <p:cNvCxnSpPr/>
          <p:nvPr/>
        </p:nvCxnSpPr>
        <p:spPr>
          <a:xfrm flipV="1">
            <a:off x="5623560" y="2926080"/>
            <a:ext cx="0" cy="36576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9068" name="Arrow 902"/>
          <p:cNvCxnSpPr/>
          <p:nvPr/>
        </p:nvCxnSpPr>
        <p:spPr>
          <a:xfrm>
            <a:off x="5623560" y="4069080"/>
            <a:ext cx="0" cy="365760"/>
          </a:xfrm>
          <a:prstGeom prst="line">
            <a:avLst/>
          </a:prstGeom>
          <a:ln w="15875">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9069" name="Arrow 903"/>
          <p:cNvCxnSpPr/>
          <p:nvPr/>
        </p:nvCxnSpPr>
        <p:spPr>
          <a:xfrm>
            <a:off x="7315200" y="3680460"/>
            <a:ext cx="365760" cy="0"/>
          </a:xfrm>
          <a:prstGeom prst="line">
            <a:avLst/>
          </a:prstGeom>
          <a:ln w="15875">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9070" name="Text 904"/>
          <p:cNvSpPr txBox="1"/>
          <p:nvPr/>
        </p:nvSpPr>
        <p:spPr>
          <a:xfrm>
            <a:off x="2697480" y="2240280"/>
            <a:ext cx="1645920" cy="274320"/>
          </a:xfrm>
          <a:prstGeom prst="rect">
            <a:avLst/>
          </a:prstGeom>
          <a:noFill/>
        </p:spPr>
        <p:txBody>
          <a:bodyPr wrap="square" anchor="t" lIns="0" rIns="0" tIns="0" bIns="0">
            <a:spAutoFit/>
          </a:bodyPr>
          <a:lstStyle/>
          <a:p>
            <a:pPr algn="ctr"/>
            <a:r>
              <a:rPr sz="1100" b="0">
                <a:solidFill>
                  <a:schemeClr val="accent5"/>
                </a:solidFill>
              </a:rPr>
              <a:t>out</a:t>
            </a:r>
          </a:p>
        </p:txBody>
      </p:sp>
      <p:sp>
        <p:nvSpPr>
          <p:cNvPr id="9071" name="Text 905"/>
          <p:cNvSpPr txBox="1"/>
          <p:nvPr/>
        </p:nvSpPr>
        <p:spPr>
          <a:xfrm>
            <a:off x="2697480" y="4526280"/>
            <a:ext cx="1645920" cy="274320"/>
          </a:xfrm>
          <a:prstGeom prst="rect">
            <a:avLst/>
          </a:prstGeom>
          <a:noFill/>
        </p:spPr>
        <p:txBody>
          <a:bodyPr wrap="square" anchor="t" lIns="0" rIns="0" tIns="0" bIns="0">
            <a:spAutoFit/>
          </a:bodyPr>
          <a:lstStyle/>
          <a:p>
            <a:pPr algn="ctr"/>
            <a:r>
              <a:rPr sz="1100" b="0">
                <a:solidFill>
                  <a:schemeClr val="accent5"/>
                </a:solidFill>
              </a:rPr>
              <a:t>in</a:t>
            </a:r>
          </a:p>
        </p:txBody>
      </p:sp>
      <p:sp>
        <p:nvSpPr>
          <p:cNvPr id="9072" name="Text 906"/>
          <p:cNvSpPr txBox="1"/>
          <p:nvPr/>
        </p:nvSpPr>
        <p:spPr>
          <a:xfrm>
            <a:off x="7726680" y="3520440"/>
            <a:ext cx="685800" cy="320040"/>
          </a:xfrm>
          <a:prstGeom prst="rect">
            <a:avLst/>
          </a:prstGeom>
          <a:noFill/>
        </p:spPr>
        <p:txBody>
          <a:bodyPr wrap="square" anchor="ctr" lIns="0" rIns="0" tIns="0" bIns="0">
            <a:spAutoFit/>
          </a:bodyPr>
          <a:lstStyle/>
          <a:p>
            <a:pPr algn="l"/>
            <a:r>
              <a:rPr sz="1200" b="0">
                <a:solidFill>
                  <a:schemeClr val="tx1"/>
                </a:solidFill>
              </a:rPr>
              <a:t>peers</a:t>
            </a:r>
          </a:p>
        </p:txBody>
      </p:sp>
      <p:sp>
        <p:nvSpPr>
          <p:cNvPr id="9073" name="Card 907"/>
          <p:cNvSpPr/>
          <p:nvPr/>
        </p:nvSpPr>
        <p:spPr>
          <a:xfrm>
            <a:off x="8503920" y="1691640"/>
            <a:ext cx="3139135" cy="3931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l">
              <a:spcAft>
                <a:spcPts val="800"/>
              </a:spcAft>
            </a:pPr>
            <a:r>
              <a:rPr sz="1600" b="1" cap="none">
                <a:solidFill>
                  <a:schemeClr val="tx1"/>
                </a:solidFill>
                <a:latin typeface="+mj-lt"/>
              </a:rPr>
              <a:t>What it can do</a:t>
            </a:r>
          </a:p>
          <a:p>
            <a:pPr algn="l" marL="228600" indent="-228600">
              <a:spcAft>
                <a:spcPts val="600"/>
              </a:spcAft>
              <a:buClr>
                <a:schemeClr val="accent1"/>
              </a:buClr>
              <a:buChar char="•"/>
            </a:pPr>
            <a:r>
              <a:rPr sz="1300" b="0">
                <a:solidFill>
                  <a:schemeClr val="tx1"/>
                </a:solidFill>
              </a:rPr>
              <a:t>Cut one link, or a member off from its peers while its clients stay connected</a:t>
            </a:r>
          </a:p>
          <a:p>
            <a:pPr algn="l" marL="228600" indent="-228600">
              <a:spcAft>
                <a:spcPts val="600"/>
              </a:spcAft>
              <a:buClr>
                <a:schemeClr val="accent1"/>
              </a:buClr>
              <a:buChar char="•"/>
            </a:pPr>
            <a:r>
              <a:rPr sz="1300" b="0">
                <a:solidFill>
                  <a:schemeClr val="tx1"/>
                </a:solidFill>
              </a:rPr>
              <a:t>Take away one half of loss repair: NAKs or retransmissions</a:t>
            </a:r>
          </a:p>
          <a:p>
            <a:pPr algn="l" marL="228600" indent="-228600">
              <a:spcAft>
                <a:spcPts val="600"/>
              </a:spcAft>
              <a:buClr>
                <a:schemeClr val="accent1"/>
              </a:buClr>
              <a:buChar char="•"/>
            </a:pPr>
            <a:r>
              <a:rPr sz="1300" b="0">
                <a:solidFill>
                  <a:schemeClr val="tx1"/>
                </a:solidFill>
              </a:rPr>
              <a:t>Delay, jitter, reorder and duplicate a link</a:t>
            </a:r>
          </a:p>
          <a:p>
            <a:pPr algn="l" marL="228600" indent="-228600">
              <a:spcAft>
                <a:spcPts val="600"/>
              </a:spcAft>
              <a:buClr>
                <a:schemeClr val="accent1"/>
              </a:buClr>
              <a:buChar char="•"/>
            </a:pPr>
            <a:r>
              <a:rPr sz="1300" b="0">
                <a:solidFill>
                  <a:schemeClr val="tx1"/>
                </a:solidFill>
              </a:rPr>
              <a:t>Silence one member's votes and nothing else</a:t>
            </a:r>
          </a:p>
          <a:p>
            <a:pPr algn="l" marL="228600" indent="-228600">
              <a:spcAft>
                <a:spcPts val="600"/>
              </a:spcAft>
              <a:buClr>
                <a:schemeClr val="accent1"/>
              </a:buClr>
              <a:buChar char="•"/>
            </a:pPr>
            <a:r>
              <a:rPr sz="1300" b="0">
                <a:solidFill>
                  <a:schemeClr val="tx1"/>
                </a:solidFill>
              </a:rPr>
              <a:t>Not aeron:ipc, which never reaches an interface</a:t>
            </a:r>
          </a:p>
        </p:txBody>
      </p:sp>
      <p:sp>
        <p:nvSpPr>
          <p:cNvPr id="9074" name="Text 908">
            <a:hlinkClick r:id="rId3"/>
          </p:cNvPr>
          <p:cNvSpPr txBox="1"/>
          <p:nvPr/>
        </p:nvSpPr>
        <p:spPr>
          <a:xfrm>
            <a:off x="548640" y="5806440"/>
            <a:ext cx="11094415" cy="365760"/>
          </a:xfrm>
          <a:prstGeom prst="rect">
            <a:avLst/>
          </a:prstGeom>
          <a:noFill/>
        </p:spPr>
        <p:txBody>
          <a:bodyPr wrap="square" anchor="t" lIns="0" rIns="0" tIns="0" bIns="0">
            <a:spAutoFit/>
          </a:bodyPr>
          <a:lstStyle/>
          <a:p>
            <a:pPr algn="l"/>
            <a:r>
              <a:rPr sz="1400" b="1">
                <a:solidFill>
                  <a:schemeClr val="accent1"/>
                </a:solidFill>
              </a:rPr>
              <a:t>github.com/FredrikJDahlberg/faulteron</a:t>
            </a:r>
            <a:r>
              <a:rPr sz="1400" b="0">
                <a:solidFill>
                  <a:schemeClr val="accent5"/>
                </a:solidFill>
              </a:rPr>
              <a:t>   Apache 2.0  ·  Linux 5.18 or later  ·  IPv4</a:t>
            </a:r>
          </a:p>
        </p:txBody>
      </p:sp>
    </p:spTree>
  </p:cSld>
  <p:clrMapOvr>
    <a:masterClrMapping/>
  </p:clrMapOvr>
</p:sld>
</file>

<file path=ppt/theme/theme1.xml><?xml version="1.0" encoding="utf-8"?>
<a:theme xmlns:a="http://schemas.openxmlformats.org/drawingml/2006/main" name="seqeron">
  <a:themeElements>
    <a:clrScheme name="seqeron">
      <a:dk1>
        <a:srgbClr val="15202B"/>
      </a:dk1>
      <a:lt1>
        <a:srgbClr val="FFFFFF"/>
      </a:lt1>
      <a:dk2>
        <a:srgbClr val="0F2A37"/>
      </a:dk2>
      <a:lt2>
        <a:srgbClr val="EEF2F5"/>
      </a:lt2>
      <a:accent1>
        <a:srgbClr val="0D5C78"/>
      </a:accent1>
      <a:accent2>
        <a:srgbClr val="B0601C"/>
      </a:accent2>
      <a:accent3>
        <a:srgbClr val="D9EAF0"/>
      </a:accent3>
      <a:accent4>
        <a:srgbClr val="F6E5D4"/>
      </a:accent4>
      <a:accent5>
        <a:srgbClr val="56636F"/>
      </a:accent5>
      <a:accent6>
        <a:srgbClr val="C9D2DA"/>
      </a:accent6>
      <a:hlink>
        <a:srgbClr val="0D5C78"/>
      </a:hlink>
      <a:folHlink>
        <a:srgbClr val="56636F"/>
      </a:folHlink>
    </a:clrScheme>
    <a:fontScheme name="seqeron">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seqeron architecture briefing</dc:title>
  <dc:subject/>
  <dc:creator>Fredrik Dahlberg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